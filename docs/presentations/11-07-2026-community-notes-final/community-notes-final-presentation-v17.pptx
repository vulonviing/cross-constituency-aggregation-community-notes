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486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487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88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89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0" name="Connector 6"/>
          <p:cNvSpPr/>
          <p:nvPr/>
        </p:nvSpPr>
        <p:spPr>
          <a:xfrm>
            <a:off x="1426464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1" name="TextBox 7"/>
          <p:cNvSpPr txBox="1"/>
          <p:nvPr/>
        </p:nvSpPr>
        <p:spPr>
          <a:xfrm>
            <a:off x="749807" y="1581911"/>
            <a:ext cx="150876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92" name="Oval 8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3" name="TextBox 9"/>
          <p:cNvSpPr txBox="1"/>
          <p:nvPr/>
        </p:nvSpPr>
        <p:spPr>
          <a:xfrm>
            <a:off x="585215" y="2615183"/>
            <a:ext cx="187451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494" name="TextBox 10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5" name="TextBox 11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8,051</a:t>
            </a:r>
          </a:p>
        </p:txBody>
      </p:sp>
      <p:sp>
        <p:nvSpPr>
          <p:cNvPr id="2496" name="Oval 12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7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8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499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0" name="Connector 18"/>
          <p:cNvSpPr/>
          <p:nvPr/>
        </p:nvSpPr>
        <p:spPr>
          <a:xfrm>
            <a:off x="4572000" y="2432304"/>
            <a:ext cx="0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1" name="TextBox 19"/>
          <p:cNvSpPr txBox="1"/>
          <p:nvPr/>
        </p:nvSpPr>
        <p:spPr>
          <a:xfrm>
            <a:off x="3017520" y="3035807"/>
            <a:ext cx="31546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5,604  STAGE 1 STOP</a:t>
            </a:r>
          </a:p>
        </p:txBody>
      </p:sp>
      <p:sp>
        <p:nvSpPr>
          <p:cNvPr id="2502" name="TextBox 20"/>
          <p:cNvSpPr txBox="1"/>
          <p:nvPr/>
        </p:nvSpPr>
        <p:spPr>
          <a:xfrm>
            <a:off x="3136392" y="3445764"/>
            <a:ext cx="1586612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3,610 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503" name="TextBox 21"/>
          <p:cNvSpPr txBox="1"/>
          <p:nvPr/>
        </p:nvSpPr>
        <p:spPr>
          <a:xfrm>
            <a:off x="3136392" y="3701796"/>
            <a:ext cx="1652271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687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504" name="TextBox 22"/>
          <p:cNvSpPr txBox="1"/>
          <p:nvPr/>
        </p:nvSpPr>
        <p:spPr>
          <a:xfrm>
            <a:off x="3136392" y="3957828"/>
            <a:ext cx="171805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616  </a:t>
            </a:r>
            <a:r>
              <a:rPr b="0">
                <a:solidFill>
                  <a:srgbClr val="73777F"/>
                </a:solidFill>
              </a:rPr>
              <a:t>hostile / troll / derogatory</a:t>
            </a:r>
          </a:p>
        </p:txBody>
      </p:sp>
      <p:sp>
        <p:nvSpPr>
          <p:cNvPr id="2505" name="TextBox 23"/>
          <p:cNvSpPr txBox="1"/>
          <p:nvPr/>
        </p:nvSpPr>
        <p:spPr>
          <a:xfrm>
            <a:off x="3136392" y="4213860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474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506" name="TextBox 24"/>
          <p:cNvSpPr txBox="1"/>
          <p:nvPr/>
        </p:nvSpPr>
        <p:spPr>
          <a:xfrm>
            <a:off x="3136392" y="4469892"/>
            <a:ext cx="1546480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217  </a:t>
            </a:r>
            <a:r>
              <a:rPr b="0">
                <a:solidFill>
                  <a:srgbClr val="73777F"/>
                </a:solidFill>
              </a:rPr>
              <a:t>unresolved / strict ties</a:t>
            </a:r>
          </a:p>
        </p:txBody>
      </p:sp>
      <p:sp>
        <p:nvSpPr>
          <p:cNvPr id="2507" name="Connector 25"/>
          <p:cNvSpPr/>
          <p:nvPr/>
        </p:nvSpPr>
        <p:spPr>
          <a:xfrm>
            <a:off x="7534656" y="2432304"/>
            <a:ext cx="1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8" name="TextBox 26"/>
          <p:cNvSpPr txBox="1"/>
          <p:nvPr/>
        </p:nvSpPr>
        <p:spPr>
          <a:xfrm>
            <a:off x="6428232" y="3035807"/>
            <a:ext cx="226771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4,155  STAGE 2 STOP</a:t>
            </a:r>
          </a:p>
        </p:txBody>
      </p:sp>
      <p:sp>
        <p:nvSpPr>
          <p:cNvPr id="2509" name="TextBox 27"/>
          <p:cNvSpPr txBox="1"/>
          <p:nvPr/>
        </p:nvSpPr>
        <p:spPr>
          <a:xfrm>
            <a:off x="6510528" y="3619500"/>
            <a:ext cx="173329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4,155  </a:t>
            </a:r>
            <a:r>
              <a:rPr b="0">
                <a:solidFill>
                  <a:srgbClr val="73777F"/>
                </a:solidFill>
              </a:rPr>
              <a:t>rescue-worthiness &lt; 50</a:t>
            </a:r>
          </a:p>
        </p:txBody>
      </p:sp>
      <p:sp>
        <p:nvSpPr>
          <p:cNvPr id="2510" name="Connector 28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1" name="TextBox 29"/>
          <p:cNvSpPr txBox="1"/>
          <p:nvPr/>
        </p:nvSpPr>
        <p:spPr>
          <a:xfrm>
            <a:off x="859535" y="5212079"/>
            <a:ext cx="2103122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GPT-4o-mini baseline</a:t>
            </a:r>
          </a:p>
        </p:txBody>
      </p:sp>
      <p:sp>
        <p:nvSpPr>
          <p:cNvPr id="2512" name="TextBox 30"/>
          <p:cNvSpPr txBox="1"/>
          <p:nvPr/>
        </p:nvSpPr>
        <p:spPr>
          <a:xfrm>
            <a:off x="2953511" y="5193791"/>
            <a:ext cx="3291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3" name="TextBox 31"/>
          <p:cNvSpPr txBox="1"/>
          <p:nvPr/>
        </p:nvSpPr>
        <p:spPr>
          <a:xfrm>
            <a:off x="3383279" y="5212079"/>
            <a:ext cx="2240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RERUNS IN PROGRESS</a:t>
            </a:r>
          </a:p>
        </p:txBody>
      </p:sp>
      <p:sp>
        <p:nvSpPr>
          <p:cNvPr id="2514" name="TextBox 32"/>
          <p:cNvSpPr txBox="1"/>
          <p:nvPr/>
        </p:nvSpPr>
        <p:spPr>
          <a:xfrm>
            <a:off x="5989320" y="5193791"/>
            <a:ext cx="233172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MiMo v2.5 Pro</a:t>
            </a:r>
          </a:p>
        </p:txBody>
      </p:sp>
      <p:sp>
        <p:nvSpPr>
          <p:cNvPr id="2515" name="TextBox 33"/>
          <p:cNvSpPr txBox="1"/>
          <p:nvPr/>
        </p:nvSpPr>
        <p:spPr>
          <a:xfrm>
            <a:off x="8503919" y="5193791"/>
            <a:ext cx="257860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Gemma 4 · Qwen 3.5</a:t>
            </a:r>
          </a:p>
        </p:txBody>
      </p:sp>
      <p:sp>
        <p:nvSpPr>
          <p:cNvPr id="2516" name="TextBox 34"/>
          <p:cNvSpPr txBox="1"/>
          <p:nvPr/>
        </p:nvSpPr>
        <p:spPr>
          <a:xfrm>
            <a:off x="4114800" y="5760720"/>
            <a:ext cx="397763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FINAL COUNTS WILL CHANGE</a:t>
            </a:r>
          </a:p>
        </p:txBody>
      </p:sp>
      <p:sp>
        <p:nvSpPr>
          <p:cNvPr id="2517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outputs · three reruns underway</a:t>
            </a:r>
          </a:p>
        </p:txBody>
      </p:sp>
      <p:sp>
        <p:nvSpPr>
          <p:cNvPr id="2518" name="TextBox 13"/>
          <p:cNvSpPr txBox="1"/>
          <p:nvPr/>
        </p:nvSpPr>
        <p:spPr>
          <a:xfrm>
            <a:off x="3147059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1 pass</a:t>
            </a:r>
          </a:p>
        </p:txBody>
      </p:sp>
      <p:sp>
        <p:nvSpPr>
          <p:cNvPr id="2519" name="TextBox 17"/>
          <p:cNvSpPr txBox="1"/>
          <p:nvPr/>
        </p:nvSpPr>
        <p:spPr>
          <a:xfrm>
            <a:off x="5912104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pass · ≥50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Gabriel Stage-2 prompt · historical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GABRIEL  70/100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historical Gabriel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