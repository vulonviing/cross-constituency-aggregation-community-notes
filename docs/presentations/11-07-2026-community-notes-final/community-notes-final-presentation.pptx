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658368"/>
            <a:ext cx="5577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11318"/>
                </a:solidFill>
                <a:latin typeface="Helvetica Neue"/>
              </a:rPr>
              <a:t>WHO SPEAKS
FOR THE CROWD?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278892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6E737B"/>
                </a:solidFill>
                <a:latin typeface="Helvetica Neue"/>
              </a:rPr>
              <a:t>• Cross-Constituency Aggregation
• for Community Notes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713232"/>
            <a:ext cx="2148840" cy="214884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E8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82281" y="1357884"/>
            <a:ext cx="279349" cy="279349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90561" y="1185976"/>
            <a:ext cx="322326" cy="322326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98840" y="1379372"/>
            <a:ext cx="279349" cy="279349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13724" y="1787652"/>
            <a:ext cx="322326" cy="322326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19491" y="1744675"/>
            <a:ext cx="365302" cy="365302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11212" y="2002536"/>
            <a:ext cx="257860" cy="257860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12887" y="2174443"/>
            <a:ext cx="279349" cy="279349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79992" y="1938528"/>
            <a:ext cx="214884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31248" y="2325319"/>
            <a:ext cx="1246327" cy="1332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746132" y="2669133"/>
            <a:ext cx="816559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746132" y="2926994"/>
            <a:ext cx="644652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46132" y="3184855"/>
            <a:ext cx="730606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369296" y="3356762"/>
            <a:ext cx="214884" cy="214884"/>
          </a:xfrm>
          <a:prstGeom prst="ellipse">
            <a:avLst/>
          </a:prstGeom>
          <a:solidFill>
            <a:srgbClr val="22A06B"/>
          </a:solidFill>
          <a:ln w="10160">
            <a:solidFill>
              <a:srgbClr val="22A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0" y="4078224"/>
            <a:ext cx="2148840" cy="2148840"/>
          </a:xfrm>
          <a:prstGeom prst="roundRect">
            <a:avLst/>
          </a:prstGeom>
          <a:solidFill>
            <a:srgbClr val="FFEAE5"/>
          </a:solidFill>
          <a:ln w="10160">
            <a:solidFill>
              <a:srgbClr val="FFE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82281" y="4722876"/>
            <a:ext cx="279349" cy="279349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90561" y="4550968"/>
            <a:ext cx="322326" cy="322326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98840" y="4744364"/>
            <a:ext cx="279349" cy="279349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13724" y="5152644"/>
            <a:ext cx="322326" cy="322326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19491" y="5109667"/>
            <a:ext cx="365302" cy="365302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411212" y="5367528"/>
            <a:ext cx="257860" cy="257860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12887" y="5539435"/>
            <a:ext cx="279349" cy="279349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7909560" y="2697480"/>
            <a:ext cx="1179576" cy="210312"/>
          </a:xfrm>
          <a:prstGeom prst="line">
            <a:avLst/>
          </a:prstGeom>
          <a:ln w="3175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909560" y="3584448"/>
            <a:ext cx="1179576" cy="1042416"/>
          </a:xfrm>
          <a:prstGeom prst="line">
            <a:avLst/>
          </a:prstGeom>
          <a:ln w="31750">
            <a:solidFill>
              <a:srgbClr val="FF6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9808" y="61447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10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14476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11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E737B"/>
                </a:solidFill>
                <a:latin typeface="Helvetica Neue"/>
              </a:rPr>
              <a:t>THE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11318"/>
                </a:solidFill>
                <a:latin typeface="Helvetica Neue"/>
              </a:rPr>
              <a:t>What is Community Notes?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457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74519"/>
            <a:ext cx="2514600" cy="251460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E8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" y="2084831"/>
            <a:ext cx="603504" cy="603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276856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F6BFF"/>
                </a:solidFill>
                <a:latin typeface="Helvetica Neu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749039"/>
            <a:ext cx="20299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318"/>
                </a:solidFill>
                <a:latin typeface="Helvetica Neue"/>
              </a:rPr>
              <a:t>• Write 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874519"/>
            <a:ext cx="2514600" cy="2514600"/>
          </a:xfrm>
          <a:prstGeom prst="roundRect">
            <a:avLst/>
          </a:prstGeom>
          <a:solidFill>
            <a:srgbClr val="ECEDE9"/>
          </a:solidFill>
          <a:ln w="1016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87368" y="2084831"/>
            <a:ext cx="603504" cy="603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87368" y="2276856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318"/>
                </a:solidFill>
                <a:latin typeface="Helvetica Neu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7" y="3749039"/>
            <a:ext cx="20299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318"/>
                </a:solidFill>
                <a:latin typeface="Helvetica Neue"/>
              </a:rPr>
              <a:t>• Rate helpfulness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1874519"/>
            <a:ext cx="2514600" cy="2514600"/>
          </a:xfrm>
          <a:prstGeom prst="roundRect">
            <a:avLst/>
          </a:prstGeom>
          <a:solidFill>
            <a:srgbClr val="E4F5ED"/>
          </a:solidFill>
          <a:ln w="10160">
            <a:solidFill>
              <a:srgbClr val="E4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04888" y="2084831"/>
            <a:ext cx="603504" cy="603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2276856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2A06B"/>
                </a:solidFill>
                <a:latin typeface="Helvetica Neu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0608" y="3749039"/>
            <a:ext cx="20299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318"/>
                </a:solidFill>
                <a:latin typeface="Helvetica Neue"/>
              </a:rPr>
              <a:t>• Decide visibility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29000" y="3136392"/>
            <a:ext cx="365760" cy="0"/>
          </a:xfrm>
          <a:prstGeom prst="line">
            <a:avLst/>
          </a:prstGeom>
          <a:ln w="21590">
            <a:solidFill>
              <a:srgbClr val="6E73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46520" y="3136392"/>
            <a:ext cx="365760" cy="0"/>
          </a:xfrm>
          <a:prstGeom prst="line">
            <a:avLst/>
          </a:prstGeom>
          <a:ln w="21590">
            <a:solidFill>
              <a:srgbClr val="6E73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57232" y="1874519"/>
            <a:ext cx="1481328" cy="2514600"/>
          </a:xfrm>
          <a:prstGeom prst="roundRect">
            <a:avLst/>
          </a:prstGeom>
          <a:solidFill>
            <a:srgbClr val="111318"/>
          </a:solidFill>
          <a:ln w="10160">
            <a:solidFill>
              <a:srgbClr val="111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30968" y="2889504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Helvetica Neue"/>
              </a:rPr>
              <a:t>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138928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2100" b="0">
                <a:solidFill>
                  <a:srgbClr val="111318"/>
                </a:solidFill>
                <a:latin typeface="Helvetica Neue"/>
              </a:rPr>
              <a:t>The crowd decides which context appears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473952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E737B"/>
                </a:solidFill>
                <a:latin typeface="Helvetica Neue"/>
              </a:rPr>
              <a:t>• X Community Notes (2026)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11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E737B"/>
                </a:solidFill>
                <a:latin typeface="Helvetica Neue"/>
              </a:rPr>
              <a:t>BRIDGING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11318"/>
                </a:solidFill>
                <a:latin typeface="Helvetica Neue"/>
              </a:rPr>
              <a:t>Not just majority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457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00784"/>
            <a:ext cx="4892040" cy="4160520"/>
          </a:xfrm>
          <a:prstGeom prst="roundRect">
            <a:avLst/>
          </a:prstGeom>
          <a:solidFill>
            <a:srgbClr val="ECEDE9"/>
          </a:solidFill>
          <a:ln w="1016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28232" y="1700784"/>
            <a:ext cx="4892040" cy="4160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2139696"/>
            <a:ext cx="1874519" cy="1874519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E8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67204" y="2702051"/>
            <a:ext cx="243687" cy="243687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23363" y="2552090"/>
            <a:ext cx="281177" cy="281177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79522" y="2720797"/>
            <a:ext cx="243687" cy="243687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66974" y="3076956"/>
            <a:ext cx="281177" cy="281177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35834" y="3039465"/>
            <a:ext cx="318668" cy="318668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979676" y="3264407"/>
            <a:ext cx="224942" cy="224942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04541" y="3414369"/>
            <a:ext cx="243687" cy="243687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4760" y="2139696"/>
            <a:ext cx="141732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2397" y="2394813"/>
            <a:ext cx="822045" cy="87873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234129" y="2621584"/>
            <a:ext cx="538581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234129" y="2791663"/>
            <a:ext cx="425196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234129" y="2961741"/>
            <a:ext cx="481889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4645152" y="3075127"/>
            <a:ext cx="141732" cy="141732"/>
          </a:xfrm>
          <a:prstGeom prst="ellipse">
            <a:avLst/>
          </a:prstGeom>
          <a:solidFill>
            <a:srgbClr val="22A06B"/>
          </a:solidFill>
          <a:ln w="10160">
            <a:solidFill>
              <a:srgbClr val="22A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3090672" y="2880360"/>
            <a:ext cx="676656" cy="201168"/>
          </a:xfrm>
          <a:prstGeom prst="line">
            <a:avLst/>
          </a:prstGeom>
          <a:ln w="381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837943" y="49834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E737B"/>
                </a:solidFill>
                <a:latin typeface="Helvetica Neue"/>
              </a:rPr>
              <a:t>HIDDEN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3720" y="2139696"/>
            <a:ext cx="1645920" cy="164592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E8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98740" y="2633472"/>
            <a:ext cx="213969" cy="213969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11465" y="2501798"/>
            <a:ext cx="246888" cy="246888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24190" y="2649931"/>
            <a:ext cx="213969" cy="213969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88782" y="2962656"/>
            <a:ext cx="246888" cy="246888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10220" y="2929737"/>
            <a:ext cx="279806" cy="279806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97496" y="3127248"/>
            <a:ext cx="197510" cy="197510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858353" y="3258921"/>
            <a:ext cx="213969" cy="213969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06256" y="2331720"/>
            <a:ext cx="1234440" cy="1234440"/>
          </a:xfrm>
          <a:prstGeom prst="roundRect">
            <a:avLst/>
          </a:prstGeom>
          <a:solidFill>
            <a:srgbClr val="E4F5ED"/>
          </a:solidFill>
          <a:ln w="10160">
            <a:solidFill>
              <a:srgbClr val="E4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65488" y="2553919"/>
            <a:ext cx="715975" cy="765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9288932" y="2751429"/>
            <a:ext cx="469087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88932" y="2899562"/>
            <a:ext cx="370332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88932" y="3047695"/>
            <a:ext cx="419710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646920" y="3146450"/>
            <a:ext cx="123444" cy="123444"/>
          </a:xfrm>
          <a:prstGeom prst="ellipse">
            <a:avLst/>
          </a:prstGeom>
          <a:solidFill>
            <a:srgbClr val="22A06B"/>
          </a:solidFill>
          <a:ln w="10160">
            <a:solidFill>
              <a:srgbClr val="22A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387584" y="2139696"/>
            <a:ext cx="1645920" cy="1645920"/>
          </a:xfrm>
          <a:prstGeom prst="roundRect">
            <a:avLst/>
          </a:prstGeom>
          <a:solidFill>
            <a:srgbClr val="FFEAE5"/>
          </a:solidFill>
          <a:ln w="10160">
            <a:solidFill>
              <a:srgbClr val="FFE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782604" y="2633472"/>
            <a:ext cx="213969" cy="213969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095329" y="2501798"/>
            <a:ext cx="246888" cy="246888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08054" y="2649931"/>
            <a:ext cx="213969" cy="213969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572646" y="2962656"/>
            <a:ext cx="246888" cy="246888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194084" y="2929737"/>
            <a:ext cx="279806" cy="279806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881359" y="3127248"/>
            <a:ext cx="197510" cy="197510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342217" y="3258921"/>
            <a:ext cx="213969" cy="213969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8458200" y="2926080"/>
            <a:ext cx="448056" cy="45720"/>
          </a:xfrm>
          <a:prstGeom prst="line">
            <a:avLst/>
          </a:prstGeom>
          <a:ln w="381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 flipV="1">
            <a:off x="10131552" y="2926080"/>
            <a:ext cx="256032" cy="45720"/>
          </a:xfrm>
          <a:prstGeom prst="line">
            <a:avLst/>
          </a:prstGeom>
          <a:ln w="38100">
            <a:solidFill>
              <a:srgbClr val="FF6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92440" y="49834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A06B"/>
                </a:solidFill>
                <a:latin typeface="Helvetica Neue"/>
              </a:rPr>
              <a:t>VISIBLE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" y="6016752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1300" b="0">
                <a:solidFill>
                  <a:srgbClr val="6E737B"/>
                </a:solidFill>
                <a:latin typeface="Helvetica Neue"/>
              </a:rPr>
              <a:t>Reward support that crosses viewpoints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1300" b="0">
                <a:solidFill>
                  <a:srgbClr val="6E737B"/>
                </a:solidFill>
                <a:latin typeface="Helvetica Neue"/>
              </a:rPr>
              <a:t>Estimate the bridge through latent patterns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" y="6473952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E737B"/>
                </a:solidFill>
                <a:latin typeface="Helvetica Neue"/>
              </a:rPr>
              <a:t>• Wojcik et al. (2022); X Community Notes (2026)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11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E737B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11318"/>
                </a:solidFill>
                <a:latin typeface="Helvetica Neue"/>
              </a:rPr>
              <a:t>The bridge is indirect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457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737360"/>
            <a:ext cx="2743200" cy="2743200"/>
          </a:xfrm>
          <a:prstGeom prst="roundRect">
            <a:avLst/>
          </a:prstGeom>
          <a:solidFill>
            <a:srgbClr val="FFF3D6"/>
          </a:solidFill>
          <a:ln w="10160">
            <a:solidFill>
              <a:srgbClr val="FFF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89888" y="2560320"/>
            <a:ext cx="1755648" cy="10424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75688" y="2889504"/>
            <a:ext cx="384048" cy="384048"/>
          </a:xfrm>
          <a:prstGeom prst="ellipse">
            <a:avLst/>
          </a:prstGeom>
          <a:solidFill>
            <a:srgbClr val="111318"/>
          </a:solidFill>
          <a:ln w="10160">
            <a:solidFill>
              <a:srgbClr val="111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86200" y="1737360"/>
            <a:ext cx="2743200" cy="2743200"/>
          </a:xfrm>
          <a:prstGeom prst="roundRect">
            <a:avLst/>
          </a:prstGeom>
          <a:solidFill>
            <a:srgbClr val="FFEAE5"/>
          </a:solidFill>
          <a:ln w="10160">
            <a:solidFill>
              <a:srgbClr val="FFE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257800" y="2340864"/>
            <a:ext cx="0" cy="1426463"/>
          </a:xfrm>
          <a:prstGeom prst="line">
            <a:avLst/>
          </a:prstGeom>
          <a:ln w="2540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2779776"/>
            <a:ext cx="1371600" cy="301752"/>
          </a:xfrm>
          <a:prstGeom prst="line">
            <a:avLst/>
          </a:prstGeom>
          <a:ln w="3810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4352544" y="2779776"/>
            <a:ext cx="219456" cy="658368"/>
          </a:xfrm>
          <a:prstGeom prst="line">
            <a:avLst/>
          </a:prstGeom>
          <a:ln w="15240">
            <a:solidFill>
              <a:srgbClr val="6E73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43600" y="3081528"/>
            <a:ext cx="219456" cy="438912"/>
          </a:xfrm>
          <a:prstGeom prst="line">
            <a:avLst/>
          </a:prstGeom>
          <a:ln w="15240">
            <a:solidFill>
              <a:srgbClr val="6E73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242816" y="3383279"/>
            <a:ext cx="356616" cy="356616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33872" y="3465576"/>
            <a:ext cx="274320" cy="274320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53328" y="3465576"/>
            <a:ext cx="274320" cy="274320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76288" y="1737360"/>
            <a:ext cx="4407408" cy="2743200"/>
          </a:xfrm>
          <a:prstGeom prst="roundRect">
            <a:avLst/>
          </a:prstGeom>
          <a:solidFill>
            <a:srgbClr val="111318"/>
          </a:solidFill>
          <a:ln w="10160">
            <a:solidFill>
              <a:srgbClr val="111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2103120"/>
            <a:ext cx="1234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2176272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Helvetica Neue"/>
              </a:rPr>
              <a:t>POWER
RATERS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255264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FF654F"/>
                </a:solidFill>
                <a:latin typeface="Helvetica Neue"/>
              </a:rPr>
              <a:t>11×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9952" y="336499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Helvetica Neue"/>
              </a:rPr>
              <a:t>MORE ACTIVE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983480"/>
            <a:ext cx="9875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800" b="1">
                <a:solidFill>
                  <a:srgbClr val="FF654F"/>
                </a:solidFill>
                <a:latin typeface="Helvetica Neue"/>
              </a:rPr>
              <a:t>• </a:t>
            </a:r>
            <a:r>
              <a:rPr sz="1800" b="0">
                <a:solidFill>
                  <a:srgbClr val="111318"/>
                </a:solidFill>
                <a:latin typeface="Helvetica Neue"/>
              </a:rPr>
              <a:t>Infer who voted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800" b="1">
                <a:solidFill>
                  <a:srgbClr val="FF654F"/>
                </a:solidFill>
                <a:latin typeface="Helvetica Neue"/>
              </a:rPr>
              <a:t>• </a:t>
            </a:r>
            <a:r>
              <a:rPr sz="1800" b="0">
                <a:solidFill>
                  <a:srgbClr val="111318"/>
                </a:solidFill>
                <a:latin typeface="Helvetica Neue"/>
              </a:rPr>
              <a:t>Let activity shape the map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800" b="1">
                <a:solidFill>
                  <a:srgbClr val="FF654F"/>
                </a:solidFill>
                <a:latin typeface="Helvetica Neue"/>
              </a:rPr>
              <a:t>• </a:t>
            </a:r>
            <a:r>
              <a:rPr sz="1800" b="0">
                <a:solidFill>
                  <a:srgbClr val="111318"/>
                </a:solidFill>
                <a:latin typeface="Helvetica Neue"/>
              </a:rPr>
              <a:t>Mistake the map for the crowd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473952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E737B"/>
                </a:solidFill>
                <a:latin typeface="Helvetica Neue"/>
              </a:rPr>
              <a:t>• X Community Notes (2026); Nudo et al. (2026); authors’ 200k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11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E737B"/>
                </a:solidFill>
                <a:latin typeface="Helvetica Neue"/>
              </a:rPr>
              <a:t>OUR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11318"/>
                </a:solidFill>
                <a:latin typeface="Helvetica Neue"/>
              </a:rPr>
              <a:t>Consult constituencies directly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457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09344"/>
            <a:ext cx="3840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1800" b="0">
                <a:solidFill>
                  <a:srgbClr val="111318"/>
                </a:solidFill>
                <a:latin typeface="Helvetica Neue"/>
              </a:rPr>
              <a:t>Recover groups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1800" b="0">
                <a:solidFill>
                  <a:srgbClr val="111318"/>
                </a:solidFill>
                <a:latin typeface="Helvetica Neue"/>
              </a:rPr>
              <a:t>Measure approval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1800" b="0">
                <a:solidFill>
                  <a:srgbClr val="111318"/>
                </a:solidFill>
                <a:latin typeface="Helvetica Neue"/>
              </a:rPr>
              <a:t>Aggregate explicitly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3703320"/>
            <a:ext cx="2331720" cy="160020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E8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60704" y="3867911"/>
            <a:ext cx="566928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401421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F6BFF"/>
                </a:solidFill>
                <a:latin typeface="Helvetica Neue"/>
              </a:rPr>
              <a:t>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45152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11318"/>
                </a:solidFill>
                <a:latin typeface="Helvetica Neue"/>
              </a:rPr>
              <a:t>Double majority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3703320"/>
            <a:ext cx="2331720" cy="1600200"/>
          </a:xfrm>
          <a:prstGeom prst="roundRect">
            <a:avLst/>
          </a:prstGeom>
          <a:solidFill>
            <a:srgbClr val="FFF3D6"/>
          </a:solidFill>
          <a:ln w="10160">
            <a:solidFill>
              <a:srgbClr val="FFF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21024" y="3867911"/>
            <a:ext cx="566928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401421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2B84B"/>
                </a:solidFill>
                <a:latin typeface="Helvetica Neue"/>
              </a:rPr>
              <a:t>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645152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11318"/>
                </a:solidFill>
                <a:latin typeface="Helvetica Neue"/>
              </a:rPr>
              <a:t>Parallel consent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3703320"/>
            <a:ext cx="2331720" cy="1600200"/>
          </a:xfrm>
          <a:prstGeom prst="roundRect">
            <a:avLst/>
          </a:prstGeom>
          <a:solidFill>
            <a:srgbClr val="FFEAE5"/>
          </a:solidFill>
          <a:ln w="10160">
            <a:solidFill>
              <a:srgbClr val="FFE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81344" y="3867911"/>
            <a:ext cx="566928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401421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654F"/>
                </a:solidFill>
                <a:latin typeface="Helvetica Neue"/>
              </a:rPr>
              <a:t>BA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645152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11318"/>
                </a:solidFill>
                <a:latin typeface="Helvetica Neue"/>
              </a:rPr>
              <a:t>Community veto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7072" y="3703320"/>
            <a:ext cx="2331720" cy="1600200"/>
          </a:xfrm>
          <a:prstGeom prst="roundRect">
            <a:avLst/>
          </a:prstGeom>
          <a:solidFill>
            <a:srgbClr val="E4F5ED"/>
          </a:solidFill>
          <a:ln w="10160">
            <a:solidFill>
              <a:srgbClr val="E4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41664" y="3867911"/>
            <a:ext cx="566928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41664" y="401421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2A06B"/>
                </a:solidFill>
                <a:latin typeface="Helvetica Neue"/>
              </a:rPr>
              <a:t>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4645152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11318"/>
                </a:solidFill>
                <a:latin typeface="Helvetica Neue"/>
              </a:rPr>
              <a:t>Cross-support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42432" y="1536192"/>
            <a:ext cx="559612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9320" y="1618488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2F6BFF"/>
                </a:solidFill>
                <a:latin typeface="Helvetica Neue"/>
              </a:rPr>
              <a:t>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2011680"/>
            <a:ext cx="4315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11318"/>
                </a:solidFill>
                <a:latin typeface="Helvetica Neue"/>
              </a:rPr>
              <a:t>• Which rule should decide visibility?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473952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E737B"/>
                </a:solidFill>
                <a:latin typeface="Helvetica Neue"/>
              </a:rPr>
              <a:t>• Linder &amp; Mueller (2021); Lijphart (1977); Bieber (2006); McGarry &amp; O’Leary (2009)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11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E737B"/>
                </a:solidFill>
                <a:latin typeface="Helvetica Neue"/>
              </a:rPr>
              <a:t>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11318"/>
                </a:solidFill>
                <a:latin typeface="Helvetica Neue"/>
              </a:rPr>
              <a:t>Four 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457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00784"/>
            <a:ext cx="2542032" cy="1874519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E8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415" y="1865376"/>
            <a:ext cx="530352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5" y="202082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F6BFF"/>
                </a:solidFill>
                <a:latin typeface="Helvetica Neue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63347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11318"/>
                </a:solidFill>
                <a:latin typeface="Helvetica Neue"/>
              </a:rPr>
              <a:t>Presence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026664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E737B"/>
                </a:solidFill>
                <a:latin typeface="Helvetica Neue"/>
              </a:rPr>
              <a:t>• Every group enters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2736" y="1700784"/>
            <a:ext cx="2542032" cy="1874519"/>
          </a:xfrm>
          <a:prstGeom prst="roundRect">
            <a:avLst/>
          </a:prstGeom>
          <a:solidFill>
            <a:srgbClr val="FFEAE5"/>
          </a:solidFill>
          <a:ln w="10160">
            <a:solidFill>
              <a:srgbClr val="FFE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76472" y="1865376"/>
            <a:ext cx="530352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202082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654F"/>
                </a:solidFill>
                <a:latin typeface="Helvetica Neue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3904" y="263347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11318"/>
                </a:solidFill>
                <a:latin typeface="Helvetica Neue"/>
              </a:rPr>
              <a:t>Non-compensation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026664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E737B"/>
                </a:solidFill>
                <a:latin typeface="Helvetica Neue"/>
              </a:rPr>
              <a:t>• Rejection still matters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1700784"/>
            <a:ext cx="2542032" cy="1874519"/>
          </a:xfrm>
          <a:prstGeom prst="roundRect">
            <a:avLst/>
          </a:prstGeom>
          <a:solidFill>
            <a:srgbClr val="FFF3D6"/>
          </a:solidFill>
          <a:ln w="10160">
            <a:solidFill>
              <a:srgbClr val="FFF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10528" y="1865376"/>
            <a:ext cx="530352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2082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2B84B"/>
                </a:solidFill>
                <a:latin typeface="Helvetica Neue"/>
              </a:rPr>
              <a:t>P3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263347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11318"/>
                </a:solidFill>
                <a:latin typeface="Helvetica Neue"/>
              </a:rPr>
              <a:t>Symmetry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026664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E737B"/>
                </a:solidFill>
                <a:latin typeface="Helvetica Neue"/>
              </a:rPr>
              <a:t>• No default winner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0848" y="1700784"/>
            <a:ext cx="2542032" cy="1874519"/>
          </a:xfrm>
          <a:prstGeom prst="roundRect">
            <a:avLst/>
          </a:prstGeom>
          <a:solidFill>
            <a:srgbClr val="E4F5ED"/>
          </a:solidFill>
          <a:ln w="10160">
            <a:solidFill>
              <a:srgbClr val="E4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1865376"/>
            <a:ext cx="530352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4584" y="202082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2A06B"/>
                </a:solidFill>
                <a:latin typeface="Helvetica Neue"/>
              </a:rPr>
              <a:t>P4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263347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11318"/>
                </a:solidFill>
                <a:latin typeface="Helvetica Neue"/>
              </a:rPr>
              <a:t>Behavioral recovery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2016" y="3026664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E737B"/>
                </a:solidFill>
                <a:latin typeface="Helvetica Neue"/>
              </a:rPr>
              <a:t>• No outside labels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2000" b="0">
                <a:solidFill>
                  <a:srgbClr val="111318"/>
                </a:solidFill>
                <a:latin typeface="Helvetica Neue"/>
              </a:rPr>
              <a:t>Preserve disagreement before aggregating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11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E737B"/>
                </a:solidFill>
                <a:latin typeface="Helvetica Neue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11318"/>
                </a:solidFill>
                <a:latin typeface="Helvetica Neue"/>
              </a:rPr>
              <a:t>Principles become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457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691640"/>
            <a:ext cx="2514600" cy="210312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E8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920240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F6BFF"/>
                </a:solidFill>
                <a:latin typeface="Helvetica Neue"/>
              </a:rPr>
              <a:t>P1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46888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318"/>
                </a:solidFill>
                <a:latin typeface="Helvetica Neue"/>
              </a:rPr>
              <a:t>≥3 ratings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0723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E737B"/>
                </a:solidFill>
                <a:latin typeface="Helvetica Neue"/>
              </a:rPr>
              <a:t>• from every group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691640"/>
            <a:ext cx="2514600" cy="2103120"/>
          </a:xfrm>
          <a:prstGeom prst="roundRect">
            <a:avLst/>
          </a:prstGeom>
          <a:solidFill>
            <a:srgbClr val="FFEAE5"/>
          </a:solidFill>
          <a:ln w="10160">
            <a:solidFill>
              <a:srgbClr val="FFE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3048" y="1920240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654F"/>
                </a:solidFill>
                <a:latin typeface="Helvetica Neue"/>
              </a:rPr>
              <a:t>P2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246888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318"/>
                </a:solidFill>
                <a:latin typeface="Helvetica Neue"/>
              </a:rPr>
              <a:t>Geometric mean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3048" y="30723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E737B"/>
                </a:solidFill>
                <a:latin typeface="Helvetica Neue"/>
              </a:rPr>
              <a:t>• a soft veto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2514600" cy="2103120"/>
          </a:xfrm>
          <a:prstGeom prst="roundRect">
            <a:avLst/>
          </a:prstGeom>
          <a:solidFill>
            <a:srgbClr val="FFF3D6"/>
          </a:solidFill>
          <a:ln w="10160">
            <a:solidFill>
              <a:srgbClr val="FFF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920240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B84B"/>
                </a:solidFill>
                <a:latin typeface="Helvetica Neue"/>
              </a:rPr>
              <a:t>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46888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318"/>
                </a:solidFill>
                <a:latin typeface="Helvetica Neue"/>
              </a:rPr>
              <a:t>Same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0723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E737B"/>
                </a:solidFill>
                <a:latin typeface="Helvetica Neue"/>
              </a:rPr>
              <a:t>• no size weighting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691640"/>
            <a:ext cx="2514600" cy="2103120"/>
          </a:xfrm>
          <a:prstGeom prst="roundRect">
            <a:avLst/>
          </a:prstGeom>
          <a:solidFill>
            <a:srgbClr val="E4F5ED"/>
          </a:solidFill>
          <a:ln w="10160">
            <a:solidFill>
              <a:srgbClr val="E4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9448" y="1920240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A06B"/>
                </a:solidFill>
                <a:latin typeface="Helvetica Neue"/>
              </a:rPr>
              <a:t>P4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9448" y="246888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318"/>
                </a:solidFill>
                <a:latin typeface="Helvetica Neue"/>
              </a:rPr>
              <a:t>200k raters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9448" y="30723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E737B"/>
                </a:solidFill>
                <a:latin typeface="Helvetica Neue"/>
              </a:rPr>
              <a:t>• Method-B recovery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01952" y="4416552"/>
            <a:ext cx="8394192" cy="1078992"/>
          </a:xfrm>
          <a:prstGeom prst="roundRect">
            <a:avLst/>
          </a:prstGeom>
          <a:solidFill>
            <a:srgbClr val="111318"/>
          </a:solidFill>
          <a:ln w="10160">
            <a:solidFill>
              <a:srgbClr val="111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12848" y="4754880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F6BFF"/>
                </a:solidFill>
                <a:latin typeface="Helvetica Neue"/>
              </a:rPr>
              <a:t>90%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8688" y="4754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Helvetica Neue"/>
              </a:rPr>
              <a:t>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2736" y="4754880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654F"/>
                </a:solidFill>
                <a:latin typeface="Helvetica Neue"/>
              </a:rPr>
              <a:t>10%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8" y="475488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Helvetica Neue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4700016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2A06B"/>
                </a:solidFill>
                <a:latin typeface="Helvetica Neue"/>
              </a:rPr>
              <a:t>30%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4773168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Helvetica Neue"/>
              </a:rPr>
              <a:t>• not 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4" y="4773168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Helvetica Neue"/>
              </a:rPr>
              <a:t>C = √(s₁ × s₂)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6473952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E737B"/>
                </a:solidFill>
                <a:latin typeface="Helvetica Neue"/>
              </a:rPr>
              <a:t>• Authors’ 200k Representative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11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E737B"/>
                </a:solidFill>
                <a:latin typeface="Helvetica Neue"/>
              </a:rP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11318"/>
                </a:solidFill>
                <a:latin typeface="Helvetica Neue"/>
              </a:rPr>
              <a:t>What we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457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938528"/>
            <a:ext cx="1938528" cy="1938528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E8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496312"/>
            <a:ext cx="16093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2F6BFF"/>
                </a:solidFill>
                <a:latin typeface="Helvetica Neue"/>
              </a:rPr>
              <a:t>100k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1868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F6BFF"/>
                </a:solidFill>
                <a:latin typeface="Helvetica Neue"/>
              </a:rPr>
              <a:t>• notes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907792"/>
            <a:ext cx="237744" cy="0"/>
          </a:xfrm>
          <a:prstGeom prst="line">
            <a:avLst/>
          </a:prstGeom>
          <a:ln w="19050">
            <a:solidFill>
              <a:srgbClr val="6E73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026663" y="1938528"/>
            <a:ext cx="1938528" cy="1938528"/>
          </a:xfrm>
          <a:prstGeom prst="roundRect">
            <a:avLst/>
          </a:prstGeom>
          <a:solidFill>
            <a:srgbClr val="FFEAE5"/>
          </a:solidFill>
          <a:ln w="10160">
            <a:solidFill>
              <a:srgbClr val="FFE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2496312"/>
            <a:ext cx="16093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654F"/>
                </a:solidFill>
                <a:latin typeface="Helvetica Neue"/>
              </a:rPr>
              <a:t>200k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9544" y="321868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654F"/>
                </a:solidFill>
                <a:latin typeface="Helvetica Neue"/>
              </a:rPr>
              <a:t>• raters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907792"/>
            <a:ext cx="237744" cy="0"/>
          </a:xfrm>
          <a:prstGeom prst="line">
            <a:avLst/>
          </a:prstGeom>
          <a:ln w="19050">
            <a:solidFill>
              <a:srgbClr val="6E73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340096" y="1938528"/>
            <a:ext cx="1938528" cy="1938528"/>
          </a:xfrm>
          <a:prstGeom prst="roundRect">
            <a:avLst/>
          </a:prstGeom>
          <a:solidFill>
            <a:srgbClr val="FFF3D6"/>
          </a:solidFill>
          <a:ln w="10160">
            <a:solidFill>
              <a:srgbClr val="FFF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4688" y="2496312"/>
            <a:ext cx="16093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2B84B"/>
                </a:solidFill>
                <a:latin typeface="Helvetica Neu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2976" y="321868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2B84B"/>
                </a:solidFill>
                <a:latin typeface="Helvetica Neue"/>
              </a:rPr>
              <a:t>• groups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24344" y="2907792"/>
            <a:ext cx="237744" cy="0"/>
          </a:xfrm>
          <a:prstGeom prst="line">
            <a:avLst/>
          </a:prstGeom>
          <a:ln w="19050">
            <a:solidFill>
              <a:srgbClr val="6E73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53527" y="1938528"/>
            <a:ext cx="1938528" cy="1938528"/>
          </a:xfrm>
          <a:prstGeom prst="roundRect">
            <a:avLst/>
          </a:prstGeom>
          <a:solidFill>
            <a:srgbClr val="E4F5ED"/>
          </a:solidFill>
          <a:ln w="10160">
            <a:solidFill>
              <a:srgbClr val="E4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2496312"/>
            <a:ext cx="16093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22A06B"/>
                </a:solidFill>
                <a:latin typeface="Helvetica Neue"/>
              </a:rPr>
              <a:t>&gt; 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7" y="321868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2A06B"/>
                </a:solidFill>
                <a:latin typeface="Helvetica Neue"/>
              </a:rPr>
              <a:t>• candidate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37776" y="2907792"/>
            <a:ext cx="237743" cy="0"/>
          </a:xfrm>
          <a:prstGeom prst="line">
            <a:avLst/>
          </a:prstGeom>
          <a:ln w="19050">
            <a:solidFill>
              <a:srgbClr val="6E73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966959" y="1938528"/>
            <a:ext cx="1938528" cy="1938528"/>
          </a:xfrm>
          <a:prstGeom prst="roundRect">
            <a:avLst/>
          </a:prstGeom>
          <a:solidFill>
            <a:srgbClr val="111318"/>
          </a:solidFill>
          <a:ln w="10160">
            <a:solidFill>
              <a:srgbClr val="111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31551" y="2496312"/>
            <a:ext cx="16093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39" y="321868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• Gabriel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4828032"/>
            <a:ext cx="99669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1700" b="0">
                <a:solidFill>
                  <a:srgbClr val="111318"/>
                </a:solidFill>
                <a:latin typeface="Helvetica Neue"/>
              </a:rPr>
              <a:t>Recover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1700" b="0">
                <a:solidFill>
                  <a:srgbClr val="111318"/>
                </a:solidFill>
                <a:latin typeface="Helvetica Neue"/>
              </a:rPr>
              <a:t>Score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1700" b="0">
                <a:solidFill>
                  <a:srgbClr val="111318"/>
                </a:solidFill>
                <a:latin typeface="Helvetica Neue"/>
              </a:rPr>
              <a:t>Select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F6BFF"/>
                </a:solidFill>
                <a:latin typeface="Helvetica Neue"/>
              </a:rPr>
              <a:t>• </a:t>
            </a:r>
            <a:r>
              <a:rPr sz="1700" b="0">
                <a:solidFill>
                  <a:srgbClr val="111318"/>
                </a:solidFill>
                <a:latin typeface="Helvetica Neue"/>
              </a:rPr>
              <a:t>Validate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473952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E737B"/>
                </a:solidFill>
                <a:latin typeface="Helvetica Neue"/>
              </a:rPr>
              <a:t>• Authors’ analysis of Community Notes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11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E737B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11318"/>
                </a:solidFill>
                <a:latin typeface="Helvetica Neue"/>
              </a:rPr>
              <a:t>Candidates, then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457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E737B"/>
                </a:solidFill>
                <a:latin typeface="Helvetica Neue"/>
              </a:rP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00784"/>
            <a:ext cx="493776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12264"/>
            <a:ext cx="13258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2F6BFF"/>
                </a:solidFill>
                <a:latin typeface="Helvetica Neue"/>
              </a:rPr>
              <a:t>15%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06624" y="226771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6E737B"/>
                </a:solidFill>
                <a:latin typeface="Helvetica Neue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2112264"/>
            <a:ext cx="14447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22A06B"/>
                </a:solidFill>
                <a:latin typeface="Helvetica Neue"/>
              </a:rPr>
              <a:t>46%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1089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E737B"/>
                </a:solidFill>
                <a:latin typeface="Helvetica Neue"/>
              </a:rPr>
              <a:t>• pre-validation visibility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3977639"/>
            <a:ext cx="4114800" cy="457200"/>
          </a:xfrm>
          <a:prstGeom prst="roundRect">
            <a:avLst/>
          </a:prstGeom>
          <a:solidFill>
            <a:srgbClr val="ECEDE9"/>
          </a:solidFill>
          <a:ln w="1016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3977639"/>
            <a:ext cx="621792" cy="457200"/>
          </a:xfrm>
          <a:prstGeom prst="roundRect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56231" y="3977639"/>
            <a:ext cx="1280160" cy="457200"/>
          </a:xfrm>
          <a:prstGeom prst="roundRect">
            <a:avLst/>
          </a:prstGeom>
          <a:solidFill>
            <a:srgbClr val="22A06B"/>
          </a:solidFill>
          <a:ln w="10160">
            <a:solidFill>
              <a:srgbClr val="22A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791456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11318"/>
                </a:solidFill>
                <a:latin typeface="Helvetica Neue"/>
              </a:rPr>
              <a:t>• +31 percentage 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2472" y="1700784"/>
            <a:ext cx="5257800" cy="4069080"/>
          </a:xfrm>
          <a:prstGeom prst="roundRect">
            <a:avLst/>
          </a:prstGeom>
          <a:solidFill>
            <a:srgbClr val="111318"/>
          </a:solidFill>
          <a:ln w="10160">
            <a:solidFill>
              <a:srgbClr val="111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084831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Helvetica Neue"/>
              </a:rPr>
              <a:t>13,655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224028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Helvetica Neue"/>
              </a:rPr>
              <a:t>• candidates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79" y="2834640"/>
            <a:ext cx="0" cy="594360"/>
          </a:xfrm>
          <a:prstGeom prst="line">
            <a:avLst/>
          </a:prstGeom>
          <a:ln w="25400">
            <a:solidFill>
              <a:srgbClr val="6E73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73952" y="3694176"/>
            <a:ext cx="20116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22A06B"/>
                </a:solidFill>
                <a:latin typeface="Helvetica Neue"/>
              </a:rPr>
              <a:t>3,896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1936" y="387705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Helvetica Neue"/>
              </a:rPr>
              <a:t>• validated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59028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Helvetica Neue"/>
              </a:rPr>
              <a:t>• sourced
• factual
• rescue-worthy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473952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E737B"/>
                </a:solidFill>
                <a:latin typeface="Helvetica Neue"/>
              </a:rPr>
              <a:t>• Authors’ pipeline results; Gabriel validation · two camps · model-based validation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A7ABB2"/>
                </a:solidFill>
                <a:latin typeface="Helvetica Neue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115568"/>
            <a:ext cx="58521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Helvetica Neue"/>
              </a:rPr>
              <a:t>NOT ONLY A
PREDICTION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688336"/>
            <a:ext cx="58521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22A06B"/>
                </a:solidFill>
                <a:latin typeface="Helvetica Neue"/>
              </a:rPr>
              <a:t>AN AGGREGATION
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4828032"/>
            <a:ext cx="512064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>
                <a:solidFill>
                  <a:srgbClr val="22A06B"/>
                </a:solidFill>
                <a:latin typeface="Helvetica Neue"/>
              </a:rPr>
              <a:t>• </a:t>
            </a:r>
            <a:r>
              <a:rPr sz="1700" b="0">
                <a:solidFill>
                  <a:srgbClr val="FFFFFF"/>
                </a:solidFill>
                <a:latin typeface="Helvetica Neue"/>
              </a:rPr>
              <a:t>Make constituencies explicit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>
                <a:solidFill>
                  <a:srgbClr val="22A06B"/>
                </a:solidFill>
                <a:latin typeface="Helvetica Neue"/>
              </a:rPr>
              <a:t>• </a:t>
            </a:r>
            <a:r>
              <a:rPr sz="1700" b="0">
                <a:solidFill>
                  <a:srgbClr val="FFFFFF"/>
                </a:solidFill>
                <a:latin typeface="Helvetica Neue"/>
              </a:rPr>
              <a:t>Require support across them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700" b="1">
                <a:solidFill>
                  <a:srgbClr val="22A06B"/>
                </a:solidFill>
                <a:latin typeface="Helvetica Neue"/>
              </a:rPr>
              <a:t>• </a:t>
            </a:r>
            <a:r>
              <a:rPr sz="1700" b="0">
                <a:solidFill>
                  <a:srgbClr val="FFFFFF"/>
                </a:solidFill>
                <a:latin typeface="Helvetica Neue"/>
              </a:rPr>
              <a:t>Validate content separately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841248"/>
            <a:ext cx="1965960" cy="1965960"/>
          </a:xfrm>
          <a:prstGeom prst="roundRect">
            <a:avLst/>
          </a:prstGeom>
          <a:solidFill>
            <a:srgbClr val="182239"/>
          </a:solidFill>
          <a:ln w="10160">
            <a:solidFill>
              <a:srgbClr val="182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92670" y="1431036"/>
            <a:ext cx="255574" cy="255574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66202" y="1273759"/>
            <a:ext cx="294893" cy="294893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39735" y="1450695"/>
            <a:ext cx="255574" cy="255574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36331" y="1824228"/>
            <a:ext cx="294893" cy="294893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84160" y="1784908"/>
            <a:ext cx="334213" cy="334213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0627" y="2020824"/>
            <a:ext cx="235915" cy="235915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61096" y="2178100"/>
            <a:ext cx="255574" cy="255574"/>
          </a:xfrm>
          <a:prstGeom prst="ellipse">
            <a:avLst/>
          </a:prstGeom>
          <a:solidFill>
            <a:srgbClr val="2F6BFF"/>
          </a:solidFill>
          <a:ln w="1016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89136" y="4059936"/>
            <a:ext cx="1965960" cy="1965960"/>
          </a:xfrm>
          <a:prstGeom prst="roundRect">
            <a:avLst/>
          </a:prstGeom>
          <a:solidFill>
            <a:srgbClr val="321C1A"/>
          </a:solidFill>
          <a:ln w="10160">
            <a:solidFill>
              <a:srgbClr val="321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60966" y="4649724"/>
            <a:ext cx="255574" cy="255574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34498" y="4492447"/>
            <a:ext cx="294893" cy="294893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08031" y="4669383"/>
            <a:ext cx="255574" cy="255574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04627" y="5042916"/>
            <a:ext cx="294893" cy="294893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2456" y="5003596"/>
            <a:ext cx="334213" cy="334213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78924" y="5239512"/>
            <a:ext cx="235915" cy="235915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29392" y="5396788"/>
            <a:ext cx="255574" cy="255574"/>
          </a:xfrm>
          <a:prstGeom prst="ellipse">
            <a:avLst/>
          </a:prstGeom>
          <a:solidFill>
            <a:srgbClr val="FF654F"/>
          </a:solidFill>
          <a:ln w="10160">
            <a:solidFill>
              <a:srgbClr val="FF6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57031" y="2258568"/>
            <a:ext cx="1965960" cy="1965960"/>
          </a:xfrm>
          <a:prstGeom prst="roundRect">
            <a:avLst/>
          </a:prstGeom>
          <a:solidFill>
            <a:srgbClr val="E4F5ED"/>
          </a:solidFill>
          <a:ln w="10160">
            <a:solidFill>
              <a:srgbClr val="E4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9883" y="2612440"/>
            <a:ext cx="1140256" cy="121889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866479" y="2926994"/>
            <a:ext cx="747065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866479" y="3162909"/>
            <a:ext cx="589788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866479" y="3398824"/>
            <a:ext cx="668426" cy="0"/>
          </a:xfrm>
          <a:prstGeom prst="line">
            <a:avLst/>
          </a:prstGeom>
          <a:ln w="17780">
            <a:solidFill>
              <a:srgbClr val="111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9436607" y="3556101"/>
            <a:ext cx="196596" cy="196596"/>
          </a:xfrm>
          <a:prstGeom prst="ellipse">
            <a:avLst/>
          </a:prstGeom>
          <a:solidFill>
            <a:srgbClr val="22A06B"/>
          </a:solidFill>
          <a:ln w="10160">
            <a:solidFill>
              <a:srgbClr val="22A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7845552" y="2313432"/>
            <a:ext cx="603504" cy="502920"/>
          </a:xfrm>
          <a:prstGeom prst="line">
            <a:avLst/>
          </a:prstGeom>
          <a:ln w="3175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9473184" y="3794760"/>
            <a:ext cx="128016" cy="265176"/>
          </a:xfrm>
          <a:prstGeom prst="line">
            <a:avLst/>
          </a:prstGeom>
          <a:ln w="31750">
            <a:solidFill>
              <a:srgbClr val="FF6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155680" y="614476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A7ABB2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