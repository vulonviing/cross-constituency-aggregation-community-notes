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n-lt"/>
        <a:ea typeface="+mn-ea"/>
        <a:cs typeface="+mn-cs"/>
        <a:sym typeface="Calibri"/>
      </a:defRPr>
    </a:lvl1pPr>
    <a:lvl2pPr indent="228600" defTabSz="457200" latinLnBrk="0">
      <a:defRPr sz="1200">
        <a:latin typeface="+mn-lt"/>
        <a:ea typeface="+mn-ea"/>
        <a:cs typeface="+mn-cs"/>
        <a:sym typeface="Calibri"/>
      </a:defRPr>
    </a:lvl2pPr>
    <a:lvl3pPr indent="457200" defTabSz="457200" latinLnBrk="0">
      <a:defRPr sz="1200">
        <a:latin typeface="+mn-lt"/>
        <a:ea typeface="+mn-ea"/>
        <a:cs typeface="+mn-cs"/>
        <a:sym typeface="Calibri"/>
      </a:defRPr>
    </a:lvl3pPr>
    <a:lvl4pPr indent="685800" defTabSz="457200" latinLnBrk="0">
      <a:defRPr sz="1200">
        <a:latin typeface="+mn-lt"/>
        <a:ea typeface="+mn-ea"/>
        <a:cs typeface="+mn-cs"/>
        <a:sym typeface="Calibri"/>
      </a:defRPr>
    </a:lvl4pPr>
    <a:lvl5pPr indent="914400" defTabSz="457200" latinLnBrk="0">
      <a:defRPr sz="1200">
        <a:latin typeface="+mn-lt"/>
        <a:ea typeface="+mn-ea"/>
        <a:cs typeface="+mn-cs"/>
        <a:sym typeface="Calibri"/>
      </a:defRPr>
    </a:lvl5pPr>
    <a:lvl6pPr indent="1143000" defTabSz="457200" latinLnBrk="0">
      <a:defRPr sz="1200">
        <a:latin typeface="+mn-lt"/>
        <a:ea typeface="+mn-ea"/>
        <a:cs typeface="+mn-cs"/>
        <a:sym typeface="Calibri"/>
      </a:defRPr>
    </a:lvl6pPr>
    <a:lvl7pPr indent="1371600" defTabSz="457200" latinLnBrk="0">
      <a:defRPr sz="1200">
        <a:latin typeface="+mn-lt"/>
        <a:ea typeface="+mn-ea"/>
        <a:cs typeface="+mn-cs"/>
        <a:sym typeface="Calibri"/>
      </a:defRPr>
    </a:lvl7pPr>
    <a:lvl8pPr indent="1600200" defTabSz="457200" latinLnBrk="0">
      <a:defRPr sz="1200">
        <a:latin typeface="+mn-lt"/>
        <a:ea typeface="+mn-ea"/>
        <a:cs typeface="+mn-cs"/>
        <a:sym typeface="Calibri"/>
      </a:defRPr>
    </a:lvl8pPr>
    <a:lvl9pPr indent="1828800" defTabSz="4572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9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8" indent="-320038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1"/>
            <a:ext cx="4041775" cy="639765"/>
          </a:xfrm>
          <a:prstGeom prst="rect">
            <a:avLst/>
          </a:prstGeom>
        </p:spPr>
        <p:txBody>
          <a:bodyPr anchor="b"/>
          <a:lstStyle/>
          <a:p>
            <a:pPr/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5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8" y="1435100"/>
            <a:ext cx="3008316" cy="4691063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2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2" cy="4114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2" cy="804864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0">
              <a:spcBef>
                <a:spcPts val="300"/>
              </a:spcBef>
              <a:buSzTx/>
              <a:buFontTx/>
              <a:buNone/>
              <a:defRPr sz="1400"/>
            </a:lvl2pPr>
            <a:lvl3pPr marL="0" indent="0">
              <a:spcBef>
                <a:spcPts val="300"/>
              </a:spcBef>
              <a:buSzTx/>
              <a:buFontTx/>
              <a:buNone/>
              <a:defRPr sz="1400"/>
            </a:lvl3pPr>
            <a:lvl4pPr marL="0" indent="0">
              <a:spcBef>
                <a:spcPts val="300"/>
              </a:spcBef>
              <a:buSzTx/>
              <a:buFontTx/>
              <a:buNone/>
              <a:defRPr sz="1400"/>
            </a:lvl4pPr>
            <a:lvl5pPr marL="0" indent="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8" y="6414761"/>
            <a:ext cx="258623" cy="248303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Box 1"/>
          <p:cNvSpPr txBox="1"/>
          <p:nvPr/>
        </p:nvSpPr>
        <p:spPr>
          <a:xfrm>
            <a:off x="658368" y="749808"/>
            <a:ext cx="5669280" cy="1154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38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WHO SPEAKS</a:t>
            </a:r>
          </a:p>
          <a:p>
            <a:pPr>
              <a:defRPr b="1" sz="38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FOR THE CROWD?</a:t>
            </a:r>
          </a:p>
        </p:txBody>
      </p:sp>
      <p:sp>
        <p:nvSpPr>
          <p:cNvPr id="95" name="TextBox 2"/>
          <p:cNvSpPr txBox="1"/>
          <p:nvPr/>
        </p:nvSpPr>
        <p:spPr>
          <a:xfrm>
            <a:off x="704086" y="2926078"/>
            <a:ext cx="5120644" cy="285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Cross-Constituency Aggregation</a:t>
            </a:r>
          </a:p>
        </p:txBody>
      </p:sp>
      <p:sp>
        <p:nvSpPr>
          <p:cNvPr id="96" name="TextBox 3"/>
          <p:cNvSpPr txBox="1"/>
          <p:nvPr/>
        </p:nvSpPr>
        <p:spPr>
          <a:xfrm>
            <a:off x="704087" y="3364991"/>
            <a:ext cx="4389123" cy="285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for Community Notes</a:t>
            </a:r>
          </a:p>
        </p:txBody>
      </p:sp>
      <p:sp>
        <p:nvSpPr>
          <p:cNvPr id="97" name="Oval 4"/>
          <p:cNvSpPr/>
          <p:nvPr/>
        </p:nvSpPr>
        <p:spPr>
          <a:xfrm>
            <a:off x="7543799" y="1005838"/>
            <a:ext cx="91444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98" name="Oval 5"/>
          <p:cNvSpPr/>
          <p:nvPr/>
        </p:nvSpPr>
        <p:spPr>
          <a:xfrm>
            <a:off x="7891271" y="1005838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99" name="Oval 6"/>
          <p:cNvSpPr/>
          <p:nvPr/>
        </p:nvSpPr>
        <p:spPr>
          <a:xfrm>
            <a:off x="8238742" y="1005838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00" name="Oval 7"/>
          <p:cNvSpPr/>
          <p:nvPr/>
        </p:nvSpPr>
        <p:spPr>
          <a:xfrm>
            <a:off x="8586216" y="1005838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01" name="Oval 8"/>
          <p:cNvSpPr/>
          <p:nvPr/>
        </p:nvSpPr>
        <p:spPr>
          <a:xfrm>
            <a:off x="8933688" y="1005838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02" name="Oval 9"/>
          <p:cNvSpPr/>
          <p:nvPr/>
        </p:nvSpPr>
        <p:spPr>
          <a:xfrm>
            <a:off x="7671816" y="1389888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03" name="Oval 10"/>
          <p:cNvSpPr/>
          <p:nvPr/>
        </p:nvSpPr>
        <p:spPr>
          <a:xfrm>
            <a:off x="8019288" y="1389888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04" name="Oval 11"/>
          <p:cNvSpPr/>
          <p:nvPr/>
        </p:nvSpPr>
        <p:spPr>
          <a:xfrm>
            <a:off x="8366759" y="1389888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05" name="Oval 12"/>
          <p:cNvSpPr/>
          <p:nvPr/>
        </p:nvSpPr>
        <p:spPr>
          <a:xfrm>
            <a:off x="8714230" y="1389888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06" name="Oval 13"/>
          <p:cNvSpPr/>
          <p:nvPr/>
        </p:nvSpPr>
        <p:spPr>
          <a:xfrm>
            <a:off x="9061704" y="1389888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07" name="Oval 14"/>
          <p:cNvSpPr/>
          <p:nvPr/>
        </p:nvSpPr>
        <p:spPr>
          <a:xfrm>
            <a:off x="7543799" y="1773934"/>
            <a:ext cx="91444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08" name="Oval 15"/>
          <p:cNvSpPr/>
          <p:nvPr/>
        </p:nvSpPr>
        <p:spPr>
          <a:xfrm>
            <a:off x="7891271" y="1773934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09" name="Oval 16"/>
          <p:cNvSpPr/>
          <p:nvPr/>
        </p:nvSpPr>
        <p:spPr>
          <a:xfrm>
            <a:off x="8238742" y="1773934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10" name="Oval 17"/>
          <p:cNvSpPr/>
          <p:nvPr/>
        </p:nvSpPr>
        <p:spPr>
          <a:xfrm>
            <a:off x="8586216" y="1773934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11" name="Oval 18"/>
          <p:cNvSpPr/>
          <p:nvPr/>
        </p:nvSpPr>
        <p:spPr>
          <a:xfrm>
            <a:off x="8933688" y="1773934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12" name="Oval 19"/>
          <p:cNvSpPr/>
          <p:nvPr/>
        </p:nvSpPr>
        <p:spPr>
          <a:xfrm>
            <a:off x="7671816" y="2157983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13" name="Oval 20"/>
          <p:cNvSpPr/>
          <p:nvPr/>
        </p:nvSpPr>
        <p:spPr>
          <a:xfrm>
            <a:off x="8019288" y="2157983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14" name="Oval 21"/>
          <p:cNvSpPr/>
          <p:nvPr/>
        </p:nvSpPr>
        <p:spPr>
          <a:xfrm>
            <a:off x="8366759" y="2157983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15" name="Oval 22"/>
          <p:cNvSpPr/>
          <p:nvPr/>
        </p:nvSpPr>
        <p:spPr>
          <a:xfrm>
            <a:off x="8714230" y="2157983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16" name="Oval 23"/>
          <p:cNvSpPr/>
          <p:nvPr/>
        </p:nvSpPr>
        <p:spPr>
          <a:xfrm>
            <a:off x="9061704" y="2157983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17" name="Oval 24"/>
          <p:cNvSpPr/>
          <p:nvPr/>
        </p:nvSpPr>
        <p:spPr>
          <a:xfrm>
            <a:off x="7543799" y="4315967"/>
            <a:ext cx="91444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18" name="Oval 25"/>
          <p:cNvSpPr/>
          <p:nvPr/>
        </p:nvSpPr>
        <p:spPr>
          <a:xfrm>
            <a:off x="7891271" y="4315967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19" name="Oval 26"/>
          <p:cNvSpPr/>
          <p:nvPr/>
        </p:nvSpPr>
        <p:spPr>
          <a:xfrm>
            <a:off x="8238742" y="4315967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20" name="Oval 27"/>
          <p:cNvSpPr/>
          <p:nvPr/>
        </p:nvSpPr>
        <p:spPr>
          <a:xfrm>
            <a:off x="8586216" y="4315967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21" name="Oval 28"/>
          <p:cNvSpPr/>
          <p:nvPr/>
        </p:nvSpPr>
        <p:spPr>
          <a:xfrm>
            <a:off x="8933688" y="4315967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22" name="Oval 29"/>
          <p:cNvSpPr/>
          <p:nvPr/>
        </p:nvSpPr>
        <p:spPr>
          <a:xfrm>
            <a:off x="7671816" y="4700015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23" name="Oval 30"/>
          <p:cNvSpPr/>
          <p:nvPr/>
        </p:nvSpPr>
        <p:spPr>
          <a:xfrm>
            <a:off x="8019288" y="4700015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24" name="Oval 31"/>
          <p:cNvSpPr/>
          <p:nvPr/>
        </p:nvSpPr>
        <p:spPr>
          <a:xfrm>
            <a:off x="8366759" y="4700015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25" name="Oval 32"/>
          <p:cNvSpPr/>
          <p:nvPr/>
        </p:nvSpPr>
        <p:spPr>
          <a:xfrm>
            <a:off x="8714230" y="4700015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26" name="Oval 33"/>
          <p:cNvSpPr/>
          <p:nvPr/>
        </p:nvSpPr>
        <p:spPr>
          <a:xfrm>
            <a:off x="9061704" y="4700015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27" name="Oval 34"/>
          <p:cNvSpPr/>
          <p:nvPr/>
        </p:nvSpPr>
        <p:spPr>
          <a:xfrm>
            <a:off x="7543799" y="5084064"/>
            <a:ext cx="91444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28" name="Oval 35"/>
          <p:cNvSpPr/>
          <p:nvPr/>
        </p:nvSpPr>
        <p:spPr>
          <a:xfrm>
            <a:off x="7891271" y="5084064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29" name="Oval 36"/>
          <p:cNvSpPr/>
          <p:nvPr/>
        </p:nvSpPr>
        <p:spPr>
          <a:xfrm>
            <a:off x="8238742" y="5084064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30" name="Oval 37"/>
          <p:cNvSpPr/>
          <p:nvPr/>
        </p:nvSpPr>
        <p:spPr>
          <a:xfrm>
            <a:off x="8586216" y="5084064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31" name="Oval 38"/>
          <p:cNvSpPr/>
          <p:nvPr/>
        </p:nvSpPr>
        <p:spPr>
          <a:xfrm>
            <a:off x="8933688" y="5084064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32" name="Rounded Rectangle 39"/>
          <p:cNvSpPr/>
          <p:nvPr/>
        </p:nvSpPr>
        <p:spPr>
          <a:xfrm>
            <a:off x="10195559" y="2542032"/>
            <a:ext cx="1234442" cy="1481330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33" name="Connector 40"/>
          <p:cNvSpPr/>
          <p:nvPr/>
        </p:nvSpPr>
        <p:spPr>
          <a:xfrm>
            <a:off x="10442447" y="2971800"/>
            <a:ext cx="713234" cy="0"/>
          </a:xfrm>
          <a:prstGeom prst="line">
            <a:avLst/>
          </a:prstGeom>
          <a:ln w="1778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4" name="Connector 41"/>
          <p:cNvSpPr/>
          <p:nvPr/>
        </p:nvSpPr>
        <p:spPr>
          <a:xfrm>
            <a:off x="10442447" y="3273552"/>
            <a:ext cx="557786" cy="2"/>
          </a:xfrm>
          <a:prstGeom prst="line">
            <a:avLst/>
          </a:prstGeom>
          <a:ln w="1778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" name="Connector 42"/>
          <p:cNvSpPr/>
          <p:nvPr/>
        </p:nvSpPr>
        <p:spPr>
          <a:xfrm>
            <a:off x="9107423" y="2203704"/>
            <a:ext cx="1088138" cy="740666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" name="Connector 43"/>
          <p:cNvSpPr/>
          <p:nvPr/>
        </p:nvSpPr>
        <p:spPr>
          <a:xfrm flipV="1">
            <a:off x="8979406" y="3611879"/>
            <a:ext cx="1216154" cy="151790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" name="TextBox 45"/>
          <p:cNvSpPr txBox="1"/>
          <p:nvPr/>
        </p:nvSpPr>
        <p:spPr>
          <a:xfrm>
            <a:off x="11082528" y="6181344"/>
            <a:ext cx="438914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WHAT IS COMMUNITY NOTES?</a:t>
            </a:r>
          </a:p>
        </p:txBody>
      </p:sp>
      <p:sp>
        <p:nvSpPr>
          <p:cNvPr id="140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One note. One decision.</a:t>
            </a:r>
          </a:p>
        </p:txBody>
      </p:sp>
      <p:sp>
        <p:nvSpPr>
          <p:cNvPr id="141" name="TextBox 3"/>
          <p:cNvSpPr txBox="1"/>
          <p:nvPr/>
        </p:nvSpPr>
        <p:spPr>
          <a:xfrm>
            <a:off x="11082528" y="457199"/>
            <a:ext cx="43891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42" name="TextBox 31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X Community Notes (2026)</a:t>
            </a:r>
          </a:p>
        </p:txBody>
      </p:sp>
      <p:sp>
        <p:nvSpPr>
          <p:cNvPr id="143" name="Oval 4"/>
          <p:cNvSpPr/>
          <p:nvPr/>
        </p:nvSpPr>
        <p:spPr>
          <a:xfrm>
            <a:off x="1708854" y="2413251"/>
            <a:ext cx="246891" cy="24689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44" name="Connector 5"/>
          <p:cNvSpPr/>
          <p:nvPr/>
        </p:nvSpPr>
        <p:spPr>
          <a:xfrm>
            <a:off x="1832299" y="2660139"/>
            <a:ext cx="2" cy="40736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" name="Connector 6"/>
          <p:cNvSpPr/>
          <p:nvPr/>
        </p:nvSpPr>
        <p:spPr>
          <a:xfrm>
            <a:off x="1659477" y="2832960"/>
            <a:ext cx="345645" cy="2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" name="Connector 7"/>
          <p:cNvSpPr/>
          <p:nvPr/>
        </p:nvSpPr>
        <p:spPr>
          <a:xfrm flipH="1">
            <a:off x="1671821" y="3067505"/>
            <a:ext cx="160480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" name="Connector 8"/>
          <p:cNvSpPr/>
          <p:nvPr/>
        </p:nvSpPr>
        <p:spPr>
          <a:xfrm>
            <a:off x="1832299" y="3067505"/>
            <a:ext cx="160479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151" name="Group"/>
          <p:cNvGrpSpPr/>
          <p:nvPr/>
        </p:nvGrpSpPr>
        <p:grpSpPr>
          <a:xfrm>
            <a:off x="8060535" y="3550472"/>
            <a:ext cx="635003" cy="635003"/>
            <a:chOff x="0" y="0"/>
            <a:chExt cx="635001" cy="635001"/>
          </a:xfrm>
        </p:grpSpPr>
        <p:sp>
          <p:nvSpPr>
            <p:cNvPr id="148" name="Oval 19"/>
            <p:cNvSpPr/>
            <p:nvPr/>
          </p:nvSpPr>
          <p:spPr>
            <a:xfrm>
              <a:off x="0" y="0"/>
              <a:ext cx="635003" cy="635003"/>
            </a:xfrm>
            <a:prstGeom prst="ellipse">
              <a:avLst/>
            </a:prstGeom>
            <a:solidFill>
              <a:srgbClr val="1FA873"/>
            </a:solidFill>
            <a:ln w="10160" cap="flat">
              <a:solidFill>
                <a:srgbClr val="1FA87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149" name="Connector 20"/>
            <p:cNvSpPr/>
            <p:nvPr/>
          </p:nvSpPr>
          <p:spPr>
            <a:xfrm>
              <a:off x="127000" y="338666"/>
              <a:ext cx="169335" cy="169335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50" name="Connector 21"/>
            <p:cNvSpPr/>
            <p:nvPr/>
          </p:nvSpPr>
          <p:spPr>
            <a:xfrm flipV="1">
              <a:off x="296331" y="169333"/>
              <a:ext cx="254002" cy="338668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sp>
        <p:nvSpPr>
          <p:cNvPr id="152" name="Oval 22"/>
          <p:cNvSpPr/>
          <p:nvPr/>
        </p:nvSpPr>
        <p:spPr>
          <a:xfrm>
            <a:off x="8865872" y="3550472"/>
            <a:ext cx="635003" cy="635003"/>
          </a:xfrm>
          <a:prstGeom prst="ellipse">
            <a:avLst/>
          </a:prstGeom>
          <a:solidFill>
            <a:schemeClr val="accent2">
              <a:satOff val="-4966"/>
              <a:lumOff val="-10549"/>
            </a:schemeClr>
          </a:solidFill>
          <a:ln w="25400">
            <a:solidFill>
              <a:srgbClr val="8C3A3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53" name="Connector 23"/>
          <p:cNvSpPr/>
          <p:nvPr/>
        </p:nvSpPr>
        <p:spPr>
          <a:xfrm>
            <a:off x="8992871" y="3867972"/>
            <a:ext cx="381002" cy="2"/>
          </a:xfrm>
          <a:prstGeom prst="line">
            <a:avLst/>
          </a:prstGeom>
          <a:ln w="12700">
            <a:solidFill>
              <a:srgbClr val="FFFFFF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" name="Connector 24"/>
          <p:cNvSpPr/>
          <p:nvPr/>
        </p:nvSpPr>
        <p:spPr>
          <a:xfrm>
            <a:off x="2693662" y="2846067"/>
            <a:ext cx="1371603" cy="2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" name="TextBox 25"/>
          <p:cNvSpPr txBox="1"/>
          <p:nvPr/>
        </p:nvSpPr>
        <p:spPr>
          <a:xfrm>
            <a:off x="4074407" y="2654044"/>
            <a:ext cx="29261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56" name="TextBox 28"/>
          <p:cNvSpPr txBox="1"/>
          <p:nvPr/>
        </p:nvSpPr>
        <p:spPr>
          <a:xfrm>
            <a:off x="1685331" y="4403166"/>
            <a:ext cx="2560323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Sees the note</a:t>
            </a:r>
          </a:p>
        </p:txBody>
      </p:sp>
      <p:sp>
        <p:nvSpPr>
          <p:cNvPr id="157" name="TextBox 29"/>
          <p:cNvSpPr txBox="1"/>
          <p:nvPr/>
        </p:nvSpPr>
        <p:spPr>
          <a:xfrm>
            <a:off x="5009839" y="5630290"/>
            <a:ext cx="2926083" cy="260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Reads the context</a:t>
            </a:r>
          </a:p>
        </p:txBody>
      </p:sp>
      <p:sp>
        <p:nvSpPr>
          <p:cNvPr id="158" name="TextBox 30"/>
          <p:cNvSpPr txBox="1"/>
          <p:nvPr/>
        </p:nvSpPr>
        <p:spPr>
          <a:xfrm>
            <a:off x="8578743" y="4413015"/>
            <a:ext cx="2834641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Rates helpfulness</a:t>
            </a:r>
          </a:p>
        </p:txBody>
      </p:sp>
      <p:pic>
        <p:nvPicPr>
          <p:cNvPr id="159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55558" y="1462275"/>
            <a:ext cx="2834642" cy="3968498"/>
          </a:xfrm>
          <a:prstGeom prst="rect">
            <a:avLst/>
          </a:prstGeom>
          <a:ln w="12700">
            <a:miter lim="400000"/>
          </a:ln>
        </p:spPr>
      </p:pic>
      <p:sp>
        <p:nvSpPr>
          <p:cNvPr id="160" name="Rectangle"/>
          <p:cNvSpPr/>
          <p:nvPr/>
        </p:nvSpPr>
        <p:spPr>
          <a:xfrm>
            <a:off x="4623363" y="1454864"/>
            <a:ext cx="6103246" cy="469456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WHAT IS COMMUNITY NOTES?</a:t>
            </a:r>
          </a:p>
        </p:txBody>
      </p:sp>
      <p:sp>
        <p:nvSpPr>
          <p:cNvPr id="163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One note. One decision.</a:t>
            </a:r>
          </a:p>
        </p:txBody>
      </p:sp>
      <p:sp>
        <p:nvSpPr>
          <p:cNvPr id="164" name="TextBox 3"/>
          <p:cNvSpPr txBox="1"/>
          <p:nvPr/>
        </p:nvSpPr>
        <p:spPr>
          <a:xfrm>
            <a:off x="11082528" y="457199"/>
            <a:ext cx="43891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65" name="TextBox 31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X Community Notes (2026)</a:t>
            </a:r>
          </a:p>
        </p:txBody>
      </p:sp>
      <p:sp>
        <p:nvSpPr>
          <p:cNvPr id="166" name="Oval 4"/>
          <p:cNvSpPr/>
          <p:nvPr/>
        </p:nvSpPr>
        <p:spPr>
          <a:xfrm>
            <a:off x="1708854" y="2413251"/>
            <a:ext cx="246891" cy="24689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67" name="Connector 5"/>
          <p:cNvSpPr/>
          <p:nvPr/>
        </p:nvSpPr>
        <p:spPr>
          <a:xfrm>
            <a:off x="1832299" y="2660139"/>
            <a:ext cx="2" cy="40736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8" name="Connector 6"/>
          <p:cNvSpPr/>
          <p:nvPr/>
        </p:nvSpPr>
        <p:spPr>
          <a:xfrm>
            <a:off x="1659477" y="2832960"/>
            <a:ext cx="345645" cy="2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" name="Connector 7"/>
          <p:cNvSpPr/>
          <p:nvPr/>
        </p:nvSpPr>
        <p:spPr>
          <a:xfrm flipH="1">
            <a:off x="1671821" y="3067505"/>
            <a:ext cx="160480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0" name="Connector 8"/>
          <p:cNvSpPr/>
          <p:nvPr/>
        </p:nvSpPr>
        <p:spPr>
          <a:xfrm>
            <a:off x="1832299" y="3067505"/>
            <a:ext cx="160479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174" name="Group"/>
          <p:cNvGrpSpPr/>
          <p:nvPr/>
        </p:nvGrpSpPr>
        <p:grpSpPr>
          <a:xfrm>
            <a:off x="8060535" y="3550472"/>
            <a:ext cx="635003" cy="635003"/>
            <a:chOff x="0" y="0"/>
            <a:chExt cx="635001" cy="635001"/>
          </a:xfrm>
        </p:grpSpPr>
        <p:sp>
          <p:nvSpPr>
            <p:cNvPr id="171" name="Oval 19"/>
            <p:cNvSpPr/>
            <p:nvPr/>
          </p:nvSpPr>
          <p:spPr>
            <a:xfrm>
              <a:off x="0" y="0"/>
              <a:ext cx="635003" cy="635003"/>
            </a:xfrm>
            <a:prstGeom prst="ellipse">
              <a:avLst/>
            </a:prstGeom>
            <a:solidFill>
              <a:srgbClr val="1FA873"/>
            </a:solidFill>
            <a:ln w="10160" cap="flat">
              <a:solidFill>
                <a:srgbClr val="1FA87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172" name="Connector 20"/>
            <p:cNvSpPr/>
            <p:nvPr/>
          </p:nvSpPr>
          <p:spPr>
            <a:xfrm>
              <a:off x="127000" y="338666"/>
              <a:ext cx="169335" cy="169335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73" name="Connector 21"/>
            <p:cNvSpPr/>
            <p:nvPr/>
          </p:nvSpPr>
          <p:spPr>
            <a:xfrm flipV="1">
              <a:off x="296331" y="169333"/>
              <a:ext cx="254002" cy="338668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sp>
        <p:nvSpPr>
          <p:cNvPr id="175" name="Oval 22"/>
          <p:cNvSpPr/>
          <p:nvPr/>
        </p:nvSpPr>
        <p:spPr>
          <a:xfrm>
            <a:off x="8865872" y="3550472"/>
            <a:ext cx="635003" cy="635003"/>
          </a:xfrm>
          <a:prstGeom prst="ellipse">
            <a:avLst/>
          </a:prstGeom>
          <a:solidFill>
            <a:schemeClr val="accent2">
              <a:satOff val="-4966"/>
              <a:lumOff val="-10549"/>
            </a:schemeClr>
          </a:solidFill>
          <a:ln w="25400">
            <a:solidFill>
              <a:srgbClr val="8C3A3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76" name="Connector 23"/>
          <p:cNvSpPr/>
          <p:nvPr/>
        </p:nvSpPr>
        <p:spPr>
          <a:xfrm>
            <a:off x="8992871" y="3867972"/>
            <a:ext cx="381002" cy="2"/>
          </a:xfrm>
          <a:prstGeom prst="line">
            <a:avLst/>
          </a:prstGeom>
          <a:ln w="12700">
            <a:solidFill>
              <a:srgbClr val="FFFFFF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" name="Connector 24"/>
          <p:cNvSpPr/>
          <p:nvPr/>
        </p:nvSpPr>
        <p:spPr>
          <a:xfrm>
            <a:off x="2693662" y="2846067"/>
            <a:ext cx="1371603" cy="2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8" name="TextBox 25"/>
          <p:cNvSpPr txBox="1"/>
          <p:nvPr/>
        </p:nvSpPr>
        <p:spPr>
          <a:xfrm>
            <a:off x="4074407" y="2654044"/>
            <a:ext cx="29261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79" name="TextBox 28"/>
          <p:cNvSpPr txBox="1"/>
          <p:nvPr/>
        </p:nvSpPr>
        <p:spPr>
          <a:xfrm>
            <a:off x="1685331" y="4403166"/>
            <a:ext cx="2560323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Sees the note</a:t>
            </a:r>
          </a:p>
        </p:txBody>
      </p:sp>
      <p:sp>
        <p:nvSpPr>
          <p:cNvPr id="180" name="TextBox 29"/>
          <p:cNvSpPr txBox="1"/>
          <p:nvPr/>
        </p:nvSpPr>
        <p:spPr>
          <a:xfrm>
            <a:off x="5009839" y="5630290"/>
            <a:ext cx="2926083" cy="260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Reads the context</a:t>
            </a:r>
          </a:p>
        </p:txBody>
      </p:sp>
      <p:sp>
        <p:nvSpPr>
          <p:cNvPr id="181" name="TextBox 30"/>
          <p:cNvSpPr txBox="1"/>
          <p:nvPr/>
        </p:nvSpPr>
        <p:spPr>
          <a:xfrm>
            <a:off x="8578743" y="4413015"/>
            <a:ext cx="2834641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Rates helpfulness</a:t>
            </a:r>
          </a:p>
        </p:txBody>
      </p:sp>
      <p:pic>
        <p:nvPicPr>
          <p:cNvPr id="182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55558" y="1462275"/>
            <a:ext cx="2834642" cy="3968498"/>
          </a:xfrm>
          <a:prstGeom prst="rect">
            <a:avLst/>
          </a:prstGeom>
          <a:ln w="12700">
            <a:miter lim="400000"/>
          </a:ln>
        </p:spPr>
      </p:pic>
      <p:sp>
        <p:nvSpPr>
          <p:cNvPr id="183" name="Rectangle"/>
          <p:cNvSpPr/>
          <p:nvPr/>
        </p:nvSpPr>
        <p:spPr>
          <a:xfrm>
            <a:off x="4623363" y="3673616"/>
            <a:ext cx="3417918" cy="189652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84" name="Rectangle"/>
          <p:cNvSpPr/>
          <p:nvPr/>
        </p:nvSpPr>
        <p:spPr>
          <a:xfrm>
            <a:off x="7959513" y="3046658"/>
            <a:ext cx="3417918" cy="189652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WHAT IS COMMUNITY NOTES?</a:t>
            </a:r>
          </a:p>
        </p:txBody>
      </p:sp>
      <p:sp>
        <p:nvSpPr>
          <p:cNvPr id="187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One note. One decision.</a:t>
            </a:r>
          </a:p>
        </p:txBody>
      </p:sp>
      <p:sp>
        <p:nvSpPr>
          <p:cNvPr id="188" name="TextBox 3"/>
          <p:cNvSpPr txBox="1"/>
          <p:nvPr/>
        </p:nvSpPr>
        <p:spPr>
          <a:xfrm>
            <a:off x="11082528" y="457199"/>
            <a:ext cx="43891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89" name="TextBox 31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X Community Notes (2026)</a:t>
            </a:r>
          </a:p>
        </p:txBody>
      </p:sp>
      <p:sp>
        <p:nvSpPr>
          <p:cNvPr id="190" name="Oval 4"/>
          <p:cNvSpPr/>
          <p:nvPr/>
        </p:nvSpPr>
        <p:spPr>
          <a:xfrm>
            <a:off x="1708854" y="2413251"/>
            <a:ext cx="246891" cy="24689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91" name="Connector 5"/>
          <p:cNvSpPr/>
          <p:nvPr/>
        </p:nvSpPr>
        <p:spPr>
          <a:xfrm>
            <a:off x="1832299" y="2660139"/>
            <a:ext cx="2" cy="40736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2" name="Connector 6"/>
          <p:cNvSpPr/>
          <p:nvPr/>
        </p:nvSpPr>
        <p:spPr>
          <a:xfrm>
            <a:off x="1659477" y="2832960"/>
            <a:ext cx="345645" cy="2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3" name="Connector 7"/>
          <p:cNvSpPr/>
          <p:nvPr/>
        </p:nvSpPr>
        <p:spPr>
          <a:xfrm flipH="1">
            <a:off x="1671821" y="3067505"/>
            <a:ext cx="160480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4" name="Connector 8"/>
          <p:cNvSpPr/>
          <p:nvPr/>
        </p:nvSpPr>
        <p:spPr>
          <a:xfrm>
            <a:off x="1832299" y="3067505"/>
            <a:ext cx="160479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198" name="Group"/>
          <p:cNvGrpSpPr/>
          <p:nvPr/>
        </p:nvGrpSpPr>
        <p:grpSpPr>
          <a:xfrm>
            <a:off x="8060535" y="3550472"/>
            <a:ext cx="635003" cy="635003"/>
            <a:chOff x="0" y="0"/>
            <a:chExt cx="635001" cy="635001"/>
          </a:xfrm>
        </p:grpSpPr>
        <p:sp>
          <p:nvSpPr>
            <p:cNvPr id="195" name="Oval 19"/>
            <p:cNvSpPr/>
            <p:nvPr/>
          </p:nvSpPr>
          <p:spPr>
            <a:xfrm>
              <a:off x="0" y="0"/>
              <a:ext cx="635003" cy="635003"/>
            </a:xfrm>
            <a:prstGeom prst="ellipse">
              <a:avLst/>
            </a:prstGeom>
            <a:solidFill>
              <a:srgbClr val="1FA873"/>
            </a:solidFill>
            <a:ln w="10160" cap="flat">
              <a:solidFill>
                <a:srgbClr val="1FA87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196" name="Connector 20"/>
            <p:cNvSpPr/>
            <p:nvPr/>
          </p:nvSpPr>
          <p:spPr>
            <a:xfrm>
              <a:off x="127000" y="338666"/>
              <a:ext cx="169335" cy="169335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97" name="Connector 21"/>
            <p:cNvSpPr/>
            <p:nvPr/>
          </p:nvSpPr>
          <p:spPr>
            <a:xfrm flipV="1">
              <a:off x="296331" y="169333"/>
              <a:ext cx="254002" cy="338668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sp>
        <p:nvSpPr>
          <p:cNvPr id="199" name="Oval 22"/>
          <p:cNvSpPr/>
          <p:nvPr/>
        </p:nvSpPr>
        <p:spPr>
          <a:xfrm>
            <a:off x="8865872" y="3550472"/>
            <a:ext cx="635003" cy="635003"/>
          </a:xfrm>
          <a:prstGeom prst="ellipse">
            <a:avLst/>
          </a:prstGeom>
          <a:solidFill>
            <a:schemeClr val="accent2">
              <a:satOff val="-4966"/>
              <a:lumOff val="-10549"/>
            </a:schemeClr>
          </a:solidFill>
          <a:ln w="25400">
            <a:solidFill>
              <a:srgbClr val="8C3A3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00" name="Connector 23"/>
          <p:cNvSpPr/>
          <p:nvPr/>
        </p:nvSpPr>
        <p:spPr>
          <a:xfrm>
            <a:off x="8992871" y="3867972"/>
            <a:ext cx="381002" cy="2"/>
          </a:xfrm>
          <a:prstGeom prst="line">
            <a:avLst/>
          </a:prstGeom>
          <a:ln w="12700">
            <a:solidFill>
              <a:srgbClr val="FFFFFF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1" name="Connector 24"/>
          <p:cNvSpPr/>
          <p:nvPr/>
        </p:nvSpPr>
        <p:spPr>
          <a:xfrm>
            <a:off x="2693662" y="2846067"/>
            <a:ext cx="1371603" cy="2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" name="TextBox 25"/>
          <p:cNvSpPr txBox="1"/>
          <p:nvPr/>
        </p:nvSpPr>
        <p:spPr>
          <a:xfrm>
            <a:off x="4074407" y="2654044"/>
            <a:ext cx="29261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03" name="TextBox 28"/>
          <p:cNvSpPr txBox="1"/>
          <p:nvPr/>
        </p:nvSpPr>
        <p:spPr>
          <a:xfrm>
            <a:off x="1685331" y="4403166"/>
            <a:ext cx="2560323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Sees the note</a:t>
            </a:r>
          </a:p>
        </p:txBody>
      </p:sp>
      <p:sp>
        <p:nvSpPr>
          <p:cNvPr id="204" name="TextBox 29"/>
          <p:cNvSpPr txBox="1"/>
          <p:nvPr/>
        </p:nvSpPr>
        <p:spPr>
          <a:xfrm>
            <a:off x="5009839" y="5630290"/>
            <a:ext cx="2926083" cy="260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Reads the context</a:t>
            </a:r>
          </a:p>
        </p:txBody>
      </p:sp>
      <p:sp>
        <p:nvSpPr>
          <p:cNvPr id="205" name="TextBox 30"/>
          <p:cNvSpPr txBox="1"/>
          <p:nvPr/>
        </p:nvSpPr>
        <p:spPr>
          <a:xfrm>
            <a:off x="8578743" y="4413015"/>
            <a:ext cx="2834641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Rates helpfulness</a:t>
            </a:r>
          </a:p>
        </p:txBody>
      </p:sp>
      <p:pic>
        <p:nvPicPr>
          <p:cNvPr id="206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55558" y="1462275"/>
            <a:ext cx="2834642" cy="396849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WHAT IS COMMUNITY NOTES?</a:t>
            </a:r>
          </a:p>
        </p:txBody>
      </p:sp>
      <p:sp>
        <p:nvSpPr>
          <p:cNvPr id="209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One note. One decision.</a:t>
            </a:r>
          </a:p>
        </p:txBody>
      </p:sp>
      <p:sp>
        <p:nvSpPr>
          <p:cNvPr id="210" name="TextBox 3"/>
          <p:cNvSpPr txBox="1"/>
          <p:nvPr/>
        </p:nvSpPr>
        <p:spPr>
          <a:xfrm>
            <a:off x="11082528" y="457199"/>
            <a:ext cx="43891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211" name="TextBox 31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X Community Notes (2026)</a:t>
            </a:r>
          </a:p>
        </p:txBody>
      </p:sp>
      <p:sp>
        <p:nvSpPr>
          <p:cNvPr id="212" name="Oval 4"/>
          <p:cNvSpPr/>
          <p:nvPr/>
        </p:nvSpPr>
        <p:spPr>
          <a:xfrm>
            <a:off x="1708854" y="2413251"/>
            <a:ext cx="246891" cy="24689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13" name="Connector 5"/>
          <p:cNvSpPr/>
          <p:nvPr/>
        </p:nvSpPr>
        <p:spPr>
          <a:xfrm>
            <a:off x="1832299" y="2660139"/>
            <a:ext cx="2" cy="40736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4" name="Connector 6"/>
          <p:cNvSpPr/>
          <p:nvPr/>
        </p:nvSpPr>
        <p:spPr>
          <a:xfrm>
            <a:off x="1659477" y="2832960"/>
            <a:ext cx="345645" cy="2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5" name="Connector 7"/>
          <p:cNvSpPr/>
          <p:nvPr/>
        </p:nvSpPr>
        <p:spPr>
          <a:xfrm flipH="1">
            <a:off x="1671821" y="3067505"/>
            <a:ext cx="160480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6" name="Connector 8"/>
          <p:cNvSpPr/>
          <p:nvPr/>
        </p:nvSpPr>
        <p:spPr>
          <a:xfrm>
            <a:off x="1832299" y="3067505"/>
            <a:ext cx="160479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220" name="Group"/>
          <p:cNvGrpSpPr/>
          <p:nvPr/>
        </p:nvGrpSpPr>
        <p:grpSpPr>
          <a:xfrm>
            <a:off x="5383021" y="698308"/>
            <a:ext cx="635003" cy="635003"/>
            <a:chOff x="0" y="0"/>
            <a:chExt cx="635001" cy="635001"/>
          </a:xfrm>
        </p:grpSpPr>
        <p:sp>
          <p:nvSpPr>
            <p:cNvPr id="217" name="Oval 19"/>
            <p:cNvSpPr/>
            <p:nvPr/>
          </p:nvSpPr>
          <p:spPr>
            <a:xfrm>
              <a:off x="0" y="0"/>
              <a:ext cx="635003" cy="635003"/>
            </a:xfrm>
            <a:prstGeom prst="ellipse">
              <a:avLst/>
            </a:prstGeom>
            <a:solidFill>
              <a:srgbClr val="1FA873"/>
            </a:solidFill>
            <a:ln w="10160" cap="flat">
              <a:solidFill>
                <a:srgbClr val="1FA87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218" name="Connector 20"/>
            <p:cNvSpPr/>
            <p:nvPr/>
          </p:nvSpPr>
          <p:spPr>
            <a:xfrm>
              <a:off x="127000" y="338666"/>
              <a:ext cx="169335" cy="169335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19" name="Connector 21"/>
            <p:cNvSpPr/>
            <p:nvPr/>
          </p:nvSpPr>
          <p:spPr>
            <a:xfrm flipV="1">
              <a:off x="296331" y="169333"/>
              <a:ext cx="254002" cy="338668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223" name="Group"/>
          <p:cNvGrpSpPr/>
          <p:nvPr/>
        </p:nvGrpSpPr>
        <p:grpSpPr>
          <a:xfrm>
            <a:off x="8575888" y="698308"/>
            <a:ext cx="635003" cy="635002"/>
            <a:chOff x="0" y="0"/>
            <a:chExt cx="635001" cy="635001"/>
          </a:xfrm>
        </p:grpSpPr>
        <p:sp>
          <p:nvSpPr>
            <p:cNvPr id="221" name="Oval 22"/>
            <p:cNvSpPr/>
            <p:nvPr/>
          </p:nvSpPr>
          <p:spPr>
            <a:xfrm>
              <a:off x="0" y="0"/>
              <a:ext cx="635002" cy="635002"/>
            </a:xfrm>
            <a:prstGeom prst="ellipse">
              <a:avLst/>
            </a:prstGeom>
            <a:solidFill>
              <a:schemeClr val="accent2">
                <a:satOff val="-4966"/>
                <a:lumOff val="-10549"/>
              </a:schemeClr>
            </a:solidFill>
            <a:ln w="25400" cap="flat">
              <a:solidFill>
                <a:srgbClr val="8C3A38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222" name="Connector 23"/>
            <p:cNvSpPr/>
            <p:nvPr/>
          </p:nvSpPr>
          <p:spPr>
            <a:xfrm>
              <a:off x="126998" y="317499"/>
              <a:ext cx="381002" cy="2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sp>
        <p:nvSpPr>
          <p:cNvPr id="224" name="Connector 24"/>
          <p:cNvSpPr/>
          <p:nvPr/>
        </p:nvSpPr>
        <p:spPr>
          <a:xfrm>
            <a:off x="2693662" y="2846067"/>
            <a:ext cx="1371603" cy="2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5" name="TextBox 25"/>
          <p:cNvSpPr txBox="1"/>
          <p:nvPr/>
        </p:nvSpPr>
        <p:spPr>
          <a:xfrm>
            <a:off x="4074407" y="2654044"/>
            <a:ext cx="29261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26" name="TextBox 28"/>
          <p:cNvSpPr txBox="1"/>
          <p:nvPr/>
        </p:nvSpPr>
        <p:spPr>
          <a:xfrm>
            <a:off x="1685331" y="4403166"/>
            <a:ext cx="2560323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Sees the note</a:t>
            </a:r>
          </a:p>
        </p:txBody>
      </p:sp>
      <p:sp>
        <p:nvSpPr>
          <p:cNvPr id="227" name="TextBox 30"/>
          <p:cNvSpPr txBox="1"/>
          <p:nvPr/>
        </p:nvSpPr>
        <p:spPr>
          <a:xfrm>
            <a:off x="6800177" y="5824268"/>
            <a:ext cx="2834643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Rates helpfulness</a:t>
            </a:r>
          </a:p>
        </p:txBody>
      </p:sp>
      <p:pic>
        <p:nvPicPr>
          <p:cNvPr id="228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605815" y="1680123"/>
            <a:ext cx="2560322" cy="3797330"/>
          </a:xfrm>
          <a:prstGeom prst="rect">
            <a:avLst/>
          </a:prstGeom>
          <a:ln w="12700">
            <a:miter lim="400000"/>
          </a:ln>
        </p:spPr>
      </p:pic>
      <p:pic>
        <p:nvPicPr>
          <p:cNvPr id="229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917102" y="1781142"/>
            <a:ext cx="2568086" cy="359531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CROWD</a:t>
            </a:r>
          </a:p>
        </p:txBody>
      </p:sp>
      <p:sp>
        <p:nvSpPr>
          <p:cNvPr id="232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Now multiply that by thousands</a:t>
            </a:r>
          </a:p>
        </p:txBody>
      </p:sp>
      <p:sp>
        <p:nvSpPr>
          <p:cNvPr id="233" name="TextBox 3"/>
          <p:cNvSpPr txBox="1"/>
          <p:nvPr/>
        </p:nvSpPr>
        <p:spPr>
          <a:xfrm>
            <a:off x="11082528" y="457199"/>
            <a:ext cx="43891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234" name="Oval 4"/>
          <p:cNvSpPr/>
          <p:nvPr/>
        </p:nvSpPr>
        <p:spPr>
          <a:xfrm>
            <a:off x="868680" y="2578606"/>
            <a:ext cx="192027" cy="1920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35" name="Connector 5"/>
          <p:cNvSpPr/>
          <p:nvPr/>
        </p:nvSpPr>
        <p:spPr>
          <a:xfrm>
            <a:off x="964691" y="2770632"/>
            <a:ext cx="2" cy="316841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6" name="Connector 6"/>
          <p:cNvSpPr/>
          <p:nvPr/>
        </p:nvSpPr>
        <p:spPr>
          <a:xfrm>
            <a:off x="830274" y="2905048"/>
            <a:ext cx="268836" cy="2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7" name="Connector 7"/>
          <p:cNvSpPr/>
          <p:nvPr/>
        </p:nvSpPr>
        <p:spPr>
          <a:xfrm flipH="1">
            <a:off x="839875" y="3087470"/>
            <a:ext cx="124818" cy="201627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8" name="Connector 8"/>
          <p:cNvSpPr/>
          <p:nvPr/>
        </p:nvSpPr>
        <p:spPr>
          <a:xfrm>
            <a:off x="964691" y="3087470"/>
            <a:ext cx="124815" cy="201627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9" name="TextBox 9"/>
          <p:cNvSpPr txBox="1"/>
          <p:nvPr/>
        </p:nvSpPr>
        <p:spPr>
          <a:xfrm>
            <a:off x="1965960" y="2761488"/>
            <a:ext cx="365762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40" name="Oval 10"/>
          <p:cNvSpPr/>
          <p:nvPr/>
        </p:nvSpPr>
        <p:spPr>
          <a:xfrm>
            <a:off x="2834638" y="1783078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41" name="Oval 11"/>
          <p:cNvSpPr/>
          <p:nvPr/>
        </p:nvSpPr>
        <p:spPr>
          <a:xfrm>
            <a:off x="3218688" y="1783078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42" name="Oval 12"/>
          <p:cNvSpPr/>
          <p:nvPr/>
        </p:nvSpPr>
        <p:spPr>
          <a:xfrm>
            <a:off x="3602735" y="1783078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43" name="Oval 13"/>
          <p:cNvSpPr/>
          <p:nvPr/>
        </p:nvSpPr>
        <p:spPr>
          <a:xfrm>
            <a:off x="3986784" y="1783078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44" name="Oval 14"/>
          <p:cNvSpPr/>
          <p:nvPr/>
        </p:nvSpPr>
        <p:spPr>
          <a:xfrm>
            <a:off x="4370832" y="1783078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45" name="Oval 15"/>
          <p:cNvSpPr/>
          <p:nvPr/>
        </p:nvSpPr>
        <p:spPr>
          <a:xfrm>
            <a:off x="4754879" y="1783078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46" name="Oval 16"/>
          <p:cNvSpPr/>
          <p:nvPr/>
        </p:nvSpPr>
        <p:spPr>
          <a:xfrm>
            <a:off x="5138928" y="1783078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47" name="Oval 17"/>
          <p:cNvSpPr/>
          <p:nvPr/>
        </p:nvSpPr>
        <p:spPr>
          <a:xfrm>
            <a:off x="5522976" y="1783078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48" name="Oval 18"/>
          <p:cNvSpPr/>
          <p:nvPr/>
        </p:nvSpPr>
        <p:spPr>
          <a:xfrm>
            <a:off x="5907023" y="1783078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49" name="Oval 19"/>
          <p:cNvSpPr/>
          <p:nvPr/>
        </p:nvSpPr>
        <p:spPr>
          <a:xfrm>
            <a:off x="6291071" y="1783078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50" name="Oval 20"/>
          <p:cNvSpPr/>
          <p:nvPr/>
        </p:nvSpPr>
        <p:spPr>
          <a:xfrm>
            <a:off x="6675118" y="1783078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51" name="Oval 21"/>
          <p:cNvSpPr/>
          <p:nvPr/>
        </p:nvSpPr>
        <p:spPr>
          <a:xfrm>
            <a:off x="7059168" y="1783078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52" name="Oval 22"/>
          <p:cNvSpPr/>
          <p:nvPr/>
        </p:nvSpPr>
        <p:spPr>
          <a:xfrm>
            <a:off x="7443216" y="1783078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53" name="Oval 23"/>
          <p:cNvSpPr/>
          <p:nvPr/>
        </p:nvSpPr>
        <p:spPr>
          <a:xfrm>
            <a:off x="7827264" y="1783078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54" name="Oval 24"/>
          <p:cNvSpPr/>
          <p:nvPr/>
        </p:nvSpPr>
        <p:spPr>
          <a:xfrm>
            <a:off x="8211311" y="1783078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55" name="Oval 25"/>
          <p:cNvSpPr/>
          <p:nvPr/>
        </p:nvSpPr>
        <p:spPr>
          <a:xfrm>
            <a:off x="2962655" y="2176272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56" name="Oval 26"/>
          <p:cNvSpPr/>
          <p:nvPr/>
        </p:nvSpPr>
        <p:spPr>
          <a:xfrm>
            <a:off x="3346703" y="2176272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57" name="Oval 27"/>
          <p:cNvSpPr/>
          <p:nvPr/>
        </p:nvSpPr>
        <p:spPr>
          <a:xfrm>
            <a:off x="3730752" y="2176272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58" name="Oval 28"/>
          <p:cNvSpPr/>
          <p:nvPr/>
        </p:nvSpPr>
        <p:spPr>
          <a:xfrm>
            <a:off x="4114800" y="2176272"/>
            <a:ext cx="77724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59" name="Oval 29"/>
          <p:cNvSpPr/>
          <p:nvPr/>
        </p:nvSpPr>
        <p:spPr>
          <a:xfrm>
            <a:off x="4498847" y="2176272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60" name="Oval 30"/>
          <p:cNvSpPr/>
          <p:nvPr/>
        </p:nvSpPr>
        <p:spPr>
          <a:xfrm>
            <a:off x="4882896" y="2176272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61" name="Oval 31"/>
          <p:cNvSpPr/>
          <p:nvPr/>
        </p:nvSpPr>
        <p:spPr>
          <a:xfrm>
            <a:off x="5266944" y="2176272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62" name="Oval 32"/>
          <p:cNvSpPr/>
          <p:nvPr/>
        </p:nvSpPr>
        <p:spPr>
          <a:xfrm>
            <a:off x="5650991" y="2176272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63" name="Oval 33"/>
          <p:cNvSpPr/>
          <p:nvPr/>
        </p:nvSpPr>
        <p:spPr>
          <a:xfrm>
            <a:off x="6035040" y="2176272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64" name="Oval 34"/>
          <p:cNvSpPr/>
          <p:nvPr/>
        </p:nvSpPr>
        <p:spPr>
          <a:xfrm>
            <a:off x="6419088" y="2176272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65" name="Oval 35"/>
          <p:cNvSpPr/>
          <p:nvPr/>
        </p:nvSpPr>
        <p:spPr>
          <a:xfrm>
            <a:off x="6803135" y="2176272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66" name="Oval 36"/>
          <p:cNvSpPr/>
          <p:nvPr/>
        </p:nvSpPr>
        <p:spPr>
          <a:xfrm>
            <a:off x="7187183" y="2176272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67" name="Oval 37"/>
          <p:cNvSpPr/>
          <p:nvPr/>
        </p:nvSpPr>
        <p:spPr>
          <a:xfrm>
            <a:off x="7571230" y="2176272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68" name="Oval 38"/>
          <p:cNvSpPr/>
          <p:nvPr/>
        </p:nvSpPr>
        <p:spPr>
          <a:xfrm>
            <a:off x="7955280" y="2176272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69" name="Oval 39"/>
          <p:cNvSpPr/>
          <p:nvPr/>
        </p:nvSpPr>
        <p:spPr>
          <a:xfrm>
            <a:off x="8339328" y="2176272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70" name="Oval 40"/>
          <p:cNvSpPr/>
          <p:nvPr/>
        </p:nvSpPr>
        <p:spPr>
          <a:xfrm>
            <a:off x="2834638" y="2569464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71" name="Oval 41"/>
          <p:cNvSpPr/>
          <p:nvPr/>
        </p:nvSpPr>
        <p:spPr>
          <a:xfrm>
            <a:off x="3218688" y="2569464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72" name="Oval 42"/>
          <p:cNvSpPr/>
          <p:nvPr/>
        </p:nvSpPr>
        <p:spPr>
          <a:xfrm>
            <a:off x="3602735" y="2569464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73" name="Oval 43"/>
          <p:cNvSpPr/>
          <p:nvPr/>
        </p:nvSpPr>
        <p:spPr>
          <a:xfrm>
            <a:off x="3986784" y="2569464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74" name="Oval 44"/>
          <p:cNvSpPr/>
          <p:nvPr/>
        </p:nvSpPr>
        <p:spPr>
          <a:xfrm>
            <a:off x="4370832" y="2569464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75" name="Oval 45"/>
          <p:cNvSpPr/>
          <p:nvPr/>
        </p:nvSpPr>
        <p:spPr>
          <a:xfrm>
            <a:off x="4754879" y="2569464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76" name="Oval 46"/>
          <p:cNvSpPr/>
          <p:nvPr/>
        </p:nvSpPr>
        <p:spPr>
          <a:xfrm>
            <a:off x="5138928" y="2569464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77" name="Oval 47"/>
          <p:cNvSpPr/>
          <p:nvPr/>
        </p:nvSpPr>
        <p:spPr>
          <a:xfrm>
            <a:off x="5522976" y="2569464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78" name="Oval 48"/>
          <p:cNvSpPr/>
          <p:nvPr/>
        </p:nvSpPr>
        <p:spPr>
          <a:xfrm>
            <a:off x="5907023" y="2569464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79" name="Oval 49"/>
          <p:cNvSpPr/>
          <p:nvPr/>
        </p:nvSpPr>
        <p:spPr>
          <a:xfrm>
            <a:off x="6291071" y="2569464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80" name="Oval 50"/>
          <p:cNvSpPr/>
          <p:nvPr/>
        </p:nvSpPr>
        <p:spPr>
          <a:xfrm>
            <a:off x="6675118" y="2569464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81" name="Oval 51"/>
          <p:cNvSpPr/>
          <p:nvPr/>
        </p:nvSpPr>
        <p:spPr>
          <a:xfrm>
            <a:off x="7059168" y="2569464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82" name="Oval 52"/>
          <p:cNvSpPr/>
          <p:nvPr/>
        </p:nvSpPr>
        <p:spPr>
          <a:xfrm>
            <a:off x="7443216" y="2569464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83" name="Oval 53"/>
          <p:cNvSpPr/>
          <p:nvPr/>
        </p:nvSpPr>
        <p:spPr>
          <a:xfrm>
            <a:off x="7827264" y="2569464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84" name="Oval 54"/>
          <p:cNvSpPr/>
          <p:nvPr/>
        </p:nvSpPr>
        <p:spPr>
          <a:xfrm>
            <a:off x="8211311" y="2569464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85" name="Oval 55"/>
          <p:cNvSpPr/>
          <p:nvPr/>
        </p:nvSpPr>
        <p:spPr>
          <a:xfrm>
            <a:off x="2962655" y="2962655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86" name="Oval 56"/>
          <p:cNvSpPr/>
          <p:nvPr/>
        </p:nvSpPr>
        <p:spPr>
          <a:xfrm>
            <a:off x="3346703" y="2962655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87" name="Oval 57"/>
          <p:cNvSpPr/>
          <p:nvPr/>
        </p:nvSpPr>
        <p:spPr>
          <a:xfrm>
            <a:off x="3730752" y="2962655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88" name="Oval 58"/>
          <p:cNvSpPr/>
          <p:nvPr/>
        </p:nvSpPr>
        <p:spPr>
          <a:xfrm>
            <a:off x="4114800" y="2962655"/>
            <a:ext cx="77724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89" name="Oval 59"/>
          <p:cNvSpPr/>
          <p:nvPr/>
        </p:nvSpPr>
        <p:spPr>
          <a:xfrm>
            <a:off x="4498847" y="2962655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90" name="Oval 60"/>
          <p:cNvSpPr/>
          <p:nvPr/>
        </p:nvSpPr>
        <p:spPr>
          <a:xfrm>
            <a:off x="4882896" y="2962655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91" name="Oval 61"/>
          <p:cNvSpPr/>
          <p:nvPr/>
        </p:nvSpPr>
        <p:spPr>
          <a:xfrm>
            <a:off x="5266944" y="2962655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92" name="Oval 62"/>
          <p:cNvSpPr/>
          <p:nvPr/>
        </p:nvSpPr>
        <p:spPr>
          <a:xfrm>
            <a:off x="5650991" y="2962655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93" name="Oval 63"/>
          <p:cNvSpPr/>
          <p:nvPr/>
        </p:nvSpPr>
        <p:spPr>
          <a:xfrm>
            <a:off x="6035040" y="2962655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94" name="Oval 64"/>
          <p:cNvSpPr/>
          <p:nvPr/>
        </p:nvSpPr>
        <p:spPr>
          <a:xfrm>
            <a:off x="6419088" y="2962655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95" name="Oval 65"/>
          <p:cNvSpPr/>
          <p:nvPr/>
        </p:nvSpPr>
        <p:spPr>
          <a:xfrm>
            <a:off x="6803135" y="2962655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96" name="Oval 66"/>
          <p:cNvSpPr/>
          <p:nvPr/>
        </p:nvSpPr>
        <p:spPr>
          <a:xfrm>
            <a:off x="7187183" y="2962655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97" name="Oval 67"/>
          <p:cNvSpPr/>
          <p:nvPr/>
        </p:nvSpPr>
        <p:spPr>
          <a:xfrm>
            <a:off x="7571230" y="2962655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98" name="Oval 68"/>
          <p:cNvSpPr/>
          <p:nvPr/>
        </p:nvSpPr>
        <p:spPr>
          <a:xfrm>
            <a:off x="7955280" y="2962655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99" name="Oval 69"/>
          <p:cNvSpPr/>
          <p:nvPr/>
        </p:nvSpPr>
        <p:spPr>
          <a:xfrm>
            <a:off x="8339328" y="2962655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00" name="Oval 70"/>
          <p:cNvSpPr/>
          <p:nvPr/>
        </p:nvSpPr>
        <p:spPr>
          <a:xfrm>
            <a:off x="2834638" y="3355847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01" name="Oval 71"/>
          <p:cNvSpPr/>
          <p:nvPr/>
        </p:nvSpPr>
        <p:spPr>
          <a:xfrm>
            <a:off x="3218688" y="3355847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02" name="Oval 72"/>
          <p:cNvSpPr/>
          <p:nvPr/>
        </p:nvSpPr>
        <p:spPr>
          <a:xfrm>
            <a:off x="3602735" y="3355847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03" name="Oval 73"/>
          <p:cNvSpPr/>
          <p:nvPr/>
        </p:nvSpPr>
        <p:spPr>
          <a:xfrm>
            <a:off x="3986784" y="3355847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04" name="Oval 74"/>
          <p:cNvSpPr/>
          <p:nvPr/>
        </p:nvSpPr>
        <p:spPr>
          <a:xfrm>
            <a:off x="4370832" y="3355847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05" name="Oval 75"/>
          <p:cNvSpPr/>
          <p:nvPr/>
        </p:nvSpPr>
        <p:spPr>
          <a:xfrm>
            <a:off x="4754879" y="3355847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06" name="Oval 76"/>
          <p:cNvSpPr/>
          <p:nvPr/>
        </p:nvSpPr>
        <p:spPr>
          <a:xfrm>
            <a:off x="5138928" y="3355847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07" name="Oval 77"/>
          <p:cNvSpPr/>
          <p:nvPr/>
        </p:nvSpPr>
        <p:spPr>
          <a:xfrm>
            <a:off x="5522976" y="3355847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08" name="Oval 78"/>
          <p:cNvSpPr/>
          <p:nvPr/>
        </p:nvSpPr>
        <p:spPr>
          <a:xfrm>
            <a:off x="5907023" y="3355847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09" name="Oval 79"/>
          <p:cNvSpPr/>
          <p:nvPr/>
        </p:nvSpPr>
        <p:spPr>
          <a:xfrm>
            <a:off x="6291071" y="3355847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10" name="Oval 80"/>
          <p:cNvSpPr/>
          <p:nvPr/>
        </p:nvSpPr>
        <p:spPr>
          <a:xfrm>
            <a:off x="6675118" y="3355847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11" name="Oval 81"/>
          <p:cNvSpPr/>
          <p:nvPr/>
        </p:nvSpPr>
        <p:spPr>
          <a:xfrm>
            <a:off x="7059168" y="3355847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12" name="Oval 82"/>
          <p:cNvSpPr/>
          <p:nvPr/>
        </p:nvSpPr>
        <p:spPr>
          <a:xfrm>
            <a:off x="7443216" y="3355847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13" name="Oval 83"/>
          <p:cNvSpPr/>
          <p:nvPr/>
        </p:nvSpPr>
        <p:spPr>
          <a:xfrm>
            <a:off x="7827264" y="3355847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14" name="Oval 84"/>
          <p:cNvSpPr/>
          <p:nvPr/>
        </p:nvSpPr>
        <p:spPr>
          <a:xfrm>
            <a:off x="8211311" y="3355847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15" name="Oval 85"/>
          <p:cNvSpPr/>
          <p:nvPr/>
        </p:nvSpPr>
        <p:spPr>
          <a:xfrm>
            <a:off x="2962655" y="3749037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16" name="Oval 86"/>
          <p:cNvSpPr/>
          <p:nvPr/>
        </p:nvSpPr>
        <p:spPr>
          <a:xfrm>
            <a:off x="3346703" y="3749037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17" name="Oval 87"/>
          <p:cNvSpPr/>
          <p:nvPr/>
        </p:nvSpPr>
        <p:spPr>
          <a:xfrm>
            <a:off x="3730752" y="3749037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18" name="Oval 88"/>
          <p:cNvSpPr/>
          <p:nvPr/>
        </p:nvSpPr>
        <p:spPr>
          <a:xfrm>
            <a:off x="4114800" y="3749037"/>
            <a:ext cx="77724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19" name="Oval 89"/>
          <p:cNvSpPr/>
          <p:nvPr/>
        </p:nvSpPr>
        <p:spPr>
          <a:xfrm>
            <a:off x="4498847" y="3749037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20" name="Oval 90"/>
          <p:cNvSpPr/>
          <p:nvPr/>
        </p:nvSpPr>
        <p:spPr>
          <a:xfrm>
            <a:off x="4882896" y="3749037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21" name="Oval 91"/>
          <p:cNvSpPr/>
          <p:nvPr/>
        </p:nvSpPr>
        <p:spPr>
          <a:xfrm>
            <a:off x="5266944" y="3749037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22" name="Oval 92"/>
          <p:cNvSpPr/>
          <p:nvPr/>
        </p:nvSpPr>
        <p:spPr>
          <a:xfrm>
            <a:off x="5650991" y="3749037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23" name="Oval 93"/>
          <p:cNvSpPr/>
          <p:nvPr/>
        </p:nvSpPr>
        <p:spPr>
          <a:xfrm>
            <a:off x="6035040" y="3749037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24" name="Oval 94"/>
          <p:cNvSpPr/>
          <p:nvPr/>
        </p:nvSpPr>
        <p:spPr>
          <a:xfrm>
            <a:off x="6419088" y="3749037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25" name="Oval 95"/>
          <p:cNvSpPr/>
          <p:nvPr/>
        </p:nvSpPr>
        <p:spPr>
          <a:xfrm>
            <a:off x="6803135" y="3749037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26" name="Oval 96"/>
          <p:cNvSpPr/>
          <p:nvPr/>
        </p:nvSpPr>
        <p:spPr>
          <a:xfrm>
            <a:off x="7187183" y="3749037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27" name="Oval 97"/>
          <p:cNvSpPr/>
          <p:nvPr/>
        </p:nvSpPr>
        <p:spPr>
          <a:xfrm>
            <a:off x="7571230" y="3749037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28" name="Oval 98"/>
          <p:cNvSpPr/>
          <p:nvPr/>
        </p:nvSpPr>
        <p:spPr>
          <a:xfrm>
            <a:off x="7955280" y="3749037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29" name="Oval 99"/>
          <p:cNvSpPr/>
          <p:nvPr/>
        </p:nvSpPr>
        <p:spPr>
          <a:xfrm>
            <a:off x="8339328" y="3749037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30" name="Oval 100"/>
          <p:cNvSpPr/>
          <p:nvPr/>
        </p:nvSpPr>
        <p:spPr>
          <a:xfrm>
            <a:off x="2834638" y="4142232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31" name="Oval 101"/>
          <p:cNvSpPr/>
          <p:nvPr/>
        </p:nvSpPr>
        <p:spPr>
          <a:xfrm>
            <a:off x="3218688" y="4142232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32" name="Oval 102"/>
          <p:cNvSpPr/>
          <p:nvPr/>
        </p:nvSpPr>
        <p:spPr>
          <a:xfrm>
            <a:off x="3602735" y="4142232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33" name="Oval 103"/>
          <p:cNvSpPr/>
          <p:nvPr/>
        </p:nvSpPr>
        <p:spPr>
          <a:xfrm>
            <a:off x="3986784" y="4142232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34" name="Oval 104"/>
          <p:cNvSpPr/>
          <p:nvPr/>
        </p:nvSpPr>
        <p:spPr>
          <a:xfrm>
            <a:off x="4370832" y="4142232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35" name="Oval 105"/>
          <p:cNvSpPr/>
          <p:nvPr/>
        </p:nvSpPr>
        <p:spPr>
          <a:xfrm>
            <a:off x="4754879" y="4142232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36" name="Oval 106"/>
          <p:cNvSpPr/>
          <p:nvPr/>
        </p:nvSpPr>
        <p:spPr>
          <a:xfrm>
            <a:off x="5138928" y="4142232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37" name="Oval 107"/>
          <p:cNvSpPr/>
          <p:nvPr/>
        </p:nvSpPr>
        <p:spPr>
          <a:xfrm>
            <a:off x="5522976" y="4142232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38" name="Oval 108"/>
          <p:cNvSpPr/>
          <p:nvPr/>
        </p:nvSpPr>
        <p:spPr>
          <a:xfrm>
            <a:off x="5907023" y="4142232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39" name="Oval 109"/>
          <p:cNvSpPr/>
          <p:nvPr/>
        </p:nvSpPr>
        <p:spPr>
          <a:xfrm>
            <a:off x="6291071" y="4142232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40" name="Oval 110"/>
          <p:cNvSpPr/>
          <p:nvPr/>
        </p:nvSpPr>
        <p:spPr>
          <a:xfrm>
            <a:off x="6675118" y="4142232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41" name="Oval 111"/>
          <p:cNvSpPr/>
          <p:nvPr/>
        </p:nvSpPr>
        <p:spPr>
          <a:xfrm>
            <a:off x="7059168" y="4142232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42" name="Oval 112"/>
          <p:cNvSpPr/>
          <p:nvPr/>
        </p:nvSpPr>
        <p:spPr>
          <a:xfrm>
            <a:off x="7443216" y="4142232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43" name="Oval 113"/>
          <p:cNvSpPr/>
          <p:nvPr/>
        </p:nvSpPr>
        <p:spPr>
          <a:xfrm>
            <a:off x="7827264" y="4142232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44" name="Oval 114"/>
          <p:cNvSpPr/>
          <p:nvPr/>
        </p:nvSpPr>
        <p:spPr>
          <a:xfrm>
            <a:off x="8211311" y="4142232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45" name="Oval 115"/>
          <p:cNvSpPr/>
          <p:nvPr/>
        </p:nvSpPr>
        <p:spPr>
          <a:xfrm>
            <a:off x="2962655" y="4535423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46" name="Oval 116"/>
          <p:cNvSpPr/>
          <p:nvPr/>
        </p:nvSpPr>
        <p:spPr>
          <a:xfrm>
            <a:off x="3346703" y="4535423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47" name="Oval 117"/>
          <p:cNvSpPr/>
          <p:nvPr/>
        </p:nvSpPr>
        <p:spPr>
          <a:xfrm>
            <a:off x="3730752" y="4535423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48" name="Oval 118"/>
          <p:cNvSpPr/>
          <p:nvPr/>
        </p:nvSpPr>
        <p:spPr>
          <a:xfrm>
            <a:off x="4114800" y="4535423"/>
            <a:ext cx="77724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49" name="Oval 119"/>
          <p:cNvSpPr/>
          <p:nvPr/>
        </p:nvSpPr>
        <p:spPr>
          <a:xfrm>
            <a:off x="4498847" y="4535423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50" name="Oval 120"/>
          <p:cNvSpPr/>
          <p:nvPr/>
        </p:nvSpPr>
        <p:spPr>
          <a:xfrm>
            <a:off x="4882896" y="4535423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51" name="Oval 121"/>
          <p:cNvSpPr/>
          <p:nvPr/>
        </p:nvSpPr>
        <p:spPr>
          <a:xfrm>
            <a:off x="5266944" y="4535423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52" name="Oval 122"/>
          <p:cNvSpPr/>
          <p:nvPr/>
        </p:nvSpPr>
        <p:spPr>
          <a:xfrm>
            <a:off x="5650991" y="4535423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53" name="Oval 123"/>
          <p:cNvSpPr/>
          <p:nvPr/>
        </p:nvSpPr>
        <p:spPr>
          <a:xfrm>
            <a:off x="6035040" y="4535423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54" name="Oval 124"/>
          <p:cNvSpPr/>
          <p:nvPr/>
        </p:nvSpPr>
        <p:spPr>
          <a:xfrm>
            <a:off x="6419088" y="4535423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55" name="Oval 125"/>
          <p:cNvSpPr/>
          <p:nvPr/>
        </p:nvSpPr>
        <p:spPr>
          <a:xfrm>
            <a:off x="6803135" y="4535423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56" name="Oval 126"/>
          <p:cNvSpPr/>
          <p:nvPr/>
        </p:nvSpPr>
        <p:spPr>
          <a:xfrm>
            <a:off x="7187183" y="4535423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57" name="Oval 127"/>
          <p:cNvSpPr/>
          <p:nvPr/>
        </p:nvSpPr>
        <p:spPr>
          <a:xfrm>
            <a:off x="7571230" y="4535423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58" name="Oval 128"/>
          <p:cNvSpPr/>
          <p:nvPr/>
        </p:nvSpPr>
        <p:spPr>
          <a:xfrm>
            <a:off x="7955280" y="4535423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59" name="Oval 129"/>
          <p:cNvSpPr/>
          <p:nvPr/>
        </p:nvSpPr>
        <p:spPr>
          <a:xfrm>
            <a:off x="8339328" y="4535423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60" name="Oval 130"/>
          <p:cNvSpPr/>
          <p:nvPr/>
        </p:nvSpPr>
        <p:spPr>
          <a:xfrm>
            <a:off x="2834638" y="4928615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61" name="Oval 131"/>
          <p:cNvSpPr/>
          <p:nvPr/>
        </p:nvSpPr>
        <p:spPr>
          <a:xfrm>
            <a:off x="3218688" y="4928615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62" name="Oval 132"/>
          <p:cNvSpPr/>
          <p:nvPr/>
        </p:nvSpPr>
        <p:spPr>
          <a:xfrm>
            <a:off x="3602735" y="4928615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63" name="Oval 133"/>
          <p:cNvSpPr/>
          <p:nvPr/>
        </p:nvSpPr>
        <p:spPr>
          <a:xfrm>
            <a:off x="3986784" y="4928615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64" name="Oval 134"/>
          <p:cNvSpPr/>
          <p:nvPr/>
        </p:nvSpPr>
        <p:spPr>
          <a:xfrm>
            <a:off x="4370832" y="4928615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65" name="Oval 135"/>
          <p:cNvSpPr/>
          <p:nvPr/>
        </p:nvSpPr>
        <p:spPr>
          <a:xfrm>
            <a:off x="4754879" y="4928615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66" name="Oval 136"/>
          <p:cNvSpPr/>
          <p:nvPr/>
        </p:nvSpPr>
        <p:spPr>
          <a:xfrm>
            <a:off x="5138928" y="4928615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67" name="Oval 137"/>
          <p:cNvSpPr/>
          <p:nvPr/>
        </p:nvSpPr>
        <p:spPr>
          <a:xfrm>
            <a:off x="5522976" y="4928615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68" name="Oval 138"/>
          <p:cNvSpPr/>
          <p:nvPr/>
        </p:nvSpPr>
        <p:spPr>
          <a:xfrm>
            <a:off x="5907023" y="4928615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69" name="Oval 139"/>
          <p:cNvSpPr/>
          <p:nvPr/>
        </p:nvSpPr>
        <p:spPr>
          <a:xfrm>
            <a:off x="6291071" y="4928615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70" name="Oval 140"/>
          <p:cNvSpPr/>
          <p:nvPr/>
        </p:nvSpPr>
        <p:spPr>
          <a:xfrm>
            <a:off x="6675118" y="4928615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71" name="Oval 141"/>
          <p:cNvSpPr/>
          <p:nvPr/>
        </p:nvSpPr>
        <p:spPr>
          <a:xfrm>
            <a:off x="7059168" y="4928615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72" name="Oval 142"/>
          <p:cNvSpPr/>
          <p:nvPr/>
        </p:nvSpPr>
        <p:spPr>
          <a:xfrm>
            <a:off x="7443216" y="4928615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73" name="Oval 143"/>
          <p:cNvSpPr/>
          <p:nvPr/>
        </p:nvSpPr>
        <p:spPr>
          <a:xfrm>
            <a:off x="7827264" y="4928615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74" name="Oval 144"/>
          <p:cNvSpPr/>
          <p:nvPr/>
        </p:nvSpPr>
        <p:spPr>
          <a:xfrm>
            <a:off x="8211311" y="4928615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75" name="Rounded Rectangle 145"/>
          <p:cNvSpPr/>
          <p:nvPr/>
        </p:nvSpPr>
        <p:spPr>
          <a:xfrm>
            <a:off x="9528047" y="2167127"/>
            <a:ext cx="1417322" cy="1847090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76" name="Connector 146"/>
          <p:cNvSpPr/>
          <p:nvPr/>
        </p:nvSpPr>
        <p:spPr>
          <a:xfrm>
            <a:off x="9802368" y="2670048"/>
            <a:ext cx="850393" cy="2"/>
          </a:xfrm>
          <a:prstGeom prst="line">
            <a:avLst/>
          </a:prstGeom>
          <a:ln w="1651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7" name="Connector 147"/>
          <p:cNvSpPr/>
          <p:nvPr/>
        </p:nvSpPr>
        <p:spPr>
          <a:xfrm>
            <a:off x="9802368" y="2990088"/>
            <a:ext cx="694946" cy="2"/>
          </a:xfrm>
          <a:prstGeom prst="line">
            <a:avLst/>
          </a:prstGeom>
          <a:ln w="1651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8" name="Connector 148"/>
          <p:cNvSpPr/>
          <p:nvPr/>
        </p:nvSpPr>
        <p:spPr>
          <a:xfrm>
            <a:off x="9802368" y="3310128"/>
            <a:ext cx="786386" cy="2"/>
          </a:xfrm>
          <a:prstGeom prst="line">
            <a:avLst/>
          </a:prstGeom>
          <a:ln w="19050">
            <a:solidFill>
              <a:srgbClr val="1FA87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9" name="Connector 149"/>
          <p:cNvSpPr/>
          <p:nvPr/>
        </p:nvSpPr>
        <p:spPr>
          <a:xfrm>
            <a:off x="7098030" y="1821940"/>
            <a:ext cx="2430020" cy="1268733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0" name="Connector 150"/>
          <p:cNvSpPr/>
          <p:nvPr/>
        </p:nvSpPr>
        <p:spPr>
          <a:xfrm>
            <a:off x="7994140" y="2215133"/>
            <a:ext cx="1533908" cy="875539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1" name="Connector 151"/>
          <p:cNvSpPr/>
          <p:nvPr/>
        </p:nvSpPr>
        <p:spPr>
          <a:xfrm>
            <a:off x="3769612" y="3001517"/>
            <a:ext cx="5758437" cy="89155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2" name="Connector 152"/>
          <p:cNvSpPr/>
          <p:nvPr/>
        </p:nvSpPr>
        <p:spPr>
          <a:xfrm flipV="1">
            <a:off x="4793741" y="3090672"/>
            <a:ext cx="4734309" cy="30404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3" name="Connector 153"/>
          <p:cNvSpPr/>
          <p:nvPr/>
        </p:nvSpPr>
        <p:spPr>
          <a:xfrm flipV="1">
            <a:off x="5689852" y="3090671"/>
            <a:ext cx="3838197" cy="697232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4" name="Connector 154"/>
          <p:cNvSpPr/>
          <p:nvPr/>
        </p:nvSpPr>
        <p:spPr>
          <a:xfrm flipV="1">
            <a:off x="7866126" y="3090671"/>
            <a:ext cx="1661924" cy="1090424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5" name="Connector 155"/>
          <p:cNvSpPr/>
          <p:nvPr/>
        </p:nvSpPr>
        <p:spPr>
          <a:xfrm flipV="1">
            <a:off x="3641597" y="3090671"/>
            <a:ext cx="5886452" cy="1876807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6" name="TextBox 156"/>
          <p:cNvSpPr txBox="1"/>
          <p:nvPr/>
        </p:nvSpPr>
        <p:spPr>
          <a:xfrm>
            <a:off x="822960" y="5614415"/>
            <a:ext cx="2286002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Same action</a:t>
            </a:r>
          </a:p>
        </p:txBody>
      </p:sp>
      <p:sp>
        <p:nvSpPr>
          <p:cNvPr id="387" name="TextBox 157"/>
          <p:cNvSpPr txBox="1"/>
          <p:nvPr/>
        </p:nvSpPr>
        <p:spPr>
          <a:xfrm>
            <a:off x="3840479" y="5614415"/>
            <a:ext cx="3108962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Thousands of raters</a:t>
            </a:r>
          </a:p>
        </p:txBody>
      </p:sp>
      <p:sp>
        <p:nvSpPr>
          <p:cNvPr id="388" name="TextBox 158"/>
          <p:cNvSpPr txBox="1"/>
          <p:nvPr/>
        </p:nvSpPr>
        <p:spPr>
          <a:xfrm>
            <a:off x="8000999" y="5614415"/>
            <a:ext cx="3474722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One visibility decision</a:t>
            </a:r>
          </a:p>
        </p:txBody>
      </p:sp>
      <p:sp>
        <p:nvSpPr>
          <p:cNvPr id="389" name="TextBox 159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X Community Notes (2026)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PROBLEM</a:t>
            </a:r>
          </a:p>
        </p:txBody>
      </p:sp>
      <p:sp>
        <p:nvSpPr>
          <p:cNvPr id="392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But the crowd is not equal</a:t>
            </a:r>
          </a:p>
        </p:txBody>
      </p:sp>
      <p:sp>
        <p:nvSpPr>
          <p:cNvPr id="393" name="TextBox 3"/>
          <p:cNvSpPr txBox="1"/>
          <p:nvPr/>
        </p:nvSpPr>
        <p:spPr>
          <a:xfrm>
            <a:off x="11082528" y="457199"/>
            <a:ext cx="43891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394" name="Oval 4"/>
          <p:cNvSpPr/>
          <p:nvPr/>
        </p:nvSpPr>
        <p:spPr>
          <a:xfrm>
            <a:off x="868680" y="1737360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95" name="Oval 5"/>
          <p:cNvSpPr/>
          <p:nvPr/>
        </p:nvSpPr>
        <p:spPr>
          <a:xfrm>
            <a:off x="1261872" y="1737360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96" name="Oval 6"/>
          <p:cNvSpPr/>
          <p:nvPr/>
        </p:nvSpPr>
        <p:spPr>
          <a:xfrm>
            <a:off x="1655064" y="1737360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97" name="Oval 7"/>
          <p:cNvSpPr/>
          <p:nvPr/>
        </p:nvSpPr>
        <p:spPr>
          <a:xfrm>
            <a:off x="2048255" y="1737360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98" name="Oval 8"/>
          <p:cNvSpPr/>
          <p:nvPr/>
        </p:nvSpPr>
        <p:spPr>
          <a:xfrm>
            <a:off x="2441448" y="1737360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99" name="Oval 9"/>
          <p:cNvSpPr/>
          <p:nvPr/>
        </p:nvSpPr>
        <p:spPr>
          <a:xfrm>
            <a:off x="2834638" y="1737360"/>
            <a:ext cx="140591" cy="14059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00" name="Oval 10"/>
          <p:cNvSpPr/>
          <p:nvPr/>
        </p:nvSpPr>
        <p:spPr>
          <a:xfrm>
            <a:off x="3227832" y="1737360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01" name="Oval 11"/>
          <p:cNvSpPr/>
          <p:nvPr/>
        </p:nvSpPr>
        <p:spPr>
          <a:xfrm>
            <a:off x="3621023" y="1737360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02" name="Oval 12"/>
          <p:cNvSpPr/>
          <p:nvPr/>
        </p:nvSpPr>
        <p:spPr>
          <a:xfrm>
            <a:off x="4014215" y="1737360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03" name="Oval 13"/>
          <p:cNvSpPr/>
          <p:nvPr/>
        </p:nvSpPr>
        <p:spPr>
          <a:xfrm>
            <a:off x="4407408" y="1737360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04" name="Oval 14"/>
          <p:cNvSpPr/>
          <p:nvPr/>
        </p:nvSpPr>
        <p:spPr>
          <a:xfrm>
            <a:off x="4800600" y="1737360"/>
            <a:ext cx="68582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05" name="Oval 15"/>
          <p:cNvSpPr/>
          <p:nvPr/>
        </p:nvSpPr>
        <p:spPr>
          <a:xfrm>
            <a:off x="5193791" y="1737360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06" name="Oval 16"/>
          <p:cNvSpPr/>
          <p:nvPr/>
        </p:nvSpPr>
        <p:spPr>
          <a:xfrm>
            <a:off x="5586984" y="1737360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07" name="Oval 17"/>
          <p:cNvSpPr/>
          <p:nvPr/>
        </p:nvSpPr>
        <p:spPr>
          <a:xfrm>
            <a:off x="5980176" y="1737360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08" name="Oval 18"/>
          <p:cNvSpPr/>
          <p:nvPr/>
        </p:nvSpPr>
        <p:spPr>
          <a:xfrm>
            <a:off x="6373367" y="1737360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09" name="Oval 19"/>
          <p:cNvSpPr/>
          <p:nvPr/>
        </p:nvSpPr>
        <p:spPr>
          <a:xfrm>
            <a:off x="6766559" y="1737360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10" name="Oval 20"/>
          <p:cNvSpPr/>
          <p:nvPr/>
        </p:nvSpPr>
        <p:spPr>
          <a:xfrm>
            <a:off x="7159752" y="1737360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11" name="Oval 21"/>
          <p:cNvSpPr/>
          <p:nvPr/>
        </p:nvSpPr>
        <p:spPr>
          <a:xfrm>
            <a:off x="996694" y="2130550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12" name="Oval 22"/>
          <p:cNvSpPr/>
          <p:nvPr/>
        </p:nvSpPr>
        <p:spPr>
          <a:xfrm>
            <a:off x="1389888" y="2130550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13" name="Oval 23"/>
          <p:cNvSpPr/>
          <p:nvPr/>
        </p:nvSpPr>
        <p:spPr>
          <a:xfrm>
            <a:off x="1783078" y="2130550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14" name="Oval 24"/>
          <p:cNvSpPr/>
          <p:nvPr/>
        </p:nvSpPr>
        <p:spPr>
          <a:xfrm>
            <a:off x="2176272" y="2130550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15" name="Oval 25"/>
          <p:cNvSpPr/>
          <p:nvPr/>
        </p:nvSpPr>
        <p:spPr>
          <a:xfrm>
            <a:off x="2569464" y="2130550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16" name="Oval 26"/>
          <p:cNvSpPr/>
          <p:nvPr/>
        </p:nvSpPr>
        <p:spPr>
          <a:xfrm>
            <a:off x="2962655" y="2130550"/>
            <a:ext cx="140591" cy="14059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17" name="Oval 27"/>
          <p:cNvSpPr/>
          <p:nvPr/>
        </p:nvSpPr>
        <p:spPr>
          <a:xfrm>
            <a:off x="3355847" y="2130550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18" name="Oval 28"/>
          <p:cNvSpPr/>
          <p:nvPr/>
        </p:nvSpPr>
        <p:spPr>
          <a:xfrm>
            <a:off x="3749037" y="2130550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19" name="Oval 29"/>
          <p:cNvSpPr/>
          <p:nvPr/>
        </p:nvSpPr>
        <p:spPr>
          <a:xfrm>
            <a:off x="4142230" y="2130550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20" name="Oval 30"/>
          <p:cNvSpPr/>
          <p:nvPr/>
        </p:nvSpPr>
        <p:spPr>
          <a:xfrm>
            <a:off x="4535423" y="2130550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21" name="Oval 31"/>
          <p:cNvSpPr/>
          <p:nvPr/>
        </p:nvSpPr>
        <p:spPr>
          <a:xfrm>
            <a:off x="4928615" y="2130550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22" name="Oval 32"/>
          <p:cNvSpPr/>
          <p:nvPr/>
        </p:nvSpPr>
        <p:spPr>
          <a:xfrm>
            <a:off x="5321806" y="2130550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23" name="Oval 33"/>
          <p:cNvSpPr/>
          <p:nvPr/>
        </p:nvSpPr>
        <p:spPr>
          <a:xfrm>
            <a:off x="5715000" y="2130550"/>
            <a:ext cx="68582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24" name="Oval 34"/>
          <p:cNvSpPr/>
          <p:nvPr/>
        </p:nvSpPr>
        <p:spPr>
          <a:xfrm>
            <a:off x="6108191" y="2130550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25" name="Oval 35"/>
          <p:cNvSpPr/>
          <p:nvPr/>
        </p:nvSpPr>
        <p:spPr>
          <a:xfrm>
            <a:off x="6501383" y="2130550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26" name="Oval 36"/>
          <p:cNvSpPr/>
          <p:nvPr/>
        </p:nvSpPr>
        <p:spPr>
          <a:xfrm>
            <a:off x="6894576" y="2130550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27" name="Oval 37"/>
          <p:cNvSpPr/>
          <p:nvPr/>
        </p:nvSpPr>
        <p:spPr>
          <a:xfrm>
            <a:off x="7287768" y="2130550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28" name="Oval 38"/>
          <p:cNvSpPr/>
          <p:nvPr/>
        </p:nvSpPr>
        <p:spPr>
          <a:xfrm>
            <a:off x="868680" y="2523744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29" name="Oval 39"/>
          <p:cNvSpPr/>
          <p:nvPr/>
        </p:nvSpPr>
        <p:spPr>
          <a:xfrm>
            <a:off x="1261872" y="2523744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30" name="Oval 40"/>
          <p:cNvSpPr/>
          <p:nvPr/>
        </p:nvSpPr>
        <p:spPr>
          <a:xfrm>
            <a:off x="1655064" y="2523744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31" name="Oval 41"/>
          <p:cNvSpPr/>
          <p:nvPr/>
        </p:nvSpPr>
        <p:spPr>
          <a:xfrm>
            <a:off x="2048255" y="2523744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32" name="Oval 42"/>
          <p:cNvSpPr/>
          <p:nvPr/>
        </p:nvSpPr>
        <p:spPr>
          <a:xfrm>
            <a:off x="2441448" y="2523744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33" name="Oval 43"/>
          <p:cNvSpPr/>
          <p:nvPr/>
        </p:nvSpPr>
        <p:spPr>
          <a:xfrm>
            <a:off x="2834638" y="2523744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34" name="Oval 44"/>
          <p:cNvSpPr/>
          <p:nvPr/>
        </p:nvSpPr>
        <p:spPr>
          <a:xfrm>
            <a:off x="3227832" y="2523744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35" name="Oval 45"/>
          <p:cNvSpPr/>
          <p:nvPr/>
        </p:nvSpPr>
        <p:spPr>
          <a:xfrm>
            <a:off x="3621023" y="2523744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36" name="Oval 46"/>
          <p:cNvSpPr/>
          <p:nvPr/>
        </p:nvSpPr>
        <p:spPr>
          <a:xfrm>
            <a:off x="4014215" y="2523744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37" name="Oval 47"/>
          <p:cNvSpPr/>
          <p:nvPr/>
        </p:nvSpPr>
        <p:spPr>
          <a:xfrm>
            <a:off x="4407408" y="2523744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38" name="Oval 48"/>
          <p:cNvSpPr/>
          <p:nvPr/>
        </p:nvSpPr>
        <p:spPr>
          <a:xfrm>
            <a:off x="4800600" y="2523744"/>
            <a:ext cx="68582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39" name="Oval 49"/>
          <p:cNvSpPr/>
          <p:nvPr/>
        </p:nvSpPr>
        <p:spPr>
          <a:xfrm>
            <a:off x="5193791" y="2523744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40" name="Oval 50"/>
          <p:cNvSpPr/>
          <p:nvPr/>
        </p:nvSpPr>
        <p:spPr>
          <a:xfrm>
            <a:off x="5586984" y="2523744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41" name="Oval 51"/>
          <p:cNvSpPr/>
          <p:nvPr/>
        </p:nvSpPr>
        <p:spPr>
          <a:xfrm>
            <a:off x="5980176" y="2523744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42" name="Oval 52"/>
          <p:cNvSpPr/>
          <p:nvPr/>
        </p:nvSpPr>
        <p:spPr>
          <a:xfrm>
            <a:off x="6373367" y="2523744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43" name="Oval 53"/>
          <p:cNvSpPr/>
          <p:nvPr/>
        </p:nvSpPr>
        <p:spPr>
          <a:xfrm>
            <a:off x="6766559" y="2523744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44" name="Oval 54"/>
          <p:cNvSpPr/>
          <p:nvPr/>
        </p:nvSpPr>
        <p:spPr>
          <a:xfrm>
            <a:off x="7159752" y="2523744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45" name="Oval 55"/>
          <p:cNvSpPr/>
          <p:nvPr/>
        </p:nvSpPr>
        <p:spPr>
          <a:xfrm>
            <a:off x="996694" y="2916934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46" name="Oval 56"/>
          <p:cNvSpPr/>
          <p:nvPr/>
        </p:nvSpPr>
        <p:spPr>
          <a:xfrm>
            <a:off x="1389888" y="2916934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47" name="Oval 57"/>
          <p:cNvSpPr/>
          <p:nvPr/>
        </p:nvSpPr>
        <p:spPr>
          <a:xfrm>
            <a:off x="1783078" y="2916934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48" name="Oval 58"/>
          <p:cNvSpPr/>
          <p:nvPr/>
        </p:nvSpPr>
        <p:spPr>
          <a:xfrm>
            <a:off x="2176272" y="2916934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49" name="Oval 59"/>
          <p:cNvSpPr/>
          <p:nvPr/>
        </p:nvSpPr>
        <p:spPr>
          <a:xfrm>
            <a:off x="2569464" y="2916934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50" name="Oval 60"/>
          <p:cNvSpPr/>
          <p:nvPr/>
        </p:nvSpPr>
        <p:spPr>
          <a:xfrm>
            <a:off x="2962655" y="2916934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51" name="Oval 61"/>
          <p:cNvSpPr/>
          <p:nvPr/>
        </p:nvSpPr>
        <p:spPr>
          <a:xfrm>
            <a:off x="3355847" y="2916934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52" name="Oval 62"/>
          <p:cNvSpPr/>
          <p:nvPr/>
        </p:nvSpPr>
        <p:spPr>
          <a:xfrm>
            <a:off x="3749037" y="2916934"/>
            <a:ext cx="140591" cy="14059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53" name="Oval 63"/>
          <p:cNvSpPr/>
          <p:nvPr/>
        </p:nvSpPr>
        <p:spPr>
          <a:xfrm>
            <a:off x="4142230" y="2916934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54" name="Oval 64"/>
          <p:cNvSpPr/>
          <p:nvPr/>
        </p:nvSpPr>
        <p:spPr>
          <a:xfrm>
            <a:off x="4535423" y="2916934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55" name="Oval 65"/>
          <p:cNvSpPr/>
          <p:nvPr/>
        </p:nvSpPr>
        <p:spPr>
          <a:xfrm>
            <a:off x="4928615" y="2916934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56" name="Oval 66"/>
          <p:cNvSpPr/>
          <p:nvPr/>
        </p:nvSpPr>
        <p:spPr>
          <a:xfrm>
            <a:off x="5321806" y="2916934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57" name="Oval 67"/>
          <p:cNvSpPr/>
          <p:nvPr/>
        </p:nvSpPr>
        <p:spPr>
          <a:xfrm>
            <a:off x="5715000" y="2916934"/>
            <a:ext cx="68582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58" name="Oval 68"/>
          <p:cNvSpPr/>
          <p:nvPr/>
        </p:nvSpPr>
        <p:spPr>
          <a:xfrm>
            <a:off x="6108191" y="2916934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59" name="Oval 69"/>
          <p:cNvSpPr/>
          <p:nvPr/>
        </p:nvSpPr>
        <p:spPr>
          <a:xfrm>
            <a:off x="6501383" y="2916934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60" name="Oval 70"/>
          <p:cNvSpPr/>
          <p:nvPr/>
        </p:nvSpPr>
        <p:spPr>
          <a:xfrm>
            <a:off x="6894576" y="2916934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61" name="Oval 71"/>
          <p:cNvSpPr/>
          <p:nvPr/>
        </p:nvSpPr>
        <p:spPr>
          <a:xfrm>
            <a:off x="7287768" y="2916934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62" name="Oval 72"/>
          <p:cNvSpPr/>
          <p:nvPr/>
        </p:nvSpPr>
        <p:spPr>
          <a:xfrm>
            <a:off x="868680" y="3310128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63" name="Oval 73"/>
          <p:cNvSpPr/>
          <p:nvPr/>
        </p:nvSpPr>
        <p:spPr>
          <a:xfrm>
            <a:off x="1261872" y="3310128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64" name="Oval 74"/>
          <p:cNvSpPr/>
          <p:nvPr/>
        </p:nvSpPr>
        <p:spPr>
          <a:xfrm>
            <a:off x="1655064" y="3310128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65" name="Oval 75"/>
          <p:cNvSpPr/>
          <p:nvPr/>
        </p:nvSpPr>
        <p:spPr>
          <a:xfrm>
            <a:off x="2048255" y="3310128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66" name="Oval 76"/>
          <p:cNvSpPr/>
          <p:nvPr/>
        </p:nvSpPr>
        <p:spPr>
          <a:xfrm>
            <a:off x="2441448" y="3310128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67" name="Oval 77"/>
          <p:cNvSpPr/>
          <p:nvPr/>
        </p:nvSpPr>
        <p:spPr>
          <a:xfrm>
            <a:off x="2834638" y="3310128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68" name="Oval 78"/>
          <p:cNvSpPr/>
          <p:nvPr/>
        </p:nvSpPr>
        <p:spPr>
          <a:xfrm>
            <a:off x="3227832" y="3310128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69" name="Oval 79"/>
          <p:cNvSpPr/>
          <p:nvPr/>
        </p:nvSpPr>
        <p:spPr>
          <a:xfrm>
            <a:off x="3621023" y="3310128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70" name="Oval 80"/>
          <p:cNvSpPr/>
          <p:nvPr/>
        </p:nvSpPr>
        <p:spPr>
          <a:xfrm>
            <a:off x="4014215" y="3310128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71" name="Oval 81"/>
          <p:cNvSpPr/>
          <p:nvPr/>
        </p:nvSpPr>
        <p:spPr>
          <a:xfrm>
            <a:off x="4407408" y="3310128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72" name="Oval 82"/>
          <p:cNvSpPr/>
          <p:nvPr/>
        </p:nvSpPr>
        <p:spPr>
          <a:xfrm>
            <a:off x="4800600" y="3310128"/>
            <a:ext cx="68582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73" name="Oval 83"/>
          <p:cNvSpPr/>
          <p:nvPr/>
        </p:nvSpPr>
        <p:spPr>
          <a:xfrm>
            <a:off x="5193791" y="3310128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74" name="Oval 84"/>
          <p:cNvSpPr/>
          <p:nvPr/>
        </p:nvSpPr>
        <p:spPr>
          <a:xfrm>
            <a:off x="5586984" y="3310128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75" name="Oval 85"/>
          <p:cNvSpPr/>
          <p:nvPr/>
        </p:nvSpPr>
        <p:spPr>
          <a:xfrm>
            <a:off x="5980176" y="3310128"/>
            <a:ext cx="140591" cy="14059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76" name="Oval 86"/>
          <p:cNvSpPr/>
          <p:nvPr/>
        </p:nvSpPr>
        <p:spPr>
          <a:xfrm>
            <a:off x="6373367" y="3310128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77" name="Oval 87"/>
          <p:cNvSpPr/>
          <p:nvPr/>
        </p:nvSpPr>
        <p:spPr>
          <a:xfrm>
            <a:off x="6766559" y="3310128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78" name="Oval 88"/>
          <p:cNvSpPr/>
          <p:nvPr/>
        </p:nvSpPr>
        <p:spPr>
          <a:xfrm>
            <a:off x="7159752" y="3310128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79" name="Oval 89"/>
          <p:cNvSpPr/>
          <p:nvPr/>
        </p:nvSpPr>
        <p:spPr>
          <a:xfrm>
            <a:off x="996694" y="3703320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80" name="Oval 90"/>
          <p:cNvSpPr/>
          <p:nvPr/>
        </p:nvSpPr>
        <p:spPr>
          <a:xfrm>
            <a:off x="1389888" y="3703320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81" name="Oval 91"/>
          <p:cNvSpPr/>
          <p:nvPr/>
        </p:nvSpPr>
        <p:spPr>
          <a:xfrm>
            <a:off x="1783078" y="3703320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82" name="Oval 92"/>
          <p:cNvSpPr/>
          <p:nvPr/>
        </p:nvSpPr>
        <p:spPr>
          <a:xfrm>
            <a:off x="2176272" y="3703320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83" name="Oval 93"/>
          <p:cNvSpPr/>
          <p:nvPr/>
        </p:nvSpPr>
        <p:spPr>
          <a:xfrm>
            <a:off x="2569464" y="3703320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84" name="Oval 94"/>
          <p:cNvSpPr/>
          <p:nvPr/>
        </p:nvSpPr>
        <p:spPr>
          <a:xfrm>
            <a:off x="2962655" y="3703320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85" name="Oval 95"/>
          <p:cNvSpPr/>
          <p:nvPr/>
        </p:nvSpPr>
        <p:spPr>
          <a:xfrm>
            <a:off x="3355847" y="3703320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86" name="Oval 96"/>
          <p:cNvSpPr/>
          <p:nvPr/>
        </p:nvSpPr>
        <p:spPr>
          <a:xfrm>
            <a:off x="3749037" y="3703320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87" name="Oval 97"/>
          <p:cNvSpPr/>
          <p:nvPr/>
        </p:nvSpPr>
        <p:spPr>
          <a:xfrm>
            <a:off x="4142230" y="3703320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88" name="Oval 98"/>
          <p:cNvSpPr/>
          <p:nvPr/>
        </p:nvSpPr>
        <p:spPr>
          <a:xfrm>
            <a:off x="4535423" y="3703320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89" name="Oval 99"/>
          <p:cNvSpPr/>
          <p:nvPr/>
        </p:nvSpPr>
        <p:spPr>
          <a:xfrm>
            <a:off x="4928615" y="3703320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90" name="Oval 100"/>
          <p:cNvSpPr/>
          <p:nvPr/>
        </p:nvSpPr>
        <p:spPr>
          <a:xfrm>
            <a:off x="5321806" y="3703320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91" name="Oval 101"/>
          <p:cNvSpPr/>
          <p:nvPr/>
        </p:nvSpPr>
        <p:spPr>
          <a:xfrm>
            <a:off x="5715000" y="3703320"/>
            <a:ext cx="68582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92" name="Oval 102"/>
          <p:cNvSpPr/>
          <p:nvPr/>
        </p:nvSpPr>
        <p:spPr>
          <a:xfrm>
            <a:off x="6108191" y="3703320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93" name="Oval 103"/>
          <p:cNvSpPr/>
          <p:nvPr/>
        </p:nvSpPr>
        <p:spPr>
          <a:xfrm>
            <a:off x="6501383" y="3703320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94" name="Oval 104"/>
          <p:cNvSpPr/>
          <p:nvPr/>
        </p:nvSpPr>
        <p:spPr>
          <a:xfrm>
            <a:off x="6894576" y="3703320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95" name="Oval 105"/>
          <p:cNvSpPr/>
          <p:nvPr/>
        </p:nvSpPr>
        <p:spPr>
          <a:xfrm>
            <a:off x="7287768" y="3703320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96" name="Oval 106"/>
          <p:cNvSpPr/>
          <p:nvPr/>
        </p:nvSpPr>
        <p:spPr>
          <a:xfrm>
            <a:off x="868680" y="4096510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97" name="Oval 107"/>
          <p:cNvSpPr/>
          <p:nvPr/>
        </p:nvSpPr>
        <p:spPr>
          <a:xfrm>
            <a:off x="1261872" y="4096510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98" name="Oval 108"/>
          <p:cNvSpPr/>
          <p:nvPr/>
        </p:nvSpPr>
        <p:spPr>
          <a:xfrm>
            <a:off x="1655064" y="4096510"/>
            <a:ext cx="140591" cy="14059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99" name="Oval 109"/>
          <p:cNvSpPr/>
          <p:nvPr/>
        </p:nvSpPr>
        <p:spPr>
          <a:xfrm>
            <a:off x="2048255" y="4096510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00" name="Oval 110"/>
          <p:cNvSpPr/>
          <p:nvPr/>
        </p:nvSpPr>
        <p:spPr>
          <a:xfrm>
            <a:off x="2441448" y="4096510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01" name="Oval 111"/>
          <p:cNvSpPr/>
          <p:nvPr/>
        </p:nvSpPr>
        <p:spPr>
          <a:xfrm>
            <a:off x="2834638" y="4096510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02" name="Oval 112"/>
          <p:cNvSpPr/>
          <p:nvPr/>
        </p:nvSpPr>
        <p:spPr>
          <a:xfrm>
            <a:off x="3227832" y="4096510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03" name="Oval 113"/>
          <p:cNvSpPr/>
          <p:nvPr/>
        </p:nvSpPr>
        <p:spPr>
          <a:xfrm>
            <a:off x="3621023" y="4096510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04" name="Oval 114"/>
          <p:cNvSpPr/>
          <p:nvPr/>
        </p:nvSpPr>
        <p:spPr>
          <a:xfrm>
            <a:off x="4014215" y="4096510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05" name="Oval 115"/>
          <p:cNvSpPr/>
          <p:nvPr/>
        </p:nvSpPr>
        <p:spPr>
          <a:xfrm>
            <a:off x="4407408" y="4096510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06" name="Oval 116"/>
          <p:cNvSpPr/>
          <p:nvPr/>
        </p:nvSpPr>
        <p:spPr>
          <a:xfrm>
            <a:off x="4800600" y="4096510"/>
            <a:ext cx="68582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07" name="Oval 117"/>
          <p:cNvSpPr/>
          <p:nvPr/>
        </p:nvSpPr>
        <p:spPr>
          <a:xfrm>
            <a:off x="5193791" y="4096510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08" name="Oval 118"/>
          <p:cNvSpPr/>
          <p:nvPr/>
        </p:nvSpPr>
        <p:spPr>
          <a:xfrm>
            <a:off x="5586984" y="4096510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09" name="Oval 119"/>
          <p:cNvSpPr/>
          <p:nvPr/>
        </p:nvSpPr>
        <p:spPr>
          <a:xfrm>
            <a:off x="5980176" y="4096510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10" name="Oval 120"/>
          <p:cNvSpPr/>
          <p:nvPr/>
        </p:nvSpPr>
        <p:spPr>
          <a:xfrm>
            <a:off x="6373367" y="4096510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11" name="Oval 121"/>
          <p:cNvSpPr/>
          <p:nvPr/>
        </p:nvSpPr>
        <p:spPr>
          <a:xfrm>
            <a:off x="6766559" y="4096510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12" name="Oval 122"/>
          <p:cNvSpPr/>
          <p:nvPr/>
        </p:nvSpPr>
        <p:spPr>
          <a:xfrm>
            <a:off x="7159752" y="4096510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13" name="Oval 123"/>
          <p:cNvSpPr/>
          <p:nvPr/>
        </p:nvSpPr>
        <p:spPr>
          <a:xfrm>
            <a:off x="996694" y="4489703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14" name="Oval 124"/>
          <p:cNvSpPr/>
          <p:nvPr/>
        </p:nvSpPr>
        <p:spPr>
          <a:xfrm>
            <a:off x="1389888" y="4489703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15" name="Oval 125"/>
          <p:cNvSpPr/>
          <p:nvPr/>
        </p:nvSpPr>
        <p:spPr>
          <a:xfrm>
            <a:off x="1783078" y="4489703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16" name="Oval 126"/>
          <p:cNvSpPr/>
          <p:nvPr/>
        </p:nvSpPr>
        <p:spPr>
          <a:xfrm>
            <a:off x="2176272" y="4489703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17" name="Oval 127"/>
          <p:cNvSpPr/>
          <p:nvPr/>
        </p:nvSpPr>
        <p:spPr>
          <a:xfrm>
            <a:off x="2569464" y="4489703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18" name="Oval 128"/>
          <p:cNvSpPr/>
          <p:nvPr/>
        </p:nvSpPr>
        <p:spPr>
          <a:xfrm>
            <a:off x="2962655" y="4489703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19" name="Oval 129"/>
          <p:cNvSpPr/>
          <p:nvPr/>
        </p:nvSpPr>
        <p:spPr>
          <a:xfrm>
            <a:off x="3355847" y="4489703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20" name="Oval 130"/>
          <p:cNvSpPr/>
          <p:nvPr/>
        </p:nvSpPr>
        <p:spPr>
          <a:xfrm>
            <a:off x="3749037" y="4489703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21" name="Oval 131"/>
          <p:cNvSpPr/>
          <p:nvPr/>
        </p:nvSpPr>
        <p:spPr>
          <a:xfrm>
            <a:off x="4142230" y="4489703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22" name="Oval 132"/>
          <p:cNvSpPr/>
          <p:nvPr/>
        </p:nvSpPr>
        <p:spPr>
          <a:xfrm>
            <a:off x="4535423" y="4489703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23" name="Oval 133"/>
          <p:cNvSpPr/>
          <p:nvPr/>
        </p:nvSpPr>
        <p:spPr>
          <a:xfrm>
            <a:off x="4928615" y="4489703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24" name="Oval 134"/>
          <p:cNvSpPr/>
          <p:nvPr/>
        </p:nvSpPr>
        <p:spPr>
          <a:xfrm>
            <a:off x="5321806" y="4489703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25" name="Oval 135"/>
          <p:cNvSpPr/>
          <p:nvPr/>
        </p:nvSpPr>
        <p:spPr>
          <a:xfrm>
            <a:off x="5715000" y="4489703"/>
            <a:ext cx="68582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26" name="Oval 136"/>
          <p:cNvSpPr/>
          <p:nvPr/>
        </p:nvSpPr>
        <p:spPr>
          <a:xfrm>
            <a:off x="6108191" y="4489703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27" name="Oval 137"/>
          <p:cNvSpPr/>
          <p:nvPr/>
        </p:nvSpPr>
        <p:spPr>
          <a:xfrm>
            <a:off x="6501383" y="4489703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28" name="Oval 138"/>
          <p:cNvSpPr/>
          <p:nvPr/>
        </p:nvSpPr>
        <p:spPr>
          <a:xfrm>
            <a:off x="6894576" y="4489703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29" name="Oval 139"/>
          <p:cNvSpPr/>
          <p:nvPr/>
        </p:nvSpPr>
        <p:spPr>
          <a:xfrm>
            <a:off x="7287768" y="4489703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30" name="Oval 140"/>
          <p:cNvSpPr/>
          <p:nvPr/>
        </p:nvSpPr>
        <p:spPr>
          <a:xfrm>
            <a:off x="868680" y="4882896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31" name="Oval 141"/>
          <p:cNvSpPr/>
          <p:nvPr/>
        </p:nvSpPr>
        <p:spPr>
          <a:xfrm>
            <a:off x="1261872" y="4882896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32" name="Oval 142"/>
          <p:cNvSpPr/>
          <p:nvPr/>
        </p:nvSpPr>
        <p:spPr>
          <a:xfrm>
            <a:off x="1655064" y="4882896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33" name="Oval 143"/>
          <p:cNvSpPr/>
          <p:nvPr/>
        </p:nvSpPr>
        <p:spPr>
          <a:xfrm>
            <a:off x="2048255" y="4882896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34" name="Oval 144"/>
          <p:cNvSpPr/>
          <p:nvPr/>
        </p:nvSpPr>
        <p:spPr>
          <a:xfrm>
            <a:off x="2441448" y="4882896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35" name="Oval 145"/>
          <p:cNvSpPr/>
          <p:nvPr/>
        </p:nvSpPr>
        <p:spPr>
          <a:xfrm>
            <a:off x="2834638" y="4882896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36" name="Oval 146"/>
          <p:cNvSpPr/>
          <p:nvPr/>
        </p:nvSpPr>
        <p:spPr>
          <a:xfrm>
            <a:off x="3227832" y="4882896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37" name="Oval 147"/>
          <p:cNvSpPr/>
          <p:nvPr/>
        </p:nvSpPr>
        <p:spPr>
          <a:xfrm>
            <a:off x="3621023" y="4882896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38" name="Oval 148"/>
          <p:cNvSpPr/>
          <p:nvPr/>
        </p:nvSpPr>
        <p:spPr>
          <a:xfrm>
            <a:off x="4014215" y="4882896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39" name="Oval 149"/>
          <p:cNvSpPr/>
          <p:nvPr/>
        </p:nvSpPr>
        <p:spPr>
          <a:xfrm>
            <a:off x="4407408" y="4882896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40" name="Oval 150"/>
          <p:cNvSpPr/>
          <p:nvPr/>
        </p:nvSpPr>
        <p:spPr>
          <a:xfrm>
            <a:off x="4800600" y="4882896"/>
            <a:ext cx="68582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41" name="Oval 151"/>
          <p:cNvSpPr/>
          <p:nvPr/>
        </p:nvSpPr>
        <p:spPr>
          <a:xfrm>
            <a:off x="5193791" y="4882896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42" name="Oval 152"/>
          <p:cNvSpPr/>
          <p:nvPr/>
        </p:nvSpPr>
        <p:spPr>
          <a:xfrm>
            <a:off x="5586984" y="4882896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43" name="Oval 153"/>
          <p:cNvSpPr/>
          <p:nvPr/>
        </p:nvSpPr>
        <p:spPr>
          <a:xfrm>
            <a:off x="5980176" y="4882896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44" name="Oval 154"/>
          <p:cNvSpPr/>
          <p:nvPr/>
        </p:nvSpPr>
        <p:spPr>
          <a:xfrm>
            <a:off x="6373367" y="4882896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45" name="Oval 155"/>
          <p:cNvSpPr/>
          <p:nvPr/>
        </p:nvSpPr>
        <p:spPr>
          <a:xfrm>
            <a:off x="6766559" y="4882896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46" name="Oval 156"/>
          <p:cNvSpPr/>
          <p:nvPr/>
        </p:nvSpPr>
        <p:spPr>
          <a:xfrm>
            <a:off x="7159752" y="4882896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47" name="Oval 157"/>
          <p:cNvSpPr/>
          <p:nvPr/>
        </p:nvSpPr>
        <p:spPr>
          <a:xfrm>
            <a:off x="996694" y="5276088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48" name="Oval 158"/>
          <p:cNvSpPr/>
          <p:nvPr/>
        </p:nvSpPr>
        <p:spPr>
          <a:xfrm>
            <a:off x="1389888" y="5276088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49" name="Oval 159"/>
          <p:cNvSpPr/>
          <p:nvPr/>
        </p:nvSpPr>
        <p:spPr>
          <a:xfrm>
            <a:off x="1783078" y="5276088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50" name="Oval 160"/>
          <p:cNvSpPr/>
          <p:nvPr/>
        </p:nvSpPr>
        <p:spPr>
          <a:xfrm>
            <a:off x="2176272" y="5276088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51" name="Oval 161"/>
          <p:cNvSpPr/>
          <p:nvPr/>
        </p:nvSpPr>
        <p:spPr>
          <a:xfrm>
            <a:off x="2569464" y="5276088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52" name="Oval 162"/>
          <p:cNvSpPr/>
          <p:nvPr/>
        </p:nvSpPr>
        <p:spPr>
          <a:xfrm>
            <a:off x="2962655" y="5276088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53" name="Oval 163"/>
          <p:cNvSpPr/>
          <p:nvPr/>
        </p:nvSpPr>
        <p:spPr>
          <a:xfrm>
            <a:off x="3355847" y="5276088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54" name="Oval 164"/>
          <p:cNvSpPr/>
          <p:nvPr/>
        </p:nvSpPr>
        <p:spPr>
          <a:xfrm>
            <a:off x="3749037" y="5276088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55" name="Oval 165"/>
          <p:cNvSpPr/>
          <p:nvPr/>
        </p:nvSpPr>
        <p:spPr>
          <a:xfrm>
            <a:off x="4142230" y="5276088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56" name="Oval 166"/>
          <p:cNvSpPr/>
          <p:nvPr/>
        </p:nvSpPr>
        <p:spPr>
          <a:xfrm>
            <a:off x="4535423" y="5276088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57" name="Oval 167"/>
          <p:cNvSpPr/>
          <p:nvPr/>
        </p:nvSpPr>
        <p:spPr>
          <a:xfrm>
            <a:off x="4928615" y="5276088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58" name="Oval 168"/>
          <p:cNvSpPr/>
          <p:nvPr/>
        </p:nvSpPr>
        <p:spPr>
          <a:xfrm>
            <a:off x="5321806" y="5276088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59" name="Oval 169"/>
          <p:cNvSpPr/>
          <p:nvPr/>
        </p:nvSpPr>
        <p:spPr>
          <a:xfrm>
            <a:off x="5715000" y="5276088"/>
            <a:ext cx="68582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60" name="Oval 170"/>
          <p:cNvSpPr/>
          <p:nvPr/>
        </p:nvSpPr>
        <p:spPr>
          <a:xfrm>
            <a:off x="6108191" y="5276088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61" name="Oval 171"/>
          <p:cNvSpPr/>
          <p:nvPr/>
        </p:nvSpPr>
        <p:spPr>
          <a:xfrm>
            <a:off x="6501383" y="5276088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62" name="Oval 172"/>
          <p:cNvSpPr/>
          <p:nvPr/>
        </p:nvSpPr>
        <p:spPr>
          <a:xfrm>
            <a:off x="6894576" y="5276088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63" name="Oval 173"/>
          <p:cNvSpPr/>
          <p:nvPr/>
        </p:nvSpPr>
        <p:spPr>
          <a:xfrm>
            <a:off x="7287768" y="5276088"/>
            <a:ext cx="68583" cy="6858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64" name="Rounded Rectangle 174"/>
          <p:cNvSpPr/>
          <p:nvPr/>
        </p:nvSpPr>
        <p:spPr>
          <a:xfrm>
            <a:off x="8814816" y="2267711"/>
            <a:ext cx="1417322" cy="1828801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65" name="Connector 175"/>
          <p:cNvSpPr/>
          <p:nvPr/>
        </p:nvSpPr>
        <p:spPr>
          <a:xfrm>
            <a:off x="9070847" y="2770632"/>
            <a:ext cx="886968" cy="2"/>
          </a:xfrm>
          <a:prstGeom prst="line">
            <a:avLst/>
          </a:prstGeom>
          <a:ln w="1651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6" name="Connector 176"/>
          <p:cNvSpPr/>
          <p:nvPr/>
        </p:nvSpPr>
        <p:spPr>
          <a:xfrm>
            <a:off x="9070847" y="3118104"/>
            <a:ext cx="731522" cy="2"/>
          </a:xfrm>
          <a:prstGeom prst="line">
            <a:avLst/>
          </a:prstGeom>
          <a:ln w="1651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7" name="Connector 177"/>
          <p:cNvSpPr/>
          <p:nvPr/>
        </p:nvSpPr>
        <p:spPr>
          <a:xfrm>
            <a:off x="9070847" y="3465576"/>
            <a:ext cx="813818" cy="2"/>
          </a:xfrm>
          <a:prstGeom prst="line">
            <a:avLst/>
          </a:prstGeom>
          <a:ln w="17780">
            <a:solidFill>
              <a:srgbClr val="1FA87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8" name="Connector 178"/>
          <p:cNvSpPr/>
          <p:nvPr/>
        </p:nvSpPr>
        <p:spPr>
          <a:xfrm>
            <a:off x="2868927" y="1716785"/>
            <a:ext cx="5945891" cy="1465327"/>
          </a:xfrm>
          <a:prstGeom prst="line">
            <a:avLst/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9" name="Connector 179"/>
          <p:cNvSpPr/>
          <p:nvPr/>
        </p:nvSpPr>
        <p:spPr>
          <a:xfrm>
            <a:off x="2868928" y="1789937"/>
            <a:ext cx="5945889" cy="1392177"/>
          </a:xfrm>
          <a:prstGeom prst="line">
            <a:avLst/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0" name="Connector 180"/>
          <p:cNvSpPr/>
          <p:nvPr/>
        </p:nvSpPr>
        <p:spPr>
          <a:xfrm>
            <a:off x="2868927" y="1863089"/>
            <a:ext cx="5945891" cy="1319024"/>
          </a:xfrm>
          <a:prstGeom prst="line">
            <a:avLst/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1" name="Connector 181"/>
          <p:cNvSpPr/>
          <p:nvPr/>
        </p:nvSpPr>
        <p:spPr>
          <a:xfrm>
            <a:off x="4048503" y="1771649"/>
            <a:ext cx="4766314" cy="1410465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2" name="Connector 182"/>
          <p:cNvSpPr/>
          <p:nvPr/>
        </p:nvSpPr>
        <p:spPr>
          <a:xfrm>
            <a:off x="2996944" y="2109977"/>
            <a:ext cx="5817874" cy="1072137"/>
          </a:xfrm>
          <a:prstGeom prst="line">
            <a:avLst/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3" name="Connector 183"/>
          <p:cNvSpPr/>
          <p:nvPr/>
        </p:nvSpPr>
        <p:spPr>
          <a:xfrm>
            <a:off x="2996944" y="2183129"/>
            <a:ext cx="5817872" cy="998983"/>
          </a:xfrm>
          <a:prstGeom prst="line">
            <a:avLst/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4" name="Connector 184"/>
          <p:cNvSpPr/>
          <p:nvPr/>
        </p:nvSpPr>
        <p:spPr>
          <a:xfrm>
            <a:off x="2996945" y="2256281"/>
            <a:ext cx="5817871" cy="925832"/>
          </a:xfrm>
          <a:prstGeom prst="line">
            <a:avLst/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5" name="Connector 185"/>
          <p:cNvSpPr/>
          <p:nvPr/>
        </p:nvSpPr>
        <p:spPr>
          <a:xfrm>
            <a:off x="3655314" y="2558033"/>
            <a:ext cx="5159504" cy="624079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6" name="Connector 186"/>
          <p:cNvSpPr/>
          <p:nvPr/>
        </p:nvSpPr>
        <p:spPr>
          <a:xfrm>
            <a:off x="3783327" y="2896361"/>
            <a:ext cx="5031491" cy="285751"/>
          </a:xfrm>
          <a:prstGeom prst="line">
            <a:avLst/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7" name="Connector 187"/>
          <p:cNvSpPr/>
          <p:nvPr/>
        </p:nvSpPr>
        <p:spPr>
          <a:xfrm>
            <a:off x="3783329" y="2969514"/>
            <a:ext cx="5031489" cy="212599"/>
          </a:xfrm>
          <a:prstGeom prst="line">
            <a:avLst/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8" name="Connector 188"/>
          <p:cNvSpPr/>
          <p:nvPr/>
        </p:nvSpPr>
        <p:spPr>
          <a:xfrm>
            <a:off x="3783329" y="3042666"/>
            <a:ext cx="5031489" cy="139447"/>
          </a:xfrm>
          <a:prstGeom prst="line">
            <a:avLst/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9" name="Connector 189"/>
          <p:cNvSpPr/>
          <p:nvPr/>
        </p:nvSpPr>
        <p:spPr>
          <a:xfrm flipV="1">
            <a:off x="4048503" y="3182111"/>
            <a:ext cx="4766314" cy="162308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0" name="Connector 190"/>
          <p:cNvSpPr/>
          <p:nvPr/>
        </p:nvSpPr>
        <p:spPr>
          <a:xfrm flipV="1">
            <a:off x="6014465" y="3182111"/>
            <a:ext cx="2800352" cy="107444"/>
          </a:xfrm>
          <a:prstGeom prst="line">
            <a:avLst/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1" name="Connector 191"/>
          <p:cNvSpPr/>
          <p:nvPr/>
        </p:nvSpPr>
        <p:spPr>
          <a:xfrm flipV="1">
            <a:off x="6014465" y="3182110"/>
            <a:ext cx="2800352" cy="180597"/>
          </a:xfrm>
          <a:prstGeom prst="line">
            <a:avLst/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2" name="Connector 192"/>
          <p:cNvSpPr/>
          <p:nvPr/>
        </p:nvSpPr>
        <p:spPr>
          <a:xfrm flipV="1">
            <a:off x="6014465" y="3182111"/>
            <a:ext cx="2800352" cy="253748"/>
          </a:xfrm>
          <a:prstGeom prst="line">
            <a:avLst/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3" name="Connector 193"/>
          <p:cNvSpPr/>
          <p:nvPr/>
        </p:nvSpPr>
        <p:spPr>
          <a:xfrm flipV="1">
            <a:off x="1689354" y="3182112"/>
            <a:ext cx="7125463" cy="893826"/>
          </a:xfrm>
          <a:prstGeom prst="line">
            <a:avLst/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4" name="Connector 194"/>
          <p:cNvSpPr/>
          <p:nvPr/>
        </p:nvSpPr>
        <p:spPr>
          <a:xfrm flipV="1">
            <a:off x="1689354" y="3182111"/>
            <a:ext cx="7125463" cy="966979"/>
          </a:xfrm>
          <a:prstGeom prst="line">
            <a:avLst/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5" name="Connector 195"/>
          <p:cNvSpPr/>
          <p:nvPr/>
        </p:nvSpPr>
        <p:spPr>
          <a:xfrm flipV="1">
            <a:off x="1689354" y="3182111"/>
            <a:ext cx="7125463" cy="1040132"/>
          </a:xfrm>
          <a:prstGeom prst="line">
            <a:avLst/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6" name="Connector 196"/>
          <p:cNvSpPr/>
          <p:nvPr/>
        </p:nvSpPr>
        <p:spPr>
          <a:xfrm flipV="1">
            <a:off x="1296161" y="3182112"/>
            <a:ext cx="7518657" cy="1735074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7" name="TextBox 198"/>
          <p:cNvSpPr txBox="1"/>
          <p:nvPr/>
        </p:nvSpPr>
        <p:spPr>
          <a:xfrm>
            <a:off x="8168640" y="4429038"/>
            <a:ext cx="2709674" cy="267048"/>
          </a:xfrm>
          <a:prstGeom prst="rect">
            <a:avLst/>
          </a:prstGeom>
          <a:solidFill>
            <a:schemeClr val="accent2"/>
          </a:solidFill>
          <a:ln w="25400">
            <a:solidFill>
              <a:srgbClr val="8C3A3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power raters dominating</a:t>
            </a:r>
          </a:p>
        </p:txBody>
      </p:sp>
      <p:sp>
        <p:nvSpPr>
          <p:cNvPr id="588" name="TextBox 201"/>
          <p:cNvSpPr txBox="1"/>
          <p:nvPr/>
        </p:nvSpPr>
        <p:spPr>
          <a:xfrm>
            <a:off x="914399" y="5714999"/>
            <a:ext cx="2926083" cy="2354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A few rate constantly</a:t>
            </a:r>
          </a:p>
        </p:txBody>
      </p:sp>
      <p:sp>
        <p:nvSpPr>
          <p:cNvPr id="589" name="TextBox 202"/>
          <p:cNvSpPr txBox="1"/>
          <p:nvPr/>
        </p:nvSpPr>
        <p:spPr>
          <a:xfrm>
            <a:off x="4480559" y="5714999"/>
            <a:ext cx="3017522" cy="2354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Most rate occasionally</a:t>
            </a:r>
          </a:p>
        </p:txBody>
      </p:sp>
      <p:sp>
        <p:nvSpPr>
          <p:cNvPr id="590" name="TextBox 203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Nudo et al. (2026); authors’ 200k analysis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TextBox 1"/>
          <p:cNvSpPr txBox="1"/>
          <p:nvPr/>
        </p:nvSpPr>
        <p:spPr>
          <a:xfrm>
            <a:off x="603503" y="420623"/>
            <a:ext cx="4389122" cy="1487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CURRENT BRIDGING</a:t>
            </a:r>
          </a:p>
        </p:txBody>
      </p:sp>
      <p:sp>
        <p:nvSpPr>
          <p:cNvPr id="593" name="TextBox 2"/>
          <p:cNvSpPr txBox="1"/>
          <p:nvPr/>
        </p:nvSpPr>
        <p:spPr>
          <a:xfrm>
            <a:off x="603504" y="786383"/>
            <a:ext cx="10515601" cy="458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Activity moves the bridge</a:t>
            </a:r>
          </a:p>
        </p:txBody>
      </p:sp>
      <p:sp>
        <p:nvSpPr>
          <p:cNvPr id="594" name="TextBox 3"/>
          <p:cNvSpPr txBox="1"/>
          <p:nvPr/>
        </p:nvSpPr>
        <p:spPr>
          <a:xfrm>
            <a:off x="11082528" y="457199"/>
            <a:ext cx="438913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595" name="Connector 4"/>
          <p:cNvSpPr/>
          <p:nvPr/>
        </p:nvSpPr>
        <p:spPr>
          <a:xfrm flipH="1">
            <a:off x="6099047" y="1572767"/>
            <a:ext cx="1" cy="2926081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6" name="TextBox 5"/>
          <p:cNvSpPr txBox="1"/>
          <p:nvPr/>
        </p:nvSpPr>
        <p:spPr>
          <a:xfrm>
            <a:off x="749808" y="1508760"/>
            <a:ext cx="3200401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BEFORE · EQUAL ACTIVITY</a:t>
            </a:r>
          </a:p>
        </p:txBody>
      </p:sp>
      <p:sp>
        <p:nvSpPr>
          <p:cNvPr id="597" name="TextBox 6"/>
          <p:cNvSpPr txBox="1"/>
          <p:nvPr/>
        </p:nvSpPr>
        <p:spPr>
          <a:xfrm>
            <a:off x="6446520" y="1508760"/>
            <a:ext cx="3657601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AFTER · CORAL RATES 5× MORE</a:t>
            </a:r>
          </a:p>
        </p:txBody>
      </p:sp>
      <p:sp>
        <p:nvSpPr>
          <p:cNvPr id="598" name="Oval 7"/>
          <p:cNvSpPr/>
          <p:nvPr/>
        </p:nvSpPr>
        <p:spPr>
          <a:xfrm>
            <a:off x="987552" y="2066543"/>
            <a:ext cx="91441" cy="9144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99" name="Oval 8"/>
          <p:cNvSpPr/>
          <p:nvPr/>
        </p:nvSpPr>
        <p:spPr>
          <a:xfrm>
            <a:off x="1298447" y="2066543"/>
            <a:ext cx="91441" cy="9144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00" name="Oval 9"/>
          <p:cNvSpPr/>
          <p:nvPr/>
        </p:nvSpPr>
        <p:spPr>
          <a:xfrm>
            <a:off x="1609344" y="2066543"/>
            <a:ext cx="91441" cy="9144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01" name="Oval 10"/>
          <p:cNvSpPr/>
          <p:nvPr/>
        </p:nvSpPr>
        <p:spPr>
          <a:xfrm>
            <a:off x="1920239" y="2066543"/>
            <a:ext cx="91441" cy="9144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02" name="Oval 11"/>
          <p:cNvSpPr/>
          <p:nvPr/>
        </p:nvSpPr>
        <p:spPr>
          <a:xfrm>
            <a:off x="2231135" y="2066543"/>
            <a:ext cx="91441" cy="9144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03" name="Oval 12"/>
          <p:cNvSpPr/>
          <p:nvPr/>
        </p:nvSpPr>
        <p:spPr>
          <a:xfrm>
            <a:off x="3977638" y="2066543"/>
            <a:ext cx="91441" cy="9144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04" name="Oval 13"/>
          <p:cNvSpPr/>
          <p:nvPr/>
        </p:nvSpPr>
        <p:spPr>
          <a:xfrm>
            <a:off x="4288535" y="2066543"/>
            <a:ext cx="91441" cy="9144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05" name="Oval 14"/>
          <p:cNvSpPr/>
          <p:nvPr/>
        </p:nvSpPr>
        <p:spPr>
          <a:xfrm>
            <a:off x="4599430" y="2066543"/>
            <a:ext cx="91441" cy="9144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06" name="Oval 15"/>
          <p:cNvSpPr/>
          <p:nvPr/>
        </p:nvSpPr>
        <p:spPr>
          <a:xfrm>
            <a:off x="4910327" y="2066543"/>
            <a:ext cx="91441" cy="9144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07" name="Oval 16"/>
          <p:cNvSpPr/>
          <p:nvPr/>
        </p:nvSpPr>
        <p:spPr>
          <a:xfrm>
            <a:off x="5221223" y="2066543"/>
            <a:ext cx="91441" cy="9144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08" name="TextBox 17"/>
          <p:cNvSpPr txBox="1"/>
          <p:nvPr/>
        </p:nvSpPr>
        <p:spPr>
          <a:xfrm>
            <a:off x="786383" y="2441448"/>
            <a:ext cx="2194561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4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100 × 10% = 10</a:t>
            </a:r>
          </a:p>
        </p:txBody>
      </p:sp>
      <p:sp>
        <p:nvSpPr>
          <p:cNvPr id="609" name="TextBox 18"/>
          <p:cNvSpPr txBox="1"/>
          <p:nvPr/>
        </p:nvSpPr>
        <p:spPr>
          <a:xfrm>
            <a:off x="3657600" y="2441448"/>
            <a:ext cx="2057400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14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100 × 90% = 90</a:t>
            </a:r>
          </a:p>
        </p:txBody>
      </p:sp>
      <p:sp>
        <p:nvSpPr>
          <p:cNvPr id="610" name="Connector 19"/>
          <p:cNvSpPr/>
          <p:nvPr/>
        </p:nvSpPr>
        <p:spPr>
          <a:xfrm>
            <a:off x="896112" y="3154679"/>
            <a:ext cx="4727449" cy="1"/>
          </a:xfrm>
          <a:prstGeom prst="line">
            <a:avLst/>
          </a:prstGeom>
          <a:ln w="228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1" name="Oval 20"/>
          <p:cNvSpPr/>
          <p:nvPr/>
        </p:nvSpPr>
        <p:spPr>
          <a:xfrm>
            <a:off x="859536" y="3118104"/>
            <a:ext cx="73153" cy="731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12" name="Oval 21"/>
          <p:cNvSpPr/>
          <p:nvPr/>
        </p:nvSpPr>
        <p:spPr>
          <a:xfrm>
            <a:off x="5586984" y="3118104"/>
            <a:ext cx="73153" cy="731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13" name="Connector 22"/>
          <p:cNvSpPr/>
          <p:nvPr/>
        </p:nvSpPr>
        <p:spPr>
          <a:xfrm>
            <a:off x="3259835" y="2852927"/>
            <a:ext cx="1" cy="585217"/>
          </a:xfrm>
          <a:prstGeom prst="line">
            <a:avLst/>
          </a:prstGeom>
          <a:ln w="2540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4" name="Oval 23"/>
          <p:cNvSpPr/>
          <p:nvPr/>
        </p:nvSpPr>
        <p:spPr>
          <a:xfrm>
            <a:off x="3195827" y="3090672"/>
            <a:ext cx="128017" cy="128017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15" name="TextBox 24"/>
          <p:cNvSpPr txBox="1"/>
          <p:nvPr/>
        </p:nvSpPr>
        <p:spPr>
          <a:xfrm>
            <a:off x="2692907" y="3566159"/>
            <a:ext cx="1133857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50% SIGNAL</a:t>
            </a:r>
          </a:p>
        </p:txBody>
      </p:sp>
      <p:sp>
        <p:nvSpPr>
          <p:cNvPr id="616" name="TextBox 25"/>
          <p:cNvSpPr txBox="1"/>
          <p:nvPr/>
        </p:nvSpPr>
        <p:spPr>
          <a:xfrm>
            <a:off x="1490472" y="3913632"/>
            <a:ext cx="3584448" cy="29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(10 + 90) / 200 = 50%</a:t>
            </a:r>
          </a:p>
        </p:txBody>
      </p:sp>
      <p:sp>
        <p:nvSpPr>
          <p:cNvPr id="617" name="Oval 26"/>
          <p:cNvSpPr/>
          <p:nvPr/>
        </p:nvSpPr>
        <p:spPr>
          <a:xfrm>
            <a:off x="6693407" y="2066543"/>
            <a:ext cx="91441" cy="9144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18" name="Oval 27"/>
          <p:cNvSpPr/>
          <p:nvPr/>
        </p:nvSpPr>
        <p:spPr>
          <a:xfrm>
            <a:off x="7004304" y="2066543"/>
            <a:ext cx="91441" cy="9144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19" name="Oval 28"/>
          <p:cNvSpPr/>
          <p:nvPr/>
        </p:nvSpPr>
        <p:spPr>
          <a:xfrm>
            <a:off x="7315199" y="2066543"/>
            <a:ext cx="91442" cy="9144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20" name="Oval 29"/>
          <p:cNvSpPr/>
          <p:nvPr/>
        </p:nvSpPr>
        <p:spPr>
          <a:xfrm>
            <a:off x="7626095" y="2066543"/>
            <a:ext cx="91441" cy="9144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21" name="Oval 30"/>
          <p:cNvSpPr/>
          <p:nvPr/>
        </p:nvSpPr>
        <p:spPr>
          <a:xfrm>
            <a:off x="7936992" y="2066543"/>
            <a:ext cx="91441" cy="9144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22" name="Oval 31"/>
          <p:cNvSpPr/>
          <p:nvPr/>
        </p:nvSpPr>
        <p:spPr>
          <a:xfrm>
            <a:off x="9674352" y="2066543"/>
            <a:ext cx="91441" cy="9144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23" name="Connector 32"/>
          <p:cNvSpPr/>
          <p:nvPr/>
        </p:nvSpPr>
        <p:spPr>
          <a:xfrm>
            <a:off x="9720071" y="1920238"/>
            <a:ext cx="1" cy="50293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4" name="Connector 33"/>
          <p:cNvSpPr/>
          <p:nvPr/>
        </p:nvSpPr>
        <p:spPr>
          <a:xfrm>
            <a:off x="9720071" y="1810510"/>
            <a:ext cx="1" cy="50294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5" name="Connector 34"/>
          <p:cNvSpPr/>
          <p:nvPr/>
        </p:nvSpPr>
        <p:spPr>
          <a:xfrm>
            <a:off x="9720071" y="1700783"/>
            <a:ext cx="1" cy="50293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6" name="Connector 35"/>
          <p:cNvSpPr/>
          <p:nvPr/>
        </p:nvSpPr>
        <p:spPr>
          <a:xfrm>
            <a:off x="9720071" y="1591055"/>
            <a:ext cx="1" cy="50293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7" name="Oval 36"/>
          <p:cNvSpPr/>
          <p:nvPr/>
        </p:nvSpPr>
        <p:spPr>
          <a:xfrm>
            <a:off x="9985247" y="2066543"/>
            <a:ext cx="91441" cy="9144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28" name="Connector 37"/>
          <p:cNvSpPr/>
          <p:nvPr/>
        </p:nvSpPr>
        <p:spPr>
          <a:xfrm>
            <a:off x="10030968" y="1920238"/>
            <a:ext cx="1" cy="50293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9" name="Connector 38"/>
          <p:cNvSpPr/>
          <p:nvPr/>
        </p:nvSpPr>
        <p:spPr>
          <a:xfrm>
            <a:off x="10030968" y="1810510"/>
            <a:ext cx="1" cy="50294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0" name="Connector 39"/>
          <p:cNvSpPr/>
          <p:nvPr/>
        </p:nvSpPr>
        <p:spPr>
          <a:xfrm>
            <a:off x="10030968" y="1700783"/>
            <a:ext cx="1" cy="50293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1" name="Connector 40"/>
          <p:cNvSpPr/>
          <p:nvPr/>
        </p:nvSpPr>
        <p:spPr>
          <a:xfrm>
            <a:off x="10030968" y="1591055"/>
            <a:ext cx="1" cy="50293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2" name="Oval 41"/>
          <p:cNvSpPr/>
          <p:nvPr/>
        </p:nvSpPr>
        <p:spPr>
          <a:xfrm>
            <a:off x="10296143" y="2066543"/>
            <a:ext cx="91441" cy="9144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33" name="Connector 42"/>
          <p:cNvSpPr/>
          <p:nvPr/>
        </p:nvSpPr>
        <p:spPr>
          <a:xfrm>
            <a:off x="10341864" y="1920238"/>
            <a:ext cx="1" cy="50293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4" name="Connector 43"/>
          <p:cNvSpPr/>
          <p:nvPr/>
        </p:nvSpPr>
        <p:spPr>
          <a:xfrm>
            <a:off x="10341864" y="1810510"/>
            <a:ext cx="1" cy="50294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5" name="Connector 44"/>
          <p:cNvSpPr/>
          <p:nvPr/>
        </p:nvSpPr>
        <p:spPr>
          <a:xfrm>
            <a:off x="10341864" y="1700783"/>
            <a:ext cx="1" cy="50293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6" name="Connector 45"/>
          <p:cNvSpPr/>
          <p:nvPr/>
        </p:nvSpPr>
        <p:spPr>
          <a:xfrm>
            <a:off x="10341864" y="1591055"/>
            <a:ext cx="1" cy="50293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7" name="Oval 46"/>
          <p:cNvSpPr/>
          <p:nvPr/>
        </p:nvSpPr>
        <p:spPr>
          <a:xfrm>
            <a:off x="10607040" y="2066543"/>
            <a:ext cx="91441" cy="9144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38" name="Connector 47"/>
          <p:cNvSpPr/>
          <p:nvPr/>
        </p:nvSpPr>
        <p:spPr>
          <a:xfrm>
            <a:off x="10652759" y="1920238"/>
            <a:ext cx="1" cy="50293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9" name="Connector 48"/>
          <p:cNvSpPr/>
          <p:nvPr/>
        </p:nvSpPr>
        <p:spPr>
          <a:xfrm>
            <a:off x="10652759" y="1810510"/>
            <a:ext cx="1" cy="50294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0" name="Connector 49"/>
          <p:cNvSpPr/>
          <p:nvPr/>
        </p:nvSpPr>
        <p:spPr>
          <a:xfrm>
            <a:off x="10652759" y="1700783"/>
            <a:ext cx="1" cy="50293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1" name="Connector 50"/>
          <p:cNvSpPr/>
          <p:nvPr/>
        </p:nvSpPr>
        <p:spPr>
          <a:xfrm>
            <a:off x="10652759" y="1591055"/>
            <a:ext cx="1" cy="50293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2" name="Oval 51"/>
          <p:cNvSpPr/>
          <p:nvPr/>
        </p:nvSpPr>
        <p:spPr>
          <a:xfrm>
            <a:off x="10917935" y="2066543"/>
            <a:ext cx="91441" cy="9144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43" name="Connector 52"/>
          <p:cNvSpPr/>
          <p:nvPr/>
        </p:nvSpPr>
        <p:spPr>
          <a:xfrm>
            <a:off x="10963656" y="1920238"/>
            <a:ext cx="1" cy="50293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4" name="Connector 53"/>
          <p:cNvSpPr/>
          <p:nvPr/>
        </p:nvSpPr>
        <p:spPr>
          <a:xfrm>
            <a:off x="10963656" y="1810510"/>
            <a:ext cx="1" cy="50294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5" name="Connector 54"/>
          <p:cNvSpPr/>
          <p:nvPr/>
        </p:nvSpPr>
        <p:spPr>
          <a:xfrm>
            <a:off x="10963656" y="1700783"/>
            <a:ext cx="1" cy="50293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6" name="Connector 55"/>
          <p:cNvSpPr/>
          <p:nvPr/>
        </p:nvSpPr>
        <p:spPr>
          <a:xfrm>
            <a:off x="10963656" y="1591055"/>
            <a:ext cx="1" cy="50293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7" name="TextBox 56"/>
          <p:cNvSpPr txBox="1"/>
          <p:nvPr/>
        </p:nvSpPr>
        <p:spPr>
          <a:xfrm>
            <a:off x="6492240" y="2441448"/>
            <a:ext cx="2194561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4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100 × 10% = 10</a:t>
            </a:r>
          </a:p>
        </p:txBody>
      </p:sp>
      <p:sp>
        <p:nvSpPr>
          <p:cNvPr id="648" name="TextBox 57"/>
          <p:cNvSpPr txBox="1"/>
          <p:nvPr/>
        </p:nvSpPr>
        <p:spPr>
          <a:xfrm>
            <a:off x="9308592" y="2441448"/>
            <a:ext cx="2194561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14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500 × 90% = 450</a:t>
            </a:r>
          </a:p>
        </p:txBody>
      </p:sp>
      <p:sp>
        <p:nvSpPr>
          <p:cNvPr id="649" name="Connector 58"/>
          <p:cNvSpPr/>
          <p:nvPr/>
        </p:nvSpPr>
        <p:spPr>
          <a:xfrm>
            <a:off x="6601968" y="3154679"/>
            <a:ext cx="4736593" cy="1"/>
          </a:xfrm>
          <a:prstGeom prst="line">
            <a:avLst/>
          </a:prstGeom>
          <a:ln w="228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0" name="Oval 59"/>
          <p:cNvSpPr/>
          <p:nvPr/>
        </p:nvSpPr>
        <p:spPr>
          <a:xfrm>
            <a:off x="6565392" y="3118104"/>
            <a:ext cx="73153" cy="731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51" name="Oval 60"/>
          <p:cNvSpPr/>
          <p:nvPr/>
        </p:nvSpPr>
        <p:spPr>
          <a:xfrm>
            <a:off x="11301983" y="3118104"/>
            <a:ext cx="73153" cy="731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52" name="Connector 61"/>
          <p:cNvSpPr/>
          <p:nvPr/>
        </p:nvSpPr>
        <p:spPr>
          <a:xfrm>
            <a:off x="10249142" y="2852927"/>
            <a:ext cx="1" cy="585217"/>
          </a:xfrm>
          <a:prstGeom prst="line">
            <a:avLst/>
          </a:prstGeom>
          <a:ln w="2540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3" name="Oval 62"/>
          <p:cNvSpPr/>
          <p:nvPr/>
        </p:nvSpPr>
        <p:spPr>
          <a:xfrm>
            <a:off x="10185134" y="3090672"/>
            <a:ext cx="128017" cy="128017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54" name="TextBox 63"/>
          <p:cNvSpPr txBox="1"/>
          <p:nvPr/>
        </p:nvSpPr>
        <p:spPr>
          <a:xfrm>
            <a:off x="9682215" y="3566159"/>
            <a:ext cx="1133857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77% SIGNAL</a:t>
            </a:r>
          </a:p>
        </p:txBody>
      </p:sp>
      <p:sp>
        <p:nvSpPr>
          <p:cNvPr id="655" name="TextBox 64"/>
          <p:cNvSpPr txBox="1"/>
          <p:nvPr/>
        </p:nvSpPr>
        <p:spPr>
          <a:xfrm>
            <a:off x="7022592" y="3913632"/>
            <a:ext cx="3886201" cy="29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(10 + 450) / 600 ≈ 77%</a:t>
            </a:r>
          </a:p>
        </p:txBody>
      </p:sp>
      <p:sp>
        <p:nvSpPr>
          <p:cNvPr id="656" name="Connector 65"/>
          <p:cNvSpPr/>
          <p:nvPr/>
        </p:nvSpPr>
        <p:spPr>
          <a:xfrm>
            <a:off x="749807" y="4663440"/>
            <a:ext cx="10698482" cy="1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7" name="TextBox 66"/>
          <p:cNvSpPr txBox="1"/>
          <p:nvPr/>
        </p:nvSpPr>
        <p:spPr>
          <a:xfrm>
            <a:off x="804671" y="4992623"/>
            <a:ext cx="3520442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73777F"/>
                </a:solidFill>
              </a:rPr>
              <a:t>Same within-group support: 10% | 90%</a:t>
            </a:r>
          </a:p>
        </p:txBody>
      </p:sp>
      <p:sp>
        <p:nvSpPr>
          <p:cNvPr id="658" name="TextBox 67"/>
          <p:cNvSpPr txBox="1"/>
          <p:nvPr/>
        </p:nvSpPr>
        <p:spPr>
          <a:xfrm>
            <a:off x="4187952" y="4892040"/>
            <a:ext cx="3822192" cy="4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√(.10 × .90) = 30%</a:t>
            </a:r>
          </a:p>
        </p:txBody>
      </p:sp>
      <p:sp>
        <p:nvSpPr>
          <p:cNvPr id="659" name="TextBox 68"/>
          <p:cNvSpPr txBox="1"/>
          <p:nvPr/>
        </p:nvSpPr>
        <p:spPr>
          <a:xfrm>
            <a:off x="8339326" y="4992623"/>
            <a:ext cx="2816353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r"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73777F"/>
                </a:solidFill>
              </a:rPr>
              <a:t>unchanged by rating volume</a:t>
            </a:r>
          </a:p>
        </p:txBody>
      </p:sp>
      <p:sp>
        <p:nvSpPr>
          <p:cNvPr id="660" name="TextBox 69"/>
          <p:cNvSpPr txBox="1"/>
          <p:nvPr/>
        </p:nvSpPr>
        <p:spPr>
          <a:xfrm>
            <a:off x="4892040" y="5504688"/>
            <a:ext cx="2423161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0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CCA STAYS SYMMETRIC</a:t>
            </a:r>
          </a:p>
        </p:txBody>
      </p:sp>
      <p:sp>
        <p:nvSpPr>
          <p:cNvPr id="661" name="TextBox 70"/>
          <p:cNvSpPr txBox="1"/>
          <p:nvPr/>
        </p:nvSpPr>
        <p:spPr>
          <a:xfrm>
            <a:off x="621791" y="6172199"/>
            <a:ext cx="53035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Toy illustration—not the Community Notes scoring formula.</a:t>
            </a:r>
          </a:p>
        </p:txBody>
      </p:sp>
      <p:sp>
        <p:nvSpPr>
          <p:cNvPr id="662" name="TextBox 71"/>
          <p:cNvSpPr txBox="1"/>
          <p:nvPr/>
        </p:nvSpPr>
        <p:spPr>
          <a:xfrm>
            <a:off x="6473952" y="6172199"/>
            <a:ext cx="4983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X Community Notes (2026); Nudo et al. (2026)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OUR SHIFT</a:t>
            </a:r>
          </a:p>
        </p:txBody>
      </p:sp>
      <p:sp>
        <p:nvSpPr>
          <p:cNvPr id="665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Consult constituencies directly</a:t>
            </a:r>
          </a:p>
        </p:txBody>
      </p:sp>
      <p:sp>
        <p:nvSpPr>
          <p:cNvPr id="666" name="TextBox 3"/>
          <p:cNvSpPr txBox="1"/>
          <p:nvPr/>
        </p:nvSpPr>
        <p:spPr>
          <a:xfrm>
            <a:off x="11082528" y="457199"/>
            <a:ext cx="43891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667" name="Oval 4"/>
          <p:cNvSpPr/>
          <p:nvPr/>
        </p:nvSpPr>
        <p:spPr>
          <a:xfrm>
            <a:off x="960119" y="1828799"/>
            <a:ext cx="91443" cy="91444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668" name="Oval 5"/>
          <p:cNvSpPr/>
          <p:nvPr/>
        </p:nvSpPr>
        <p:spPr>
          <a:xfrm>
            <a:off x="1344166" y="1828799"/>
            <a:ext cx="91443" cy="91444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669" name="Oval 6"/>
          <p:cNvSpPr/>
          <p:nvPr/>
        </p:nvSpPr>
        <p:spPr>
          <a:xfrm>
            <a:off x="1728216" y="1828799"/>
            <a:ext cx="91443" cy="91444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670" name="Oval 7"/>
          <p:cNvSpPr/>
          <p:nvPr/>
        </p:nvSpPr>
        <p:spPr>
          <a:xfrm>
            <a:off x="2112264" y="1828799"/>
            <a:ext cx="91443" cy="91444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671" name="Oval 8"/>
          <p:cNvSpPr/>
          <p:nvPr/>
        </p:nvSpPr>
        <p:spPr>
          <a:xfrm>
            <a:off x="2496310" y="1828799"/>
            <a:ext cx="91444" cy="91444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672" name="Oval 9"/>
          <p:cNvSpPr/>
          <p:nvPr/>
        </p:nvSpPr>
        <p:spPr>
          <a:xfrm>
            <a:off x="2880360" y="1828799"/>
            <a:ext cx="91443" cy="91444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673" name="Oval 10"/>
          <p:cNvSpPr/>
          <p:nvPr/>
        </p:nvSpPr>
        <p:spPr>
          <a:xfrm>
            <a:off x="3264408" y="1828799"/>
            <a:ext cx="91443" cy="91444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674" name="Oval 11"/>
          <p:cNvSpPr/>
          <p:nvPr/>
        </p:nvSpPr>
        <p:spPr>
          <a:xfrm>
            <a:off x="1088136" y="2240278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675" name="Oval 12"/>
          <p:cNvSpPr/>
          <p:nvPr/>
        </p:nvSpPr>
        <p:spPr>
          <a:xfrm>
            <a:off x="1472183" y="2240278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676" name="Oval 13"/>
          <p:cNvSpPr/>
          <p:nvPr/>
        </p:nvSpPr>
        <p:spPr>
          <a:xfrm>
            <a:off x="1856232" y="2240278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677" name="Oval 14"/>
          <p:cNvSpPr/>
          <p:nvPr/>
        </p:nvSpPr>
        <p:spPr>
          <a:xfrm>
            <a:off x="2240278" y="2240278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678" name="Oval 15"/>
          <p:cNvSpPr/>
          <p:nvPr/>
        </p:nvSpPr>
        <p:spPr>
          <a:xfrm>
            <a:off x="2624327" y="2240278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679" name="Oval 16"/>
          <p:cNvSpPr/>
          <p:nvPr/>
        </p:nvSpPr>
        <p:spPr>
          <a:xfrm>
            <a:off x="3008376" y="2240278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680" name="Oval 17"/>
          <p:cNvSpPr/>
          <p:nvPr/>
        </p:nvSpPr>
        <p:spPr>
          <a:xfrm>
            <a:off x="3392423" y="2240278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681" name="Oval 18"/>
          <p:cNvSpPr/>
          <p:nvPr/>
        </p:nvSpPr>
        <p:spPr>
          <a:xfrm>
            <a:off x="960119" y="2651760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682" name="Oval 19"/>
          <p:cNvSpPr/>
          <p:nvPr/>
        </p:nvSpPr>
        <p:spPr>
          <a:xfrm>
            <a:off x="1344166" y="2651760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683" name="Oval 20"/>
          <p:cNvSpPr/>
          <p:nvPr/>
        </p:nvSpPr>
        <p:spPr>
          <a:xfrm>
            <a:off x="1728216" y="2651760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684" name="Oval 21"/>
          <p:cNvSpPr/>
          <p:nvPr/>
        </p:nvSpPr>
        <p:spPr>
          <a:xfrm>
            <a:off x="2112264" y="2651760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685" name="Oval 22"/>
          <p:cNvSpPr/>
          <p:nvPr/>
        </p:nvSpPr>
        <p:spPr>
          <a:xfrm>
            <a:off x="2496310" y="2651760"/>
            <a:ext cx="91444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686" name="Oval 23"/>
          <p:cNvSpPr/>
          <p:nvPr/>
        </p:nvSpPr>
        <p:spPr>
          <a:xfrm>
            <a:off x="2880360" y="2651760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687" name="Oval 24"/>
          <p:cNvSpPr/>
          <p:nvPr/>
        </p:nvSpPr>
        <p:spPr>
          <a:xfrm>
            <a:off x="3264408" y="2651760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688" name="Oval 25"/>
          <p:cNvSpPr/>
          <p:nvPr/>
        </p:nvSpPr>
        <p:spPr>
          <a:xfrm>
            <a:off x="1088136" y="3063238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689" name="Oval 26"/>
          <p:cNvSpPr/>
          <p:nvPr/>
        </p:nvSpPr>
        <p:spPr>
          <a:xfrm>
            <a:off x="1472183" y="3063238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690" name="Oval 27"/>
          <p:cNvSpPr/>
          <p:nvPr/>
        </p:nvSpPr>
        <p:spPr>
          <a:xfrm>
            <a:off x="1856232" y="3063238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691" name="Oval 28"/>
          <p:cNvSpPr/>
          <p:nvPr/>
        </p:nvSpPr>
        <p:spPr>
          <a:xfrm>
            <a:off x="2240278" y="3063238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692" name="Oval 29"/>
          <p:cNvSpPr/>
          <p:nvPr/>
        </p:nvSpPr>
        <p:spPr>
          <a:xfrm>
            <a:off x="2624327" y="3063238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693" name="Oval 30"/>
          <p:cNvSpPr/>
          <p:nvPr/>
        </p:nvSpPr>
        <p:spPr>
          <a:xfrm>
            <a:off x="3008376" y="3063238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694" name="Oval 31"/>
          <p:cNvSpPr/>
          <p:nvPr/>
        </p:nvSpPr>
        <p:spPr>
          <a:xfrm>
            <a:off x="3392423" y="3063238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695" name="Oval 32"/>
          <p:cNvSpPr/>
          <p:nvPr/>
        </p:nvSpPr>
        <p:spPr>
          <a:xfrm>
            <a:off x="960119" y="3474720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696" name="Oval 33"/>
          <p:cNvSpPr/>
          <p:nvPr/>
        </p:nvSpPr>
        <p:spPr>
          <a:xfrm>
            <a:off x="1344166" y="3474720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697" name="Oval 34"/>
          <p:cNvSpPr/>
          <p:nvPr/>
        </p:nvSpPr>
        <p:spPr>
          <a:xfrm>
            <a:off x="1728216" y="3474720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698" name="Oval 35"/>
          <p:cNvSpPr/>
          <p:nvPr/>
        </p:nvSpPr>
        <p:spPr>
          <a:xfrm>
            <a:off x="2112264" y="3474720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699" name="Oval 36"/>
          <p:cNvSpPr/>
          <p:nvPr/>
        </p:nvSpPr>
        <p:spPr>
          <a:xfrm>
            <a:off x="2496310" y="3474720"/>
            <a:ext cx="91444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700" name="Oval 37"/>
          <p:cNvSpPr/>
          <p:nvPr/>
        </p:nvSpPr>
        <p:spPr>
          <a:xfrm>
            <a:off x="2880360" y="3474720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701" name="Oval 38"/>
          <p:cNvSpPr/>
          <p:nvPr/>
        </p:nvSpPr>
        <p:spPr>
          <a:xfrm>
            <a:off x="3264408" y="3474720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702" name="Oval 39"/>
          <p:cNvSpPr/>
          <p:nvPr/>
        </p:nvSpPr>
        <p:spPr>
          <a:xfrm>
            <a:off x="1088136" y="3886199"/>
            <a:ext cx="91443" cy="91444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703" name="Oval 40"/>
          <p:cNvSpPr/>
          <p:nvPr/>
        </p:nvSpPr>
        <p:spPr>
          <a:xfrm>
            <a:off x="1472183" y="3886199"/>
            <a:ext cx="91443" cy="91444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704" name="Oval 41"/>
          <p:cNvSpPr/>
          <p:nvPr/>
        </p:nvSpPr>
        <p:spPr>
          <a:xfrm>
            <a:off x="1856232" y="3886199"/>
            <a:ext cx="91443" cy="91444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705" name="Oval 42"/>
          <p:cNvSpPr/>
          <p:nvPr/>
        </p:nvSpPr>
        <p:spPr>
          <a:xfrm>
            <a:off x="2240278" y="3886199"/>
            <a:ext cx="91443" cy="91444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706" name="Oval 43"/>
          <p:cNvSpPr/>
          <p:nvPr/>
        </p:nvSpPr>
        <p:spPr>
          <a:xfrm>
            <a:off x="2624327" y="3886199"/>
            <a:ext cx="91443" cy="91444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707" name="Oval 44"/>
          <p:cNvSpPr/>
          <p:nvPr/>
        </p:nvSpPr>
        <p:spPr>
          <a:xfrm>
            <a:off x="3008376" y="3886199"/>
            <a:ext cx="91443" cy="91444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708" name="Oval 45"/>
          <p:cNvSpPr/>
          <p:nvPr/>
        </p:nvSpPr>
        <p:spPr>
          <a:xfrm>
            <a:off x="3392423" y="3886199"/>
            <a:ext cx="91443" cy="91444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709" name="Oval 46"/>
          <p:cNvSpPr/>
          <p:nvPr/>
        </p:nvSpPr>
        <p:spPr>
          <a:xfrm>
            <a:off x="960119" y="4297679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710" name="Oval 47"/>
          <p:cNvSpPr/>
          <p:nvPr/>
        </p:nvSpPr>
        <p:spPr>
          <a:xfrm>
            <a:off x="1344166" y="4297679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711" name="Oval 48"/>
          <p:cNvSpPr/>
          <p:nvPr/>
        </p:nvSpPr>
        <p:spPr>
          <a:xfrm>
            <a:off x="1728216" y="4297679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712" name="Oval 49"/>
          <p:cNvSpPr/>
          <p:nvPr/>
        </p:nvSpPr>
        <p:spPr>
          <a:xfrm>
            <a:off x="2112264" y="4297679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713" name="Oval 50"/>
          <p:cNvSpPr/>
          <p:nvPr/>
        </p:nvSpPr>
        <p:spPr>
          <a:xfrm>
            <a:off x="2496310" y="4297679"/>
            <a:ext cx="91444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714" name="Oval 51"/>
          <p:cNvSpPr/>
          <p:nvPr/>
        </p:nvSpPr>
        <p:spPr>
          <a:xfrm>
            <a:off x="2880360" y="4297679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715" name="Oval 52"/>
          <p:cNvSpPr/>
          <p:nvPr/>
        </p:nvSpPr>
        <p:spPr>
          <a:xfrm>
            <a:off x="3264408" y="4297679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716" name="Oval 53"/>
          <p:cNvSpPr/>
          <p:nvPr/>
        </p:nvSpPr>
        <p:spPr>
          <a:xfrm>
            <a:off x="7909559" y="1828799"/>
            <a:ext cx="91443" cy="91444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717" name="Oval 54"/>
          <p:cNvSpPr/>
          <p:nvPr/>
        </p:nvSpPr>
        <p:spPr>
          <a:xfrm>
            <a:off x="8293606" y="1828799"/>
            <a:ext cx="91443" cy="91444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718" name="Oval 55"/>
          <p:cNvSpPr/>
          <p:nvPr/>
        </p:nvSpPr>
        <p:spPr>
          <a:xfrm>
            <a:off x="8677656" y="1828799"/>
            <a:ext cx="91443" cy="91444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719" name="Oval 56"/>
          <p:cNvSpPr/>
          <p:nvPr/>
        </p:nvSpPr>
        <p:spPr>
          <a:xfrm>
            <a:off x="9061704" y="1828799"/>
            <a:ext cx="91443" cy="91444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720" name="Oval 57"/>
          <p:cNvSpPr/>
          <p:nvPr/>
        </p:nvSpPr>
        <p:spPr>
          <a:xfrm>
            <a:off x="9445752" y="1828799"/>
            <a:ext cx="91443" cy="91444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721" name="Oval 58"/>
          <p:cNvSpPr/>
          <p:nvPr/>
        </p:nvSpPr>
        <p:spPr>
          <a:xfrm>
            <a:off x="9829799" y="1828799"/>
            <a:ext cx="91444" cy="91444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722" name="Oval 59"/>
          <p:cNvSpPr/>
          <p:nvPr/>
        </p:nvSpPr>
        <p:spPr>
          <a:xfrm>
            <a:off x="10213847" y="1828799"/>
            <a:ext cx="91443" cy="91444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723" name="Oval 60"/>
          <p:cNvSpPr/>
          <p:nvPr/>
        </p:nvSpPr>
        <p:spPr>
          <a:xfrm>
            <a:off x="8037576" y="2240278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724" name="Oval 61"/>
          <p:cNvSpPr/>
          <p:nvPr/>
        </p:nvSpPr>
        <p:spPr>
          <a:xfrm>
            <a:off x="8421623" y="2240278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725" name="Oval 62"/>
          <p:cNvSpPr/>
          <p:nvPr/>
        </p:nvSpPr>
        <p:spPr>
          <a:xfrm>
            <a:off x="8805671" y="2240278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726" name="Oval 63"/>
          <p:cNvSpPr/>
          <p:nvPr/>
        </p:nvSpPr>
        <p:spPr>
          <a:xfrm>
            <a:off x="9189718" y="2240278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727" name="Oval 64"/>
          <p:cNvSpPr/>
          <p:nvPr/>
        </p:nvSpPr>
        <p:spPr>
          <a:xfrm>
            <a:off x="9573768" y="2240278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728" name="Oval 65"/>
          <p:cNvSpPr/>
          <p:nvPr/>
        </p:nvSpPr>
        <p:spPr>
          <a:xfrm>
            <a:off x="9957816" y="2240278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729" name="Oval 66"/>
          <p:cNvSpPr/>
          <p:nvPr/>
        </p:nvSpPr>
        <p:spPr>
          <a:xfrm>
            <a:off x="10341864" y="2240278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730" name="Oval 67"/>
          <p:cNvSpPr/>
          <p:nvPr/>
        </p:nvSpPr>
        <p:spPr>
          <a:xfrm>
            <a:off x="7909559" y="2651760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731" name="Oval 68"/>
          <p:cNvSpPr/>
          <p:nvPr/>
        </p:nvSpPr>
        <p:spPr>
          <a:xfrm>
            <a:off x="8293606" y="2651760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732" name="Oval 69"/>
          <p:cNvSpPr/>
          <p:nvPr/>
        </p:nvSpPr>
        <p:spPr>
          <a:xfrm>
            <a:off x="8677656" y="2651760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733" name="Oval 70"/>
          <p:cNvSpPr/>
          <p:nvPr/>
        </p:nvSpPr>
        <p:spPr>
          <a:xfrm>
            <a:off x="9061704" y="2651760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734" name="Oval 71"/>
          <p:cNvSpPr/>
          <p:nvPr/>
        </p:nvSpPr>
        <p:spPr>
          <a:xfrm>
            <a:off x="9445752" y="2651760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735" name="Oval 72"/>
          <p:cNvSpPr/>
          <p:nvPr/>
        </p:nvSpPr>
        <p:spPr>
          <a:xfrm>
            <a:off x="9829799" y="2651760"/>
            <a:ext cx="91444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736" name="Oval 73"/>
          <p:cNvSpPr/>
          <p:nvPr/>
        </p:nvSpPr>
        <p:spPr>
          <a:xfrm>
            <a:off x="10213847" y="2651760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737" name="Oval 74"/>
          <p:cNvSpPr/>
          <p:nvPr/>
        </p:nvSpPr>
        <p:spPr>
          <a:xfrm>
            <a:off x="8037576" y="3063238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738" name="Oval 75"/>
          <p:cNvSpPr/>
          <p:nvPr/>
        </p:nvSpPr>
        <p:spPr>
          <a:xfrm>
            <a:off x="8421623" y="3063238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739" name="Oval 76"/>
          <p:cNvSpPr/>
          <p:nvPr/>
        </p:nvSpPr>
        <p:spPr>
          <a:xfrm>
            <a:off x="8805671" y="3063238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740" name="Oval 77"/>
          <p:cNvSpPr/>
          <p:nvPr/>
        </p:nvSpPr>
        <p:spPr>
          <a:xfrm>
            <a:off x="9189718" y="3063238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741" name="Oval 78"/>
          <p:cNvSpPr/>
          <p:nvPr/>
        </p:nvSpPr>
        <p:spPr>
          <a:xfrm>
            <a:off x="9573768" y="3063238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742" name="Oval 79"/>
          <p:cNvSpPr/>
          <p:nvPr/>
        </p:nvSpPr>
        <p:spPr>
          <a:xfrm>
            <a:off x="9957816" y="3063238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743" name="Oval 80"/>
          <p:cNvSpPr/>
          <p:nvPr/>
        </p:nvSpPr>
        <p:spPr>
          <a:xfrm>
            <a:off x="10341864" y="3063238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744" name="Oval 81"/>
          <p:cNvSpPr/>
          <p:nvPr/>
        </p:nvSpPr>
        <p:spPr>
          <a:xfrm>
            <a:off x="7909559" y="3474720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745" name="Oval 82"/>
          <p:cNvSpPr/>
          <p:nvPr/>
        </p:nvSpPr>
        <p:spPr>
          <a:xfrm>
            <a:off x="8293606" y="3474720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746" name="Oval 83"/>
          <p:cNvSpPr/>
          <p:nvPr/>
        </p:nvSpPr>
        <p:spPr>
          <a:xfrm>
            <a:off x="8677656" y="3474720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747" name="Oval 84"/>
          <p:cNvSpPr/>
          <p:nvPr/>
        </p:nvSpPr>
        <p:spPr>
          <a:xfrm>
            <a:off x="9061704" y="3474720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748" name="Oval 85"/>
          <p:cNvSpPr/>
          <p:nvPr/>
        </p:nvSpPr>
        <p:spPr>
          <a:xfrm>
            <a:off x="9445752" y="3474720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749" name="Oval 86"/>
          <p:cNvSpPr/>
          <p:nvPr/>
        </p:nvSpPr>
        <p:spPr>
          <a:xfrm>
            <a:off x="9829799" y="3474720"/>
            <a:ext cx="91444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750" name="Oval 87"/>
          <p:cNvSpPr/>
          <p:nvPr/>
        </p:nvSpPr>
        <p:spPr>
          <a:xfrm>
            <a:off x="10213847" y="3474720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751" name="Oval 88"/>
          <p:cNvSpPr/>
          <p:nvPr/>
        </p:nvSpPr>
        <p:spPr>
          <a:xfrm>
            <a:off x="8037576" y="3886199"/>
            <a:ext cx="91443" cy="91444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752" name="Oval 89"/>
          <p:cNvSpPr/>
          <p:nvPr/>
        </p:nvSpPr>
        <p:spPr>
          <a:xfrm>
            <a:off x="8421623" y="3886199"/>
            <a:ext cx="91443" cy="91444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753" name="Oval 90"/>
          <p:cNvSpPr/>
          <p:nvPr/>
        </p:nvSpPr>
        <p:spPr>
          <a:xfrm>
            <a:off x="8805671" y="3886199"/>
            <a:ext cx="91443" cy="91444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754" name="Oval 91"/>
          <p:cNvSpPr/>
          <p:nvPr/>
        </p:nvSpPr>
        <p:spPr>
          <a:xfrm>
            <a:off x="9189718" y="3886199"/>
            <a:ext cx="91443" cy="91444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755" name="Oval 92"/>
          <p:cNvSpPr/>
          <p:nvPr/>
        </p:nvSpPr>
        <p:spPr>
          <a:xfrm>
            <a:off x="9573768" y="3886199"/>
            <a:ext cx="91443" cy="91444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756" name="Oval 93"/>
          <p:cNvSpPr/>
          <p:nvPr/>
        </p:nvSpPr>
        <p:spPr>
          <a:xfrm>
            <a:off x="9957816" y="3886199"/>
            <a:ext cx="91443" cy="91444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757" name="Oval 94"/>
          <p:cNvSpPr/>
          <p:nvPr/>
        </p:nvSpPr>
        <p:spPr>
          <a:xfrm>
            <a:off x="10341864" y="3886199"/>
            <a:ext cx="91443" cy="91444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758" name="Oval 95"/>
          <p:cNvSpPr/>
          <p:nvPr/>
        </p:nvSpPr>
        <p:spPr>
          <a:xfrm>
            <a:off x="7909559" y="4297679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759" name="Oval 96"/>
          <p:cNvSpPr/>
          <p:nvPr/>
        </p:nvSpPr>
        <p:spPr>
          <a:xfrm>
            <a:off x="8293606" y="4297679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760" name="Oval 97"/>
          <p:cNvSpPr/>
          <p:nvPr/>
        </p:nvSpPr>
        <p:spPr>
          <a:xfrm>
            <a:off x="8677656" y="4297679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761" name="Oval 98"/>
          <p:cNvSpPr/>
          <p:nvPr/>
        </p:nvSpPr>
        <p:spPr>
          <a:xfrm>
            <a:off x="9061704" y="4297679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762" name="Oval 99"/>
          <p:cNvSpPr/>
          <p:nvPr/>
        </p:nvSpPr>
        <p:spPr>
          <a:xfrm>
            <a:off x="9445752" y="4297679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763" name="Oval 100"/>
          <p:cNvSpPr/>
          <p:nvPr/>
        </p:nvSpPr>
        <p:spPr>
          <a:xfrm>
            <a:off x="9829799" y="4297679"/>
            <a:ext cx="91444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764" name="Oval 101"/>
          <p:cNvSpPr/>
          <p:nvPr/>
        </p:nvSpPr>
        <p:spPr>
          <a:xfrm>
            <a:off x="10213847" y="4297679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765" name="Rounded Rectangle 102"/>
          <p:cNvSpPr/>
          <p:nvPr/>
        </p:nvSpPr>
        <p:spPr>
          <a:xfrm>
            <a:off x="5413247" y="2304288"/>
            <a:ext cx="1371602" cy="1755650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766" name="Connector 103"/>
          <p:cNvSpPr/>
          <p:nvPr/>
        </p:nvSpPr>
        <p:spPr>
          <a:xfrm>
            <a:off x="5669279" y="2788920"/>
            <a:ext cx="868682" cy="2"/>
          </a:xfrm>
          <a:prstGeom prst="line">
            <a:avLst/>
          </a:prstGeom>
          <a:ln w="1651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7" name="Connector 104"/>
          <p:cNvSpPr/>
          <p:nvPr/>
        </p:nvSpPr>
        <p:spPr>
          <a:xfrm>
            <a:off x="5669279" y="3108960"/>
            <a:ext cx="731522" cy="2"/>
          </a:xfrm>
          <a:prstGeom prst="line">
            <a:avLst/>
          </a:prstGeom>
          <a:ln w="1651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8" name="Connector 105"/>
          <p:cNvSpPr/>
          <p:nvPr/>
        </p:nvSpPr>
        <p:spPr>
          <a:xfrm>
            <a:off x="5669279" y="3429000"/>
            <a:ext cx="822962" cy="0"/>
          </a:xfrm>
          <a:prstGeom prst="line">
            <a:avLst/>
          </a:prstGeom>
          <a:ln w="17780">
            <a:solidFill>
              <a:srgbClr val="1FA87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9" name="Connector 106"/>
          <p:cNvSpPr/>
          <p:nvPr/>
        </p:nvSpPr>
        <p:spPr>
          <a:xfrm flipV="1">
            <a:off x="3310128" y="2907792"/>
            <a:ext cx="2103122" cy="1435610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0" name="Connector 107"/>
          <p:cNvSpPr/>
          <p:nvPr/>
        </p:nvSpPr>
        <p:spPr>
          <a:xfrm flipH="1">
            <a:off x="6784847" y="1874517"/>
            <a:ext cx="1170434" cy="103327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1" name="TextBox 108"/>
          <p:cNvSpPr txBox="1"/>
          <p:nvPr/>
        </p:nvSpPr>
        <p:spPr>
          <a:xfrm>
            <a:off x="960119" y="5193791"/>
            <a:ext cx="2286001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Recover groups</a:t>
            </a:r>
          </a:p>
        </p:txBody>
      </p:sp>
      <p:sp>
        <p:nvSpPr>
          <p:cNvPr id="772" name="TextBox 109"/>
          <p:cNvSpPr txBox="1"/>
          <p:nvPr/>
        </p:nvSpPr>
        <p:spPr>
          <a:xfrm>
            <a:off x="4700014" y="5193791"/>
            <a:ext cx="2377443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Ask each group</a:t>
            </a:r>
          </a:p>
        </p:txBody>
      </p:sp>
      <p:sp>
        <p:nvSpPr>
          <p:cNvPr id="773" name="TextBox 110"/>
          <p:cNvSpPr txBox="1"/>
          <p:nvPr/>
        </p:nvSpPr>
        <p:spPr>
          <a:xfrm>
            <a:off x="8467342" y="5193791"/>
            <a:ext cx="2743202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Aggregate explicitly</a:t>
            </a:r>
          </a:p>
        </p:txBody>
      </p:sp>
      <p:sp>
        <p:nvSpPr>
          <p:cNvPr id="774" name="TextBox 111"/>
          <p:cNvSpPr txBox="1"/>
          <p:nvPr/>
        </p:nvSpPr>
        <p:spPr>
          <a:xfrm>
            <a:off x="3035806" y="5806440"/>
            <a:ext cx="6217923" cy="148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Switzerland · Belgium · Bosnia · Northern Ireland</a:t>
            </a:r>
          </a:p>
        </p:txBody>
      </p:sp>
      <p:sp>
        <p:nvSpPr>
          <p:cNvPr id="775" name="TextBox 112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Linder &amp; Mueller (2021); Lijphart (1977); Bieber (2006); McGarry &amp; O’Leary (2009)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PHILOSOPHY</a:t>
            </a:r>
          </a:p>
        </p:txBody>
      </p:sp>
      <p:sp>
        <p:nvSpPr>
          <p:cNvPr id="778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Four design principles</a:t>
            </a:r>
          </a:p>
        </p:txBody>
      </p:sp>
      <p:sp>
        <p:nvSpPr>
          <p:cNvPr id="779" name="TextBox 3"/>
          <p:cNvSpPr txBox="1"/>
          <p:nvPr/>
        </p:nvSpPr>
        <p:spPr>
          <a:xfrm>
            <a:off x="11082528" y="457199"/>
            <a:ext cx="43891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07</a:t>
            </a:r>
          </a:p>
        </p:txBody>
      </p:sp>
      <p:sp>
        <p:nvSpPr>
          <p:cNvPr id="780" name="Connector 4"/>
          <p:cNvSpPr/>
          <p:nvPr/>
        </p:nvSpPr>
        <p:spPr>
          <a:xfrm flipH="1">
            <a:off x="1298447" y="1709926"/>
            <a:ext cx="2" cy="4023361"/>
          </a:xfrm>
          <a:prstGeom prst="line">
            <a:avLst/>
          </a:prstGeom>
          <a:ln w="1905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1" name="Oval 5"/>
          <p:cNvSpPr/>
          <p:nvPr/>
        </p:nvSpPr>
        <p:spPr>
          <a:xfrm>
            <a:off x="1216149" y="1901950"/>
            <a:ext cx="164595" cy="16459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782" name="TextBox 6"/>
          <p:cNvSpPr txBox="1"/>
          <p:nvPr/>
        </p:nvSpPr>
        <p:spPr>
          <a:xfrm>
            <a:off x="1700783" y="1810511"/>
            <a:ext cx="594362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P1</a:t>
            </a:r>
          </a:p>
        </p:txBody>
      </p:sp>
      <p:sp>
        <p:nvSpPr>
          <p:cNvPr id="783" name="TextBox 7"/>
          <p:cNvSpPr txBox="1"/>
          <p:nvPr/>
        </p:nvSpPr>
        <p:spPr>
          <a:xfrm>
            <a:off x="2377438" y="1737360"/>
            <a:ext cx="3246123" cy="29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Presence</a:t>
            </a:r>
          </a:p>
        </p:txBody>
      </p:sp>
      <p:sp>
        <p:nvSpPr>
          <p:cNvPr id="784" name="TextBox 8"/>
          <p:cNvSpPr txBox="1"/>
          <p:nvPr/>
        </p:nvSpPr>
        <p:spPr>
          <a:xfrm>
            <a:off x="6400800" y="1773934"/>
            <a:ext cx="3200400" cy="2230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Every group enters</a:t>
            </a:r>
          </a:p>
        </p:txBody>
      </p:sp>
      <p:sp>
        <p:nvSpPr>
          <p:cNvPr id="785" name="Oval 9"/>
          <p:cNvSpPr/>
          <p:nvPr/>
        </p:nvSpPr>
        <p:spPr>
          <a:xfrm>
            <a:off x="1216149" y="2871216"/>
            <a:ext cx="164595" cy="16459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786" name="TextBox 10"/>
          <p:cNvSpPr txBox="1"/>
          <p:nvPr/>
        </p:nvSpPr>
        <p:spPr>
          <a:xfrm>
            <a:off x="1700783" y="2779776"/>
            <a:ext cx="594362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P2</a:t>
            </a:r>
          </a:p>
        </p:txBody>
      </p:sp>
      <p:sp>
        <p:nvSpPr>
          <p:cNvPr id="787" name="TextBox 11"/>
          <p:cNvSpPr txBox="1"/>
          <p:nvPr/>
        </p:nvSpPr>
        <p:spPr>
          <a:xfrm>
            <a:off x="2377438" y="2706622"/>
            <a:ext cx="3246123" cy="2978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Non-compensation</a:t>
            </a:r>
          </a:p>
        </p:txBody>
      </p:sp>
      <p:sp>
        <p:nvSpPr>
          <p:cNvPr id="788" name="TextBox 12"/>
          <p:cNvSpPr txBox="1"/>
          <p:nvPr/>
        </p:nvSpPr>
        <p:spPr>
          <a:xfrm>
            <a:off x="6400800" y="2743200"/>
            <a:ext cx="3200400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Rejection still matters</a:t>
            </a:r>
          </a:p>
        </p:txBody>
      </p:sp>
      <p:sp>
        <p:nvSpPr>
          <p:cNvPr id="789" name="Oval 13"/>
          <p:cNvSpPr/>
          <p:nvPr/>
        </p:nvSpPr>
        <p:spPr>
          <a:xfrm>
            <a:off x="1216149" y="3840479"/>
            <a:ext cx="164595" cy="164595"/>
          </a:xfrm>
          <a:prstGeom prst="ellipse">
            <a:avLst/>
          </a:prstGeom>
          <a:solidFill>
            <a:srgbClr val="D79A24"/>
          </a:solidFill>
          <a:ln w="10160">
            <a:solidFill>
              <a:srgbClr val="D79A2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790" name="TextBox 14"/>
          <p:cNvSpPr txBox="1"/>
          <p:nvPr/>
        </p:nvSpPr>
        <p:spPr>
          <a:xfrm>
            <a:off x="1700783" y="3749040"/>
            <a:ext cx="594362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P3</a:t>
            </a:r>
          </a:p>
        </p:txBody>
      </p:sp>
      <p:sp>
        <p:nvSpPr>
          <p:cNvPr id="791" name="TextBox 15"/>
          <p:cNvSpPr txBox="1"/>
          <p:nvPr/>
        </p:nvSpPr>
        <p:spPr>
          <a:xfrm>
            <a:off x="2377438" y="3675888"/>
            <a:ext cx="3246123" cy="29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Symmetry</a:t>
            </a:r>
          </a:p>
        </p:txBody>
      </p:sp>
      <p:sp>
        <p:nvSpPr>
          <p:cNvPr id="792" name="TextBox 16"/>
          <p:cNvSpPr txBox="1"/>
          <p:nvPr/>
        </p:nvSpPr>
        <p:spPr>
          <a:xfrm>
            <a:off x="6400800" y="3712464"/>
            <a:ext cx="3200400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No default winner</a:t>
            </a:r>
          </a:p>
        </p:txBody>
      </p:sp>
      <p:sp>
        <p:nvSpPr>
          <p:cNvPr id="793" name="Oval 17"/>
          <p:cNvSpPr/>
          <p:nvPr/>
        </p:nvSpPr>
        <p:spPr>
          <a:xfrm>
            <a:off x="1216149" y="4809744"/>
            <a:ext cx="164595" cy="164595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794" name="TextBox 18"/>
          <p:cNvSpPr txBox="1"/>
          <p:nvPr/>
        </p:nvSpPr>
        <p:spPr>
          <a:xfrm>
            <a:off x="1700783" y="4718303"/>
            <a:ext cx="594362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P4</a:t>
            </a:r>
          </a:p>
        </p:txBody>
      </p:sp>
      <p:sp>
        <p:nvSpPr>
          <p:cNvPr id="795" name="TextBox 19"/>
          <p:cNvSpPr txBox="1"/>
          <p:nvPr/>
        </p:nvSpPr>
        <p:spPr>
          <a:xfrm>
            <a:off x="2377438" y="4645152"/>
            <a:ext cx="3246123" cy="29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Behavioral recovery</a:t>
            </a:r>
          </a:p>
        </p:txBody>
      </p:sp>
      <p:sp>
        <p:nvSpPr>
          <p:cNvPr id="796" name="TextBox 20"/>
          <p:cNvSpPr txBox="1"/>
          <p:nvPr/>
        </p:nvSpPr>
        <p:spPr>
          <a:xfrm>
            <a:off x="6400800" y="4681728"/>
            <a:ext cx="3200400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No outside labels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IMPLEMENTATION</a:t>
            </a:r>
          </a:p>
        </p:txBody>
      </p:sp>
      <p:sp>
        <p:nvSpPr>
          <p:cNvPr id="799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Principles become operations</a:t>
            </a:r>
          </a:p>
        </p:txBody>
      </p:sp>
      <p:sp>
        <p:nvSpPr>
          <p:cNvPr id="800" name="TextBox 3"/>
          <p:cNvSpPr txBox="1"/>
          <p:nvPr/>
        </p:nvSpPr>
        <p:spPr>
          <a:xfrm>
            <a:off x="11082528" y="457199"/>
            <a:ext cx="43891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08</a:t>
            </a:r>
          </a:p>
        </p:txBody>
      </p:sp>
      <p:sp>
        <p:nvSpPr>
          <p:cNvPr id="801" name="Connector 4"/>
          <p:cNvSpPr/>
          <p:nvPr/>
        </p:nvSpPr>
        <p:spPr>
          <a:xfrm flipH="1">
            <a:off x="1298447" y="1664207"/>
            <a:ext cx="2" cy="3621026"/>
          </a:xfrm>
          <a:prstGeom prst="line">
            <a:avLst/>
          </a:prstGeom>
          <a:ln w="1905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2" name="Oval 5"/>
          <p:cNvSpPr/>
          <p:nvPr/>
        </p:nvSpPr>
        <p:spPr>
          <a:xfrm>
            <a:off x="1216149" y="1810511"/>
            <a:ext cx="164595" cy="164594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803" name="TextBox 6"/>
          <p:cNvSpPr txBox="1"/>
          <p:nvPr/>
        </p:nvSpPr>
        <p:spPr>
          <a:xfrm>
            <a:off x="1700783" y="1728216"/>
            <a:ext cx="548641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P1</a:t>
            </a:r>
          </a:p>
        </p:txBody>
      </p:sp>
      <p:sp>
        <p:nvSpPr>
          <p:cNvPr id="804" name="TextBox 7"/>
          <p:cNvSpPr txBox="1"/>
          <p:nvPr/>
        </p:nvSpPr>
        <p:spPr>
          <a:xfrm>
            <a:off x="2359150" y="1682494"/>
            <a:ext cx="2697483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≥3 ratings</a:t>
            </a:r>
          </a:p>
        </p:txBody>
      </p:sp>
      <p:sp>
        <p:nvSpPr>
          <p:cNvPr id="805" name="TextBox 8"/>
          <p:cNvSpPr txBox="1"/>
          <p:nvPr/>
        </p:nvSpPr>
        <p:spPr>
          <a:xfrm>
            <a:off x="5120640" y="1709927"/>
            <a:ext cx="2331722" cy="198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from every group</a:t>
            </a:r>
          </a:p>
        </p:txBody>
      </p:sp>
      <p:sp>
        <p:nvSpPr>
          <p:cNvPr id="806" name="Oval 9"/>
          <p:cNvSpPr/>
          <p:nvPr/>
        </p:nvSpPr>
        <p:spPr>
          <a:xfrm>
            <a:off x="1216149" y="2633472"/>
            <a:ext cx="164595" cy="16459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807" name="TextBox 10"/>
          <p:cNvSpPr txBox="1"/>
          <p:nvPr/>
        </p:nvSpPr>
        <p:spPr>
          <a:xfrm>
            <a:off x="1700783" y="2551176"/>
            <a:ext cx="548641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P2</a:t>
            </a:r>
          </a:p>
        </p:txBody>
      </p:sp>
      <p:sp>
        <p:nvSpPr>
          <p:cNvPr id="808" name="TextBox 11"/>
          <p:cNvSpPr txBox="1"/>
          <p:nvPr/>
        </p:nvSpPr>
        <p:spPr>
          <a:xfrm>
            <a:off x="2359150" y="2505455"/>
            <a:ext cx="2697483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Geometric mean</a:t>
            </a:r>
          </a:p>
        </p:txBody>
      </p:sp>
      <p:sp>
        <p:nvSpPr>
          <p:cNvPr id="809" name="TextBox 12"/>
          <p:cNvSpPr txBox="1"/>
          <p:nvPr/>
        </p:nvSpPr>
        <p:spPr>
          <a:xfrm>
            <a:off x="5120640" y="2532888"/>
            <a:ext cx="2331722" cy="198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a soft veto</a:t>
            </a:r>
          </a:p>
        </p:txBody>
      </p:sp>
      <p:sp>
        <p:nvSpPr>
          <p:cNvPr id="810" name="Oval 13"/>
          <p:cNvSpPr/>
          <p:nvPr/>
        </p:nvSpPr>
        <p:spPr>
          <a:xfrm>
            <a:off x="1216149" y="3456432"/>
            <a:ext cx="164595" cy="164595"/>
          </a:xfrm>
          <a:prstGeom prst="ellipse">
            <a:avLst/>
          </a:prstGeom>
          <a:solidFill>
            <a:srgbClr val="D79A24"/>
          </a:solidFill>
          <a:ln w="10160">
            <a:solidFill>
              <a:srgbClr val="D79A2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811" name="TextBox 14"/>
          <p:cNvSpPr txBox="1"/>
          <p:nvPr/>
        </p:nvSpPr>
        <p:spPr>
          <a:xfrm>
            <a:off x="1700783" y="3374135"/>
            <a:ext cx="548641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P3</a:t>
            </a:r>
          </a:p>
        </p:txBody>
      </p:sp>
      <p:sp>
        <p:nvSpPr>
          <p:cNvPr id="812" name="TextBox 15"/>
          <p:cNvSpPr txBox="1"/>
          <p:nvPr/>
        </p:nvSpPr>
        <p:spPr>
          <a:xfrm>
            <a:off x="2359150" y="3328415"/>
            <a:ext cx="2697483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Same rule</a:t>
            </a:r>
          </a:p>
        </p:txBody>
      </p:sp>
      <p:sp>
        <p:nvSpPr>
          <p:cNvPr id="813" name="TextBox 16"/>
          <p:cNvSpPr txBox="1"/>
          <p:nvPr/>
        </p:nvSpPr>
        <p:spPr>
          <a:xfrm>
            <a:off x="5120640" y="3355847"/>
            <a:ext cx="2331722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no size weighting</a:t>
            </a:r>
          </a:p>
        </p:txBody>
      </p:sp>
      <p:sp>
        <p:nvSpPr>
          <p:cNvPr id="814" name="Oval 17"/>
          <p:cNvSpPr/>
          <p:nvPr/>
        </p:nvSpPr>
        <p:spPr>
          <a:xfrm>
            <a:off x="1216149" y="4279391"/>
            <a:ext cx="164595" cy="164595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815" name="TextBox 18"/>
          <p:cNvSpPr txBox="1"/>
          <p:nvPr/>
        </p:nvSpPr>
        <p:spPr>
          <a:xfrm>
            <a:off x="1700783" y="4197096"/>
            <a:ext cx="548641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P4</a:t>
            </a:r>
          </a:p>
        </p:txBody>
      </p:sp>
      <p:sp>
        <p:nvSpPr>
          <p:cNvPr id="816" name="TextBox 19"/>
          <p:cNvSpPr txBox="1"/>
          <p:nvPr/>
        </p:nvSpPr>
        <p:spPr>
          <a:xfrm>
            <a:off x="2359150" y="4151376"/>
            <a:ext cx="2697483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200k raters</a:t>
            </a:r>
          </a:p>
        </p:txBody>
      </p:sp>
      <p:sp>
        <p:nvSpPr>
          <p:cNvPr id="817" name="TextBox 20"/>
          <p:cNvSpPr txBox="1"/>
          <p:nvPr/>
        </p:nvSpPr>
        <p:spPr>
          <a:xfrm>
            <a:off x="5120640" y="4178808"/>
            <a:ext cx="2331722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Method-B recovery</a:t>
            </a:r>
          </a:p>
        </p:txBody>
      </p:sp>
      <p:sp>
        <p:nvSpPr>
          <p:cNvPr id="818" name="TextBox 21"/>
          <p:cNvSpPr txBox="1"/>
          <p:nvPr/>
        </p:nvSpPr>
        <p:spPr>
          <a:xfrm>
            <a:off x="7845552" y="1965960"/>
            <a:ext cx="914402" cy="359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4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90%</a:t>
            </a:r>
          </a:p>
        </p:txBody>
      </p:sp>
      <p:sp>
        <p:nvSpPr>
          <p:cNvPr id="819" name="TextBox 22"/>
          <p:cNvSpPr txBox="1"/>
          <p:nvPr/>
        </p:nvSpPr>
        <p:spPr>
          <a:xfrm>
            <a:off x="8759952" y="1984248"/>
            <a:ext cx="310898" cy="310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820" name="TextBox 23"/>
          <p:cNvSpPr txBox="1"/>
          <p:nvPr/>
        </p:nvSpPr>
        <p:spPr>
          <a:xfrm>
            <a:off x="9125711" y="1965960"/>
            <a:ext cx="914402" cy="359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4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10%</a:t>
            </a:r>
          </a:p>
        </p:txBody>
      </p:sp>
      <p:sp>
        <p:nvSpPr>
          <p:cNvPr id="821" name="TextBox 24"/>
          <p:cNvSpPr txBox="1"/>
          <p:nvPr/>
        </p:nvSpPr>
        <p:spPr>
          <a:xfrm>
            <a:off x="10058400" y="1984248"/>
            <a:ext cx="329185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822" name="TextBox 25"/>
          <p:cNvSpPr txBox="1"/>
          <p:nvPr/>
        </p:nvSpPr>
        <p:spPr>
          <a:xfrm>
            <a:off x="10469880" y="1920238"/>
            <a:ext cx="914402" cy="4214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28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30%</a:t>
            </a:r>
          </a:p>
        </p:txBody>
      </p:sp>
      <p:sp>
        <p:nvSpPr>
          <p:cNvPr id="823" name="TextBox 26"/>
          <p:cNvSpPr txBox="1"/>
          <p:nvPr/>
        </p:nvSpPr>
        <p:spPr>
          <a:xfrm>
            <a:off x="8705088" y="2816350"/>
            <a:ext cx="2194562" cy="210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not 50%</a:t>
            </a:r>
          </a:p>
        </p:txBody>
      </p:sp>
      <p:sp>
        <p:nvSpPr>
          <p:cNvPr id="824" name="Connector 27"/>
          <p:cNvSpPr/>
          <p:nvPr/>
        </p:nvSpPr>
        <p:spPr>
          <a:xfrm>
            <a:off x="7882125" y="3794759"/>
            <a:ext cx="3364994" cy="2"/>
          </a:xfrm>
          <a:prstGeom prst="line">
            <a:avLst/>
          </a:prstGeom>
          <a:ln w="1524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25" name="TextBox 28"/>
          <p:cNvSpPr txBox="1"/>
          <p:nvPr/>
        </p:nvSpPr>
        <p:spPr>
          <a:xfrm>
            <a:off x="7845552" y="4087367"/>
            <a:ext cx="3520442" cy="407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13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100k notes  →  200k raters  →  &gt; .5  →  Gabriel</a:t>
            </a:r>
          </a:p>
        </p:txBody>
      </p:sp>
      <p:sp>
        <p:nvSpPr>
          <p:cNvPr id="826" name="TextBox 29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Authors’ 200k Representative pipeline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RESULTS</a:t>
            </a:r>
          </a:p>
        </p:txBody>
      </p:sp>
      <p:sp>
        <p:nvSpPr>
          <p:cNvPr id="829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From hidden to validated</a:t>
            </a:r>
          </a:p>
        </p:txBody>
      </p:sp>
      <p:sp>
        <p:nvSpPr>
          <p:cNvPr id="830" name="TextBox 3"/>
          <p:cNvSpPr txBox="1"/>
          <p:nvPr/>
        </p:nvSpPr>
        <p:spPr>
          <a:xfrm>
            <a:off x="11082528" y="457199"/>
            <a:ext cx="43891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09</a:t>
            </a:r>
          </a:p>
        </p:txBody>
      </p:sp>
      <p:sp>
        <p:nvSpPr>
          <p:cNvPr id="831" name="Connector 4"/>
          <p:cNvSpPr/>
          <p:nvPr/>
        </p:nvSpPr>
        <p:spPr>
          <a:xfrm>
            <a:off x="1234438" y="3063238"/>
            <a:ext cx="9464043" cy="2"/>
          </a:xfrm>
          <a:prstGeom prst="line">
            <a:avLst/>
          </a:prstGeom>
          <a:ln w="2286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2" name="Oval 5"/>
          <p:cNvSpPr/>
          <p:nvPr/>
        </p:nvSpPr>
        <p:spPr>
          <a:xfrm>
            <a:off x="1371600" y="2980944"/>
            <a:ext cx="164594" cy="16459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833" name="TextBox 6"/>
          <p:cNvSpPr txBox="1"/>
          <p:nvPr/>
        </p:nvSpPr>
        <p:spPr>
          <a:xfrm>
            <a:off x="841247" y="1975104"/>
            <a:ext cx="1325881" cy="421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8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44,722</a:t>
            </a:r>
          </a:p>
        </p:txBody>
      </p:sp>
      <p:sp>
        <p:nvSpPr>
          <p:cNvPr id="834" name="TextBox 7"/>
          <p:cNvSpPr txBox="1"/>
          <p:nvPr/>
        </p:nvSpPr>
        <p:spPr>
          <a:xfrm>
            <a:off x="795527" y="3456432"/>
            <a:ext cx="178308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representative picks</a:t>
            </a:r>
          </a:p>
        </p:txBody>
      </p:sp>
      <p:sp>
        <p:nvSpPr>
          <p:cNvPr id="835" name="Oval 8"/>
          <p:cNvSpPr/>
          <p:nvPr/>
        </p:nvSpPr>
        <p:spPr>
          <a:xfrm>
            <a:off x="4325110" y="2980944"/>
            <a:ext cx="164595" cy="16459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836" name="TextBox 9"/>
          <p:cNvSpPr txBox="1"/>
          <p:nvPr/>
        </p:nvSpPr>
        <p:spPr>
          <a:xfrm>
            <a:off x="3794759" y="1975104"/>
            <a:ext cx="1325882" cy="421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8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6,832</a:t>
            </a:r>
          </a:p>
        </p:txBody>
      </p:sp>
      <p:sp>
        <p:nvSpPr>
          <p:cNvPr id="837" name="TextBox 10"/>
          <p:cNvSpPr txBox="1"/>
          <p:nvPr/>
        </p:nvSpPr>
        <p:spPr>
          <a:xfrm>
            <a:off x="3749040" y="3456432"/>
            <a:ext cx="178308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shown · 15%</a:t>
            </a:r>
          </a:p>
        </p:txBody>
      </p:sp>
      <p:sp>
        <p:nvSpPr>
          <p:cNvPr id="838" name="Oval 11"/>
          <p:cNvSpPr/>
          <p:nvPr/>
        </p:nvSpPr>
        <p:spPr>
          <a:xfrm>
            <a:off x="7342630" y="2980944"/>
            <a:ext cx="164595" cy="16459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839" name="TextBox 12"/>
          <p:cNvSpPr txBox="1"/>
          <p:nvPr/>
        </p:nvSpPr>
        <p:spPr>
          <a:xfrm>
            <a:off x="6812280" y="1975104"/>
            <a:ext cx="1325882" cy="421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8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13,655</a:t>
            </a:r>
          </a:p>
        </p:txBody>
      </p:sp>
      <p:sp>
        <p:nvSpPr>
          <p:cNvPr id="840" name="TextBox 13"/>
          <p:cNvSpPr txBox="1"/>
          <p:nvPr/>
        </p:nvSpPr>
        <p:spPr>
          <a:xfrm>
            <a:off x="6766559" y="3456432"/>
            <a:ext cx="178308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CCA candidates</a:t>
            </a:r>
          </a:p>
        </p:txBody>
      </p:sp>
      <p:sp>
        <p:nvSpPr>
          <p:cNvPr id="841" name="Oval 14"/>
          <p:cNvSpPr/>
          <p:nvPr/>
        </p:nvSpPr>
        <p:spPr>
          <a:xfrm>
            <a:off x="10131552" y="2980944"/>
            <a:ext cx="164595" cy="164595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842" name="TextBox 15"/>
          <p:cNvSpPr txBox="1"/>
          <p:nvPr/>
        </p:nvSpPr>
        <p:spPr>
          <a:xfrm>
            <a:off x="9601200" y="1975104"/>
            <a:ext cx="1325881" cy="421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8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3,896</a:t>
            </a:r>
          </a:p>
        </p:txBody>
      </p:sp>
      <p:sp>
        <p:nvSpPr>
          <p:cNvPr id="843" name="TextBox 16"/>
          <p:cNvSpPr txBox="1"/>
          <p:nvPr/>
        </p:nvSpPr>
        <p:spPr>
          <a:xfrm>
            <a:off x="9555480" y="3456432"/>
            <a:ext cx="178308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validated</a:t>
            </a:r>
          </a:p>
        </p:txBody>
      </p:sp>
      <p:sp>
        <p:nvSpPr>
          <p:cNvPr id="844" name="TextBox 17"/>
          <p:cNvSpPr txBox="1"/>
          <p:nvPr/>
        </p:nvSpPr>
        <p:spPr>
          <a:xfrm>
            <a:off x="2971800" y="2798064"/>
            <a:ext cx="329185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845" name="TextBox 18"/>
          <p:cNvSpPr txBox="1"/>
          <p:nvPr/>
        </p:nvSpPr>
        <p:spPr>
          <a:xfrm>
            <a:off x="6016752" y="2788920"/>
            <a:ext cx="274322" cy="285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846" name="TextBox 19"/>
          <p:cNvSpPr txBox="1"/>
          <p:nvPr/>
        </p:nvSpPr>
        <p:spPr>
          <a:xfrm>
            <a:off x="8869680" y="2798064"/>
            <a:ext cx="329186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847" name="TextBox 20"/>
          <p:cNvSpPr txBox="1"/>
          <p:nvPr/>
        </p:nvSpPr>
        <p:spPr>
          <a:xfrm>
            <a:off x="914399" y="4846320"/>
            <a:ext cx="4023361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46% potential before validation</a:t>
            </a:r>
          </a:p>
        </p:txBody>
      </p:sp>
      <p:sp>
        <p:nvSpPr>
          <p:cNvPr id="848" name="TextBox 21"/>
          <p:cNvSpPr txBox="1"/>
          <p:nvPr/>
        </p:nvSpPr>
        <p:spPr>
          <a:xfrm>
            <a:off x="6812280" y="4846320"/>
            <a:ext cx="3200402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3,896 pass Gabriel</a:t>
            </a:r>
          </a:p>
        </p:txBody>
      </p:sp>
      <p:sp>
        <p:nvSpPr>
          <p:cNvPr id="849" name="TextBox 22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Authors’ results · two camps · behavioral ≠ demographic · model-based validation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TAKEAWAY</a:t>
            </a:r>
          </a:p>
        </p:txBody>
      </p:sp>
      <p:sp>
        <p:nvSpPr>
          <p:cNvPr id="852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An aggregation problem</a:t>
            </a:r>
          </a:p>
        </p:txBody>
      </p:sp>
      <p:sp>
        <p:nvSpPr>
          <p:cNvPr id="853" name="TextBox 3"/>
          <p:cNvSpPr txBox="1"/>
          <p:nvPr/>
        </p:nvSpPr>
        <p:spPr>
          <a:xfrm>
            <a:off x="11082528" y="457199"/>
            <a:ext cx="43891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854" name="Oval 4"/>
          <p:cNvSpPr/>
          <p:nvPr/>
        </p:nvSpPr>
        <p:spPr>
          <a:xfrm>
            <a:off x="868680" y="1828799"/>
            <a:ext cx="86871" cy="86872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855" name="Oval 5"/>
          <p:cNvSpPr/>
          <p:nvPr/>
        </p:nvSpPr>
        <p:spPr>
          <a:xfrm>
            <a:off x="1252727" y="1828799"/>
            <a:ext cx="86871" cy="86872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856" name="Oval 6"/>
          <p:cNvSpPr/>
          <p:nvPr/>
        </p:nvSpPr>
        <p:spPr>
          <a:xfrm>
            <a:off x="1636776" y="1828799"/>
            <a:ext cx="86871" cy="86872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857" name="Oval 7"/>
          <p:cNvSpPr/>
          <p:nvPr/>
        </p:nvSpPr>
        <p:spPr>
          <a:xfrm>
            <a:off x="2020822" y="1828799"/>
            <a:ext cx="86871" cy="86872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858" name="Oval 8"/>
          <p:cNvSpPr/>
          <p:nvPr/>
        </p:nvSpPr>
        <p:spPr>
          <a:xfrm>
            <a:off x="2404872" y="1828799"/>
            <a:ext cx="86871" cy="86872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859" name="Oval 9"/>
          <p:cNvSpPr/>
          <p:nvPr/>
        </p:nvSpPr>
        <p:spPr>
          <a:xfrm>
            <a:off x="2788920" y="1828799"/>
            <a:ext cx="86871" cy="86872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860" name="Oval 10"/>
          <p:cNvSpPr/>
          <p:nvPr/>
        </p:nvSpPr>
        <p:spPr>
          <a:xfrm>
            <a:off x="3172966" y="1828799"/>
            <a:ext cx="86871" cy="86872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861" name="Oval 11"/>
          <p:cNvSpPr/>
          <p:nvPr/>
        </p:nvSpPr>
        <p:spPr>
          <a:xfrm>
            <a:off x="996694" y="2240278"/>
            <a:ext cx="86871" cy="8687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862" name="Oval 12"/>
          <p:cNvSpPr/>
          <p:nvPr/>
        </p:nvSpPr>
        <p:spPr>
          <a:xfrm>
            <a:off x="1380743" y="2240278"/>
            <a:ext cx="86871" cy="8687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863" name="Oval 13"/>
          <p:cNvSpPr/>
          <p:nvPr/>
        </p:nvSpPr>
        <p:spPr>
          <a:xfrm>
            <a:off x="1764792" y="2240278"/>
            <a:ext cx="86871" cy="8687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864" name="Oval 14"/>
          <p:cNvSpPr/>
          <p:nvPr/>
        </p:nvSpPr>
        <p:spPr>
          <a:xfrm>
            <a:off x="2148838" y="2240278"/>
            <a:ext cx="86871" cy="8687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865" name="Oval 15"/>
          <p:cNvSpPr/>
          <p:nvPr/>
        </p:nvSpPr>
        <p:spPr>
          <a:xfrm>
            <a:off x="2532888" y="2240278"/>
            <a:ext cx="86871" cy="8687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866" name="Oval 16"/>
          <p:cNvSpPr/>
          <p:nvPr/>
        </p:nvSpPr>
        <p:spPr>
          <a:xfrm>
            <a:off x="2916934" y="2240278"/>
            <a:ext cx="86871" cy="8687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867" name="Oval 17"/>
          <p:cNvSpPr/>
          <p:nvPr/>
        </p:nvSpPr>
        <p:spPr>
          <a:xfrm>
            <a:off x="3300984" y="2240278"/>
            <a:ext cx="86871" cy="8687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868" name="Oval 18"/>
          <p:cNvSpPr/>
          <p:nvPr/>
        </p:nvSpPr>
        <p:spPr>
          <a:xfrm>
            <a:off x="868680" y="2651760"/>
            <a:ext cx="86871" cy="8687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869" name="Oval 19"/>
          <p:cNvSpPr/>
          <p:nvPr/>
        </p:nvSpPr>
        <p:spPr>
          <a:xfrm>
            <a:off x="1252727" y="2651760"/>
            <a:ext cx="86871" cy="8687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870" name="Oval 20"/>
          <p:cNvSpPr/>
          <p:nvPr/>
        </p:nvSpPr>
        <p:spPr>
          <a:xfrm>
            <a:off x="1636776" y="2651760"/>
            <a:ext cx="86871" cy="8687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871" name="Oval 21"/>
          <p:cNvSpPr/>
          <p:nvPr/>
        </p:nvSpPr>
        <p:spPr>
          <a:xfrm>
            <a:off x="2020822" y="2651760"/>
            <a:ext cx="86871" cy="8687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872" name="Oval 22"/>
          <p:cNvSpPr/>
          <p:nvPr/>
        </p:nvSpPr>
        <p:spPr>
          <a:xfrm>
            <a:off x="2404872" y="2651760"/>
            <a:ext cx="86871" cy="8687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873" name="Oval 23"/>
          <p:cNvSpPr/>
          <p:nvPr/>
        </p:nvSpPr>
        <p:spPr>
          <a:xfrm>
            <a:off x="2788920" y="2651760"/>
            <a:ext cx="86871" cy="8687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874" name="Oval 24"/>
          <p:cNvSpPr/>
          <p:nvPr/>
        </p:nvSpPr>
        <p:spPr>
          <a:xfrm>
            <a:off x="3172966" y="2651760"/>
            <a:ext cx="86871" cy="8687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875" name="Oval 25"/>
          <p:cNvSpPr/>
          <p:nvPr/>
        </p:nvSpPr>
        <p:spPr>
          <a:xfrm>
            <a:off x="996694" y="3063238"/>
            <a:ext cx="86871" cy="8687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876" name="Oval 26"/>
          <p:cNvSpPr/>
          <p:nvPr/>
        </p:nvSpPr>
        <p:spPr>
          <a:xfrm>
            <a:off x="1380743" y="3063238"/>
            <a:ext cx="86871" cy="8687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877" name="Oval 27"/>
          <p:cNvSpPr/>
          <p:nvPr/>
        </p:nvSpPr>
        <p:spPr>
          <a:xfrm>
            <a:off x="1764792" y="3063238"/>
            <a:ext cx="86871" cy="8687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878" name="Oval 28"/>
          <p:cNvSpPr/>
          <p:nvPr/>
        </p:nvSpPr>
        <p:spPr>
          <a:xfrm>
            <a:off x="2148838" y="3063238"/>
            <a:ext cx="86871" cy="8687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879" name="Oval 29"/>
          <p:cNvSpPr/>
          <p:nvPr/>
        </p:nvSpPr>
        <p:spPr>
          <a:xfrm>
            <a:off x="2532888" y="3063238"/>
            <a:ext cx="86871" cy="8687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880" name="Oval 30"/>
          <p:cNvSpPr/>
          <p:nvPr/>
        </p:nvSpPr>
        <p:spPr>
          <a:xfrm>
            <a:off x="2916934" y="3063238"/>
            <a:ext cx="86871" cy="8687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881" name="Oval 31"/>
          <p:cNvSpPr/>
          <p:nvPr/>
        </p:nvSpPr>
        <p:spPr>
          <a:xfrm>
            <a:off x="3300984" y="3063238"/>
            <a:ext cx="86871" cy="8687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882" name="Oval 32"/>
          <p:cNvSpPr/>
          <p:nvPr/>
        </p:nvSpPr>
        <p:spPr>
          <a:xfrm>
            <a:off x="868680" y="3474720"/>
            <a:ext cx="86871" cy="8687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883" name="Oval 33"/>
          <p:cNvSpPr/>
          <p:nvPr/>
        </p:nvSpPr>
        <p:spPr>
          <a:xfrm>
            <a:off x="1252727" y="3474720"/>
            <a:ext cx="86871" cy="8687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884" name="Oval 34"/>
          <p:cNvSpPr/>
          <p:nvPr/>
        </p:nvSpPr>
        <p:spPr>
          <a:xfrm>
            <a:off x="1636776" y="3474720"/>
            <a:ext cx="86871" cy="8687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885" name="Oval 35"/>
          <p:cNvSpPr/>
          <p:nvPr/>
        </p:nvSpPr>
        <p:spPr>
          <a:xfrm>
            <a:off x="2020822" y="3474720"/>
            <a:ext cx="86871" cy="8687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886" name="Oval 36"/>
          <p:cNvSpPr/>
          <p:nvPr/>
        </p:nvSpPr>
        <p:spPr>
          <a:xfrm>
            <a:off x="2404872" y="3474720"/>
            <a:ext cx="86871" cy="8687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887" name="Oval 37"/>
          <p:cNvSpPr/>
          <p:nvPr/>
        </p:nvSpPr>
        <p:spPr>
          <a:xfrm>
            <a:off x="2788920" y="3474720"/>
            <a:ext cx="86871" cy="8687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888" name="Oval 38"/>
          <p:cNvSpPr/>
          <p:nvPr/>
        </p:nvSpPr>
        <p:spPr>
          <a:xfrm>
            <a:off x="3172966" y="3474720"/>
            <a:ext cx="86871" cy="8687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889" name="Oval 39"/>
          <p:cNvSpPr/>
          <p:nvPr/>
        </p:nvSpPr>
        <p:spPr>
          <a:xfrm>
            <a:off x="996694" y="3886199"/>
            <a:ext cx="86871" cy="86872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890" name="Oval 40"/>
          <p:cNvSpPr/>
          <p:nvPr/>
        </p:nvSpPr>
        <p:spPr>
          <a:xfrm>
            <a:off x="1380743" y="3886199"/>
            <a:ext cx="86871" cy="86872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891" name="Oval 41"/>
          <p:cNvSpPr/>
          <p:nvPr/>
        </p:nvSpPr>
        <p:spPr>
          <a:xfrm>
            <a:off x="1764792" y="3886199"/>
            <a:ext cx="86871" cy="86872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892" name="Oval 42"/>
          <p:cNvSpPr/>
          <p:nvPr/>
        </p:nvSpPr>
        <p:spPr>
          <a:xfrm>
            <a:off x="2148838" y="3886199"/>
            <a:ext cx="86871" cy="86872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893" name="Oval 43"/>
          <p:cNvSpPr/>
          <p:nvPr/>
        </p:nvSpPr>
        <p:spPr>
          <a:xfrm>
            <a:off x="2532888" y="3886199"/>
            <a:ext cx="86871" cy="86872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894" name="Oval 44"/>
          <p:cNvSpPr/>
          <p:nvPr/>
        </p:nvSpPr>
        <p:spPr>
          <a:xfrm>
            <a:off x="2916934" y="3886199"/>
            <a:ext cx="86871" cy="86872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895" name="Oval 45"/>
          <p:cNvSpPr/>
          <p:nvPr/>
        </p:nvSpPr>
        <p:spPr>
          <a:xfrm>
            <a:off x="3300984" y="3886199"/>
            <a:ext cx="86871" cy="86872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896" name="Oval 46"/>
          <p:cNvSpPr/>
          <p:nvPr/>
        </p:nvSpPr>
        <p:spPr>
          <a:xfrm>
            <a:off x="868680" y="4297679"/>
            <a:ext cx="86871" cy="8687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897" name="Oval 47"/>
          <p:cNvSpPr/>
          <p:nvPr/>
        </p:nvSpPr>
        <p:spPr>
          <a:xfrm>
            <a:off x="1252727" y="4297679"/>
            <a:ext cx="86871" cy="8687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898" name="Oval 48"/>
          <p:cNvSpPr/>
          <p:nvPr/>
        </p:nvSpPr>
        <p:spPr>
          <a:xfrm>
            <a:off x="1636776" y="4297679"/>
            <a:ext cx="86871" cy="8687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899" name="Oval 49"/>
          <p:cNvSpPr/>
          <p:nvPr/>
        </p:nvSpPr>
        <p:spPr>
          <a:xfrm>
            <a:off x="2020822" y="4297679"/>
            <a:ext cx="86871" cy="8687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900" name="Oval 50"/>
          <p:cNvSpPr/>
          <p:nvPr/>
        </p:nvSpPr>
        <p:spPr>
          <a:xfrm>
            <a:off x="2404872" y="4297679"/>
            <a:ext cx="86871" cy="8687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901" name="Oval 51"/>
          <p:cNvSpPr/>
          <p:nvPr/>
        </p:nvSpPr>
        <p:spPr>
          <a:xfrm>
            <a:off x="2788920" y="4297679"/>
            <a:ext cx="86871" cy="8687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902" name="Oval 52"/>
          <p:cNvSpPr/>
          <p:nvPr/>
        </p:nvSpPr>
        <p:spPr>
          <a:xfrm>
            <a:off x="3172966" y="4297679"/>
            <a:ext cx="86871" cy="8687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903" name="Oval 53"/>
          <p:cNvSpPr/>
          <p:nvPr/>
        </p:nvSpPr>
        <p:spPr>
          <a:xfrm>
            <a:off x="7955277" y="1828799"/>
            <a:ext cx="86871" cy="86872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904" name="Oval 54"/>
          <p:cNvSpPr/>
          <p:nvPr/>
        </p:nvSpPr>
        <p:spPr>
          <a:xfrm>
            <a:off x="8339325" y="1828799"/>
            <a:ext cx="86871" cy="86872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905" name="Oval 55"/>
          <p:cNvSpPr/>
          <p:nvPr/>
        </p:nvSpPr>
        <p:spPr>
          <a:xfrm>
            <a:off x="8723376" y="1828799"/>
            <a:ext cx="86871" cy="86872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906" name="Oval 56"/>
          <p:cNvSpPr/>
          <p:nvPr/>
        </p:nvSpPr>
        <p:spPr>
          <a:xfrm>
            <a:off x="9107423" y="1828799"/>
            <a:ext cx="86871" cy="86872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907" name="Oval 57"/>
          <p:cNvSpPr/>
          <p:nvPr/>
        </p:nvSpPr>
        <p:spPr>
          <a:xfrm>
            <a:off x="9491471" y="1828799"/>
            <a:ext cx="86871" cy="86872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908" name="Oval 58"/>
          <p:cNvSpPr/>
          <p:nvPr/>
        </p:nvSpPr>
        <p:spPr>
          <a:xfrm>
            <a:off x="9875518" y="1828799"/>
            <a:ext cx="86871" cy="86872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909" name="Oval 59"/>
          <p:cNvSpPr/>
          <p:nvPr/>
        </p:nvSpPr>
        <p:spPr>
          <a:xfrm>
            <a:off x="10259566" y="1828799"/>
            <a:ext cx="86871" cy="86872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910" name="Oval 60"/>
          <p:cNvSpPr/>
          <p:nvPr/>
        </p:nvSpPr>
        <p:spPr>
          <a:xfrm>
            <a:off x="8083294" y="2240278"/>
            <a:ext cx="86871" cy="868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911" name="Oval 61"/>
          <p:cNvSpPr/>
          <p:nvPr/>
        </p:nvSpPr>
        <p:spPr>
          <a:xfrm>
            <a:off x="8467342" y="2240278"/>
            <a:ext cx="86871" cy="868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912" name="Oval 62"/>
          <p:cNvSpPr/>
          <p:nvPr/>
        </p:nvSpPr>
        <p:spPr>
          <a:xfrm>
            <a:off x="8851392" y="2240278"/>
            <a:ext cx="86871" cy="868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913" name="Oval 63"/>
          <p:cNvSpPr/>
          <p:nvPr/>
        </p:nvSpPr>
        <p:spPr>
          <a:xfrm>
            <a:off x="9235440" y="2240278"/>
            <a:ext cx="86871" cy="868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914" name="Oval 64"/>
          <p:cNvSpPr/>
          <p:nvPr/>
        </p:nvSpPr>
        <p:spPr>
          <a:xfrm>
            <a:off x="9619488" y="2240278"/>
            <a:ext cx="86871" cy="868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915" name="Oval 65"/>
          <p:cNvSpPr/>
          <p:nvPr/>
        </p:nvSpPr>
        <p:spPr>
          <a:xfrm>
            <a:off x="10003535" y="2240278"/>
            <a:ext cx="86871" cy="868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916" name="Oval 66"/>
          <p:cNvSpPr/>
          <p:nvPr/>
        </p:nvSpPr>
        <p:spPr>
          <a:xfrm>
            <a:off x="10387583" y="2240278"/>
            <a:ext cx="86871" cy="868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917" name="Oval 67"/>
          <p:cNvSpPr/>
          <p:nvPr/>
        </p:nvSpPr>
        <p:spPr>
          <a:xfrm>
            <a:off x="7955277" y="2651760"/>
            <a:ext cx="86871" cy="868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918" name="Oval 68"/>
          <p:cNvSpPr/>
          <p:nvPr/>
        </p:nvSpPr>
        <p:spPr>
          <a:xfrm>
            <a:off x="8339325" y="2651760"/>
            <a:ext cx="86871" cy="868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919" name="Oval 69"/>
          <p:cNvSpPr/>
          <p:nvPr/>
        </p:nvSpPr>
        <p:spPr>
          <a:xfrm>
            <a:off x="8723376" y="2651760"/>
            <a:ext cx="86871" cy="868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920" name="Oval 70"/>
          <p:cNvSpPr/>
          <p:nvPr/>
        </p:nvSpPr>
        <p:spPr>
          <a:xfrm>
            <a:off x="9107423" y="2651760"/>
            <a:ext cx="86871" cy="868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921" name="Oval 71"/>
          <p:cNvSpPr/>
          <p:nvPr/>
        </p:nvSpPr>
        <p:spPr>
          <a:xfrm>
            <a:off x="9491471" y="2651760"/>
            <a:ext cx="86871" cy="868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922" name="Oval 72"/>
          <p:cNvSpPr/>
          <p:nvPr/>
        </p:nvSpPr>
        <p:spPr>
          <a:xfrm>
            <a:off x="9875518" y="2651760"/>
            <a:ext cx="86871" cy="868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923" name="Oval 73"/>
          <p:cNvSpPr/>
          <p:nvPr/>
        </p:nvSpPr>
        <p:spPr>
          <a:xfrm>
            <a:off x="10259566" y="2651760"/>
            <a:ext cx="86871" cy="868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924" name="Oval 74"/>
          <p:cNvSpPr/>
          <p:nvPr/>
        </p:nvSpPr>
        <p:spPr>
          <a:xfrm>
            <a:off x="8083294" y="3063238"/>
            <a:ext cx="86871" cy="868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925" name="Oval 75"/>
          <p:cNvSpPr/>
          <p:nvPr/>
        </p:nvSpPr>
        <p:spPr>
          <a:xfrm>
            <a:off x="8467342" y="3063238"/>
            <a:ext cx="86871" cy="868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926" name="Oval 76"/>
          <p:cNvSpPr/>
          <p:nvPr/>
        </p:nvSpPr>
        <p:spPr>
          <a:xfrm>
            <a:off x="8851392" y="3063238"/>
            <a:ext cx="86871" cy="868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927" name="Oval 77"/>
          <p:cNvSpPr/>
          <p:nvPr/>
        </p:nvSpPr>
        <p:spPr>
          <a:xfrm>
            <a:off x="9235440" y="3063238"/>
            <a:ext cx="86871" cy="868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928" name="Oval 78"/>
          <p:cNvSpPr/>
          <p:nvPr/>
        </p:nvSpPr>
        <p:spPr>
          <a:xfrm>
            <a:off x="9619488" y="3063238"/>
            <a:ext cx="86871" cy="868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929" name="Oval 79"/>
          <p:cNvSpPr/>
          <p:nvPr/>
        </p:nvSpPr>
        <p:spPr>
          <a:xfrm>
            <a:off x="10003535" y="3063238"/>
            <a:ext cx="86871" cy="868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930" name="Oval 80"/>
          <p:cNvSpPr/>
          <p:nvPr/>
        </p:nvSpPr>
        <p:spPr>
          <a:xfrm>
            <a:off x="10387583" y="3063238"/>
            <a:ext cx="86871" cy="868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931" name="Oval 81"/>
          <p:cNvSpPr/>
          <p:nvPr/>
        </p:nvSpPr>
        <p:spPr>
          <a:xfrm>
            <a:off x="7955277" y="3474720"/>
            <a:ext cx="86871" cy="868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932" name="Oval 82"/>
          <p:cNvSpPr/>
          <p:nvPr/>
        </p:nvSpPr>
        <p:spPr>
          <a:xfrm>
            <a:off x="8339325" y="3474720"/>
            <a:ext cx="86871" cy="868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933" name="Oval 83"/>
          <p:cNvSpPr/>
          <p:nvPr/>
        </p:nvSpPr>
        <p:spPr>
          <a:xfrm>
            <a:off x="8723376" y="3474720"/>
            <a:ext cx="86871" cy="868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934" name="Oval 84"/>
          <p:cNvSpPr/>
          <p:nvPr/>
        </p:nvSpPr>
        <p:spPr>
          <a:xfrm>
            <a:off x="9107423" y="3474720"/>
            <a:ext cx="86871" cy="868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935" name="Oval 85"/>
          <p:cNvSpPr/>
          <p:nvPr/>
        </p:nvSpPr>
        <p:spPr>
          <a:xfrm>
            <a:off x="9491471" y="3474720"/>
            <a:ext cx="86871" cy="868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936" name="Oval 86"/>
          <p:cNvSpPr/>
          <p:nvPr/>
        </p:nvSpPr>
        <p:spPr>
          <a:xfrm>
            <a:off x="9875518" y="3474720"/>
            <a:ext cx="86871" cy="868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937" name="Oval 87"/>
          <p:cNvSpPr/>
          <p:nvPr/>
        </p:nvSpPr>
        <p:spPr>
          <a:xfrm>
            <a:off x="10259566" y="3474720"/>
            <a:ext cx="86871" cy="868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938" name="Oval 88"/>
          <p:cNvSpPr/>
          <p:nvPr/>
        </p:nvSpPr>
        <p:spPr>
          <a:xfrm>
            <a:off x="8083294" y="3886199"/>
            <a:ext cx="86871" cy="86872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939" name="Oval 89"/>
          <p:cNvSpPr/>
          <p:nvPr/>
        </p:nvSpPr>
        <p:spPr>
          <a:xfrm>
            <a:off x="8467342" y="3886199"/>
            <a:ext cx="86871" cy="86872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940" name="Oval 90"/>
          <p:cNvSpPr/>
          <p:nvPr/>
        </p:nvSpPr>
        <p:spPr>
          <a:xfrm>
            <a:off x="8851392" y="3886199"/>
            <a:ext cx="86871" cy="86872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941" name="Oval 91"/>
          <p:cNvSpPr/>
          <p:nvPr/>
        </p:nvSpPr>
        <p:spPr>
          <a:xfrm>
            <a:off x="9235440" y="3886199"/>
            <a:ext cx="86871" cy="86872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942" name="Oval 92"/>
          <p:cNvSpPr/>
          <p:nvPr/>
        </p:nvSpPr>
        <p:spPr>
          <a:xfrm>
            <a:off x="9619488" y="3886199"/>
            <a:ext cx="86871" cy="86872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943" name="Oval 93"/>
          <p:cNvSpPr/>
          <p:nvPr/>
        </p:nvSpPr>
        <p:spPr>
          <a:xfrm>
            <a:off x="10003535" y="3886199"/>
            <a:ext cx="86871" cy="86872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944" name="Oval 94"/>
          <p:cNvSpPr/>
          <p:nvPr/>
        </p:nvSpPr>
        <p:spPr>
          <a:xfrm>
            <a:off x="10387583" y="3886199"/>
            <a:ext cx="86871" cy="86872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945" name="Oval 95"/>
          <p:cNvSpPr/>
          <p:nvPr/>
        </p:nvSpPr>
        <p:spPr>
          <a:xfrm>
            <a:off x="7955277" y="4297679"/>
            <a:ext cx="86871" cy="868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946" name="Oval 96"/>
          <p:cNvSpPr/>
          <p:nvPr/>
        </p:nvSpPr>
        <p:spPr>
          <a:xfrm>
            <a:off x="8339325" y="4297679"/>
            <a:ext cx="86871" cy="868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947" name="Oval 97"/>
          <p:cNvSpPr/>
          <p:nvPr/>
        </p:nvSpPr>
        <p:spPr>
          <a:xfrm>
            <a:off x="8723376" y="4297679"/>
            <a:ext cx="86871" cy="868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948" name="Oval 98"/>
          <p:cNvSpPr/>
          <p:nvPr/>
        </p:nvSpPr>
        <p:spPr>
          <a:xfrm>
            <a:off x="9107423" y="4297679"/>
            <a:ext cx="86871" cy="868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949" name="Oval 99"/>
          <p:cNvSpPr/>
          <p:nvPr/>
        </p:nvSpPr>
        <p:spPr>
          <a:xfrm>
            <a:off x="9491471" y="4297679"/>
            <a:ext cx="86871" cy="868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950" name="Oval 100"/>
          <p:cNvSpPr/>
          <p:nvPr/>
        </p:nvSpPr>
        <p:spPr>
          <a:xfrm>
            <a:off x="9875518" y="4297679"/>
            <a:ext cx="86871" cy="868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951" name="Oval 101"/>
          <p:cNvSpPr/>
          <p:nvPr/>
        </p:nvSpPr>
        <p:spPr>
          <a:xfrm>
            <a:off x="10259566" y="4297679"/>
            <a:ext cx="86871" cy="868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952" name="Rounded Rectangle 102"/>
          <p:cNvSpPr/>
          <p:nvPr/>
        </p:nvSpPr>
        <p:spPr>
          <a:xfrm>
            <a:off x="5468110" y="2286000"/>
            <a:ext cx="1298450" cy="1737362"/>
          </a:xfrm>
          <a:prstGeom prst="roundRect">
            <a:avLst>
              <a:gd name="adj" fmla="val 16667"/>
            </a:avLst>
          </a:prstGeom>
          <a:ln w="1778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953" name="Connector 103"/>
          <p:cNvSpPr/>
          <p:nvPr/>
        </p:nvSpPr>
        <p:spPr>
          <a:xfrm>
            <a:off x="5715000" y="2788920"/>
            <a:ext cx="795529" cy="2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4" name="Connector 104"/>
          <p:cNvSpPr/>
          <p:nvPr/>
        </p:nvSpPr>
        <p:spPr>
          <a:xfrm>
            <a:off x="5715000" y="3108960"/>
            <a:ext cx="667514" cy="2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5" name="Connector 105"/>
          <p:cNvSpPr/>
          <p:nvPr/>
        </p:nvSpPr>
        <p:spPr>
          <a:xfrm>
            <a:off x="5715000" y="3429000"/>
            <a:ext cx="758954" cy="0"/>
          </a:xfrm>
          <a:prstGeom prst="line">
            <a:avLst/>
          </a:prstGeom>
          <a:ln w="19050">
            <a:solidFill>
              <a:srgbClr val="1FA87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6" name="Connector 106"/>
          <p:cNvSpPr/>
          <p:nvPr/>
        </p:nvSpPr>
        <p:spPr>
          <a:xfrm flipV="1">
            <a:off x="3216400" y="2907792"/>
            <a:ext cx="2251713" cy="1433324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7" name="Connector 107"/>
          <p:cNvSpPr/>
          <p:nvPr/>
        </p:nvSpPr>
        <p:spPr>
          <a:xfrm flipH="1">
            <a:off x="6766559" y="1872232"/>
            <a:ext cx="1232154" cy="103556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8" name="TextBox 108"/>
          <p:cNvSpPr txBox="1"/>
          <p:nvPr/>
        </p:nvSpPr>
        <p:spPr>
          <a:xfrm>
            <a:off x="896111" y="5230367"/>
            <a:ext cx="2743201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Make groups explicit</a:t>
            </a:r>
          </a:p>
        </p:txBody>
      </p:sp>
      <p:sp>
        <p:nvSpPr>
          <p:cNvPr id="959" name="TextBox 109"/>
          <p:cNvSpPr txBox="1"/>
          <p:nvPr/>
        </p:nvSpPr>
        <p:spPr>
          <a:xfrm>
            <a:off x="4297679" y="5230367"/>
            <a:ext cx="3474721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Require cross-group support</a:t>
            </a:r>
          </a:p>
        </p:txBody>
      </p:sp>
      <p:sp>
        <p:nvSpPr>
          <p:cNvPr id="960" name="TextBox 110"/>
          <p:cNvSpPr txBox="1"/>
          <p:nvPr/>
        </p:nvSpPr>
        <p:spPr>
          <a:xfrm>
            <a:off x="8302752" y="5230367"/>
            <a:ext cx="3200402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Validate content separately</a:t>
            </a:r>
          </a:p>
        </p:txBody>
      </p:sp>
      <p:sp>
        <p:nvSpPr>
          <p:cNvPr id="961" name="TextBox 111"/>
          <p:cNvSpPr txBox="1"/>
          <p:nvPr/>
        </p:nvSpPr>
        <p:spPr>
          <a:xfrm>
            <a:off x="2770632" y="5961888"/>
            <a:ext cx="6720842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PRESERVE DISAGREEMENT BEFORE AGGREGATING IT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