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s/slide34.xml" ContentType="application/vnd.openxmlformats-officedocument.presentationml.slide+xml"/>
  <Override PartName="/ppt/slides/slide3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90" r:id="rId42"/>
    <p:sldId id="289" r:id="rId41"/>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1pPr>
    <a:lvl2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2pPr>
    <a:lvl3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3pPr>
    <a:lvl4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4pPr>
    <a:lvl5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5pPr>
    <a:lvl6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6pPr>
    <a:lvl7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7pPr>
    <a:lvl8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8pPr>
    <a:lvl9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0" algn="ctr">
              <a:buSzTx/>
              <a:buFontTx/>
              <a:buNone/>
              <a:defRPr>
                <a:solidFill>
                  <a:srgbClr val="888888"/>
                </a:solidFill>
              </a:defRPr>
            </a:lvl2pPr>
            <a:lvl3pPr marL="0" indent="0" algn="ctr">
              <a:buSzTx/>
              <a:buFontTx/>
              <a:buNone/>
              <a:defRPr>
                <a:solidFill>
                  <a:srgbClr val="888888"/>
                </a:solidFill>
              </a:defRPr>
            </a:lvl3pPr>
            <a:lvl4pPr marL="0" indent="0" algn="ctr">
              <a:buSzTx/>
              <a:buFontTx/>
              <a:buNone/>
              <a:defRPr>
                <a:solidFill>
                  <a:srgbClr val="888888"/>
                </a:solidFill>
              </a:defRPr>
            </a:lvl4pPr>
            <a:lvl5pPr marL="0" indent="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94"/>
          </a:xfrm>
          <a:prstGeom prst="rect">
            <a:avLst/>
          </a:prstGeom>
        </p:spPr>
        <p:txBody>
          <a:bodyPr anchor="b"/>
          <a:lstStyle>
            <a:lvl1pPr marL="0" indent="0">
              <a:spcBef>
                <a:spcPts val="400"/>
              </a:spcBef>
              <a:buSzTx/>
              <a:buFontTx/>
              <a:buNone/>
              <a:defRPr sz="2000">
                <a:solidFill>
                  <a:srgbClr val="888888"/>
                </a:solidFill>
              </a:defRPr>
            </a:lvl1pPr>
            <a:lvl2pPr marL="0" indent="0">
              <a:spcBef>
                <a:spcPts val="400"/>
              </a:spcBef>
              <a:buSzTx/>
              <a:buFontTx/>
              <a:buNone/>
              <a:defRPr sz="2000">
                <a:solidFill>
                  <a:srgbClr val="888888"/>
                </a:solidFill>
              </a:defRPr>
            </a:lvl2pPr>
            <a:lvl3pPr marL="0" indent="0">
              <a:spcBef>
                <a:spcPts val="400"/>
              </a:spcBef>
              <a:buSzTx/>
              <a:buFontTx/>
              <a:buNone/>
              <a:defRPr sz="2000">
                <a:solidFill>
                  <a:srgbClr val="888888"/>
                </a:solidFill>
              </a:defRPr>
            </a:lvl3pPr>
            <a:lvl4pPr marL="0" indent="0">
              <a:spcBef>
                <a:spcPts val="400"/>
              </a:spcBef>
              <a:buSzTx/>
              <a:buFontTx/>
              <a:buNone/>
              <a:defRPr sz="2000">
                <a:solidFill>
                  <a:srgbClr val="888888"/>
                </a:solidFill>
              </a:defRPr>
            </a:lvl4pPr>
            <a:lvl5pPr marL="0" indent="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8" indent="-320038">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0">
              <a:spcBef>
                <a:spcPts val="500"/>
              </a:spcBef>
              <a:buSzTx/>
              <a:buFontTx/>
              <a:buNone/>
              <a:defRPr b="1" sz="2400"/>
            </a:lvl2pPr>
            <a:lvl3pPr marL="0" indent="0">
              <a:spcBef>
                <a:spcPts val="500"/>
              </a:spcBef>
              <a:buSzTx/>
              <a:buFontTx/>
              <a:buNone/>
              <a:defRPr b="1" sz="2400"/>
            </a:lvl3pPr>
            <a:lvl4pPr marL="0" indent="0">
              <a:spcBef>
                <a:spcPts val="500"/>
              </a:spcBef>
              <a:buSzTx/>
              <a:buFontTx/>
              <a:buNone/>
              <a:defRPr b="1" sz="2400"/>
            </a:lvl4pPr>
            <a:lvl5pPr marL="0" indent="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1"/>
            <a:ext cx="4041775" cy="639770"/>
          </a:xfrm>
          <a:prstGeom prst="rect">
            <a:avLst/>
          </a:prstGeom>
        </p:spPr>
        <p:txBody>
          <a:bodyPr anchor="b"/>
          <a:lstStyle/>
          <a:p>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6" cy="1162050"/>
          </a:xfrm>
          <a:prstGeom prst="rect">
            <a:avLst/>
          </a:prstGeom>
        </p:spPr>
        <p:txBody>
          <a:bodyPr anchor="b"/>
          <a:lstStyle>
            <a:lvl1pPr algn="l">
              <a:defRPr b="1" sz="2000"/>
            </a:lvl1pPr>
          </a:lstStyle>
          <a:p>
            <a:pPr/>
            <a:r>
              <a:t>Title Text</a:t>
            </a:r>
          </a:p>
        </p:txBody>
      </p:sp>
      <p:sp>
        <p:nvSpPr>
          <p:cNvPr id="73" name="Body Level One…"/>
          <p:cNvSpPr txBox="1"/>
          <p:nvPr>
            <p:ph type="body" sz="half"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8" y="1435100"/>
            <a:ext cx="3008317" cy="4691063"/>
          </a:xfrm>
          <a:prstGeom prst="rect">
            <a:avLst/>
          </a:prstGeom>
        </p:spPr>
        <p:txBody>
          <a:bodyPr/>
          <a:lstStyle/>
          <a:p>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4"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4" cy="4114800"/>
          </a:xfrm>
          <a:prstGeom prst="rect">
            <a:avLst/>
          </a:prstGeom>
        </p:spPr>
        <p:txBody>
          <a:bodyPr lIns="91439" tIns="45719" rIns="91439" bIns="45719">
            <a:noAutofit/>
          </a:bodyPr>
          <a:lstStyle/>
          <a:p>
            <a:pPr/>
          </a:p>
        </p:txBody>
      </p:sp>
      <p:sp>
        <p:nvSpPr>
          <p:cNvPr id="84" name="Body Level One…"/>
          <p:cNvSpPr txBox="1"/>
          <p:nvPr>
            <p:ph type="body" sz="quarter" idx="1"/>
          </p:nvPr>
        </p:nvSpPr>
        <p:spPr>
          <a:xfrm>
            <a:off x="1792288" y="5367337"/>
            <a:ext cx="5486404" cy="804869"/>
          </a:xfrm>
          <a:prstGeom prst="rect">
            <a:avLst/>
          </a:prstGeom>
        </p:spPr>
        <p:txBody>
          <a:bodyPr/>
          <a:lstStyle>
            <a:lvl1pPr marL="0" indent="0">
              <a:spcBef>
                <a:spcPts val="300"/>
              </a:spcBef>
              <a:buSzTx/>
              <a:buFontTx/>
              <a:buNone/>
              <a:defRPr sz="1400"/>
            </a:lvl1pPr>
            <a:lvl2pPr marL="0" indent="0">
              <a:spcBef>
                <a:spcPts val="300"/>
              </a:spcBef>
              <a:buSzTx/>
              <a:buFontTx/>
              <a:buNone/>
              <a:defRPr sz="1400"/>
            </a:lvl2pPr>
            <a:lvl3pPr marL="0" indent="0">
              <a:spcBef>
                <a:spcPts val="300"/>
              </a:spcBef>
              <a:buSzTx/>
              <a:buFontTx/>
              <a:buNone/>
              <a:defRPr sz="1400"/>
            </a:lvl3pPr>
            <a:lvl4pPr marL="0" indent="0">
              <a:spcBef>
                <a:spcPts val="300"/>
              </a:spcBef>
              <a:buSzTx/>
              <a:buFontTx/>
              <a:buNone/>
              <a:defRPr sz="1400"/>
            </a:lvl4pPr>
            <a:lvl5pPr marL="0" indent="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81" y="6414762"/>
            <a:ext cx="258620" cy="248302"/>
          </a:xfrm>
          <a:prstGeom prst="rect">
            <a:avLst/>
          </a:prstGeom>
          <a:ln w="12700">
            <a:miter lim="400000"/>
          </a:ln>
        </p:spPr>
        <p:txBody>
          <a:bodyPr wrap="none" lIns="45718" tIns="45718" rIns="45718" bIns="45718" anchor="ctr">
            <a:spAutoFit/>
          </a:bodyPr>
          <a:lstStyle>
            <a:lvl1pPr algn="r">
              <a:defRPr sz="1200">
                <a:solidFill>
                  <a:srgbClr val="888888"/>
                </a:solidFill>
                <a:latin typeface="+mj-lt"/>
                <a:ea typeface="+mj-ea"/>
                <a:cs typeface="+mj-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extBox 1"/>
          <p:cNvSpPr txBox="1"/>
          <p:nvPr/>
        </p:nvSpPr>
        <p:spPr>
          <a:xfrm>
            <a:off x="658368" y="749808"/>
            <a:ext cx="5669280" cy="115440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3800">
                <a:solidFill>
                  <a:srgbClr val="111318"/>
                </a:solidFill>
                <a:latin typeface="Helvetica Neue"/>
                <a:ea typeface="Helvetica Neue"/>
                <a:cs typeface="Helvetica Neue"/>
                <a:sym typeface="Helvetica Neue"/>
              </a:defRPr>
            </a:pPr>
            <a:r>
              <a:t>WHO SPEAKS</a:t>
            </a:r>
          </a:p>
          <a:p>
            <a:pPr>
              <a:defRPr b="1" sz="3800">
                <a:solidFill>
                  <a:srgbClr val="111318"/>
                </a:solidFill>
                <a:latin typeface="Helvetica Neue"/>
                <a:ea typeface="Helvetica Neue"/>
                <a:cs typeface="Helvetica Neue"/>
                <a:sym typeface="Helvetica Neue"/>
              </a:defRPr>
            </a:pPr>
            <a:r>
              <a:t>FOR THE CROWD?</a:t>
            </a:r>
          </a:p>
        </p:txBody>
      </p:sp>
      <p:sp>
        <p:nvSpPr>
          <p:cNvPr id="95" name="TextBox 2"/>
          <p:cNvSpPr txBox="1"/>
          <p:nvPr/>
        </p:nvSpPr>
        <p:spPr>
          <a:xfrm>
            <a:off x="704082" y="2926077"/>
            <a:ext cx="5120652" cy="2854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solidFill>
                  <a:srgbClr val="3977F6"/>
                </a:solidFill>
                <a:latin typeface="Helvetica Neue"/>
                <a:ea typeface="Helvetica Neue"/>
                <a:cs typeface="Helvetica Neue"/>
                <a:sym typeface="Helvetica Neue"/>
              </a:defRPr>
            </a:pPr>
            <a:r>
              <a:t>• </a:t>
            </a:r>
            <a:r>
              <a:rPr b="0">
                <a:solidFill>
                  <a:srgbClr val="73777F"/>
                </a:solidFill>
              </a:rPr>
              <a:t>Cross-Constituency Aggregation</a:t>
            </a:r>
          </a:p>
        </p:txBody>
      </p:sp>
      <p:sp>
        <p:nvSpPr>
          <p:cNvPr id="96" name="TextBox 3"/>
          <p:cNvSpPr txBox="1"/>
          <p:nvPr/>
        </p:nvSpPr>
        <p:spPr>
          <a:xfrm>
            <a:off x="704083" y="3364991"/>
            <a:ext cx="4389132" cy="2854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solidFill>
                  <a:srgbClr val="3977F6"/>
                </a:solidFill>
                <a:latin typeface="Helvetica Neue"/>
                <a:ea typeface="Helvetica Neue"/>
                <a:cs typeface="Helvetica Neue"/>
                <a:sym typeface="Helvetica Neue"/>
              </a:defRPr>
            </a:pPr>
            <a:r>
              <a:t>• </a:t>
            </a:r>
            <a:r>
              <a:rPr b="0">
                <a:solidFill>
                  <a:srgbClr val="73777F"/>
                </a:solidFill>
              </a:rPr>
              <a:t>for Community Notes</a:t>
            </a:r>
          </a:p>
        </p:txBody>
      </p:sp>
      <p:sp>
        <p:nvSpPr>
          <p:cNvPr id="97" name="Oval 4"/>
          <p:cNvSpPr/>
          <p:nvPr/>
        </p:nvSpPr>
        <p:spPr>
          <a:xfrm>
            <a:off x="7543799" y="100583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98" name="Oval 5"/>
          <p:cNvSpPr/>
          <p:nvPr/>
        </p:nvSpPr>
        <p:spPr>
          <a:xfrm>
            <a:off x="7891271" y="100583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99" name="Oval 6"/>
          <p:cNvSpPr/>
          <p:nvPr/>
        </p:nvSpPr>
        <p:spPr>
          <a:xfrm>
            <a:off x="8238742" y="100583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00" name="Oval 7"/>
          <p:cNvSpPr/>
          <p:nvPr/>
        </p:nvSpPr>
        <p:spPr>
          <a:xfrm>
            <a:off x="8586216" y="100583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01" name="Oval 8"/>
          <p:cNvSpPr/>
          <p:nvPr/>
        </p:nvSpPr>
        <p:spPr>
          <a:xfrm>
            <a:off x="8933688" y="100583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02" name="Oval 9"/>
          <p:cNvSpPr/>
          <p:nvPr/>
        </p:nvSpPr>
        <p:spPr>
          <a:xfrm>
            <a:off x="7671816" y="138988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03" name="Oval 10"/>
          <p:cNvSpPr/>
          <p:nvPr/>
        </p:nvSpPr>
        <p:spPr>
          <a:xfrm>
            <a:off x="8019288" y="138988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04" name="Oval 11"/>
          <p:cNvSpPr/>
          <p:nvPr/>
        </p:nvSpPr>
        <p:spPr>
          <a:xfrm>
            <a:off x="8366759" y="138988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05" name="Oval 12"/>
          <p:cNvSpPr/>
          <p:nvPr/>
        </p:nvSpPr>
        <p:spPr>
          <a:xfrm>
            <a:off x="8714230" y="138988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06" name="Oval 13"/>
          <p:cNvSpPr/>
          <p:nvPr/>
        </p:nvSpPr>
        <p:spPr>
          <a:xfrm>
            <a:off x="9061704" y="138988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07" name="Oval 14"/>
          <p:cNvSpPr/>
          <p:nvPr/>
        </p:nvSpPr>
        <p:spPr>
          <a:xfrm>
            <a:off x="7543799" y="1773933"/>
            <a:ext cx="91453" cy="91446"/>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08" name="Oval 15"/>
          <p:cNvSpPr/>
          <p:nvPr/>
        </p:nvSpPr>
        <p:spPr>
          <a:xfrm>
            <a:off x="7891271" y="1773933"/>
            <a:ext cx="91453" cy="91446"/>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09" name="Oval 16"/>
          <p:cNvSpPr/>
          <p:nvPr/>
        </p:nvSpPr>
        <p:spPr>
          <a:xfrm>
            <a:off x="8238742" y="1773933"/>
            <a:ext cx="91453" cy="91446"/>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10" name="Oval 17"/>
          <p:cNvSpPr/>
          <p:nvPr/>
        </p:nvSpPr>
        <p:spPr>
          <a:xfrm>
            <a:off x="8586216" y="1773933"/>
            <a:ext cx="91453" cy="91446"/>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11" name="Oval 18"/>
          <p:cNvSpPr/>
          <p:nvPr/>
        </p:nvSpPr>
        <p:spPr>
          <a:xfrm>
            <a:off x="8933688" y="1773933"/>
            <a:ext cx="91453" cy="91446"/>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12" name="Oval 19"/>
          <p:cNvSpPr/>
          <p:nvPr/>
        </p:nvSpPr>
        <p:spPr>
          <a:xfrm>
            <a:off x="7671816" y="2157983"/>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13" name="Oval 20"/>
          <p:cNvSpPr/>
          <p:nvPr/>
        </p:nvSpPr>
        <p:spPr>
          <a:xfrm>
            <a:off x="8019288" y="2157983"/>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14" name="Oval 21"/>
          <p:cNvSpPr/>
          <p:nvPr/>
        </p:nvSpPr>
        <p:spPr>
          <a:xfrm>
            <a:off x="8366759" y="2157983"/>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15" name="Oval 22"/>
          <p:cNvSpPr/>
          <p:nvPr/>
        </p:nvSpPr>
        <p:spPr>
          <a:xfrm>
            <a:off x="8714230" y="2157983"/>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16" name="Oval 23"/>
          <p:cNvSpPr/>
          <p:nvPr/>
        </p:nvSpPr>
        <p:spPr>
          <a:xfrm>
            <a:off x="9061704" y="2157983"/>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17" name="Oval 24"/>
          <p:cNvSpPr/>
          <p:nvPr/>
        </p:nvSpPr>
        <p:spPr>
          <a:xfrm>
            <a:off x="7543799" y="4315967"/>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18" name="Oval 25"/>
          <p:cNvSpPr/>
          <p:nvPr/>
        </p:nvSpPr>
        <p:spPr>
          <a:xfrm>
            <a:off x="7891271" y="4315967"/>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19" name="Oval 26"/>
          <p:cNvSpPr/>
          <p:nvPr/>
        </p:nvSpPr>
        <p:spPr>
          <a:xfrm>
            <a:off x="8238742" y="4315967"/>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20" name="Oval 27"/>
          <p:cNvSpPr/>
          <p:nvPr/>
        </p:nvSpPr>
        <p:spPr>
          <a:xfrm>
            <a:off x="8586216" y="4315967"/>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21" name="Oval 28"/>
          <p:cNvSpPr/>
          <p:nvPr/>
        </p:nvSpPr>
        <p:spPr>
          <a:xfrm>
            <a:off x="8933688" y="4315967"/>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22" name="Oval 29"/>
          <p:cNvSpPr/>
          <p:nvPr/>
        </p:nvSpPr>
        <p:spPr>
          <a:xfrm>
            <a:off x="7671816" y="4700015"/>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23" name="Oval 30"/>
          <p:cNvSpPr/>
          <p:nvPr/>
        </p:nvSpPr>
        <p:spPr>
          <a:xfrm>
            <a:off x="8019288" y="4700015"/>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24" name="Oval 31"/>
          <p:cNvSpPr/>
          <p:nvPr/>
        </p:nvSpPr>
        <p:spPr>
          <a:xfrm>
            <a:off x="8366759" y="4700015"/>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25" name="Oval 32"/>
          <p:cNvSpPr/>
          <p:nvPr/>
        </p:nvSpPr>
        <p:spPr>
          <a:xfrm>
            <a:off x="8714230" y="4700015"/>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26" name="Oval 33"/>
          <p:cNvSpPr/>
          <p:nvPr/>
        </p:nvSpPr>
        <p:spPr>
          <a:xfrm>
            <a:off x="9061704" y="4700015"/>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27" name="Oval 34"/>
          <p:cNvSpPr/>
          <p:nvPr/>
        </p:nvSpPr>
        <p:spPr>
          <a:xfrm>
            <a:off x="7543799" y="5084064"/>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28" name="Oval 35"/>
          <p:cNvSpPr/>
          <p:nvPr/>
        </p:nvSpPr>
        <p:spPr>
          <a:xfrm>
            <a:off x="7891271" y="5084064"/>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29" name="Oval 36"/>
          <p:cNvSpPr/>
          <p:nvPr/>
        </p:nvSpPr>
        <p:spPr>
          <a:xfrm>
            <a:off x="8238742" y="5084064"/>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30" name="Oval 37"/>
          <p:cNvSpPr/>
          <p:nvPr/>
        </p:nvSpPr>
        <p:spPr>
          <a:xfrm>
            <a:off x="8586216" y="5084064"/>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31" name="Oval 38"/>
          <p:cNvSpPr/>
          <p:nvPr/>
        </p:nvSpPr>
        <p:spPr>
          <a:xfrm>
            <a:off x="8933688" y="5084064"/>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32" name="Rounded Rectangle 39"/>
          <p:cNvSpPr/>
          <p:nvPr/>
        </p:nvSpPr>
        <p:spPr>
          <a:xfrm>
            <a:off x="10195559" y="2542032"/>
            <a:ext cx="1234447" cy="1481335"/>
          </a:xfrm>
          <a:prstGeom prst="roundRect">
            <a:avLst>
              <a:gd name="adj" fmla="val 16667"/>
            </a:avLst>
          </a:prstGeom>
          <a:ln w="1397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33" name="Connector 40"/>
          <p:cNvSpPr/>
          <p:nvPr/>
        </p:nvSpPr>
        <p:spPr>
          <a:xfrm>
            <a:off x="10442447" y="2971800"/>
            <a:ext cx="713239" cy="0"/>
          </a:xfrm>
          <a:prstGeom prst="line">
            <a:avLst/>
          </a:prstGeom>
          <a:ln w="1778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34" name="Connector 41"/>
          <p:cNvSpPr/>
          <p:nvPr/>
        </p:nvSpPr>
        <p:spPr>
          <a:xfrm>
            <a:off x="10442447" y="3273552"/>
            <a:ext cx="557791" cy="7"/>
          </a:xfrm>
          <a:prstGeom prst="line">
            <a:avLst/>
          </a:prstGeom>
          <a:ln w="1778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35" name="Connector 42"/>
          <p:cNvSpPr/>
          <p:nvPr/>
        </p:nvSpPr>
        <p:spPr>
          <a:xfrm>
            <a:off x="9107423" y="2203704"/>
            <a:ext cx="1088143" cy="740671"/>
          </a:xfrm>
          <a:prstGeom prst="line">
            <a:avLst/>
          </a:prstGeom>
          <a:ln w="19050">
            <a:solidFill>
              <a:srgbClr val="3977F6"/>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36" name="Connector 43"/>
          <p:cNvSpPr/>
          <p:nvPr/>
        </p:nvSpPr>
        <p:spPr>
          <a:xfrm flipV="1">
            <a:off x="8979406" y="3611879"/>
            <a:ext cx="1216159" cy="1517910"/>
          </a:xfrm>
          <a:prstGeom prst="line">
            <a:avLst/>
          </a:prstGeom>
          <a:ln w="19050">
            <a:solidFill>
              <a:srgbClr val="FF705B"/>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37" name="TextBox 45"/>
          <p:cNvSpPr txBox="1"/>
          <p:nvPr/>
        </p:nvSpPr>
        <p:spPr>
          <a:xfrm>
            <a:off x="11082528" y="6181344"/>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TextBox 1"/>
          <p:cNvSpPr txBox="1"/>
          <p:nvPr/>
        </p:nvSpPr>
        <p:spPr>
          <a:xfrm>
            <a:off x="603504" y="420623"/>
            <a:ext cx="4297680"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WHAT IS COMMUNITY NOTES?</a:t>
            </a:r>
          </a:p>
        </p:txBody>
      </p:sp>
      <p:sp>
        <p:nvSpPr>
          <p:cNvPr id="140" name="TextBox 2"/>
          <p:cNvSpPr txBox="1"/>
          <p:nvPr/>
        </p:nvSpPr>
        <p:spPr>
          <a:xfrm>
            <a:off x="603504" y="786383"/>
            <a:ext cx="10424160"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One note. One decision.</a:t>
            </a:r>
          </a:p>
        </p:txBody>
      </p:sp>
      <p:sp>
        <p:nvSpPr>
          <p:cNvPr id="141" name="TextBox 3"/>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02</a:t>
            </a:r>
          </a:p>
        </p:txBody>
      </p:sp>
      <p:sp>
        <p:nvSpPr>
          <p:cNvPr id="142" name="TextBox 31"/>
          <p:cNvSpPr txBox="1"/>
          <p:nvPr/>
        </p:nvSpPr>
        <p:spPr>
          <a:xfrm>
            <a:off x="621792" y="6455664"/>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X Community Notes (2026)</a:t>
            </a:r>
          </a:p>
        </p:txBody>
      </p:sp>
      <p:sp>
        <p:nvSpPr>
          <p:cNvPr id="143" name="Oval 4"/>
          <p:cNvSpPr/>
          <p:nvPr/>
        </p:nvSpPr>
        <p:spPr>
          <a:xfrm>
            <a:off x="1708854" y="2413249"/>
            <a:ext cx="246901" cy="246901"/>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44" name="Connector 5"/>
          <p:cNvSpPr/>
          <p:nvPr/>
        </p:nvSpPr>
        <p:spPr>
          <a:xfrm>
            <a:off x="1832299" y="2660138"/>
            <a:ext cx="7" cy="407366"/>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45" name="Connector 6"/>
          <p:cNvSpPr/>
          <p:nvPr/>
        </p:nvSpPr>
        <p:spPr>
          <a:xfrm>
            <a:off x="1659476" y="2832960"/>
            <a:ext cx="345651" cy="7"/>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46" name="Connector 7"/>
          <p:cNvSpPr/>
          <p:nvPr/>
        </p:nvSpPr>
        <p:spPr>
          <a:xfrm flipH="1">
            <a:off x="1671821" y="3067505"/>
            <a:ext cx="160485" cy="259233"/>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47" name="Connector 8"/>
          <p:cNvSpPr/>
          <p:nvPr/>
        </p:nvSpPr>
        <p:spPr>
          <a:xfrm>
            <a:off x="1832299" y="3067505"/>
            <a:ext cx="160484" cy="259233"/>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grpSp>
        <p:nvGrpSpPr>
          <p:cNvPr id="151" name="Group"/>
          <p:cNvGrpSpPr/>
          <p:nvPr/>
        </p:nvGrpSpPr>
        <p:grpSpPr>
          <a:xfrm>
            <a:off x="8060533" y="3550469"/>
            <a:ext cx="635021" cy="635021"/>
            <a:chOff x="0" y="0"/>
            <a:chExt cx="635020" cy="635020"/>
          </a:xfrm>
        </p:grpSpPr>
        <p:sp>
          <p:nvSpPr>
            <p:cNvPr id="148" name="Oval 19"/>
            <p:cNvSpPr/>
            <p:nvPr/>
          </p:nvSpPr>
          <p:spPr>
            <a:xfrm>
              <a:off x="-1" y="-1"/>
              <a:ext cx="635021" cy="635021"/>
            </a:xfrm>
            <a:prstGeom prst="ellipse">
              <a:avLst/>
            </a:prstGeom>
            <a:solidFill>
              <a:srgbClr val="1FA873"/>
            </a:solidFill>
            <a:ln w="10160" cap="flat">
              <a:solidFill>
                <a:srgbClr val="1FA873"/>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defRPr>
                  <a:solidFill>
                    <a:srgbClr val="FFFFFF"/>
                  </a:solidFill>
                  <a:latin typeface="+mj-lt"/>
                  <a:ea typeface="+mj-ea"/>
                  <a:cs typeface="+mj-cs"/>
                  <a:sym typeface="Calibri"/>
                </a:defRPr>
              </a:pPr>
            </a:p>
          </p:txBody>
        </p:sp>
        <p:sp>
          <p:nvSpPr>
            <p:cNvPr id="149" name="Connector 20"/>
            <p:cNvSpPr/>
            <p:nvPr/>
          </p:nvSpPr>
          <p:spPr>
            <a:xfrm>
              <a:off x="127001" y="338670"/>
              <a:ext cx="169340" cy="169340"/>
            </a:xfrm>
            <a:prstGeom prst="line">
              <a:avLst/>
            </a:prstGeom>
            <a:noFill/>
            <a:ln w="13970" cap="flat">
              <a:solidFill>
                <a:srgbClr val="FFFFFF"/>
              </a:solidFill>
              <a:prstDash val="solid"/>
              <a:round/>
            </a:ln>
            <a:effectLst>
              <a:outerShdw sx="100000" sy="100000" kx="0" ky="0" algn="b" rotWithShape="0" blurRad="38100" dist="20000" dir="5400000">
                <a:srgbClr val="000000">
                  <a:alpha val="38000"/>
                </a:srgbClr>
              </a:outerShdw>
            </a:effectLst>
          </p:spPr>
          <p:txBody>
            <a:bodyPr wrap="square" lIns="45718" tIns="45718" rIns="45718" bIns="45718" numCol="1" anchor="t">
              <a:noAutofit/>
            </a:bodyPr>
            <a:lstStyle/>
            <a:p>
              <a:pPr/>
            </a:p>
          </p:txBody>
        </p:sp>
        <p:sp>
          <p:nvSpPr>
            <p:cNvPr id="150" name="Connector 21"/>
            <p:cNvSpPr/>
            <p:nvPr/>
          </p:nvSpPr>
          <p:spPr>
            <a:xfrm flipV="1">
              <a:off x="296332" y="169334"/>
              <a:ext cx="254007" cy="338676"/>
            </a:xfrm>
            <a:prstGeom prst="line">
              <a:avLst/>
            </a:prstGeom>
            <a:noFill/>
            <a:ln w="13970" cap="flat">
              <a:solidFill>
                <a:srgbClr val="FFFFFF"/>
              </a:solidFill>
              <a:prstDash val="solid"/>
              <a:round/>
            </a:ln>
            <a:effectLst>
              <a:outerShdw sx="100000" sy="100000" kx="0" ky="0" algn="b" rotWithShape="0" blurRad="38100" dist="20000" dir="5400000">
                <a:srgbClr val="000000">
                  <a:alpha val="38000"/>
                </a:srgbClr>
              </a:outerShdw>
            </a:effectLst>
          </p:spPr>
          <p:txBody>
            <a:bodyPr wrap="square" lIns="45718" tIns="45718" rIns="45718" bIns="45718" numCol="1" anchor="t">
              <a:noAutofit/>
            </a:bodyPr>
            <a:lstStyle/>
            <a:p>
              <a:pPr/>
            </a:p>
          </p:txBody>
        </p:sp>
      </p:grpSp>
      <p:sp>
        <p:nvSpPr>
          <p:cNvPr id="152" name="Oval 22"/>
          <p:cNvSpPr/>
          <p:nvPr/>
        </p:nvSpPr>
        <p:spPr>
          <a:xfrm>
            <a:off x="8865872" y="3550472"/>
            <a:ext cx="635011" cy="635013"/>
          </a:xfrm>
          <a:prstGeom prst="ellipse">
            <a:avLst/>
          </a:prstGeom>
          <a:solidFill>
            <a:schemeClr val="accent2">
              <a:satOff val="-4966"/>
              <a:lumOff val="-10549"/>
            </a:schemeClr>
          </a:solidFill>
          <a:ln w="25400">
            <a:solidFill>
              <a:srgbClr val="8C3A38"/>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solidFill>
                  <a:srgbClr val="FFFFFF"/>
                </a:solidFill>
                <a:latin typeface="+mj-lt"/>
                <a:ea typeface="+mj-ea"/>
                <a:cs typeface="+mj-cs"/>
                <a:sym typeface="Calibri"/>
              </a:defRPr>
            </a:pPr>
          </a:p>
        </p:txBody>
      </p:sp>
      <p:sp>
        <p:nvSpPr>
          <p:cNvPr id="153" name="Connector 23"/>
          <p:cNvSpPr/>
          <p:nvPr/>
        </p:nvSpPr>
        <p:spPr>
          <a:xfrm>
            <a:off x="8992871" y="3867972"/>
            <a:ext cx="381007" cy="7"/>
          </a:xfrm>
          <a:prstGeom prst="line">
            <a:avLst/>
          </a:prstGeom>
          <a:ln w="12700">
            <a:solidFill>
              <a:srgbClr val="FFFFFF"/>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54" name="Connector 24"/>
          <p:cNvSpPr/>
          <p:nvPr/>
        </p:nvSpPr>
        <p:spPr>
          <a:xfrm>
            <a:off x="2693659" y="2846066"/>
            <a:ext cx="1371610" cy="7"/>
          </a:xfrm>
          <a:prstGeom prst="line">
            <a:avLst/>
          </a:prstGeom>
          <a:ln w="1778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55" name="TextBox 25"/>
          <p:cNvSpPr txBox="1"/>
          <p:nvPr/>
        </p:nvSpPr>
        <p:spPr>
          <a:xfrm>
            <a:off x="4074407" y="2654044"/>
            <a:ext cx="292615"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73777F"/>
                </a:solidFill>
                <a:latin typeface="Helvetica Neue"/>
                <a:ea typeface="Helvetica Neue"/>
                <a:cs typeface="Helvetica Neue"/>
                <a:sym typeface="Helvetica Neue"/>
              </a:defRPr>
            </a:lvl1pPr>
          </a:lstStyle>
          <a:p>
            <a:pPr/>
            <a:r>
              <a:t>→</a:t>
            </a:r>
          </a:p>
        </p:txBody>
      </p:sp>
      <p:sp>
        <p:nvSpPr>
          <p:cNvPr id="156" name="TextBox 28"/>
          <p:cNvSpPr txBox="1"/>
          <p:nvPr/>
        </p:nvSpPr>
        <p:spPr>
          <a:xfrm>
            <a:off x="1685330" y="4403166"/>
            <a:ext cx="2560329"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3977F6"/>
                </a:solidFill>
                <a:latin typeface="Helvetica Neue"/>
                <a:ea typeface="Helvetica Neue"/>
                <a:cs typeface="Helvetica Neue"/>
                <a:sym typeface="Helvetica Neue"/>
              </a:defRPr>
            </a:pPr>
            <a:r>
              <a:t>• </a:t>
            </a:r>
            <a:r>
              <a:rPr>
                <a:solidFill>
                  <a:srgbClr val="111318"/>
                </a:solidFill>
              </a:rPr>
              <a:t>Sees the note</a:t>
            </a:r>
          </a:p>
        </p:txBody>
      </p:sp>
      <p:sp>
        <p:nvSpPr>
          <p:cNvPr id="157" name="TextBox 29"/>
          <p:cNvSpPr txBox="1"/>
          <p:nvPr/>
        </p:nvSpPr>
        <p:spPr>
          <a:xfrm>
            <a:off x="5009839" y="5630290"/>
            <a:ext cx="2926088"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3977F6"/>
                </a:solidFill>
                <a:latin typeface="Helvetica Neue"/>
                <a:ea typeface="Helvetica Neue"/>
                <a:cs typeface="Helvetica Neue"/>
                <a:sym typeface="Helvetica Neue"/>
              </a:defRPr>
            </a:pPr>
            <a:r>
              <a:t>• </a:t>
            </a:r>
            <a:r>
              <a:rPr>
                <a:solidFill>
                  <a:srgbClr val="111318"/>
                </a:solidFill>
              </a:rPr>
              <a:t>Reads the context</a:t>
            </a:r>
          </a:p>
        </p:txBody>
      </p:sp>
      <p:sp>
        <p:nvSpPr>
          <p:cNvPr id="158" name="TextBox 30"/>
          <p:cNvSpPr txBox="1"/>
          <p:nvPr/>
        </p:nvSpPr>
        <p:spPr>
          <a:xfrm>
            <a:off x="8578742" y="4413015"/>
            <a:ext cx="2834647"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1FA873"/>
                </a:solidFill>
                <a:latin typeface="Helvetica Neue"/>
                <a:ea typeface="Helvetica Neue"/>
                <a:cs typeface="Helvetica Neue"/>
                <a:sym typeface="Helvetica Neue"/>
              </a:defRPr>
            </a:pPr>
            <a:r>
              <a:t>• </a:t>
            </a:r>
            <a:r>
              <a:rPr>
                <a:solidFill>
                  <a:srgbClr val="111318"/>
                </a:solidFill>
              </a:rPr>
              <a:t>Rates helpfulness</a:t>
            </a:r>
          </a:p>
        </p:txBody>
      </p:sp>
      <p:pic>
        <p:nvPicPr>
          <p:cNvPr id="159" name="pasted-movie.png" descr="pasted-movie.png"/>
          <p:cNvPicPr>
            <a:picLocks noChangeAspect="1"/>
          </p:cNvPicPr>
          <p:nvPr/>
        </p:nvPicPr>
        <p:blipFill>
          <a:blip r:embed="rId2">
            <a:extLst/>
          </a:blip>
          <a:stretch>
            <a:fillRect/>
          </a:stretch>
        </p:blipFill>
        <p:spPr>
          <a:xfrm>
            <a:off x="5055558" y="1462274"/>
            <a:ext cx="2834647" cy="3968502"/>
          </a:xfrm>
          <a:prstGeom prst="rect">
            <a:avLst/>
          </a:prstGeom>
          <a:ln w="12700">
            <a:miter lim="400000"/>
          </a:ln>
        </p:spPr>
      </p:pic>
      <p:sp>
        <p:nvSpPr>
          <p:cNvPr id="160" name="Rectangle"/>
          <p:cNvSpPr/>
          <p:nvPr/>
        </p:nvSpPr>
        <p:spPr>
          <a:xfrm>
            <a:off x="4623363" y="1454860"/>
            <a:ext cx="6103251" cy="4694572"/>
          </a:xfrm>
          <a:prstGeom prst="rect">
            <a:avLst/>
          </a:prstGeom>
          <a:solidFill>
            <a:srgbClr val="FFFFFF"/>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TextBox 1"/>
          <p:cNvSpPr txBox="1"/>
          <p:nvPr/>
        </p:nvSpPr>
        <p:spPr>
          <a:xfrm>
            <a:off x="603504" y="420623"/>
            <a:ext cx="4297680"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WHAT IS COMMUNITY NOTES?</a:t>
            </a:r>
          </a:p>
        </p:txBody>
      </p:sp>
      <p:sp>
        <p:nvSpPr>
          <p:cNvPr id="163" name="TextBox 2"/>
          <p:cNvSpPr txBox="1"/>
          <p:nvPr/>
        </p:nvSpPr>
        <p:spPr>
          <a:xfrm>
            <a:off x="603504" y="786383"/>
            <a:ext cx="10424160"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One note. One decision.</a:t>
            </a:r>
          </a:p>
        </p:txBody>
      </p:sp>
      <p:sp>
        <p:nvSpPr>
          <p:cNvPr id="164" name="TextBox 3"/>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02</a:t>
            </a:r>
          </a:p>
        </p:txBody>
      </p:sp>
      <p:sp>
        <p:nvSpPr>
          <p:cNvPr id="165" name="TextBox 31"/>
          <p:cNvSpPr txBox="1"/>
          <p:nvPr/>
        </p:nvSpPr>
        <p:spPr>
          <a:xfrm>
            <a:off x="621792" y="6455664"/>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X Community Notes (2026)</a:t>
            </a:r>
          </a:p>
        </p:txBody>
      </p:sp>
      <p:sp>
        <p:nvSpPr>
          <p:cNvPr id="166" name="Oval 4"/>
          <p:cNvSpPr/>
          <p:nvPr/>
        </p:nvSpPr>
        <p:spPr>
          <a:xfrm>
            <a:off x="1708854" y="2413249"/>
            <a:ext cx="246901" cy="246901"/>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7" name="Connector 5"/>
          <p:cNvSpPr/>
          <p:nvPr/>
        </p:nvSpPr>
        <p:spPr>
          <a:xfrm>
            <a:off x="1832299" y="2660138"/>
            <a:ext cx="7" cy="407366"/>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68" name="Connector 6"/>
          <p:cNvSpPr/>
          <p:nvPr/>
        </p:nvSpPr>
        <p:spPr>
          <a:xfrm>
            <a:off x="1659476" y="2832960"/>
            <a:ext cx="345651" cy="7"/>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69" name="Connector 7"/>
          <p:cNvSpPr/>
          <p:nvPr/>
        </p:nvSpPr>
        <p:spPr>
          <a:xfrm flipH="1">
            <a:off x="1671821" y="3067505"/>
            <a:ext cx="160485" cy="259233"/>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70" name="Connector 8"/>
          <p:cNvSpPr/>
          <p:nvPr/>
        </p:nvSpPr>
        <p:spPr>
          <a:xfrm>
            <a:off x="1832299" y="3067505"/>
            <a:ext cx="160484" cy="259233"/>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grpSp>
        <p:nvGrpSpPr>
          <p:cNvPr id="174" name="Group"/>
          <p:cNvGrpSpPr/>
          <p:nvPr/>
        </p:nvGrpSpPr>
        <p:grpSpPr>
          <a:xfrm>
            <a:off x="8060533" y="3550469"/>
            <a:ext cx="635021" cy="635021"/>
            <a:chOff x="0" y="0"/>
            <a:chExt cx="635020" cy="635020"/>
          </a:xfrm>
        </p:grpSpPr>
        <p:sp>
          <p:nvSpPr>
            <p:cNvPr id="171" name="Oval 19"/>
            <p:cNvSpPr/>
            <p:nvPr/>
          </p:nvSpPr>
          <p:spPr>
            <a:xfrm>
              <a:off x="-1" y="-1"/>
              <a:ext cx="635021" cy="635021"/>
            </a:xfrm>
            <a:prstGeom prst="ellipse">
              <a:avLst/>
            </a:prstGeom>
            <a:solidFill>
              <a:srgbClr val="1FA873"/>
            </a:solidFill>
            <a:ln w="10160" cap="flat">
              <a:solidFill>
                <a:srgbClr val="1FA873"/>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defRPr>
                  <a:solidFill>
                    <a:srgbClr val="FFFFFF"/>
                  </a:solidFill>
                  <a:latin typeface="+mj-lt"/>
                  <a:ea typeface="+mj-ea"/>
                  <a:cs typeface="+mj-cs"/>
                  <a:sym typeface="Calibri"/>
                </a:defRPr>
              </a:pPr>
            </a:p>
          </p:txBody>
        </p:sp>
        <p:sp>
          <p:nvSpPr>
            <p:cNvPr id="172" name="Connector 20"/>
            <p:cNvSpPr/>
            <p:nvPr/>
          </p:nvSpPr>
          <p:spPr>
            <a:xfrm>
              <a:off x="127001" y="338670"/>
              <a:ext cx="169340" cy="169340"/>
            </a:xfrm>
            <a:prstGeom prst="line">
              <a:avLst/>
            </a:prstGeom>
            <a:noFill/>
            <a:ln w="13970" cap="flat">
              <a:solidFill>
                <a:srgbClr val="FFFFFF"/>
              </a:solidFill>
              <a:prstDash val="solid"/>
              <a:round/>
            </a:ln>
            <a:effectLst>
              <a:outerShdw sx="100000" sy="100000" kx="0" ky="0" algn="b" rotWithShape="0" blurRad="38100" dist="20000" dir="5400000">
                <a:srgbClr val="000000">
                  <a:alpha val="38000"/>
                </a:srgbClr>
              </a:outerShdw>
            </a:effectLst>
          </p:spPr>
          <p:txBody>
            <a:bodyPr wrap="square" lIns="45718" tIns="45718" rIns="45718" bIns="45718" numCol="1" anchor="t">
              <a:noAutofit/>
            </a:bodyPr>
            <a:lstStyle/>
            <a:p>
              <a:pPr/>
            </a:p>
          </p:txBody>
        </p:sp>
        <p:sp>
          <p:nvSpPr>
            <p:cNvPr id="173" name="Connector 21"/>
            <p:cNvSpPr/>
            <p:nvPr/>
          </p:nvSpPr>
          <p:spPr>
            <a:xfrm flipV="1">
              <a:off x="296332" y="169334"/>
              <a:ext cx="254007" cy="338676"/>
            </a:xfrm>
            <a:prstGeom prst="line">
              <a:avLst/>
            </a:prstGeom>
            <a:noFill/>
            <a:ln w="13970" cap="flat">
              <a:solidFill>
                <a:srgbClr val="FFFFFF"/>
              </a:solidFill>
              <a:prstDash val="solid"/>
              <a:round/>
            </a:ln>
            <a:effectLst>
              <a:outerShdw sx="100000" sy="100000" kx="0" ky="0" algn="b" rotWithShape="0" blurRad="38100" dist="20000" dir="5400000">
                <a:srgbClr val="000000">
                  <a:alpha val="38000"/>
                </a:srgbClr>
              </a:outerShdw>
            </a:effectLst>
          </p:spPr>
          <p:txBody>
            <a:bodyPr wrap="square" lIns="45718" tIns="45718" rIns="45718" bIns="45718" numCol="1" anchor="t">
              <a:noAutofit/>
            </a:bodyPr>
            <a:lstStyle/>
            <a:p>
              <a:pPr/>
            </a:p>
          </p:txBody>
        </p:sp>
      </p:grpSp>
      <p:sp>
        <p:nvSpPr>
          <p:cNvPr id="175" name="Oval 22"/>
          <p:cNvSpPr/>
          <p:nvPr/>
        </p:nvSpPr>
        <p:spPr>
          <a:xfrm>
            <a:off x="8865872" y="3550472"/>
            <a:ext cx="635011" cy="635013"/>
          </a:xfrm>
          <a:prstGeom prst="ellipse">
            <a:avLst/>
          </a:prstGeom>
          <a:solidFill>
            <a:schemeClr val="accent2">
              <a:satOff val="-4966"/>
              <a:lumOff val="-10549"/>
            </a:schemeClr>
          </a:solidFill>
          <a:ln w="25400">
            <a:solidFill>
              <a:srgbClr val="8C3A38"/>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solidFill>
                  <a:srgbClr val="FFFFFF"/>
                </a:solidFill>
                <a:latin typeface="+mj-lt"/>
                <a:ea typeface="+mj-ea"/>
                <a:cs typeface="+mj-cs"/>
                <a:sym typeface="Calibri"/>
              </a:defRPr>
            </a:pPr>
          </a:p>
        </p:txBody>
      </p:sp>
      <p:sp>
        <p:nvSpPr>
          <p:cNvPr id="176" name="Connector 23"/>
          <p:cNvSpPr/>
          <p:nvPr/>
        </p:nvSpPr>
        <p:spPr>
          <a:xfrm>
            <a:off x="8992871" y="3867972"/>
            <a:ext cx="381007" cy="7"/>
          </a:xfrm>
          <a:prstGeom prst="line">
            <a:avLst/>
          </a:prstGeom>
          <a:ln w="12700">
            <a:solidFill>
              <a:srgbClr val="FFFFFF"/>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77" name="Connector 24"/>
          <p:cNvSpPr/>
          <p:nvPr/>
        </p:nvSpPr>
        <p:spPr>
          <a:xfrm>
            <a:off x="2693659" y="2846066"/>
            <a:ext cx="1371610" cy="7"/>
          </a:xfrm>
          <a:prstGeom prst="line">
            <a:avLst/>
          </a:prstGeom>
          <a:ln w="1778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78" name="TextBox 25"/>
          <p:cNvSpPr txBox="1"/>
          <p:nvPr/>
        </p:nvSpPr>
        <p:spPr>
          <a:xfrm>
            <a:off x="4074407" y="2654044"/>
            <a:ext cx="292615"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73777F"/>
                </a:solidFill>
                <a:latin typeface="Helvetica Neue"/>
                <a:ea typeface="Helvetica Neue"/>
                <a:cs typeface="Helvetica Neue"/>
                <a:sym typeface="Helvetica Neue"/>
              </a:defRPr>
            </a:lvl1pPr>
          </a:lstStyle>
          <a:p>
            <a:pPr/>
            <a:r>
              <a:t>→</a:t>
            </a:r>
          </a:p>
        </p:txBody>
      </p:sp>
      <p:sp>
        <p:nvSpPr>
          <p:cNvPr id="179" name="TextBox 28"/>
          <p:cNvSpPr txBox="1"/>
          <p:nvPr/>
        </p:nvSpPr>
        <p:spPr>
          <a:xfrm>
            <a:off x="1685330" y="4403166"/>
            <a:ext cx="2560329"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3977F6"/>
                </a:solidFill>
                <a:latin typeface="Helvetica Neue"/>
                <a:ea typeface="Helvetica Neue"/>
                <a:cs typeface="Helvetica Neue"/>
                <a:sym typeface="Helvetica Neue"/>
              </a:defRPr>
            </a:pPr>
            <a:r>
              <a:t>• </a:t>
            </a:r>
            <a:r>
              <a:rPr>
                <a:solidFill>
                  <a:srgbClr val="111318"/>
                </a:solidFill>
              </a:rPr>
              <a:t>Sees the note</a:t>
            </a:r>
          </a:p>
        </p:txBody>
      </p:sp>
      <p:sp>
        <p:nvSpPr>
          <p:cNvPr id="180" name="TextBox 29"/>
          <p:cNvSpPr txBox="1"/>
          <p:nvPr/>
        </p:nvSpPr>
        <p:spPr>
          <a:xfrm>
            <a:off x="5009839" y="5630290"/>
            <a:ext cx="2926088"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3977F6"/>
                </a:solidFill>
                <a:latin typeface="Helvetica Neue"/>
                <a:ea typeface="Helvetica Neue"/>
                <a:cs typeface="Helvetica Neue"/>
                <a:sym typeface="Helvetica Neue"/>
              </a:defRPr>
            </a:pPr>
            <a:r>
              <a:t>• </a:t>
            </a:r>
            <a:r>
              <a:rPr>
                <a:solidFill>
                  <a:srgbClr val="111318"/>
                </a:solidFill>
              </a:rPr>
              <a:t>Reads the context</a:t>
            </a:r>
          </a:p>
        </p:txBody>
      </p:sp>
      <p:sp>
        <p:nvSpPr>
          <p:cNvPr id="181" name="TextBox 30"/>
          <p:cNvSpPr txBox="1"/>
          <p:nvPr/>
        </p:nvSpPr>
        <p:spPr>
          <a:xfrm>
            <a:off x="8578742" y="4413015"/>
            <a:ext cx="2834647"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1FA873"/>
                </a:solidFill>
                <a:latin typeface="Helvetica Neue"/>
                <a:ea typeface="Helvetica Neue"/>
                <a:cs typeface="Helvetica Neue"/>
                <a:sym typeface="Helvetica Neue"/>
              </a:defRPr>
            </a:pPr>
            <a:r>
              <a:t>• </a:t>
            </a:r>
            <a:r>
              <a:rPr>
                <a:solidFill>
                  <a:srgbClr val="111318"/>
                </a:solidFill>
              </a:rPr>
              <a:t>Rates helpfulness</a:t>
            </a:r>
          </a:p>
        </p:txBody>
      </p:sp>
      <p:pic>
        <p:nvPicPr>
          <p:cNvPr id="182" name="pasted-movie.png" descr="pasted-movie.png"/>
          <p:cNvPicPr>
            <a:picLocks noChangeAspect="1"/>
          </p:cNvPicPr>
          <p:nvPr/>
        </p:nvPicPr>
        <p:blipFill>
          <a:blip r:embed="rId2">
            <a:extLst/>
          </a:blip>
          <a:stretch>
            <a:fillRect/>
          </a:stretch>
        </p:blipFill>
        <p:spPr>
          <a:xfrm>
            <a:off x="5055558" y="1462274"/>
            <a:ext cx="2834647" cy="3968502"/>
          </a:xfrm>
          <a:prstGeom prst="rect">
            <a:avLst/>
          </a:prstGeom>
          <a:ln w="12700">
            <a:miter lim="400000"/>
          </a:ln>
        </p:spPr>
      </p:pic>
      <p:sp>
        <p:nvSpPr>
          <p:cNvPr id="183" name="Rectangle"/>
          <p:cNvSpPr/>
          <p:nvPr/>
        </p:nvSpPr>
        <p:spPr>
          <a:xfrm>
            <a:off x="4623363" y="3673616"/>
            <a:ext cx="3417921" cy="1896525"/>
          </a:xfrm>
          <a:prstGeom prst="rect">
            <a:avLst/>
          </a:prstGeom>
          <a:solidFill>
            <a:srgbClr val="FFFFFF"/>
          </a:solidFill>
          <a:ln w="12700">
            <a:miter lim="400000"/>
          </a:ln>
        </p:spPr>
        <p:txBody>
          <a:bodyPr lIns="45718" tIns="45718" rIns="45718" bIns="45718" anchor="ctr"/>
          <a:lstStyle/>
          <a:p>
            <a:pPr>
              <a:defRPr>
                <a:latin typeface="+mj-lt"/>
                <a:ea typeface="+mj-ea"/>
                <a:cs typeface="+mj-cs"/>
                <a:sym typeface="Calibri"/>
              </a:defRPr>
            </a:pPr>
          </a:p>
        </p:txBody>
      </p:sp>
      <p:sp>
        <p:nvSpPr>
          <p:cNvPr id="184" name="Rectangle"/>
          <p:cNvSpPr/>
          <p:nvPr/>
        </p:nvSpPr>
        <p:spPr>
          <a:xfrm>
            <a:off x="7959513" y="3046658"/>
            <a:ext cx="3417921" cy="1896525"/>
          </a:xfrm>
          <a:prstGeom prst="rect">
            <a:avLst/>
          </a:prstGeom>
          <a:solidFill>
            <a:srgbClr val="FFFFFF"/>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TextBox 1"/>
          <p:cNvSpPr txBox="1"/>
          <p:nvPr/>
        </p:nvSpPr>
        <p:spPr>
          <a:xfrm>
            <a:off x="603504" y="420623"/>
            <a:ext cx="4297680"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WHAT IS COMMUNITY NOTES?</a:t>
            </a:r>
          </a:p>
        </p:txBody>
      </p:sp>
      <p:sp>
        <p:nvSpPr>
          <p:cNvPr id="187" name="TextBox 2"/>
          <p:cNvSpPr txBox="1"/>
          <p:nvPr/>
        </p:nvSpPr>
        <p:spPr>
          <a:xfrm>
            <a:off x="603504" y="786383"/>
            <a:ext cx="10424160"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One note. One decision.</a:t>
            </a:r>
          </a:p>
        </p:txBody>
      </p:sp>
      <p:sp>
        <p:nvSpPr>
          <p:cNvPr id="188" name="TextBox 3"/>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02</a:t>
            </a:r>
          </a:p>
        </p:txBody>
      </p:sp>
      <p:sp>
        <p:nvSpPr>
          <p:cNvPr id="189" name="TextBox 31"/>
          <p:cNvSpPr txBox="1"/>
          <p:nvPr/>
        </p:nvSpPr>
        <p:spPr>
          <a:xfrm>
            <a:off x="621792" y="6455664"/>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X Community Notes (2026)</a:t>
            </a:r>
          </a:p>
        </p:txBody>
      </p:sp>
      <p:sp>
        <p:nvSpPr>
          <p:cNvPr id="190" name="Oval 4"/>
          <p:cNvSpPr/>
          <p:nvPr/>
        </p:nvSpPr>
        <p:spPr>
          <a:xfrm>
            <a:off x="1708854" y="2413249"/>
            <a:ext cx="246901" cy="246901"/>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91" name="Connector 5"/>
          <p:cNvSpPr/>
          <p:nvPr/>
        </p:nvSpPr>
        <p:spPr>
          <a:xfrm>
            <a:off x="1832299" y="2660138"/>
            <a:ext cx="7" cy="407366"/>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92" name="Connector 6"/>
          <p:cNvSpPr/>
          <p:nvPr/>
        </p:nvSpPr>
        <p:spPr>
          <a:xfrm>
            <a:off x="1659476" y="2832960"/>
            <a:ext cx="345651" cy="7"/>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93" name="Connector 7"/>
          <p:cNvSpPr/>
          <p:nvPr/>
        </p:nvSpPr>
        <p:spPr>
          <a:xfrm flipH="1">
            <a:off x="1671821" y="3067505"/>
            <a:ext cx="160485" cy="259233"/>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194" name="Connector 8"/>
          <p:cNvSpPr/>
          <p:nvPr/>
        </p:nvSpPr>
        <p:spPr>
          <a:xfrm>
            <a:off x="1832299" y="3067505"/>
            <a:ext cx="160484" cy="259233"/>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grpSp>
        <p:nvGrpSpPr>
          <p:cNvPr id="198" name="Group"/>
          <p:cNvGrpSpPr/>
          <p:nvPr/>
        </p:nvGrpSpPr>
        <p:grpSpPr>
          <a:xfrm>
            <a:off x="8060533" y="3550469"/>
            <a:ext cx="635021" cy="635021"/>
            <a:chOff x="0" y="0"/>
            <a:chExt cx="635020" cy="635020"/>
          </a:xfrm>
        </p:grpSpPr>
        <p:sp>
          <p:nvSpPr>
            <p:cNvPr id="195" name="Oval 19"/>
            <p:cNvSpPr/>
            <p:nvPr/>
          </p:nvSpPr>
          <p:spPr>
            <a:xfrm>
              <a:off x="-1" y="-1"/>
              <a:ext cx="635021" cy="635021"/>
            </a:xfrm>
            <a:prstGeom prst="ellipse">
              <a:avLst/>
            </a:prstGeom>
            <a:solidFill>
              <a:srgbClr val="1FA873"/>
            </a:solidFill>
            <a:ln w="10160" cap="flat">
              <a:solidFill>
                <a:srgbClr val="1FA873"/>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defRPr>
                  <a:solidFill>
                    <a:srgbClr val="FFFFFF"/>
                  </a:solidFill>
                  <a:latin typeface="+mj-lt"/>
                  <a:ea typeface="+mj-ea"/>
                  <a:cs typeface="+mj-cs"/>
                  <a:sym typeface="Calibri"/>
                </a:defRPr>
              </a:pPr>
            </a:p>
          </p:txBody>
        </p:sp>
        <p:sp>
          <p:nvSpPr>
            <p:cNvPr id="196" name="Connector 20"/>
            <p:cNvSpPr/>
            <p:nvPr/>
          </p:nvSpPr>
          <p:spPr>
            <a:xfrm>
              <a:off x="127001" y="338670"/>
              <a:ext cx="169340" cy="169340"/>
            </a:xfrm>
            <a:prstGeom prst="line">
              <a:avLst/>
            </a:prstGeom>
            <a:noFill/>
            <a:ln w="13970" cap="flat">
              <a:solidFill>
                <a:srgbClr val="FFFFFF"/>
              </a:solidFill>
              <a:prstDash val="solid"/>
              <a:round/>
            </a:ln>
            <a:effectLst>
              <a:outerShdw sx="100000" sy="100000" kx="0" ky="0" algn="b" rotWithShape="0" blurRad="38100" dist="20000" dir="5400000">
                <a:srgbClr val="000000">
                  <a:alpha val="38000"/>
                </a:srgbClr>
              </a:outerShdw>
            </a:effectLst>
          </p:spPr>
          <p:txBody>
            <a:bodyPr wrap="square" lIns="45718" tIns="45718" rIns="45718" bIns="45718" numCol="1" anchor="t">
              <a:noAutofit/>
            </a:bodyPr>
            <a:lstStyle/>
            <a:p>
              <a:pPr/>
            </a:p>
          </p:txBody>
        </p:sp>
        <p:sp>
          <p:nvSpPr>
            <p:cNvPr id="197" name="Connector 21"/>
            <p:cNvSpPr/>
            <p:nvPr/>
          </p:nvSpPr>
          <p:spPr>
            <a:xfrm flipV="1">
              <a:off x="296332" y="169334"/>
              <a:ext cx="254007" cy="338676"/>
            </a:xfrm>
            <a:prstGeom prst="line">
              <a:avLst/>
            </a:prstGeom>
            <a:noFill/>
            <a:ln w="13970" cap="flat">
              <a:solidFill>
                <a:srgbClr val="FFFFFF"/>
              </a:solidFill>
              <a:prstDash val="solid"/>
              <a:round/>
            </a:ln>
            <a:effectLst>
              <a:outerShdw sx="100000" sy="100000" kx="0" ky="0" algn="b" rotWithShape="0" blurRad="38100" dist="20000" dir="5400000">
                <a:srgbClr val="000000">
                  <a:alpha val="38000"/>
                </a:srgbClr>
              </a:outerShdw>
            </a:effectLst>
          </p:spPr>
          <p:txBody>
            <a:bodyPr wrap="square" lIns="45718" tIns="45718" rIns="45718" bIns="45718" numCol="1" anchor="t">
              <a:noAutofit/>
            </a:bodyPr>
            <a:lstStyle/>
            <a:p>
              <a:pPr/>
            </a:p>
          </p:txBody>
        </p:sp>
      </p:grpSp>
      <p:sp>
        <p:nvSpPr>
          <p:cNvPr id="199" name="Oval 22"/>
          <p:cNvSpPr/>
          <p:nvPr/>
        </p:nvSpPr>
        <p:spPr>
          <a:xfrm>
            <a:off x="8865872" y="3550472"/>
            <a:ext cx="635011" cy="635013"/>
          </a:xfrm>
          <a:prstGeom prst="ellipse">
            <a:avLst/>
          </a:prstGeom>
          <a:solidFill>
            <a:schemeClr val="accent2">
              <a:satOff val="-4966"/>
              <a:lumOff val="-10549"/>
            </a:schemeClr>
          </a:solidFill>
          <a:ln w="25400">
            <a:solidFill>
              <a:srgbClr val="8C3A38"/>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solidFill>
                  <a:srgbClr val="FFFFFF"/>
                </a:solidFill>
                <a:latin typeface="+mj-lt"/>
                <a:ea typeface="+mj-ea"/>
                <a:cs typeface="+mj-cs"/>
                <a:sym typeface="Calibri"/>
              </a:defRPr>
            </a:pPr>
          </a:p>
        </p:txBody>
      </p:sp>
      <p:sp>
        <p:nvSpPr>
          <p:cNvPr id="200" name="Connector 23"/>
          <p:cNvSpPr/>
          <p:nvPr/>
        </p:nvSpPr>
        <p:spPr>
          <a:xfrm>
            <a:off x="8992871" y="3867972"/>
            <a:ext cx="381007" cy="7"/>
          </a:xfrm>
          <a:prstGeom prst="line">
            <a:avLst/>
          </a:prstGeom>
          <a:ln w="12700">
            <a:solidFill>
              <a:srgbClr val="FFFFFF"/>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01" name="Connector 24"/>
          <p:cNvSpPr/>
          <p:nvPr/>
        </p:nvSpPr>
        <p:spPr>
          <a:xfrm>
            <a:off x="2693659" y="2846066"/>
            <a:ext cx="1371610" cy="7"/>
          </a:xfrm>
          <a:prstGeom prst="line">
            <a:avLst/>
          </a:prstGeom>
          <a:ln w="1778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02" name="TextBox 25"/>
          <p:cNvSpPr txBox="1"/>
          <p:nvPr/>
        </p:nvSpPr>
        <p:spPr>
          <a:xfrm>
            <a:off x="4074407" y="2654044"/>
            <a:ext cx="292615"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73777F"/>
                </a:solidFill>
                <a:latin typeface="Helvetica Neue"/>
                <a:ea typeface="Helvetica Neue"/>
                <a:cs typeface="Helvetica Neue"/>
                <a:sym typeface="Helvetica Neue"/>
              </a:defRPr>
            </a:lvl1pPr>
          </a:lstStyle>
          <a:p>
            <a:pPr/>
            <a:r>
              <a:t>→</a:t>
            </a:r>
          </a:p>
        </p:txBody>
      </p:sp>
      <p:sp>
        <p:nvSpPr>
          <p:cNvPr id="203" name="TextBox 28"/>
          <p:cNvSpPr txBox="1"/>
          <p:nvPr/>
        </p:nvSpPr>
        <p:spPr>
          <a:xfrm>
            <a:off x="1685330" y="4403166"/>
            <a:ext cx="2560329"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3977F6"/>
                </a:solidFill>
                <a:latin typeface="Helvetica Neue"/>
                <a:ea typeface="Helvetica Neue"/>
                <a:cs typeface="Helvetica Neue"/>
                <a:sym typeface="Helvetica Neue"/>
              </a:defRPr>
            </a:pPr>
            <a:r>
              <a:t>• </a:t>
            </a:r>
            <a:r>
              <a:rPr>
                <a:solidFill>
                  <a:srgbClr val="111318"/>
                </a:solidFill>
              </a:rPr>
              <a:t>Sees the note</a:t>
            </a:r>
          </a:p>
        </p:txBody>
      </p:sp>
      <p:sp>
        <p:nvSpPr>
          <p:cNvPr id="204" name="TextBox 29"/>
          <p:cNvSpPr txBox="1"/>
          <p:nvPr/>
        </p:nvSpPr>
        <p:spPr>
          <a:xfrm>
            <a:off x="5009839" y="5630290"/>
            <a:ext cx="2926088"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3977F6"/>
                </a:solidFill>
                <a:latin typeface="Helvetica Neue"/>
                <a:ea typeface="Helvetica Neue"/>
                <a:cs typeface="Helvetica Neue"/>
                <a:sym typeface="Helvetica Neue"/>
              </a:defRPr>
            </a:pPr>
            <a:r>
              <a:t>• </a:t>
            </a:r>
            <a:r>
              <a:rPr>
                <a:solidFill>
                  <a:srgbClr val="111318"/>
                </a:solidFill>
              </a:rPr>
              <a:t>Reads the context</a:t>
            </a:r>
          </a:p>
        </p:txBody>
      </p:sp>
      <p:sp>
        <p:nvSpPr>
          <p:cNvPr id="205" name="TextBox 30"/>
          <p:cNvSpPr txBox="1"/>
          <p:nvPr/>
        </p:nvSpPr>
        <p:spPr>
          <a:xfrm>
            <a:off x="8578742" y="4413015"/>
            <a:ext cx="2834647"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1FA873"/>
                </a:solidFill>
                <a:latin typeface="Helvetica Neue"/>
                <a:ea typeface="Helvetica Neue"/>
                <a:cs typeface="Helvetica Neue"/>
                <a:sym typeface="Helvetica Neue"/>
              </a:defRPr>
            </a:pPr>
            <a:r>
              <a:t>• </a:t>
            </a:r>
            <a:r>
              <a:rPr>
                <a:solidFill>
                  <a:srgbClr val="111318"/>
                </a:solidFill>
              </a:rPr>
              <a:t>Rates helpfulness</a:t>
            </a:r>
          </a:p>
        </p:txBody>
      </p:sp>
      <p:pic>
        <p:nvPicPr>
          <p:cNvPr id="206" name="pasted-movie.png" descr="pasted-movie.png"/>
          <p:cNvPicPr>
            <a:picLocks noChangeAspect="1"/>
          </p:cNvPicPr>
          <p:nvPr/>
        </p:nvPicPr>
        <p:blipFill>
          <a:blip r:embed="rId2">
            <a:extLst/>
          </a:blip>
          <a:stretch>
            <a:fillRect/>
          </a:stretch>
        </p:blipFill>
        <p:spPr>
          <a:xfrm>
            <a:off x="5055558" y="1462274"/>
            <a:ext cx="2834647" cy="3968502"/>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TextBox 1"/>
          <p:cNvSpPr txBox="1"/>
          <p:nvPr/>
        </p:nvSpPr>
        <p:spPr>
          <a:xfrm>
            <a:off x="603504" y="420623"/>
            <a:ext cx="4297680"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WHAT IS COMMUNITY NOTES?</a:t>
            </a:r>
          </a:p>
        </p:txBody>
      </p:sp>
      <p:sp>
        <p:nvSpPr>
          <p:cNvPr id="209" name="TextBox 2"/>
          <p:cNvSpPr txBox="1"/>
          <p:nvPr/>
        </p:nvSpPr>
        <p:spPr>
          <a:xfrm>
            <a:off x="603504" y="786383"/>
            <a:ext cx="10424160"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One note. One decision.</a:t>
            </a:r>
          </a:p>
        </p:txBody>
      </p:sp>
      <p:sp>
        <p:nvSpPr>
          <p:cNvPr id="210" name="TextBox 3"/>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02</a:t>
            </a:r>
          </a:p>
        </p:txBody>
      </p:sp>
      <p:sp>
        <p:nvSpPr>
          <p:cNvPr id="211" name="TextBox 31"/>
          <p:cNvSpPr txBox="1"/>
          <p:nvPr/>
        </p:nvSpPr>
        <p:spPr>
          <a:xfrm>
            <a:off x="621792" y="6455664"/>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X Community Notes (2026)</a:t>
            </a:r>
          </a:p>
        </p:txBody>
      </p:sp>
      <p:sp>
        <p:nvSpPr>
          <p:cNvPr id="212" name="Oval 4"/>
          <p:cNvSpPr/>
          <p:nvPr/>
        </p:nvSpPr>
        <p:spPr>
          <a:xfrm>
            <a:off x="1708854" y="2413249"/>
            <a:ext cx="246901" cy="246901"/>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3" name="Connector 5"/>
          <p:cNvSpPr/>
          <p:nvPr/>
        </p:nvSpPr>
        <p:spPr>
          <a:xfrm>
            <a:off x="1832299" y="2660138"/>
            <a:ext cx="7" cy="407366"/>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14" name="Connector 6"/>
          <p:cNvSpPr/>
          <p:nvPr/>
        </p:nvSpPr>
        <p:spPr>
          <a:xfrm>
            <a:off x="1659476" y="2832960"/>
            <a:ext cx="345651" cy="7"/>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15" name="Connector 7"/>
          <p:cNvSpPr/>
          <p:nvPr/>
        </p:nvSpPr>
        <p:spPr>
          <a:xfrm flipH="1">
            <a:off x="1671821" y="3067505"/>
            <a:ext cx="160485" cy="259233"/>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16" name="Connector 8"/>
          <p:cNvSpPr/>
          <p:nvPr/>
        </p:nvSpPr>
        <p:spPr>
          <a:xfrm>
            <a:off x="1832299" y="3067505"/>
            <a:ext cx="160484" cy="259233"/>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grpSp>
        <p:nvGrpSpPr>
          <p:cNvPr id="220" name="Group"/>
          <p:cNvGrpSpPr/>
          <p:nvPr/>
        </p:nvGrpSpPr>
        <p:grpSpPr>
          <a:xfrm>
            <a:off x="5383018" y="698305"/>
            <a:ext cx="635021" cy="635021"/>
            <a:chOff x="0" y="0"/>
            <a:chExt cx="635020" cy="635020"/>
          </a:xfrm>
        </p:grpSpPr>
        <p:sp>
          <p:nvSpPr>
            <p:cNvPr id="217" name="Oval 19"/>
            <p:cNvSpPr/>
            <p:nvPr/>
          </p:nvSpPr>
          <p:spPr>
            <a:xfrm>
              <a:off x="-1" y="-1"/>
              <a:ext cx="635021" cy="635021"/>
            </a:xfrm>
            <a:prstGeom prst="ellipse">
              <a:avLst/>
            </a:prstGeom>
            <a:solidFill>
              <a:srgbClr val="1FA873"/>
            </a:solidFill>
            <a:ln w="10160" cap="flat">
              <a:solidFill>
                <a:srgbClr val="1FA873"/>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defRPr>
                  <a:solidFill>
                    <a:srgbClr val="FFFFFF"/>
                  </a:solidFill>
                  <a:latin typeface="+mj-lt"/>
                  <a:ea typeface="+mj-ea"/>
                  <a:cs typeface="+mj-cs"/>
                  <a:sym typeface="Calibri"/>
                </a:defRPr>
              </a:pPr>
            </a:p>
          </p:txBody>
        </p:sp>
        <p:sp>
          <p:nvSpPr>
            <p:cNvPr id="218" name="Connector 20"/>
            <p:cNvSpPr/>
            <p:nvPr/>
          </p:nvSpPr>
          <p:spPr>
            <a:xfrm>
              <a:off x="127001" y="338670"/>
              <a:ext cx="169340" cy="169340"/>
            </a:xfrm>
            <a:prstGeom prst="line">
              <a:avLst/>
            </a:prstGeom>
            <a:noFill/>
            <a:ln w="13970" cap="flat">
              <a:solidFill>
                <a:srgbClr val="FFFFFF"/>
              </a:solidFill>
              <a:prstDash val="solid"/>
              <a:round/>
            </a:ln>
            <a:effectLst>
              <a:outerShdw sx="100000" sy="100000" kx="0" ky="0" algn="b" rotWithShape="0" blurRad="38100" dist="20000" dir="5400000">
                <a:srgbClr val="000000">
                  <a:alpha val="38000"/>
                </a:srgbClr>
              </a:outerShdw>
            </a:effectLst>
          </p:spPr>
          <p:txBody>
            <a:bodyPr wrap="square" lIns="45718" tIns="45718" rIns="45718" bIns="45718" numCol="1" anchor="t">
              <a:noAutofit/>
            </a:bodyPr>
            <a:lstStyle/>
            <a:p>
              <a:pPr/>
            </a:p>
          </p:txBody>
        </p:sp>
        <p:sp>
          <p:nvSpPr>
            <p:cNvPr id="219" name="Connector 21"/>
            <p:cNvSpPr/>
            <p:nvPr/>
          </p:nvSpPr>
          <p:spPr>
            <a:xfrm flipV="1">
              <a:off x="296332" y="169334"/>
              <a:ext cx="254007" cy="338676"/>
            </a:xfrm>
            <a:prstGeom prst="line">
              <a:avLst/>
            </a:prstGeom>
            <a:noFill/>
            <a:ln w="13970" cap="flat">
              <a:solidFill>
                <a:srgbClr val="FFFFFF"/>
              </a:solidFill>
              <a:prstDash val="solid"/>
              <a:round/>
            </a:ln>
            <a:effectLst>
              <a:outerShdw sx="100000" sy="100000" kx="0" ky="0" algn="b" rotWithShape="0" blurRad="38100" dist="20000" dir="5400000">
                <a:srgbClr val="000000">
                  <a:alpha val="38000"/>
                </a:srgbClr>
              </a:outerShdw>
            </a:effectLst>
          </p:spPr>
          <p:txBody>
            <a:bodyPr wrap="square" lIns="45718" tIns="45718" rIns="45718" bIns="45718" numCol="1" anchor="t">
              <a:noAutofit/>
            </a:bodyPr>
            <a:lstStyle/>
            <a:p>
              <a:pPr/>
            </a:p>
          </p:txBody>
        </p:sp>
      </p:grpSp>
      <p:grpSp>
        <p:nvGrpSpPr>
          <p:cNvPr id="223" name="Group"/>
          <p:cNvGrpSpPr/>
          <p:nvPr/>
        </p:nvGrpSpPr>
        <p:grpSpPr>
          <a:xfrm>
            <a:off x="8575883" y="698301"/>
            <a:ext cx="635021" cy="635021"/>
            <a:chOff x="0" y="0"/>
            <a:chExt cx="635020" cy="635020"/>
          </a:xfrm>
        </p:grpSpPr>
        <p:sp>
          <p:nvSpPr>
            <p:cNvPr id="221" name="Oval 22"/>
            <p:cNvSpPr/>
            <p:nvPr/>
          </p:nvSpPr>
          <p:spPr>
            <a:xfrm>
              <a:off x="-1" y="-1"/>
              <a:ext cx="635021" cy="635021"/>
            </a:xfrm>
            <a:prstGeom prst="ellipse">
              <a:avLst/>
            </a:prstGeom>
            <a:solidFill>
              <a:schemeClr val="accent2">
                <a:satOff val="-4966"/>
                <a:lumOff val="-10549"/>
              </a:schemeClr>
            </a:solidFill>
            <a:ln w="25400" cap="flat">
              <a:solidFill>
                <a:srgbClr val="8C3A38"/>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defRPr>
                  <a:solidFill>
                    <a:srgbClr val="FFFFFF"/>
                  </a:solidFill>
                  <a:latin typeface="+mj-lt"/>
                  <a:ea typeface="+mj-ea"/>
                  <a:cs typeface="+mj-cs"/>
                  <a:sym typeface="Calibri"/>
                </a:defRPr>
              </a:pPr>
            </a:p>
          </p:txBody>
        </p:sp>
        <p:sp>
          <p:nvSpPr>
            <p:cNvPr id="222" name="Connector 23"/>
            <p:cNvSpPr/>
            <p:nvPr/>
          </p:nvSpPr>
          <p:spPr>
            <a:xfrm>
              <a:off x="127001" y="317504"/>
              <a:ext cx="381010" cy="7"/>
            </a:xfrm>
            <a:prstGeom prst="line">
              <a:avLst/>
            </a:prstGeom>
            <a:noFill/>
            <a:ln w="12700" cap="flat">
              <a:solidFill>
                <a:srgbClr val="FFFFFF"/>
              </a:solidFill>
              <a:prstDash val="solid"/>
              <a:round/>
            </a:ln>
            <a:effectLst>
              <a:outerShdw sx="100000" sy="100000" kx="0" ky="0" algn="b" rotWithShape="0" blurRad="38100" dist="20000" dir="5400000">
                <a:srgbClr val="000000">
                  <a:alpha val="38000"/>
                </a:srgbClr>
              </a:outerShdw>
            </a:effectLst>
          </p:spPr>
          <p:txBody>
            <a:bodyPr wrap="square" lIns="45718" tIns="45718" rIns="45718" bIns="45718" numCol="1" anchor="t">
              <a:noAutofit/>
            </a:bodyPr>
            <a:lstStyle/>
            <a:p>
              <a:pPr/>
            </a:p>
          </p:txBody>
        </p:sp>
      </p:grpSp>
      <p:sp>
        <p:nvSpPr>
          <p:cNvPr id="224" name="Connector 24"/>
          <p:cNvSpPr/>
          <p:nvPr/>
        </p:nvSpPr>
        <p:spPr>
          <a:xfrm>
            <a:off x="2693659" y="2846066"/>
            <a:ext cx="1371610" cy="7"/>
          </a:xfrm>
          <a:prstGeom prst="line">
            <a:avLst/>
          </a:prstGeom>
          <a:ln w="1778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25" name="TextBox 25"/>
          <p:cNvSpPr txBox="1"/>
          <p:nvPr/>
        </p:nvSpPr>
        <p:spPr>
          <a:xfrm>
            <a:off x="4074407" y="2654044"/>
            <a:ext cx="292615"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73777F"/>
                </a:solidFill>
                <a:latin typeface="Helvetica Neue"/>
                <a:ea typeface="Helvetica Neue"/>
                <a:cs typeface="Helvetica Neue"/>
                <a:sym typeface="Helvetica Neue"/>
              </a:defRPr>
            </a:lvl1pPr>
          </a:lstStyle>
          <a:p>
            <a:pPr/>
            <a:r>
              <a:t>→</a:t>
            </a:r>
          </a:p>
        </p:txBody>
      </p:sp>
      <p:sp>
        <p:nvSpPr>
          <p:cNvPr id="226" name="TextBox 28"/>
          <p:cNvSpPr txBox="1"/>
          <p:nvPr/>
        </p:nvSpPr>
        <p:spPr>
          <a:xfrm>
            <a:off x="1685330" y="4403166"/>
            <a:ext cx="2560329"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3977F6"/>
                </a:solidFill>
                <a:latin typeface="Helvetica Neue"/>
                <a:ea typeface="Helvetica Neue"/>
                <a:cs typeface="Helvetica Neue"/>
                <a:sym typeface="Helvetica Neue"/>
              </a:defRPr>
            </a:pPr>
            <a:r>
              <a:t>• </a:t>
            </a:r>
            <a:r>
              <a:rPr>
                <a:solidFill>
                  <a:srgbClr val="111318"/>
                </a:solidFill>
              </a:rPr>
              <a:t>Sees the note</a:t>
            </a:r>
          </a:p>
        </p:txBody>
      </p:sp>
      <p:sp>
        <p:nvSpPr>
          <p:cNvPr id="227" name="TextBox 30"/>
          <p:cNvSpPr txBox="1"/>
          <p:nvPr/>
        </p:nvSpPr>
        <p:spPr>
          <a:xfrm>
            <a:off x="6800177" y="5824268"/>
            <a:ext cx="2834648"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1FA873"/>
                </a:solidFill>
                <a:latin typeface="Helvetica Neue"/>
                <a:ea typeface="Helvetica Neue"/>
                <a:cs typeface="Helvetica Neue"/>
                <a:sym typeface="Helvetica Neue"/>
              </a:defRPr>
            </a:pPr>
            <a:r>
              <a:t>• </a:t>
            </a:r>
            <a:r>
              <a:rPr>
                <a:solidFill>
                  <a:srgbClr val="111318"/>
                </a:solidFill>
              </a:rPr>
              <a:t>Rates helpfulness</a:t>
            </a:r>
          </a:p>
        </p:txBody>
      </p:sp>
      <p:pic>
        <p:nvPicPr>
          <p:cNvPr id="228" name="pasted-movie.png" descr="pasted-movie.png"/>
          <p:cNvPicPr>
            <a:picLocks noChangeAspect="1"/>
          </p:cNvPicPr>
          <p:nvPr/>
        </p:nvPicPr>
        <p:blipFill>
          <a:blip r:embed="rId2">
            <a:extLst/>
          </a:blip>
          <a:stretch>
            <a:fillRect/>
          </a:stretch>
        </p:blipFill>
        <p:spPr>
          <a:xfrm>
            <a:off x="8605815" y="1680123"/>
            <a:ext cx="2560324" cy="3797330"/>
          </a:xfrm>
          <a:prstGeom prst="rect">
            <a:avLst/>
          </a:prstGeom>
          <a:ln w="12700">
            <a:miter lim="400000"/>
          </a:ln>
        </p:spPr>
      </p:pic>
      <p:pic>
        <p:nvPicPr>
          <p:cNvPr id="229" name="pasted-movie.png" descr="pasted-movie.png"/>
          <p:cNvPicPr>
            <a:picLocks noChangeAspect="1"/>
          </p:cNvPicPr>
          <p:nvPr/>
        </p:nvPicPr>
        <p:blipFill>
          <a:blip r:embed="rId3">
            <a:extLst/>
          </a:blip>
          <a:stretch>
            <a:fillRect/>
          </a:stretch>
        </p:blipFill>
        <p:spPr>
          <a:xfrm>
            <a:off x="4917102" y="1781142"/>
            <a:ext cx="2568091" cy="3595319"/>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TextBox 1"/>
          <p:cNvSpPr txBox="1"/>
          <p:nvPr/>
        </p:nvSpPr>
        <p:spPr>
          <a:xfrm>
            <a:off x="603504" y="420623"/>
            <a:ext cx="4297680"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THE CROWD</a:t>
            </a:r>
          </a:p>
        </p:txBody>
      </p:sp>
      <p:sp>
        <p:nvSpPr>
          <p:cNvPr id="232" name="TextBox 2"/>
          <p:cNvSpPr txBox="1"/>
          <p:nvPr/>
        </p:nvSpPr>
        <p:spPr>
          <a:xfrm>
            <a:off x="603504" y="786383"/>
            <a:ext cx="10424160"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Now multiply that by thousands</a:t>
            </a:r>
          </a:p>
        </p:txBody>
      </p:sp>
      <p:sp>
        <p:nvSpPr>
          <p:cNvPr id="233" name="TextBox 3"/>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03</a:t>
            </a:r>
          </a:p>
        </p:txBody>
      </p:sp>
      <p:sp>
        <p:nvSpPr>
          <p:cNvPr id="234" name="Oval 4"/>
          <p:cNvSpPr/>
          <p:nvPr/>
        </p:nvSpPr>
        <p:spPr>
          <a:xfrm>
            <a:off x="868680" y="2578605"/>
            <a:ext cx="192037" cy="1920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5" name="Connector 5"/>
          <p:cNvSpPr/>
          <p:nvPr/>
        </p:nvSpPr>
        <p:spPr>
          <a:xfrm>
            <a:off x="964691" y="2770632"/>
            <a:ext cx="7" cy="316846"/>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36" name="Connector 6"/>
          <p:cNvSpPr/>
          <p:nvPr/>
        </p:nvSpPr>
        <p:spPr>
          <a:xfrm>
            <a:off x="830274" y="2905048"/>
            <a:ext cx="268841" cy="7"/>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37" name="Connector 7"/>
          <p:cNvSpPr/>
          <p:nvPr/>
        </p:nvSpPr>
        <p:spPr>
          <a:xfrm flipH="1">
            <a:off x="839875" y="3087470"/>
            <a:ext cx="124822" cy="201632"/>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38" name="Connector 8"/>
          <p:cNvSpPr/>
          <p:nvPr/>
        </p:nvSpPr>
        <p:spPr>
          <a:xfrm>
            <a:off x="964691" y="3087470"/>
            <a:ext cx="124815" cy="201632"/>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39" name="TextBox 9"/>
          <p:cNvSpPr txBox="1"/>
          <p:nvPr/>
        </p:nvSpPr>
        <p:spPr>
          <a:xfrm>
            <a:off x="1965960" y="2761488"/>
            <a:ext cx="365767"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73777F"/>
                </a:solidFill>
                <a:latin typeface="Helvetica Neue"/>
                <a:ea typeface="Helvetica Neue"/>
                <a:cs typeface="Helvetica Neue"/>
                <a:sym typeface="Helvetica Neue"/>
              </a:defRPr>
            </a:lvl1pPr>
          </a:lstStyle>
          <a:p>
            <a:pPr/>
            <a:r>
              <a:t>→</a:t>
            </a:r>
          </a:p>
        </p:txBody>
      </p:sp>
      <p:sp>
        <p:nvSpPr>
          <p:cNvPr id="240" name="Oval 10"/>
          <p:cNvSpPr/>
          <p:nvPr/>
        </p:nvSpPr>
        <p:spPr>
          <a:xfrm>
            <a:off x="2834638"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1" name="Oval 11"/>
          <p:cNvSpPr/>
          <p:nvPr/>
        </p:nvSpPr>
        <p:spPr>
          <a:xfrm>
            <a:off x="3218688"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2" name="Oval 12"/>
          <p:cNvSpPr/>
          <p:nvPr/>
        </p:nvSpPr>
        <p:spPr>
          <a:xfrm>
            <a:off x="3602735"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3" name="Oval 13"/>
          <p:cNvSpPr/>
          <p:nvPr/>
        </p:nvSpPr>
        <p:spPr>
          <a:xfrm>
            <a:off x="3986784"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4" name="Oval 14"/>
          <p:cNvSpPr/>
          <p:nvPr/>
        </p:nvSpPr>
        <p:spPr>
          <a:xfrm>
            <a:off x="4370832"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5" name="Oval 15"/>
          <p:cNvSpPr/>
          <p:nvPr/>
        </p:nvSpPr>
        <p:spPr>
          <a:xfrm>
            <a:off x="4754879"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6" name="Oval 16"/>
          <p:cNvSpPr/>
          <p:nvPr/>
        </p:nvSpPr>
        <p:spPr>
          <a:xfrm>
            <a:off x="5138928"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7" name="Oval 17"/>
          <p:cNvSpPr/>
          <p:nvPr/>
        </p:nvSpPr>
        <p:spPr>
          <a:xfrm>
            <a:off x="5522976"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8" name="Oval 18"/>
          <p:cNvSpPr/>
          <p:nvPr/>
        </p:nvSpPr>
        <p:spPr>
          <a:xfrm>
            <a:off x="5907023"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9" name="Oval 19"/>
          <p:cNvSpPr/>
          <p:nvPr/>
        </p:nvSpPr>
        <p:spPr>
          <a:xfrm>
            <a:off x="6291071"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50" name="Oval 20"/>
          <p:cNvSpPr/>
          <p:nvPr/>
        </p:nvSpPr>
        <p:spPr>
          <a:xfrm>
            <a:off x="6675118"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51" name="Oval 21"/>
          <p:cNvSpPr/>
          <p:nvPr/>
        </p:nvSpPr>
        <p:spPr>
          <a:xfrm>
            <a:off x="7059168"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52" name="Oval 22"/>
          <p:cNvSpPr/>
          <p:nvPr/>
        </p:nvSpPr>
        <p:spPr>
          <a:xfrm>
            <a:off x="7443216"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53" name="Oval 23"/>
          <p:cNvSpPr/>
          <p:nvPr/>
        </p:nvSpPr>
        <p:spPr>
          <a:xfrm>
            <a:off x="7827264"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54" name="Oval 24"/>
          <p:cNvSpPr/>
          <p:nvPr/>
        </p:nvSpPr>
        <p:spPr>
          <a:xfrm>
            <a:off x="8211311"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55" name="Oval 25"/>
          <p:cNvSpPr/>
          <p:nvPr/>
        </p:nvSpPr>
        <p:spPr>
          <a:xfrm>
            <a:off x="2962655"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56" name="Oval 26"/>
          <p:cNvSpPr/>
          <p:nvPr/>
        </p:nvSpPr>
        <p:spPr>
          <a:xfrm>
            <a:off x="3346703"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57" name="Oval 27"/>
          <p:cNvSpPr/>
          <p:nvPr/>
        </p:nvSpPr>
        <p:spPr>
          <a:xfrm>
            <a:off x="3730752"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58" name="Oval 28"/>
          <p:cNvSpPr/>
          <p:nvPr/>
        </p:nvSpPr>
        <p:spPr>
          <a:xfrm>
            <a:off x="4114800" y="2176272"/>
            <a:ext cx="77724"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59" name="Oval 29"/>
          <p:cNvSpPr/>
          <p:nvPr/>
        </p:nvSpPr>
        <p:spPr>
          <a:xfrm>
            <a:off x="4498847"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60" name="Oval 30"/>
          <p:cNvSpPr/>
          <p:nvPr/>
        </p:nvSpPr>
        <p:spPr>
          <a:xfrm>
            <a:off x="4882896"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61" name="Oval 31"/>
          <p:cNvSpPr/>
          <p:nvPr/>
        </p:nvSpPr>
        <p:spPr>
          <a:xfrm>
            <a:off x="5266944"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62" name="Oval 32"/>
          <p:cNvSpPr/>
          <p:nvPr/>
        </p:nvSpPr>
        <p:spPr>
          <a:xfrm>
            <a:off x="5650991"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63" name="Oval 33"/>
          <p:cNvSpPr/>
          <p:nvPr/>
        </p:nvSpPr>
        <p:spPr>
          <a:xfrm>
            <a:off x="6035040"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64" name="Oval 34"/>
          <p:cNvSpPr/>
          <p:nvPr/>
        </p:nvSpPr>
        <p:spPr>
          <a:xfrm>
            <a:off x="6419088"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65" name="Oval 35"/>
          <p:cNvSpPr/>
          <p:nvPr/>
        </p:nvSpPr>
        <p:spPr>
          <a:xfrm>
            <a:off x="6803135"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66" name="Oval 36"/>
          <p:cNvSpPr/>
          <p:nvPr/>
        </p:nvSpPr>
        <p:spPr>
          <a:xfrm>
            <a:off x="7187183"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67" name="Oval 37"/>
          <p:cNvSpPr/>
          <p:nvPr/>
        </p:nvSpPr>
        <p:spPr>
          <a:xfrm>
            <a:off x="7571230"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68" name="Oval 38"/>
          <p:cNvSpPr/>
          <p:nvPr/>
        </p:nvSpPr>
        <p:spPr>
          <a:xfrm>
            <a:off x="7955280"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69" name="Oval 39"/>
          <p:cNvSpPr/>
          <p:nvPr/>
        </p:nvSpPr>
        <p:spPr>
          <a:xfrm>
            <a:off x="8339328"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70" name="Oval 40"/>
          <p:cNvSpPr/>
          <p:nvPr/>
        </p:nvSpPr>
        <p:spPr>
          <a:xfrm>
            <a:off x="2834638"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71" name="Oval 41"/>
          <p:cNvSpPr/>
          <p:nvPr/>
        </p:nvSpPr>
        <p:spPr>
          <a:xfrm>
            <a:off x="3218688"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72" name="Oval 42"/>
          <p:cNvSpPr/>
          <p:nvPr/>
        </p:nvSpPr>
        <p:spPr>
          <a:xfrm>
            <a:off x="3602735"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73" name="Oval 43"/>
          <p:cNvSpPr/>
          <p:nvPr/>
        </p:nvSpPr>
        <p:spPr>
          <a:xfrm>
            <a:off x="3986784"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74" name="Oval 44"/>
          <p:cNvSpPr/>
          <p:nvPr/>
        </p:nvSpPr>
        <p:spPr>
          <a:xfrm>
            <a:off x="4370832"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75" name="Oval 45"/>
          <p:cNvSpPr/>
          <p:nvPr/>
        </p:nvSpPr>
        <p:spPr>
          <a:xfrm>
            <a:off x="4754879"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76" name="Oval 46"/>
          <p:cNvSpPr/>
          <p:nvPr/>
        </p:nvSpPr>
        <p:spPr>
          <a:xfrm>
            <a:off x="5138928"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77" name="Oval 47"/>
          <p:cNvSpPr/>
          <p:nvPr/>
        </p:nvSpPr>
        <p:spPr>
          <a:xfrm>
            <a:off x="5522976"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78" name="Oval 48"/>
          <p:cNvSpPr/>
          <p:nvPr/>
        </p:nvSpPr>
        <p:spPr>
          <a:xfrm>
            <a:off x="5907023"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79" name="Oval 49"/>
          <p:cNvSpPr/>
          <p:nvPr/>
        </p:nvSpPr>
        <p:spPr>
          <a:xfrm>
            <a:off x="6291071"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80" name="Oval 50"/>
          <p:cNvSpPr/>
          <p:nvPr/>
        </p:nvSpPr>
        <p:spPr>
          <a:xfrm>
            <a:off x="6675118"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81" name="Oval 51"/>
          <p:cNvSpPr/>
          <p:nvPr/>
        </p:nvSpPr>
        <p:spPr>
          <a:xfrm>
            <a:off x="7059168"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82" name="Oval 52"/>
          <p:cNvSpPr/>
          <p:nvPr/>
        </p:nvSpPr>
        <p:spPr>
          <a:xfrm>
            <a:off x="7443216"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83" name="Oval 53"/>
          <p:cNvSpPr/>
          <p:nvPr/>
        </p:nvSpPr>
        <p:spPr>
          <a:xfrm>
            <a:off x="7827264"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84" name="Oval 54"/>
          <p:cNvSpPr/>
          <p:nvPr/>
        </p:nvSpPr>
        <p:spPr>
          <a:xfrm>
            <a:off x="8211311"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85" name="Oval 55"/>
          <p:cNvSpPr/>
          <p:nvPr/>
        </p:nvSpPr>
        <p:spPr>
          <a:xfrm>
            <a:off x="2962655"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86" name="Oval 56"/>
          <p:cNvSpPr/>
          <p:nvPr/>
        </p:nvSpPr>
        <p:spPr>
          <a:xfrm>
            <a:off x="3346703"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87" name="Oval 57"/>
          <p:cNvSpPr/>
          <p:nvPr/>
        </p:nvSpPr>
        <p:spPr>
          <a:xfrm>
            <a:off x="3730752"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88" name="Oval 58"/>
          <p:cNvSpPr/>
          <p:nvPr/>
        </p:nvSpPr>
        <p:spPr>
          <a:xfrm>
            <a:off x="4114800" y="2962655"/>
            <a:ext cx="77724"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89" name="Oval 59"/>
          <p:cNvSpPr/>
          <p:nvPr/>
        </p:nvSpPr>
        <p:spPr>
          <a:xfrm>
            <a:off x="4498847"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90" name="Oval 60"/>
          <p:cNvSpPr/>
          <p:nvPr/>
        </p:nvSpPr>
        <p:spPr>
          <a:xfrm>
            <a:off x="4882896"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91" name="Oval 61"/>
          <p:cNvSpPr/>
          <p:nvPr/>
        </p:nvSpPr>
        <p:spPr>
          <a:xfrm>
            <a:off x="5266944"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92" name="Oval 62"/>
          <p:cNvSpPr/>
          <p:nvPr/>
        </p:nvSpPr>
        <p:spPr>
          <a:xfrm>
            <a:off x="5650991"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93" name="Oval 63"/>
          <p:cNvSpPr/>
          <p:nvPr/>
        </p:nvSpPr>
        <p:spPr>
          <a:xfrm>
            <a:off x="6035040"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94" name="Oval 64"/>
          <p:cNvSpPr/>
          <p:nvPr/>
        </p:nvSpPr>
        <p:spPr>
          <a:xfrm>
            <a:off x="6419088"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95" name="Oval 65"/>
          <p:cNvSpPr/>
          <p:nvPr/>
        </p:nvSpPr>
        <p:spPr>
          <a:xfrm>
            <a:off x="6803135"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96" name="Oval 66"/>
          <p:cNvSpPr/>
          <p:nvPr/>
        </p:nvSpPr>
        <p:spPr>
          <a:xfrm>
            <a:off x="7187183"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97" name="Oval 67"/>
          <p:cNvSpPr/>
          <p:nvPr/>
        </p:nvSpPr>
        <p:spPr>
          <a:xfrm>
            <a:off x="7571230"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98" name="Oval 68"/>
          <p:cNvSpPr/>
          <p:nvPr/>
        </p:nvSpPr>
        <p:spPr>
          <a:xfrm>
            <a:off x="7955280"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99" name="Oval 69"/>
          <p:cNvSpPr/>
          <p:nvPr/>
        </p:nvSpPr>
        <p:spPr>
          <a:xfrm>
            <a:off x="8339328"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00" name="Oval 70"/>
          <p:cNvSpPr/>
          <p:nvPr/>
        </p:nvSpPr>
        <p:spPr>
          <a:xfrm>
            <a:off x="2834638"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01" name="Oval 71"/>
          <p:cNvSpPr/>
          <p:nvPr/>
        </p:nvSpPr>
        <p:spPr>
          <a:xfrm>
            <a:off x="3218688"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02" name="Oval 72"/>
          <p:cNvSpPr/>
          <p:nvPr/>
        </p:nvSpPr>
        <p:spPr>
          <a:xfrm>
            <a:off x="3602735"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03" name="Oval 73"/>
          <p:cNvSpPr/>
          <p:nvPr/>
        </p:nvSpPr>
        <p:spPr>
          <a:xfrm>
            <a:off x="3986784"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04" name="Oval 74"/>
          <p:cNvSpPr/>
          <p:nvPr/>
        </p:nvSpPr>
        <p:spPr>
          <a:xfrm>
            <a:off x="4370832"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05" name="Oval 75"/>
          <p:cNvSpPr/>
          <p:nvPr/>
        </p:nvSpPr>
        <p:spPr>
          <a:xfrm>
            <a:off x="4754879"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06" name="Oval 76"/>
          <p:cNvSpPr/>
          <p:nvPr/>
        </p:nvSpPr>
        <p:spPr>
          <a:xfrm>
            <a:off x="5138928"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07" name="Oval 77"/>
          <p:cNvSpPr/>
          <p:nvPr/>
        </p:nvSpPr>
        <p:spPr>
          <a:xfrm>
            <a:off x="5522976"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08" name="Oval 78"/>
          <p:cNvSpPr/>
          <p:nvPr/>
        </p:nvSpPr>
        <p:spPr>
          <a:xfrm>
            <a:off x="5907023"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09" name="Oval 79"/>
          <p:cNvSpPr/>
          <p:nvPr/>
        </p:nvSpPr>
        <p:spPr>
          <a:xfrm>
            <a:off x="6291071"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10" name="Oval 80"/>
          <p:cNvSpPr/>
          <p:nvPr/>
        </p:nvSpPr>
        <p:spPr>
          <a:xfrm>
            <a:off x="6675118"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11" name="Oval 81"/>
          <p:cNvSpPr/>
          <p:nvPr/>
        </p:nvSpPr>
        <p:spPr>
          <a:xfrm>
            <a:off x="7059168"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12" name="Oval 82"/>
          <p:cNvSpPr/>
          <p:nvPr/>
        </p:nvSpPr>
        <p:spPr>
          <a:xfrm>
            <a:off x="7443216"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13" name="Oval 83"/>
          <p:cNvSpPr/>
          <p:nvPr/>
        </p:nvSpPr>
        <p:spPr>
          <a:xfrm>
            <a:off x="7827264"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14" name="Oval 84"/>
          <p:cNvSpPr/>
          <p:nvPr/>
        </p:nvSpPr>
        <p:spPr>
          <a:xfrm>
            <a:off x="8211311"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15" name="Oval 85"/>
          <p:cNvSpPr/>
          <p:nvPr/>
        </p:nvSpPr>
        <p:spPr>
          <a:xfrm>
            <a:off x="2962655"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16" name="Oval 86"/>
          <p:cNvSpPr/>
          <p:nvPr/>
        </p:nvSpPr>
        <p:spPr>
          <a:xfrm>
            <a:off x="3346703"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17" name="Oval 87"/>
          <p:cNvSpPr/>
          <p:nvPr/>
        </p:nvSpPr>
        <p:spPr>
          <a:xfrm>
            <a:off x="3730752"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18" name="Oval 88"/>
          <p:cNvSpPr/>
          <p:nvPr/>
        </p:nvSpPr>
        <p:spPr>
          <a:xfrm>
            <a:off x="4114800" y="3749037"/>
            <a:ext cx="77724"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19" name="Oval 89"/>
          <p:cNvSpPr/>
          <p:nvPr/>
        </p:nvSpPr>
        <p:spPr>
          <a:xfrm>
            <a:off x="4498847"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20" name="Oval 90"/>
          <p:cNvSpPr/>
          <p:nvPr/>
        </p:nvSpPr>
        <p:spPr>
          <a:xfrm>
            <a:off x="4882896"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21" name="Oval 91"/>
          <p:cNvSpPr/>
          <p:nvPr/>
        </p:nvSpPr>
        <p:spPr>
          <a:xfrm>
            <a:off x="5266944"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22" name="Oval 92"/>
          <p:cNvSpPr/>
          <p:nvPr/>
        </p:nvSpPr>
        <p:spPr>
          <a:xfrm>
            <a:off x="5650991"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23" name="Oval 93"/>
          <p:cNvSpPr/>
          <p:nvPr/>
        </p:nvSpPr>
        <p:spPr>
          <a:xfrm>
            <a:off x="6035040"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24" name="Oval 94"/>
          <p:cNvSpPr/>
          <p:nvPr/>
        </p:nvSpPr>
        <p:spPr>
          <a:xfrm>
            <a:off x="6419088"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25" name="Oval 95"/>
          <p:cNvSpPr/>
          <p:nvPr/>
        </p:nvSpPr>
        <p:spPr>
          <a:xfrm>
            <a:off x="6803135"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26" name="Oval 96"/>
          <p:cNvSpPr/>
          <p:nvPr/>
        </p:nvSpPr>
        <p:spPr>
          <a:xfrm>
            <a:off x="7187183"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27" name="Oval 97"/>
          <p:cNvSpPr/>
          <p:nvPr/>
        </p:nvSpPr>
        <p:spPr>
          <a:xfrm>
            <a:off x="7571230"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28" name="Oval 98"/>
          <p:cNvSpPr/>
          <p:nvPr/>
        </p:nvSpPr>
        <p:spPr>
          <a:xfrm>
            <a:off x="7955280"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29" name="Oval 99"/>
          <p:cNvSpPr/>
          <p:nvPr/>
        </p:nvSpPr>
        <p:spPr>
          <a:xfrm>
            <a:off x="8339328"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30" name="Oval 100"/>
          <p:cNvSpPr/>
          <p:nvPr/>
        </p:nvSpPr>
        <p:spPr>
          <a:xfrm>
            <a:off x="2834638"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31" name="Oval 101"/>
          <p:cNvSpPr/>
          <p:nvPr/>
        </p:nvSpPr>
        <p:spPr>
          <a:xfrm>
            <a:off x="3218688"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32" name="Oval 102"/>
          <p:cNvSpPr/>
          <p:nvPr/>
        </p:nvSpPr>
        <p:spPr>
          <a:xfrm>
            <a:off x="3602735"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33" name="Oval 103"/>
          <p:cNvSpPr/>
          <p:nvPr/>
        </p:nvSpPr>
        <p:spPr>
          <a:xfrm>
            <a:off x="3986784"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34" name="Oval 104"/>
          <p:cNvSpPr/>
          <p:nvPr/>
        </p:nvSpPr>
        <p:spPr>
          <a:xfrm>
            <a:off x="4370832"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35" name="Oval 105"/>
          <p:cNvSpPr/>
          <p:nvPr/>
        </p:nvSpPr>
        <p:spPr>
          <a:xfrm>
            <a:off x="4754879"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36" name="Oval 106"/>
          <p:cNvSpPr/>
          <p:nvPr/>
        </p:nvSpPr>
        <p:spPr>
          <a:xfrm>
            <a:off x="5138928"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37" name="Oval 107"/>
          <p:cNvSpPr/>
          <p:nvPr/>
        </p:nvSpPr>
        <p:spPr>
          <a:xfrm>
            <a:off x="5522976"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38" name="Oval 108"/>
          <p:cNvSpPr/>
          <p:nvPr/>
        </p:nvSpPr>
        <p:spPr>
          <a:xfrm>
            <a:off x="5907023"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39" name="Oval 109"/>
          <p:cNvSpPr/>
          <p:nvPr/>
        </p:nvSpPr>
        <p:spPr>
          <a:xfrm>
            <a:off x="6291071"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40" name="Oval 110"/>
          <p:cNvSpPr/>
          <p:nvPr/>
        </p:nvSpPr>
        <p:spPr>
          <a:xfrm>
            <a:off x="6675118"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41" name="Oval 111"/>
          <p:cNvSpPr/>
          <p:nvPr/>
        </p:nvSpPr>
        <p:spPr>
          <a:xfrm>
            <a:off x="7059168"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42" name="Oval 112"/>
          <p:cNvSpPr/>
          <p:nvPr/>
        </p:nvSpPr>
        <p:spPr>
          <a:xfrm>
            <a:off x="7443216"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43" name="Oval 113"/>
          <p:cNvSpPr/>
          <p:nvPr/>
        </p:nvSpPr>
        <p:spPr>
          <a:xfrm>
            <a:off x="7827264"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44" name="Oval 114"/>
          <p:cNvSpPr/>
          <p:nvPr/>
        </p:nvSpPr>
        <p:spPr>
          <a:xfrm>
            <a:off x="8211311"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45" name="Oval 115"/>
          <p:cNvSpPr/>
          <p:nvPr/>
        </p:nvSpPr>
        <p:spPr>
          <a:xfrm>
            <a:off x="2962655"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46" name="Oval 116"/>
          <p:cNvSpPr/>
          <p:nvPr/>
        </p:nvSpPr>
        <p:spPr>
          <a:xfrm>
            <a:off x="3346703"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47" name="Oval 117"/>
          <p:cNvSpPr/>
          <p:nvPr/>
        </p:nvSpPr>
        <p:spPr>
          <a:xfrm>
            <a:off x="3730752"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48" name="Oval 118"/>
          <p:cNvSpPr/>
          <p:nvPr/>
        </p:nvSpPr>
        <p:spPr>
          <a:xfrm>
            <a:off x="4114800" y="4535423"/>
            <a:ext cx="77724"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49" name="Oval 119"/>
          <p:cNvSpPr/>
          <p:nvPr/>
        </p:nvSpPr>
        <p:spPr>
          <a:xfrm>
            <a:off x="4498847"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50" name="Oval 120"/>
          <p:cNvSpPr/>
          <p:nvPr/>
        </p:nvSpPr>
        <p:spPr>
          <a:xfrm>
            <a:off x="4882896"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51" name="Oval 121"/>
          <p:cNvSpPr/>
          <p:nvPr/>
        </p:nvSpPr>
        <p:spPr>
          <a:xfrm>
            <a:off x="5266944"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52" name="Oval 122"/>
          <p:cNvSpPr/>
          <p:nvPr/>
        </p:nvSpPr>
        <p:spPr>
          <a:xfrm>
            <a:off x="5650991"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53" name="Oval 123"/>
          <p:cNvSpPr/>
          <p:nvPr/>
        </p:nvSpPr>
        <p:spPr>
          <a:xfrm>
            <a:off x="6035040"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54" name="Oval 124"/>
          <p:cNvSpPr/>
          <p:nvPr/>
        </p:nvSpPr>
        <p:spPr>
          <a:xfrm>
            <a:off x="6419088"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55" name="Oval 125"/>
          <p:cNvSpPr/>
          <p:nvPr/>
        </p:nvSpPr>
        <p:spPr>
          <a:xfrm>
            <a:off x="6803135"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56" name="Oval 126"/>
          <p:cNvSpPr/>
          <p:nvPr/>
        </p:nvSpPr>
        <p:spPr>
          <a:xfrm>
            <a:off x="7187183"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57" name="Oval 127"/>
          <p:cNvSpPr/>
          <p:nvPr/>
        </p:nvSpPr>
        <p:spPr>
          <a:xfrm>
            <a:off x="7571230"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58" name="Oval 128"/>
          <p:cNvSpPr/>
          <p:nvPr/>
        </p:nvSpPr>
        <p:spPr>
          <a:xfrm>
            <a:off x="7955280"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59" name="Oval 129"/>
          <p:cNvSpPr/>
          <p:nvPr/>
        </p:nvSpPr>
        <p:spPr>
          <a:xfrm>
            <a:off x="8339328"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60" name="Oval 130"/>
          <p:cNvSpPr/>
          <p:nvPr/>
        </p:nvSpPr>
        <p:spPr>
          <a:xfrm>
            <a:off x="2834638"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61" name="Oval 131"/>
          <p:cNvSpPr/>
          <p:nvPr/>
        </p:nvSpPr>
        <p:spPr>
          <a:xfrm>
            <a:off x="3218688"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62" name="Oval 132"/>
          <p:cNvSpPr/>
          <p:nvPr/>
        </p:nvSpPr>
        <p:spPr>
          <a:xfrm>
            <a:off x="3602735"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63" name="Oval 133"/>
          <p:cNvSpPr/>
          <p:nvPr/>
        </p:nvSpPr>
        <p:spPr>
          <a:xfrm>
            <a:off x="3986784"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64" name="Oval 134"/>
          <p:cNvSpPr/>
          <p:nvPr/>
        </p:nvSpPr>
        <p:spPr>
          <a:xfrm>
            <a:off x="4370832"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65" name="Oval 135"/>
          <p:cNvSpPr/>
          <p:nvPr/>
        </p:nvSpPr>
        <p:spPr>
          <a:xfrm>
            <a:off x="4754879"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66" name="Oval 136"/>
          <p:cNvSpPr/>
          <p:nvPr/>
        </p:nvSpPr>
        <p:spPr>
          <a:xfrm>
            <a:off x="5138928"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67" name="Oval 137"/>
          <p:cNvSpPr/>
          <p:nvPr/>
        </p:nvSpPr>
        <p:spPr>
          <a:xfrm>
            <a:off x="5522976"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68" name="Oval 138"/>
          <p:cNvSpPr/>
          <p:nvPr/>
        </p:nvSpPr>
        <p:spPr>
          <a:xfrm>
            <a:off x="5907023"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69" name="Oval 139"/>
          <p:cNvSpPr/>
          <p:nvPr/>
        </p:nvSpPr>
        <p:spPr>
          <a:xfrm>
            <a:off x="6291071"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70" name="Oval 140"/>
          <p:cNvSpPr/>
          <p:nvPr/>
        </p:nvSpPr>
        <p:spPr>
          <a:xfrm>
            <a:off x="6675118"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71" name="Oval 141"/>
          <p:cNvSpPr/>
          <p:nvPr/>
        </p:nvSpPr>
        <p:spPr>
          <a:xfrm>
            <a:off x="7059168"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72" name="Oval 142"/>
          <p:cNvSpPr/>
          <p:nvPr/>
        </p:nvSpPr>
        <p:spPr>
          <a:xfrm>
            <a:off x="7443216"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73" name="Oval 143"/>
          <p:cNvSpPr/>
          <p:nvPr/>
        </p:nvSpPr>
        <p:spPr>
          <a:xfrm>
            <a:off x="7827264"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74" name="Oval 144"/>
          <p:cNvSpPr/>
          <p:nvPr/>
        </p:nvSpPr>
        <p:spPr>
          <a:xfrm>
            <a:off x="8211311"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75" name="Rounded Rectangle 145"/>
          <p:cNvSpPr/>
          <p:nvPr/>
        </p:nvSpPr>
        <p:spPr>
          <a:xfrm>
            <a:off x="9528047" y="2167127"/>
            <a:ext cx="1417327" cy="1847090"/>
          </a:xfrm>
          <a:prstGeom prst="roundRect">
            <a:avLst>
              <a:gd name="adj" fmla="val 16667"/>
            </a:avLst>
          </a:prstGeom>
          <a:ln w="1397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376" name="Connector 146"/>
          <p:cNvSpPr/>
          <p:nvPr/>
        </p:nvSpPr>
        <p:spPr>
          <a:xfrm>
            <a:off x="9802368" y="2670048"/>
            <a:ext cx="850393" cy="7"/>
          </a:xfrm>
          <a:prstGeom prst="line">
            <a:avLst/>
          </a:prstGeom>
          <a:ln w="1651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377" name="Connector 147"/>
          <p:cNvSpPr/>
          <p:nvPr/>
        </p:nvSpPr>
        <p:spPr>
          <a:xfrm>
            <a:off x="9802368" y="2990088"/>
            <a:ext cx="694951" cy="7"/>
          </a:xfrm>
          <a:prstGeom prst="line">
            <a:avLst/>
          </a:prstGeom>
          <a:ln w="1651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378" name="Connector 148"/>
          <p:cNvSpPr/>
          <p:nvPr/>
        </p:nvSpPr>
        <p:spPr>
          <a:xfrm>
            <a:off x="9802368" y="3310128"/>
            <a:ext cx="786391" cy="7"/>
          </a:xfrm>
          <a:prstGeom prst="line">
            <a:avLst/>
          </a:prstGeom>
          <a:ln w="19050">
            <a:solidFill>
              <a:srgbClr val="1FA873"/>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379" name="Connector 149"/>
          <p:cNvSpPr/>
          <p:nvPr/>
        </p:nvSpPr>
        <p:spPr>
          <a:xfrm>
            <a:off x="7098030" y="1821937"/>
            <a:ext cx="2430025" cy="1268740"/>
          </a:xfrm>
          <a:prstGeom prst="line">
            <a:avLst/>
          </a:prstGeom>
          <a:ln w="889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380" name="Connector 150"/>
          <p:cNvSpPr/>
          <p:nvPr/>
        </p:nvSpPr>
        <p:spPr>
          <a:xfrm>
            <a:off x="7994139" y="2215133"/>
            <a:ext cx="1533913" cy="875540"/>
          </a:xfrm>
          <a:prstGeom prst="line">
            <a:avLst/>
          </a:prstGeom>
          <a:ln w="889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381" name="Connector 151"/>
          <p:cNvSpPr/>
          <p:nvPr/>
        </p:nvSpPr>
        <p:spPr>
          <a:xfrm>
            <a:off x="3769612" y="3001516"/>
            <a:ext cx="5758442" cy="89160"/>
          </a:xfrm>
          <a:prstGeom prst="line">
            <a:avLst/>
          </a:prstGeom>
          <a:ln w="889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382" name="Connector 152"/>
          <p:cNvSpPr/>
          <p:nvPr/>
        </p:nvSpPr>
        <p:spPr>
          <a:xfrm flipV="1">
            <a:off x="4793739" y="3090671"/>
            <a:ext cx="4734315" cy="304045"/>
          </a:xfrm>
          <a:prstGeom prst="line">
            <a:avLst/>
          </a:prstGeom>
          <a:ln w="889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383" name="Connector 153"/>
          <p:cNvSpPr/>
          <p:nvPr/>
        </p:nvSpPr>
        <p:spPr>
          <a:xfrm flipV="1">
            <a:off x="5689851" y="3090671"/>
            <a:ext cx="3838200" cy="697237"/>
          </a:xfrm>
          <a:prstGeom prst="line">
            <a:avLst/>
          </a:prstGeom>
          <a:ln w="889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384" name="Connector 154"/>
          <p:cNvSpPr/>
          <p:nvPr/>
        </p:nvSpPr>
        <p:spPr>
          <a:xfrm flipV="1">
            <a:off x="7866126" y="3090670"/>
            <a:ext cx="1661924" cy="1090430"/>
          </a:xfrm>
          <a:prstGeom prst="line">
            <a:avLst/>
          </a:prstGeom>
          <a:ln w="889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385" name="Connector 155"/>
          <p:cNvSpPr/>
          <p:nvPr/>
        </p:nvSpPr>
        <p:spPr>
          <a:xfrm flipV="1">
            <a:off x="3641596" y="3090670"/>
            <a:ext cx="5886456" cy="1876808"/>
          </a:xfrm>
          <a:prstGeom prst="line">
            <a:avLst/>
          </a:prstGeom>
          <a:ln w="889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386" name="TextBox 156"/>
          <p:cNvSpPr txBox="1"/>
          <p:nvPr/>
        </p:nvSpPr>
        <p:spPr>
          <a:xfrm>
            <a:off x="822960" y="5614415"/>
            <a:ext cx="228600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3977F6"/>
                </a:solidFill>
                <a:latin typeface="Helvetica Neue"/>
                <a:ea typeface="Helvetica Neue"/>
                <a:cs typeface="Helvetica Neue"/>
                <a:sym typeface="Helvetica Neue"/>
              </a:defRPr>
            </a:pPr>
            <a:r>
              <a:t>• </a:t>
            </a:r>
            <a:r>
              <a:rPr b="0">
                <a:solidFill>
                  <a:srgbClr val="111318"/>
                </a:solidFill>
              </a:rPr>
              <a:t>Same action</a:t>
            </a:r>
          </a:p>
        </p:txBody>
      </p:sp>
      <p:sp>
        <p:nvSpPr>
          <p:cNvPr id="387" name="TextBox 157"/>
          <p:cNvSpPr txBox="1"/>
          <p:nvPr/>
        </p:nvSpPr>
        <p:spPr>
          <a:xfrm>
            <a:off x="3840479" y="5614415"/>
            <a:ext cx="3108967"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3977F6"/>
                </a:solidFill>
                <a:latin typeface="Helvetica Neue"/>
                <a:ea typeface="Helvetica Neue"/>
                <a:cs typeface="Helvetica Neue"/>
                <a:sym typeface="Helvetica Neue"/>
              </a:defRPr>
            </a:pPr>
            <a:r>
              <a:t>• </a:t>
            </a:r>
            <a:r>
              <a:rPr b="0">
                <a:solidFill>
                  <a:srgbClr val="111318"/>
                </a:solidFill>
              </a:rPr>
              <a:t>Thousands of raters</a:t>
            </a:r>
          </a:p>
        </p:txBody>
      </p:sp>
      <p:sp>
        <p:nvSpPr>
          <p:cNvPr id="388" name="TextBox 158"/>
          <p:cNvSpPr txBox="1"/>
          <p:nvPr/>
        </p:nvSpPr>
        <p:spPr>
          <a:xfrm>
            <a:off x="8000999" y="5614415"/>
            <a:ext cx="3474727"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1FA873"/>
                </a:solidFill>
                <a:latin typeface="Helvetica Neue"/>
                <a:ea typeface="Helvetica Neue"/>
                <a:cs typeface="Helvetica Neue"/>
                <a:sym typeface="Helvetica Neue"/>
              </a:defRPr>
            </a:pPr>
            <a:r>
              <a:t>• </a:t>
            </a:r>
            <a:r>
              <a:rPr b="0">
                <a:solidFill>
                  <a:srgbClr val="111318"/>
                </a:solidFill>
              </a:rPr>
              <a:t>One visibility decision</a:t>
            </a:r>
          </a:p>
        </p:txBody>
      </p:sp>
      <p:sp>
        <p:nvSpPr>
          <p:cNvPr id="389" name="TextBox 159"/>
          <p:cNvSpPr txBox="1"/>
          <p:nvPr/>
        </p:nvSpPr>
        <p:spPr>
          <a:xfrm>
            <a:off x="621792" y="6455664"/>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X Community Notes (2026)</a:t>
            </a:r>
          </a:p>
        </p:txBody>
      </p:sp>
      <p:sp>
        <p:nvSpPr>
          <p:cNvPr id="390" name="VoteLine r1c3"/>
          <p:cNvSpPr/>
          <p:nvPr/>
        </p:nvSpPr>
        <p:spPr>
          <a:xfrm>
            <a:off x="3641602" y="1821944"/>
            <a:ext cx="5886447" cy="1268729"/>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391" name="VoteLine r1c8"/>
          <p:cNvSpPr/>
          <p:nvPr/>
        </p:nvSpPr>
        <p:spPr>
          <a:xfrm>
            <a:off x="5561843" y="1821944"/>
            <a:ext cx="3966205" cy="1268729"/>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392" name="VoteLine r1c12"/>
          <p:cNvSpPr/>
          <p:nvPr/>
        </p:nvSpPr>
        <p:spPr>
          <a:xfrm>
            <a:off x="7098035" y="1821944"/>
            <a:ext cx="2430013" cy="1268729"/>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393" name="VoteLine r2c5"/>
          <p:cNvSpPr/>
          <p:nvPr/>
        </p:nvSpPr>
        <p:spPr>
          <a:xfrm>
            <a:off x="4537714" y="2215139"/>
            <a:ext cx="4990335" cy="875534"/>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394" name="VoteLine r2c11"/>
          <p:cNvSpPr/>
          <p:nvPr/>
        </p:nvSpPr>
        <p:spPr>
          <a:xfrm>
            <a:off x="6842001" y="2215139"/>
            <a:ext cx="2686047" cy="875534"/>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395" name="VoteLine r3c2"/>
          <p:cNvSpPr/>
          <p:nvPr/>
        </p:nvSpPr>
        <p:spPr>
          <a:xfrm>
            <a:off x="3257554" y="2608330"/>
            <a:ext cx="6270495" cy="482342"/>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396" name="VoteLine r3c14"/>
          <p:cNvSpPr/>
          <p:nvPr/>
        </p:nvSpPr>
        <p:spPr>
          <a:xfrm>
            <a:off x="7866130" y="2608330"/>
            <a:ext cx="1661918" cy="482342"/>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397" name="VoteLine r4c4"/>
          <p:cNvSpPr/>
          <p:nvPr/>
        </p:nvSpPr>
        <p:spPr>
          <a:xfrm>
            <a:off x="4153662" y="3001522"/>
            <a:ext cx="5374387" cy="89151"/>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398" name="VoteLine r4c9"/>
          <p:cNvSpPr/>
          <p:nvPr/>
        </p:nvSpPr>
        <p:spPr>
          <a:xfrm>
            <a:off x="6073907" y="3001522"/>
            <a:ext cx="3454142" cy="89151"/>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399" name="VoteLine r5c1"/>
          <p:cNvSpPr/>
          <p:nvPr/>
        </p:nvSpPr>
        <p:spPr>
          <a:xfrm flipV="1">
            <a:off x="2873505" y="3090672"/>
            <a:ext cx="6654543" cy="304043"/>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400" name="VoteLine r5c11"/>
          <p:cNvSpPr/>
          <p:nvPr/>
        </p:nvSpPr>
        <p:spPr>
          <a:xfrm flipV="1">
            <a:off x="6713984" y="3090672"/>
            <a:ext cx="2814064" cy="304043"/>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401" name="VoteLine r6c6"/>
          <p:cNvSpPr/>
          <p:nvPr/>
        </p:nvSpPr>
        <p:spPr>
          <a:xfrm flipV="1">
            <a:off x="4921763" y="3090672"/>
            <a:ext cx="4606286" cy="697233"/>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402" name="VoteLine r6c15"/>
          <p:cNvSpPr/>
          <p:nvPr/>
        </p:nvSpPr>
        <p:spPr>
          <a:xfrm flipV="1">
            <a:off x="8378194" y="3090672"/>
            <a:ext cx="1149854" cy="697233"/>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403" name="VoteLine r7c3"/>
          <p:cNvSpPr/>
          <p:nvPr/>
        </p:nvSpPr>
        <p:spPr>
          <a:xfrm flipV="1">
            <a:off x="3641602" y="3090672"/>
            <a:ext cx="5886447" cy="1090428"/>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404" name="VoteLine r7c9"/>
          <p:cNvSpPr/>
          <p:nvPr/>
        </p:nvSpPr>
        <p:spPr>
          <a:xfrm flipV="1">
            <a:off x="5945890" y="3090672"/>
            <a:ext cx="3582159" cy="1090428"/>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405" name="VoteLine r8c13"/>
          <p:cNvSpPr/>
          <p:nvPr/>
        </p:nvSpPr>
        <p:spPr>
          <a:xfrm flipV="1">
            <a:off x="7610096" y="3090671"/>
            <a:ext cx="1917952" cy="1483620"/>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406" name="VoteLine r9c5"/>
          <p:cNvSpPr/>
          <p:nvPr/>
        </p:nvSpPr>
        <p:spPr>
          <a:xfrm flipV="1">
            <a:off x="4409699" y="3090672"/>
            <a:ext cx="5118349" cy="1876811"/>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8" name="TextBox 1"/>
          <p:cNvSpPr txBox="1"/>
          <p:nvPr/>
        </p:nvSpPr>
        <p:spPr>
          <a:xfrm>
            <a:off x="603504" y="420623"/>
            <a:ext cx="4297680"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THE CROWD</a:t>
            </a:r>
          </a:p>
        </p:txBody>
      </p:sp>
      <p:sp>
        <p:nvSpPr>
          <p:cNvPr id="409" name="TextBox 2"/>
          <p:cNvSpPr txBox="1"/>
          <p:nvPr/>
        </p:nvSpPr>
        <p:spPr>
          <a:xfrm>
            <a:off x="603504" y="786383"/>
            <a:ext cx="10424160"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Now multiply that by thousands</a:t>
            </a:r>
          </a:p>
        </p:txBody>
      </p:sp>
      <p:sp>
        <p:nvSpPr>
          <p:cNvPr id="410" name="TextBox 3"/>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03</a:t>
            </a:r>
          </a:p>
        </p:txBody>
      </p:sp>
      <p:sp>
        <p:nvSpPr>
          <p:cNvPr id="411" name="Oval 4"/>
          <p:cNvSpPr/>
          <p:nvPr/>
        </p:nvSpPr>
        <p:spPr>
          <a:xfrm>
            <a:off x="868680" y="2578605"/>
            <a:ext cx="192037" cy="1920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12" name="Connector 5"/>
          <p:cNvSpPr/>
          <p:nvPr/>
        </p:nvSpPr>
        <p:spPr>
          <a:xfrm>
            <a:off x="964691" y="2770632"/>
            <a:ext cx="7" cy="316846"/>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413" name="Connector 6"/>
          <p:cNvSpPr/>
          <p:nvPr/>
        </p:nvSpPr>
        <p:spPr>
          <a:xfrm>
            <a:off x="830274" y="2905048"/>
            <a:ext cx="268841" cy="7"/>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414" name="Connector 7"/>
          <p:cNvSpPr/>
          <p:nvPr/>
        </p:nvSpPr>
        <p:spPr>
          <a:xfrm flipH="1">
            <a:off x="839875" y="3087470"/>
            <a:ext cx="124822" cy="201632"/>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415" name="Connector 8"/>
          <p:cNvSpPr/>
          <p:nvPr/>
        </p:nvSpPr>
        <p:spPr>
          <a:xfrm>
            <a:off x="964691" y="3087470"/>
            <a:ext cx="124815" cy="201632"/>
          </a:xfrm>
          <a:prstGeom prst="line">
            <a:avLst/>
          </a:prstGeom>
          <a:ln w="1905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416" name="TextBox 9"/>
          <p:cNvSpPr txBox="1"/>
          <p:nvPr/>
        </p:nvSpPr>
        <p:spPr>
          <a:xfrm>
            <a:off x="1965960" y="2761488"/>
            <a:ext cx="365767"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73777F"/>
                </a:solidFill>
                <a:latin typeface="Helvetica Neue"/>
                <a:ea typeface="Helvetica Neue"/>
                <a:cs typeface="Helvetica Neue"/>
                <a:sym typeface="Helvetica Neue"/>
              </a:defRPr>
            </a:lvl1pPr>
          </a:lstStyle>
          <a:p>
            <a:pPr/>
            <a:r>
              <a:t>→</a:t>
            </a:r>
          </a:p>
        </p:txBody>
      </p:sp>
      <p:sp>
        <p:nvSpPr>
          <p:cNvPr id="417" name="Oval 10"/>
          <p:cNvSpPr/>
          <p:nvPr/>
        </p:nvSpPr>
        <p:spPr>
          <a:xfrm>
            <a:off x="2834638"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18" name="Oval 11"/>
          <p:cNvSpPr/>
          <p:nvPr/>
        </p:nvSpPr>
        <p:spPr>
          <a:xfrm>
            <a:off x="3218688"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19" name="Oval 12"/>
          <p:cNvSpPr/>
          <p:nvPr/>
        </p:nvSpPr>
        <p:spPr>
          <a:xfrm>
            <a:off x="3602735"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20" name="Oval 13"/>
          <p:cNvSpPr/>
          <p:nvPr/>
        </p:nvSpPr>
        <p:spPr>
          <a:xfrm>
            <a:off x="3986784"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21" name="Oval 14"/>
          <p:cNvSpPr/>
          <p:nvPr/>
        </p:nvSpPr>
        <p:spPr>
          <a:xfrm>
            <a:off x="4370832"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22" name="Oval 15"/>
          <p:cNvSpPr/>
          <p:nvPr/>
        </p:nvSpPr>
        <p:spPr>
          <a:xfrm>
            <a:off x="4754879"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23" name="Oval 16"/>
          <p:cNvSpPr/>
          <p:nvPr/>
        </p:nvSpPr>
        <p:spPr>
          <a:xfrm>
            <a:off x="5138928"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24" name="Oval 17"/>
          <p:cNvSpPr/>
          <p:nvPr/>
        </p:nvSpPr>
        <p:spPr>
          <a:xfrm>
            <a:off x="5522976"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25" name="Oval 18"/>
          <p:cNvSpPr/>
          <p:nvPr/>
        </p:nvSpPr>
        <p:spPr>
          <a:xfrm>
            <a:off x="5907023"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26" name="Oval 19"/>
          <p:cNvSpPr/>
          <p:nvPr/>
        </p:nvSpPr>
        <p:spPr>
          <a:xfrm>
            <a:off x="6291071"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27" name="Oval 20"/>
          <p:cNvSpPr/>
          <p:nvPr/>
        </p:nvSpPr>
        <p:spPr>
          <a:xfrm>
            <a:off x="6675118"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28" name="Oval 21"/>
          <p:cNvSpPr/>
          <p:nvPr/>
        </p:nvSpPr>
        <p:spPr>
          <a:xfrm>
            <a:off x="7059168" y="1783077"/>
            <a:ext cx="77737" cy="7773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29" name="Oval 22"/>
          <p:cNvSpPr/>
          <p:nvPr/>
        </p:nvSpPr>
        <p:spPr>
          <a:xfrm>
            <a:off x="7443216"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30" name="Oval 23"/>
          <p:cNvSpPr/>
          <p:nvPr/>
        </p:nvSpPr>
        <p:spPr>
          <a:xfrm>
            <a:off x="7827264"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31" name="Oval 24"/>
          <p:cNvSpPr/>
          <p:nvPr/>
        </p:nvSpPr>
        <p:spPr>
          <a:xfrm>
            <a:off x="8211311" y="178307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32" name="Oval 25"/>
          <p:cNvSpPr/>
          <p:nvPr/>
        </p:nvSpPr>
        <p:spPr>
          <a:xfrm>
            <a:off x="2962655"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33" name="Oval 26"/>
          <p:cNvSpPr/>
          <p:nvPr/>
        </p:nvSpPr>
        <p:spPr>
          <a:xfrm>
            <a:off x="3346703"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34" name="Oval 27"/>
          <p:cNvSpPr/>
          <p:nvPr/>
        </p:nvSpPr>
        <p:spPr>
          <a:xfrm>
            <a:off x="3730752"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35" name="Oval 28"/>
          <p:cNvSpPr/>
          <p:nvPr/>
        </p:nvSpPr>
        <p:spPr>
          <a:xfrm>
            <a:off x="4114800" y="2176272"/>
            <a:ext cx="77724"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36" name="Oval 29"/>
          <p:cNvSpPr/>
          <p:nvPr/>
        </p:nvSpPr>
        <p:spPr>
          <a:xfrm>
            <a:off x="4498847" y="2176272"/>
            <a:ext cx="77737" cy="7773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37" name="Oval 30"/>
          <p:cNvSpPr/>
          <p:nvPr/>
        </p:nvSpPr>
        <p:spPr>
          <a:xfrm>
            <a:off x="4882896"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38" name="Oval 31"/>
          <p:cNvSpPr/>
          <p:nvPr/>
        </p:nvSpPr>
        <p:spPr>
          <a:xfrm>
            <a:off x="5266944"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39" name="Oval 32"/>
          <p:cNvSpPr/>
          <p:nvPr/>
        </p:nvSpPr>
        <p:spPr>
          <a:xfrm>
            <a:off x="5650991"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40" name="Oval 33"/>
          <p:cNvSpPr/>
          <p:nvPr/>
        </p:nvSpPr>
        <p:spPr>
          <a:xfrm>
            <a:off x="6035040"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41" name="Oval 34"/>
          <p:cNvSpPr/>
          <p:nvPr/>
        </p:nvSpPr>
        <p:spPr>
          <a:xfrm>
            <a:off x="6419088"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42" name="Oval 35"/>
          <p:cNvSpPr/>
          <p:nvPr/>
        </p:nvSpPr>
        <p:spPr>
          <a:xfrm>
            <a:off x="6803135"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43" name="Oval 36"/>
          <p:cNvSpPr/>
          <p:nvPr/>
        </p:nvSpPr>
        <p:spPr>
          <a:xfrm>
            <a:off x="7187183"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44" name="Oval 37"/>
          <p:cNvSpPr/>
          <p:nvPr/>
        </p:nvSpPr>
        <p:spPr>
          <a:xfrm>
            <a:off x="7571230"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45" name="Oval 38"/>
          <p:cNvSpPr/>
          <p:nvPr/>
        </p:nvSpPr>
        <p:spPr>
          <a:xfrm>
            <a:off x="7955280"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46" name="Oval 39"/>
          <p:cNvSpPr/>
          <p:nvPr/>
        </p:nvSpPr>
        <p:spPr>
          <a:xfrm>
            <a:off x="8339328" y="217627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47" name="Oval 40"/>
          <p:cNvSpPr/>
          <p:nvPr/>
        </p:nvSpPr>
        <p:spPr>
          <a:xfrm>
            <a:off x="2834638"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48" name="Oval 41"/>
          <p:cNvSpPr/>
          <p:nvPr/>
        </p:nvSpPr>
        <p:spPr>
          <a:xfrm>
            <a:off x="3218688"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49" name="Oval 42"/>
          <p:cNvSpPr/>
          <p:nvPr/>
        </p:nvSpPr>
        <p:spPr>
          <a:xfrm>
            <a:off x="3602735"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50" name="Oval 43"/>
          <p:cNvSpPr/>
          <p:nvPr/>
        </p:nvSpPr>
        <p:spPr>
          <a:xfrm>
            <a:off x="3986784"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51" name="Oval 44"/>
          <p:cNvSpPr/>
          <p:nvPr/>
        </p:nvSpPr>
        <p:spPr>
          <a:xfrm>
            <a:off x="4370832"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52" name="Oval 45"/>
          <p:cNvSpPr/>
          <p:nvPr/>
        </p:nvSpPr>
        <p:spPr>
          <a:xfrm>
            <a:off x="4754879"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53" name="Oval 46"/>
          <p:cNvSpPr/>
          <p:nvPr/>
        </p:nvSpPr>
        <p:spPr>
          <a:xfrm>
            <a:off x="5138928"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54" name="Oval 47"/>
          <p:cNvSpPr/>
          <p:nvPr/>
        </p:nvSpPr>
        <p:spPr>
          <a:xfrm>
            <a:off x="5522976"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55" name="Oval 48"/>
          <p:cNvSpPr/>
          <p:nvPr/>
        </p:nvSpPr>
        <p:spPr>
          <a:xfrm>
            <a:off x="5907023"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56" name="Oval 49"/>
          <p:cNvSpPr/>
          <p:nvPr/>
        </p:nvSpPr>
        <p:spPr>
          <a:xfrm>
            <a:off x="6291071"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57" name="Oval 50"/>
          <p:cNvSpPr/>
          <p:nvPr/>
        </p:nvSpPr>
        <p:spPr>
          <a:xfrm>
            <a:off x="6675118"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58" name="Oval 51"/>
          <p:cNvSpPr/>
          <p:nvPr/>
        </p:nvSpPr>
        <p:spPr>
          <a:xfrm>
            <a:off x="7059168"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59" name="Oval 52"/>
          <p:cNvSpPr/>
          <p:nvPr/>
        </p:nvSpPr>
        <p:spPr>
          <a:xfrm>
            <a:off x="7443216"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60" name="Oval 53"/>
          <p:cNvSpPr/>
          <p:nvPr/>
        </p:nvSpPr>
        <p:spPr>
          <a:xfrm>
            <a:off x="7827264"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61" name="Oval 54"/>
          <p:cNvSpPr/>
          <p:nvPr/>
        </p:nvSpPr>
        <p:spPr>
          <a:xfrm>
            <a:off x="8211311" y="2569464"/>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62" name="Oval 55"/>
          <p:cNvSpPr/>
          <p:nvPr/>
        </p:nvSpPr>
        <p:spPr>
          <a:xfrm>
            <a:off x="2962655"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63" name="Oval 56"/>
          <p:cNvSpPr/>
          <p:nvPr/>
        </p:nvSpPr>
        <p:spPr>
          <a:xfrm>
            <a:off x="3346703"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64" name="Oval 57"/>
          <p:cNvSpPr/>
          <p:nvPr/>
        </p:nvSpPr>
        <p:spPr>
          <a:xfrm>
            <a:off x="3730752"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65" name="Oval 58"/>
          <p:cNvSpPr/>
          <p:nvPr/>
        </p:nvSpPr>
        <p:spPr>
          <a:xfrm>
            <a:off x="4114800" y="2962655"/>
            <a:ext cx="77724" cy="7773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66" name="Oval 59"/>
          <p:cNvSpPr/>
          <p:nvPr/>
        </p:nvSpPr>
        <p:spPr>
          <a:xfrm>
            <a:off x="4498847"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67" name="Oval 60"/>
          <p:cNvSpPr/>
          <p:nvPr/>
        </p:nvSpPr>
        <p:spPr>
          <a:xfrm>
            <a:off x="4882896"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68" name="Oval 61"/>
          <p:cNvSpPr/>
          <p:nvPr/>
        </p:nvSpPr>
        <p:spPr>
          <a:xfrm>
            <a:off x="5266944"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69" name="Oval 62"/>
          <p:cNvSpPr/>
          <p:nvPr/>
        </p:nvSpPr>
        <p:spPr>
          <a:xfrm>
            <a:off x="5650991"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70" name="Oval 63"/>
          <p:cNvSpPr/>
          <p:nvPr/>
        </p:nvSpPr>
        <p:spPr>
          <a:xfrm>
            <a:off x="6035040"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71" name="Oval 64"/>
          <p:cNvSpPr/>
          <p:nvPr/>
        </p:nvSpPr>
        <p:spPr>
          <a:xfrm>
            <a:off x="6419088"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72" name="Oval 65"/>
          <p:cNvSpPr/>
          <p:nvPr/>
        </p:nvSpPr>
        <p:spPr>
          <a:xfrm>
            <a:off x="6803135"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73" name="Oval 66"/>
          <p:cNvSpPr/>
          <p:nvPr/>
        </p:nvSpPr>
        <p:spPr>
          <a:xfrm>
            <a:off x="7187183"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74" name="Oval 67"/>
          <p:cNvSpPr/>
          <p:nvPr/>
        </p:nvSpPr>
        <p:spPr>
          <a:xfrm>
            <a:off x="7571230"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75" name="Oval 68"/>
          <p:cNvSpPr/>
          <p:nvPr/>
        </p:nvSpPr>
        <p:spPr>
          <a:xfrm>
            <a:off x="7955280"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76" name="Oval 69"/>
          <p:cNvSpPr/>
          <p:nvPr/>
        </p:nvSpPr>
        <p:spPr>
          <a:xfrm>
            <a:off x="8339328" y="296265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77" name="Oval 70"/>
          <p:cNvSpPr/>
          <p:nvPr/>
        </p:nvSpPr>
        <p:spPr>
          <a:xfrm>
            <a:off x="2834638"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78" name="Oval 71"/>
          <p:cNvSpPr/>
          <p:nvPr/>
        </p:nvSpPr>
        <p:spPr>
          <a:xfrm>
            <a:off x="3218688"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79" name="Oval 72"/>
          <p:cNvSpPr/>
          <p:nvPr/>
        </p:nvSpPr>
        <p:spPr>
          <a:xfrm>
            <a:off x="3602735"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80" name="Oval 73"/>
          <p:cNvSpPr/>
          <p:nvPr/>
        </p:nvSpPr>
        <p:spPr>
          <a:xfrm>
            <a:off x="3986784"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81" name="Oval 74"/>
          <p:cNvSpPr/>
          <p:nvPr/>
        </p:nvSpPr>
        <p:spPr>
          <a:xfrm>
            <a:off x="4370832"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82" name="Oval 75"/>
          <p:cNvSpPr/>
          <p:nvPr/>
        </p:nvSpPr>
        <p:spPr>
          <a:xfrm>
            <a:off x="4754879"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83" name="Oval 76"/>
          <p:cNvSpPr/>
          <p:nvPr/>
        </p:nvSpPr>
        <p:spPr>
          <a:xfrm>
            <a:off x="5138928"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84" name="Oval 77"/>
          <p:cNvSpPr/>
          <p:nvPr/>
        </p:nvSpPr>
        <p:spPr>
          <a:xfrm>
            <a:off x="5522976"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85" name="Oval 78"/>
          <p:cNvSpPr/>
          <p:nvPr/>
        </p:nvSpPr>
        <p:spPr>
          <a:xfrm>
            <a:off x="5907023"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86" name="Oval 79"/>
          <p:cNvSpPr/>
          <p:nvPr/>
        </p:nvSpPr>
        <p:spPr>
          <a:xfrm>
            <a:off x="6291071"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87" name="Oval 80"/>
          <p:cNvSpPr/>
          <p:nvPr/>
        </p:nvSpPr>
        <p:spPr>
          <a:xfrm>
            <a:off x="6675118" y="3355847"/>
            <a:ext cx="77737" cy="7773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88" name="Oval 81"/>
          <p:cNvSpPr/>
          <p:nvPr/>
        </p:nvSpPr>
        <p:spPr>
          <a:xfrm>
            <a:off x="7059168"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89" name="Oval 82"/>
          <p:cNvSpPr/>
          <p:nvPr/>
        </p:nvSpPr>
        <p:spPr>
          <a:xfrm>
            <a:off x="7443216"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90" name="Oval 83"/>
          <p:cNvSpPr/>
          <p:nvPr/>
        </p:nvSpPr>
        <p:spPr>
          <a:xfrm>
            <a:off x="7827264"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91" name="Oval 84"/>
          <p:cNvSpPr/>
          <p:nvPr/>
        </p:nvSpPr>
        <p:spPr>
          <a:xfrm>
            <a:off x="8211311" y="335584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92" name="Oval 85"/>
          <p:cNvSpPr/>
          <p:nvPr/>
        </p:nvSpPr>
        <p:spPr>
          <a:xfrm>
            <a:off x="2962655"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93" name="Oval 86"/>
          <p:cNvSpPr/>
          <p:nvPr/>
        </p:nvSpPr>
        <p:spPr>
          <a:xfrm>
            <a:off x="3346703"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94" name="Oval 87"/>
          <p:cNvSpPr/>
          <p:nvPr/>
        </p:nvSpPr>
        <p:spPr>
          <a:xfrm>
            <a:off x="3730752"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95" name="Oval 88"/>
          <p:cNvSpPr/>
          <p:nvPr/>
        </p:nvSpPr>
        <p:spPr>
          <a:xfrm>
            <a:off x="4114800" y="3749037"/>
            <a:ext cx="77724"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96" name="Oval 89"/>
          <p:cNvSpPr/>
          <p:nvPr/>
        </p:nvSpPr>
        <p:spPr>
          <a:xfrm>
            <a:off x="4498847"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97" name="Oval 90"/>
          <p:cNvSpPr/>
          <p:nvPr/>
        </p:nvSpPr>
        <p:spPr>
          <a:xfrm>
            <a:off x="4882896" y="3749037"/>
            <a:ext cx="77737" cy="7773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98" name="Oval 91"/>
          <p:cNvSpPr/>
          <p:nvPr/>
        </p:nvSpPr>
        <p:spPr>
          <a:xfrm>
            <a:off x="5266944"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499" name="Oval 92"/>
          <p:cNvSpPr/>
          <p:nvPr/>
        </p:nvSpPr>
        <p:spPr>
          <a:xfrm>
            <a:off x="5650991"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00" name="Oval 93"/>
          <p:cNvSpPr/>
          <p:nvPr/>
        </p:nvSpPr>
        <p:spPr>
          <a:xfrm>
            <a:off x="6035040"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01" name="Oval 94"/>
          <p:cNvSpPr/>
          <p:nvPr/>
        </p:nvSpPr>
        <p:spPr>
          <a:xfrm>
            <a:off x="6419088"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02" name="Oval 95"/>
          <p:cNvSpPr/>
          <p:nvPr/>
        </p:nvSpPr>
        <p:spPr>
          <a:xfrm>
            <a:off x="6803135"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03" name="Oval 96"/>
          <p:cNvSpPr/>
          <p:nvPr/>
        </p:nvSpPr>
        <p:spPr>
          <a:xfrm>
            <a:off x="7187183"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04" name="Oval 97"/>
          <p:cNvSpPr/>
          <p:nvPr/>
        </p:nvSpPr>
        <p:spPr>
          <a:xfrm>
            <a:off x="7571230"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05" name="Oval 98"/>
          <p:cNvSpPr/>
          <p:nvPr/>
        </p:nvSpPr>
        <p:spPr>
          <a:xfrm>
            <a:off x="7955280"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06" name="Oval 99"/>
          <p:cNvSpPr/>
          <p:nvPr/>
        </p:nvSpPr>
        <p:spPr>
          <a:xfrm>
            <a:off x="8339328" y="3749037"/>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07" name="Oval 100"/>
          <p:cNvSpPr/>
          <p:nvPr/>
        </p:nvSpPr>
        <p:spPr>
          <a:xfrm>
            <a:off x="2834638"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08" name="Oval 101"/>
          <p:cNvSpPr/>
          <p:nvPr/>
        </p:nvSpPr>
        <p:spPr>
          <a:xfrm>
            <a:off x="3218688"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09" name="Oval 102"/>
          <p:cNvSpPr/>
          <p:nvPr/>
        </p:nvSpPr>
        <p:spPr>
          <a:xfrm>
            <a:off x="3602735"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10" name="Oval 103"/>
          <p:cNvSpPr/>
          <p:nvPr/>
        </p:nvSpPr>
        <p:spPr>
          <a:xfrm>
            <a:off x="3986784"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11" name="Oval 104"/>
          <p:cNvSpPr/>
          <p:nvPr/>
        </p:nvSpPr>
        <p:spPr>
          <a:xfrm>
            <a:off x="4370832"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12" name="Oval 105"/>
          <p:cNvSpPr/>
          <p:nvPr/>
        </p:nvSpPr>
        <p:spPr>
          <a:xfrm>
            <a:off x="4754879"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13" name="Oval 106"/>
          <p:cNvSpPr/>
          <p:nvPr/>
        </p:nvSpPr>
        <p:spPr>
          <a:xfrm>
            <a:off x="5138928"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14" name="Oval 107"/>
          <p:cNvSpPr/>
          <p:nvPr/>
        </p:nvSpPr>
        <p:spPr>
          <a:xfrm>
            <a:off x="5522976"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15" name="Oval 108"/>
          <p:cNvSpPr/>
          <p:nvPr/>
        </p:nvSpPr>
        <p:spPr>
          <a:xfrm>
            <a:off x="5907023" y="4142232"/>
            <a:ext cx="77737" cy="7773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16" name="Oval 109"/>
          <p:cNvSpPr/>
          <p:nvPr/>
        </p:nvSpPr>
        <p:spPr>
          <a:xfrm>
            <a:off x="6291071"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17" name="Oval 110"/>
          <p:cNvSpPr/>
          <p:nvPr/>
        </p:nvSpPr>
        <p:spPr>
          <a:xfrm>
            <a:off x="6675118"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18" name="Oval 111"/>
          <p:cNvSpPr/>
          <p:nvPr/>
        </p:nvSpPr>
        <p:spPr>
          <a:xfrm>
            <a:off x="7059168"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19" name="Oval 112"/>
          <p:cNvSpPr/>
          <p:nvPr/>
        </p:nvSpPr>
        <p:spPr>
          <a:xfrm>
            <a:off x="7443216"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20" name="Oval 113"/>
          <p:cNvSpPr/>
          <p:nvPr/>
        </p:nvSpPr>
        <p:spPr>
          <a:xfrm>
            <a:off x="7827264"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21" name="Oval 114"/>
          <p:cNvSpPr/>
          <p:nvPr/>
        </p:nvSpPr>
        <p:spPr>
          <a:xfrm>
            <a:off x="8211311" y="4142232"/>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22" name="Oval 115"/>
          <p:cNvSpPr/>
          <p:nvPr/>
        </p:nvSpPr>
        <p:spPr>
          <a:xfrm>
            <a:off x="2962655"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23" name="Oval 116"/>
          <p:cNvSpPr/>
          <p:nvPr/>
        </p:nvSpPr>
        <p:spPr>
          <a:xfrm>
            <a:off x="3346703"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24" name="Oval 117"/>
          <p:cNvSpPr/>
          <p:nvPr/>
        </p:nvSpPr>
        <p:spPr>
          <a:xfrm>
            <a:off x="3730752"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25" name="Oval 118"/>
          <p:cNvSpPr/>
          <p:nvPr/>
        </p:nvSpPr>
        <p:spPr>
          <a:xfrm>
            <a:off x="4114800" y="4535423"/>
            <a:ext cx="77724"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26" name="Oval 119"/>
          <p:cNvSpPr/>
          <p:nvPr/>
        </p:nvSpPr>
        <p:spPr>
          <a:xfrm>
            <a:off x="4498847"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27" name="Oval 120"/>
          <p:cNvSpPr/>
          <p:nvPr/>
        </p:nvSpPr>
        <p:spPr>
          <a:xfrm>
            <a:off x="4882896"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28" name="Oval 121"/>
          <p:cNvSpPr/>
          <p:nvPr/>
        </p:nvSpPr>
        <p:spPr>
          <a:xfrm>
            <a:off x="5266944"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29" name="Oval 122"/>
          <p:cNvSpPr/>
          <p:nvPr/>
        </p:nvSpPr>
        <p:spPr>
          <a:xfrm>
            <a:off x="5650991"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30" name="Oval 123"/>
          <p:cNvSpPr/>
          <p:nvPr/>
        </p:nvSpPr>
        <p:spPr>
          <a:xfrm>
            <a:off x="6035040"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31" name="Oval 124"/>
          <p:cNvSpPr/>
          <p:nvPr/>
        </p:nvSpPr>
        <p:spPr>
          <a:xfrm>
            <a:off x="6419088"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32" name="Oval 125"/>
          <p:cNvSpPr/>
          <p:nvPr/>
        </p:nvSpPr>
        <p:spPr>
          <a:xfrm>
            <a:off x="6803135"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33" name="Oval 126"/>
          <p:cNvSpPr/>
          <p:nvPr/>
        </p:nvSpPr>
        <p:spPr>
          <a:xfrm>
            <a:off x="7187183"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34" name="Oval 127"/>
          <p:cNvSpPr/>
          <p:nvPr/>
        </p:nvSpPr>
        <p:spPr>
          <a:xfrm>
            <a:off x="7571230"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35" name="Oval 128"/>
          <p:cNvSpPr/>
          <p:nvPr/>
        </p:nvSpPr>
        <p:spPr>
          <a:xfrm>
            <a:off x="7955280"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36" name="Oval 129"/>
          <p:cNvSpPr/>
          <p:nvPr/>
        </p:nvSpPr>
        <p:spPr>
          <a:xfrm>
            <a:off x="8339328" y="4535423"/>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37" name="Oval 130"/>
          <p:cNvSpPr/>
          <p:nvPr/>
        </p:nvSpPr>
        <p:spPr>
          <a:xfrm>
            <a:off x="2834638"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38" name="Oval 131"/>
          <p:cNvSpPr/>
          <p:nvPr/>
        </p:nvSpPr>
        <p:spPr>
          <a:xfrm>
            <a:off x="3218688"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39" name="Oval 132"/>
          <p:cNvSpPr/>
          <p:nvPr/>
        </p:nvSpPr>
        <p:spPr>
          <a:xfrm>
            <a:off x="3602735"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40" name="Oval 133"/>
          <p:cNvSpPr/>
          <p:nvPr/>
        </p:nvSpPr>
        <p:spPr>
          <a:xfrm>
            <a:off x="3986784"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41" name="Oval 134"/>
          <p:cNvSpPr/>
          <p:nvPr/>
        </p:nvSpPr>
        <p:spPr>
          <a:xfrm>
            <a:off x="4370832"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42" name="Oval 135"/>
          <p:cNvSpPr/>
          <p:nvPr/>
        </p:nvSpPr>
        <p:spPr>
          <a:xfrm>
            <a:off x="4754879"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43" name="Oval 136"/>
          <p:cNvSpPr/>
          <p:nvPr/>
        </p:nvSpPr>
        <p:spPr>
          <a:xfrm>
            <a:off x="5138928"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44" name="Oval 137"/>
          <p:cNvSpPr/>
          <p:nvPr/>
        </p:nvSpPr>
        <p:spPr>
          <a:xfrm>
            <a:off x="5522976"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45" name="Oval 138"/>
          <p:cNvSpPr/>
          <p:nvPr/>
        </p:nvSpPr>
        <p:spPr>
          <a:xfrm>
            <a:off x="5907023"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46" name="Oval 139"/>
          <p:cNvSpPr/>
          <p:nvPr/>
        </p:nvSpPr>
        <p:spPr>
          <a:xfrm>
            <a:off x="6291071"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47" name="Oval 140"/>
          <p:cNvSpPr/>
          <p:nvPr/>
        </p:nvSpPr>
        <p:spPr>
          <a:xfrm>
            <a:off x="6675118"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48" name="Oval 141"/>
          <p:cNvSpPr/>
          <p:nvPr/>
        </p:nvSpPr>
        <p:spPr>
          <a:xfrm>
            <a:off x="7059168"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49" name="Oval 142"/>
          <p:cNvSpPr/>
          <p:nvPr/>
        </p:nvSpPr>
        <p:spPr>
          <a:xfrm>
            <a:off x="7443216"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50" name="Oval 143"/>
          <p:cNvSpPr/>
          <p:nvPr/>
        </p:nvSpPr>
        <p:spPr>
          <a:xfrm>
            <a:off x="7827264"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51" name="Oval 144"/>
          <p:cNvSpPr/>
          <p:nvPr/>
        </p:nvSpPr>
        <p:spPr>
          <a:xfrm>
            <a:off x="8211311" y="4928615"/>
            <a:ext cx="77737" cy="77737"/>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52" name="Rounded Rectangle 145"/>
          <p:cNvSpPr/>
          <p:nvPr/>
        </p:nvSpPr>
        <p:spPr>
          <a:xfrm>
            <a:off x="9528047" y="2167127"/>
            <a:ext cx="1417327" cy="1847090"/>
          </a:xfrm>
          <a:prstGeom prst="roundRect">
            <a:avLst>
              <a:gd name="adj" fmla="val 16667"/>
            </a:avLst>
          </a:prstGeom>
          <a:ln w="1397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553" name="Connector 146"/>
          <p:cNvSpPr/>
          <p:nvPr/>
        </p:nvSpPr>
        <p:spPr>
          <a:xfrm>
            <a:off x="9802368" y="2670048"/>
            <a:ext cx="850393" cy="7"/>
          </a:xfrm>
          <a:prstGeom prst="line">
            <a:avLst/>
          </a:prstGeom>
          <a:ln w="1651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554" name="Connector 147"/>
          <p:cNvSpPr/>
          <p:nvPr/>
        </p:nvSpPr>
        <p:spPr>
          <a:xfrm>
            <a:off x="9802368" y="2990088"/>
            <a:ext cx="694951" cy="7"/>
          </a:xfrm>
          <a:prstGeom prst="line">
            <a:avLst/>
          </a:prstGeom>
          <a:ln w="1651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555" name="Connector 148"/>
          <p:cNvSpPr/>
          <p:nvPr/>
        </p:nvSpPr>
        <p:spPr>
          <a:xfrm>
            <a:off x="9802368" y="3310128"/>
            <a:ext cx="786391" cy="7"/>
          </a:xfrm>
          <a:prstGeom prst="line">
            <a:avLst/>
          </a:prstGeom>
          <a:ln w="19050">
            <a:solidFill>
              <a:srgbClr val="1FA873"/>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556" name="Connector 149"/>
          <p:cNvSpPr/>
          <p:nvPr/>
        </p:nvSpPr>
        <p:spPr>
          <a:xfrm>
            <a:off x="7098030" y="1821937"/>
            <a:ext cx="2430025" cy="1268740"/>
          </a:xfrm>
          <a:prstGeom prst="line">
            <a:avLst/>
          </a:prstGeom>
          <a:ln w="889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557" name="Connector 150"/>
          <p:cNvSpPr/>
          <p:nvPr/>
        </p:nvSpPr>
        <p:spPr>
          <a:xfrm>
            <a:off x="7994139" y="2215133"/>
            <a:ext cx="1533913" cy="875540"/>
          </a:xfrm>
          <a:prstGeom prst="line">
            <a:avLst/>
          </a:prstGeom>
          <a:ln w="889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558" name="Connector 151"/>
          <p:cNvSpPr/>
          <p:nvPr/>
        </p:nvSpPr>
        <p:spPr>
          <a:xfrm>
            <a:off x="3769612" y="3001516"/>
            <a:ext cx="5758442" cy="89160"/>
          </a:xfrm>
          <a:prstGeom prst="line">
            <a:avLst/>
          </a:prstGeom>
          <a:ln w="889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559" name="Connector 152"/>
          <p:cNvSpPr/>
          <p:nvPr/>
        </p:nvSpPr>
        <p:spPr>
          <a:xfrm flipV="1">
            <a:off x="4793739" y="3090671"/>
            <a:ext cx="4734315" cy="304045"/>
          </a:xfrm>
          <a:prstGeom prst="line">
            <a:avLst/>
          </a:prstGeom>
          <a:ln w="889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560" name="Connector 153"/>
          <p:cNvSpPr/>
          <p:nvPr/>
        </p:nvSpPr>
        <p:spPr>
          <a:xfrm flipV="1">
            <a:off x="5689851" y="3090671"/>
            <a:ext cx="3838200" cy="697237"/>
          </a:xfrm>
          <a:prstGeom prst="line">
            <a:avLst/>
          </a:prstGeom>
          <a:ln w="889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561" name="Connector 154"/>
          <p:cNvSpPr/>
          <p:nvPr/>
        </p:nvSpPr>
        <p:spPr>
          <a:xfrm flipV="1">
            <a:off x="7866126" y="3090670"/>
            <a:ext cx="1661924" cy="1090430"/>
          </a:xfrm>
          <a:prstGeom prst="line">
            <a:avLst/>
          </a:prstGeom>
          <a:ln w="889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562" name="Connector 155"/>
          <p:cNvSpPr/>
          <p:nvPr/>
        </p:nvSpPr>
        <p:spPr>
          <a:xfrm flipV="1">
            <a:off x="3641596" y="3090670"/>
            <a:ext cx="5886456" cy="1876808"/>
          </a:xfrm>
          <a:prstGeom prst="line">
            <a:avLst/>
          </a:prstGeom>
          <a:ln w="889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563" name="TextBox 156"/>
          <p:cNvSpPr txBox="1"/>
          <p:nvPr/>
        </p:nvSpPr>
        <p:spPr>
          <a:xfrm>
            <a:off x="822960" y="5614415"/>
            <a:ext cx="228600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3977F6"/>
                </a:solidFill>
                <a:latin typeface="Helvetica Neue"/>
                <a:ea typeface="Helvetica Neue"/>
                <a:cs typeface="Helvetica Neue"/>
                <a:sym typeface="Helvetica Neue"/>
              </a:defRPr>
            </a:pPr>
            <a:r>
              <a:t>• </a:t>
            </a:r>
            <a:r>
              <a:rPr b="0">
                <a:solidFill>
                  <a:srgbClr val="111318"/>
                </a:solidFill>
              </a:rPr>
              <a:t>Same action</a:t>
            </a:r>
          </a:p>
        </p:txBody>
      </p:sp>
      <p:sp>
        <p:nvSpPr>
          <p:cNvPr id="564" name="TextBox 157"/>
          <p:cNvSpPr txBox="1"/>
          <p:nvPr/>
        </p:nvSpPr>
        <p:spPr>
          <a:xfrm>
            <a:off x="3840479" y="5614415"/>
            <a:ext cx="3108967"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3977F6"/>
                </a:solidFill>
                <a:latin typeface="Helvetica Neue"/>
                <a:ea typeface="Helvetica Neue"/>
                <a:cs typeface="Helvetica Neue"/>
                <a:sym typeface="Helvetica Neue"/>
              </a:defRPr>
            </a:pPr>
            <a:r>
              <a:t>• </a:t>
            </a:r>
            <a:r>
              <a:rPr b="0">
                <a:solidFill>
                  <a:srgbClr val="111318"/>
                </a:solidFill>
              </a:rPr>
              <a:t>Thousands of raters</a:t>
            </a:r>
          </a:p>
        </p:txBody>
      </p:sp>
      <p:sp>
        <p:nvSpPr>
          <p:cNvPr id="565" name="TextBox 158"/>
          <p:cNvSpPr txBox="1"/>
          <p:nvPr/>
        </p:nvSpPr>
        <p:spPr>
          <a:xfrm>
            <a:off x="8000999" y="5614415"/>
            <a:ext cx="3474727"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1FA873"/>
                </a:solidFill>
                <a:latin typeface="Helvetica Neue"/>
                <a:ea typeface="Helvetica Neue"/>
                <a:cs typeface="Helvetica Neue"/>
                <a:sym typeface="Helvetica Neue"/>
              </a:defRPr>
            </a:pPr>
            <a:r>
              <a:t>• </a:t>
            </a:r>
            <a:r>
              <a:rPr b="0">
                <a:solidFill>
                  <a:srgbClr val="111318"/>
                </a:solidFill>
              </a:rPr>
              <a:t>One visibility decision</a:t>
            </a:r>
          </a:p>
        </p:txBody>
      </p:sp>
      <p:sp>
        <p:nvSpPr>
          <p:cNvPr id="566" name="TextBox 159"/>
          <p:cNvSpPr txBox="1"/>
          <p:nvPr/>
        </p:nvSpPr>
        <p:spPr>
          <a:xfrm>
            <a:off x="621792" y="6455664"/>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X Community Notes (2026)</a:t>
            </a:r>
          </a:p>
        </p:txBody>
      </p:sp>
      <p:sp>
        <p:nvSpPr>
          <p:cNvPr id="567" name="VoteLine r1c3"/>
          <p:cNvSpPr/>
          <p:nvPr/>
        </p:nvSpPr>
        <p:spPr>
          <a:xfrm>
            <a:off x="3641602" y="1821944"/>
            <a:ext cx="5886447" cy="1268729"/>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68" name="VoteLine r1c8"/>
          <p:cNvSpPr/>
          <p:nvPr/>
        </p:nvSpPr>
        <p:spPr>
          <a:xfrm>
            <a:off x="5561843" y="1821944"/>
            <a:ext cx="3966205" cy="1268729"/>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69" name="VoteLine r1c12"/>
          <p:cNvSpPr/>
          <p:nvPr/>
        </p:nvSpPr>
        <p:spPr>
          <a:xfrm>
            <a:off x="7098035" y="1821944"/>
            <a:ext cx="2430013" cy="1268729"/>
          </a:xfrm>
          <a:prstGeom prst="line">
            <a:avLst/>
          </a:prstGeom>
          <a:ln w="279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70" name="VoteLine r2c5"/>
          <p:cNvSpPr/>
          <p:nvPr/>
        </p:nvSpPr>
        <p:spPr>
          <a:xfrm>
            <a:off x="4537714" y="2215139"/>
            <a:ext cx="4990335" cy="875534"/>
          </a:xfrm>
          <a:prstGeom prst="line">
            <a:avLst/>
          </a:prstGeom>
          <a:ln w="279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71" name="VoteLine r2c11"/>
          <p:cNvSpPr/>
          <p:nvPr/>
        </p:nvSpPr>
        <p:spPr>
          <a:xfrm>
            <a:off x="6842001" y="2215139"/>
            <a:ext cx="2686047" cy="875534"/>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72" name="VoteLine r3c2"/>
          <p:cNvSpPr/>
          <p:nvPr/>
        </p:nvSpPr>
        <p:spPr>
          <a:xfrm>
            <a:off x="3257554" y="2608330"/>
            <a:ext cx="6270495" cy="482342"/>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73" name="VoteLine r3c14"/>
          <p:cNvSpPr/>
          <p:nvPr/>
        </p:nvSpPr>
        <p:spPr>
          <a:xfrm>
            <a:off x="7866130" y="2608330"/>
            <a:ext cx="1661918" cy="482342"/>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74" name="VoteLine r4c4"/>
          <p:cNvSpPr/>
          <p:nvPr/>
        </p:nvSpPr>
        <p:spPr>
          <a:xfrm>
            <a:off x="4153662" y="3001522"/>
            <a:ext cx="5374387" cy="89151"/>
          </a:xfrm>
          <a:prstGeom prst="line">
            <a:avLst/>
          </a:prstGeom>
          <a:ln w="279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75" name="VoteLine r4c9"/>
          <p:cNvSpPr/>
          <p:nvPr/>
        </p:nvSpPr>
        <p:spPr>
          <a:xfrm>
            <a:off x="6073907" y="3001522"/>
            <a:ext cx="3454142" cy="89151"/>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76" name="VoteLine r5c1"/>
          <p:cNvSpPr/>
          <p:nvPr/>
        </p:nvSpPr>
        <p:spPr>
          <a:xfrm flipV="1">
            <a:off x="2873505" y="3090672"/>
            <a:ext cx="6654543" cy="304043"/>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77" name="VoteLine r5c11"/>
          <p:cNvSpPr/>
          <p:nvPr/>
        </p:nvSpPr>
        <p:spPr>
          <a:xfrm flipV="1">
            <a:off x="6713984" y="3090672"/>
            <a:ext cx="2814064" cy="304043"/>
          </a:xfrm>
          <a:prstGeom prst="line">
            <a:avLst/>
          </a:prstGeom>
          <a:ln w="279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78" name="VoteLine r6c6"/>
          <p:cNvSpPr/>
          <p:nvPr/>
        </p:nvSpPr>
        <p:spPr>
          <a:xfrm flipV="1">
            <a:off x="4921763" y="3090672"/>
            <a:ext cx="4606286" cy="697233"/>
          </a:xfrm>
          <a:prstGeom prst="line">
            <a:avLst/>
          </a:prstGeom>
          <a:ln w="279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79" name="VoteLine r6c15"/>
          <p:cNvSpPr/>
          <p:nvPr/>
        </p:nvSpPr>
        <p:spPr>
          <a:xfrm flipV="1">
            <a:off x="8378194" y="3090672"/>
            <a:ext cx="1149854" cy="697233"/>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80" name="VoteLine r7c3"/>
          <p:cNvSpPr/>
          <p:nvPr/>
        </p:nvSpPr>
        <p:spPr>
          <a:xfrm flipV="1">
            <a:off x="3641602" y="3090672"/>
            <a:ext cx="5886447" cy="1090428"/>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81" name="VoteLine r7c9"/>
          <p:cNvSpPr/>
          <p:nvPr/>
        </p:nvSpPr>
        <p:spPr>
          <a:xfrm flipV="1">
            <a:off x="5945890" y="3090672"/>
            <a:ext cx="3582159" cy="1090428"/>
          </a:xfrm>
          <a:prstGeom prst="line">
            <a:avLst/>
          </a:prstGeom>
          <a:ln w="279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82" name="VoteLine r8c13"/>
          <p:cNvSpPr/>
          <p:nvPr/>
        </p:nvSpPr>
        <p:spPr>
          <a:xfrm flipV="1">
            <a:off x="7610096" y="3090671"/>
            <a:ext cx="1917952" cy="1483620"/>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83" name="VoteLine r9c5"/>
          <p:cNvSpPr/>
          <p:nvPr/>
        </p:nvSpPr>
        <p:spPr>
          <a:xfrm flipV="1">
            <a:off x="4409699" y="3090672"/>
            <a:ext cx="5118349" cy="1876811"/>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5"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It reads the rater</a:t>
            </a:r>
          </a:p>
        </p:txBody>
      </p:sp>
      <p:sp>
        <p:nvSpPr>
          <p:cNvPr id="586" name="TextBox 3"/>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04</a:t>
            </a:r>
          </a:p>
        </p:txBody>
      </p:sp>
      <p:sp>
        <p:nvSpPr>
          <p:cNvPr id="587" name="Connector 4"/>
          <p:cNvSpPr/>
          <p:nvPr/>
        </p:nvSpPr>
        <p:spPr>
          <a:xfrm flipH="1">
            <a:off x="6099047" y="1627632"/>
            <a:ext cx="6" cy="3511296"/>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88" name="TextBox 5"/>
          <p:cNvSpPr txBox="1"/>
          <p:nvPr/>
        </p:nvSpPr>
        <p:spPr>
          <a:xfrm>
            <a:off x="822958" y="1572766"/>
            <a:ext cx="1645923"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FF705B"/>
                </a:solidFill>
                <a:latin typeface="Helvetica Neue"/>
                <a:ea typeface="Helvetica Neue"/>
                <a:cs typeface="Helvetica Neue"/>
                <a:sym typeface="Helvetica Neue"/>
              </a:defRPr>
            </a:lvl1pPr>
          </a:lstStyle>
          <a:p>
            <a:pPr/>
            <a:r>
              <a:t>AMIGO</a:t>
            </a:r>
          </a:p>
        </p:txBody>
      </p:sp>
      <p:sp>
        <p:nvSpPr>
          <p:cNvPr id="589" name="Oval 6"/>
          <p:cNvSpPr/>
          <p:nvPr/>
        </p:nvSpPr>
        <p:spPr>
          <a:xfrm>
            <a:off x="1234438" y="2221992"/>
            <a:ext cx="228605" cy="22860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90" name="Connector 7"/>
          <p:cNvSpPr/>
          <p:nvPr/>
        </p:nvSpPr>
        <p:spPr>
          <a:xfrm>
            <a:off x="1348738" y="2450592"/>
            <a:ext cx="6" cy="37719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91" name="Connector 8"/>
          <p:cNvSpPr/>
          <p:nvPr/>
        </p:nvSpPr>
        <p:spPr>
          <a:xfrm>
            <a:off x="1188719" y="2610611"/>
            <a:ext cx="320046"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92" name="Connector 9"/>
          <p:cNvSpPr/>
          <p:nvPr/>
        </p:nvSpPr>
        <p:spPr>
          <a:xfrm flipH="1">
            <a:off x="1200149" y="2827782"/>
            <a:ext cx="148596" cy="24003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93" name="Connector 10"/>
          <p:cNvSpPr/>
          <p:nvPr/>
        </p:nvSpPr>
        <p:spPr>
          <a:xfrm>
            <a:off x="1348738" y="2827782"/>
            <a:ext cx="148596" cy="24003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94" name="Rounded Rectangle 11"/>
          <p:cNvSpPr/>
          <p:nvPr/>
        </p:nvSpPr>
        <p:spPr>
          <a:xfrm>
            <a:off x="3310128" y="2011677"/>
            <a:ext cx="1353318" cy="1719075"/>
          </a:xfrm>
          <a:prstGeom prst="roundRect">
            <a:avLst>
              <a:gd name="adj" fmla="val 16667"/>
            </a:avLst>
          </a:prstGeom>
          <a:ln w="1397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95" name="Connector 12"/>
          <p:cNvSpPr/>
          <p:nvPr/>
        </p:nvSpPr>
        <p:spPr>
          <a:xfrm>
            <a:off x="3529584" y="2450592"/>
            <a:ext cx="914405" cy="6"/>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96" name="Connector 13"/>
          <p:cNvSpPr/>
          <p:nvPr/>
        </p:nvSpPr>
        <p:spPr>
          <a:xfrm>
            <a:off x="3529584" y="2761488"/>
            <a:ext cx="786390" cy="6"/>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97" name="Connector 14"/>
          <p:cNvSpPr/>
          <p:nvPr/>
        </p:nvSpPr>
        <p:spPr>
          <a:xfrm>
            <a:off x="3529584" y="3072383"/>
            <a:ext cx="877829" cy="6"/>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598" name="Oval 15"/>
          <p:cNvSpPr/>
          <p:nvPr/>
        </p:nvSpPr>
        <p:spPr>
          <a:xfrm>
            <a:off x="2331720" y="2587749"/>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99" name="Connector 16"/>
          <p:cNvSpPr/>
          <p:nvPr/>
        </p:nvSpPr>
        <p:spPr>
          <a:xfrm>
            <a:off x="2372866" y="2697477"/>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00" name="Connector 17"/>
          <p:cNvSpPr/>
          <p:nvPr/>
        </p:nvSpPr>
        <p:spPr>
          <a:xfrm flipV="1">
            <a:off x="2418588" y="264261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01" name="TextBox 18"/>
          <p:cNvSpPr txBox="1"/>
          <p:nvPr/>
        </p:nvSpPr>
        <p:spPr>
          <a:xfrm>
            <a:off x="2103120" y="2907792"/>
            <a:ext cx="71323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900">
                <a:solidFill>
                  <a:srgbClr val="1FA873"/>
                </a:solidFill>
                <a:latin typeface="Helvetica Neue"/>
                <a:ea typeface="Helvetica Neue"/>
                <a:cs typeface="Helvetica Neue"/>
                <a:sym typeface="Helvetica Neue"/>
              </a:defRPr>
            </a:lvl1pPr>
          </a:lstStyle>
          <a:p>
            <a:pPr/>
            <a:r>
              <a:t>HELPFUL</a:t>
            </a:r>
          </a:p>
        </p:txBody>
      </p:sp>
      <p:sp>
        <p:nvSpPr>
          <p:cNvPr id="602" name="Connector 19"/>
          <p:cNvSpPr/>
          <p:nvPr/>
        </p:nvSpPr>
        <p:spPr>
          <a:xfrm>
            <a:off x="1837943" y="2688333"/>
            <a:ext cx="411486" cy="6"/>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03" name="Connector 20"/>
          <p:cNvSpPr/>
          <p:nvPr/>
        </p:nvSpPr>
        <p:spPr>
          <a:xfrm>
            <a:off x="2578604" y="2688333"/>
            <a:ext cx="694951" cy="6"/>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04" name="TextBox 22"/>
          <p:cNvSpPr txBox="1"/>
          <p:nvPr/>
        </p:nvSpPr>
        <p:spPr>
          <a:xfrm>
            <a:off x="2487166" y="3931920"/>
            <a:ext cx="1188724" cy="3567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2300">
                <a:solidFill>
                  <a:srgbClr val="FF705B"/>
                </a:solidFill>
                <a:latin typeface="Helvetica Neue"/>
                <a:ea typeface="Helvetica Neue"/>
                <a:cs typeface="Helvetica Neue"/>
                <a:sym typeface="Helvetica Neue"/>
              </a:defRPr>
            </a:pPr>
            <a:r>
              <a:t>f</a:t>
            </a:r>
            <a:r>
              <a:rPr>
                <a:latin typeface="+mj-lt"/>
                <a:ea typeface="+mj-ea"/>
                <a:cs typeface="+mj-cs"/>
                <a:sym typeface="Calibri"/>
              </a:rPr>
              <a:t>ᵤ </a:t>
            </a:r>
            <a:r>
              <a:t>· fₙ</a:t>
            </a:r>
          </a:p>
        </p:txBody>
      </p:sp>
      <p:sp>
        <p:nvSpPr>
          <p:cNvPr id="605" name="TextBox 23"/>
          <p:cNvSpPr txBox="1"/>
          <p:nvPr/>
        </p:nvSpPr>
        <p:spPr>
          <a:xfrm>
            <a:off x="3977639" y="3950208"/>
            <a:ext cx="1115568"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73777F"/>
                </a:solidFill>
                <a:latin typeface="Helvetica Neue"/>
                <a:ea typeface="Helvetica Neue"/>
                <a:cs typeface="Helvetica Neue"/>
                <a:sym typeface="Helvetica Neue"/>
              </a:defRPr>
            </a:lvl1pPr>
          </a:lstStyle>
          <a:p>
            <a:pPr/>
            <a:r>
              <a:t>iₙ  —</a:t>
            </a:r>
          </a:p>
        </p:txBody>
      </p:sp>
      <p:sp>
        <p:nvSpPr>
          <p:cNvPr id="606" name="Connector 24"/>
          <p:cNvSpPr/>
          <p:nvPr/>
        </p:nvSpPr>
        <p:spPr>
          <a:xfrm>
            <a:off x="2240277" y="4160520"/>
            <a:ext cx="228605"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07" name="Connector 25"/>
          <p:cNvSpPr/>
          <p:nvPr/>
        </p:nvSpPr>
        <p:spPr>
          <a:xfrm>
            <a:off x="3657598" y="4160520"/>
            <a:ext cx="274327"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08" name="TextBox 27"/>
          <p:cNvSpPr txBox="1"/>
          <p:nvPr/>
        </p:nvSpPr>
        <p:spPr>
          <a:xfrm>
            <a:off x="6419086" y="1572766"/>
            <a:ext cx="2468887"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FA873"/>
                </a:solidFill>
                <a:latin typeface="Helvetica Neue"/>
                <a:ea typeface="Helvetica Neue"/>
                <a:cs typeface="Helvetica Neue"/>
                <a:sym typeface="Helvetica Neue"/>
              </a:defRPr>
            </a:lvl1pPr>
          </a:lstStyle>
          <a:p>
            <a:pPr/>
            <a:r>
              <a:t>ENEMIES SHAKE HANDS</a:t>
            </a:r>
          </a:p>
        </p:txBody>
      </p:sp>
      <p:sp>
        <p:nvSpPr>
          <p:cNvPr id="609" name="Oval 28"/>
          <p:cNvSpPr/>
          <p:nvPr/>
        </p:nvSpPr>
        <p:spPr>
          <a:xfrm>
            <a:off x="6903718" y="2221992"/>
            <a:ext cx="215799" cy="21579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10" name="Connector 29"/>
          <p:cNvSpPr/>
          <p:nvPr/>
        </p:nvSpPr>
        <p:spPr>
          <a:xfrm>
            <a:off x="7011619" y="2437788"/>
            <a:ext cx="6" cy="356073"/>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11" name="Connector 30"/>
          <p:cNvSpPr/>
          <p:nvPr/>
        </p:nvSpPr>
        <p:spPr>
          <a:xfrm>
            <a:off x="6860560" y="2588847"/>
            <a:ext cx="302124" cy="6"/>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12" name="Connector 31"/>
          <p:cNvSpPr/>
          <p:nvPr/>
        </p:nvSpPr>
        <p:spPr>
          <a:xfrm flipH="1">
            <a:off x="6871350" y="2793856"/>
            <a:ext cx="140275" cy="226591"/>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13" name="Connector 32"/>
          <p:cNvSpPr/>
          <p:nvPr/>
        </p:nvSpPr>
        <p:spPr>
          <a:xfrm>
            <a:off x="7011619" y="2793856"/>
            <a:ext cx="140275" cy="226591"/>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14" name="Rounded Rectangle 33"/>
          <p:cNvSpPr/>
          <p:nvPr/>
        </p:nvSpPr>
        <p:spPr>
          <a:xfrm>
            <a:off x="8320327" y="2009138"/>
            <a:ext cx="1353315" cy="1719074"/>
          </a:xfrm>
          <a:prstGeom prst="roundRect">
            <a:avLst>
              <a:gd name="adj" fmla="val 16667"/>
            </a:avLst>
          </a:prstGeom>
          <a:ln w="1397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15" name="Connector 34"/>
          <p:cNvSpPr/>
          <p:nvPr/>
        </p:nvSpPr>
        <p:spPr>
          <a:xfrm>
            <a:off x="8539781" y="2448049"/>
            <a:ext cx="914406" cy="6"/>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16" name="Connector 35"/>
          <p:cNvSpPr/>
          <p:nvPr/>
        </p:nvSpPr>
        <p:spPr>
          <a:xfrm>
            <a:off x="8539781" y="2758948"/>
            <a:ext cx="786390" cy="6"/>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17" name="Connector 36"/>
          <p:cNvSpPr/>
          <p:nvPr/>
        </p:nvSpPr>
        <p:spPr>
          <a:xfrm>
            <a:off x="8539781" y="3069843"/>
            <a:ext cx="877830" cy="6"/>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18" name="Oval 37"/>
          <p:cNvSpPr/>
          <p:nvPr/>
        </p:nvSpPr>
        <p:spPr>
          <a:xfrm>
            <a:off x="10602500" y="2226117"/>
            <a:ext cx="215799" cy="21579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19" name="Connector 38"/>
          <p:cNvSpPr/>
          <p:nvPr/>
        </p:nvSpPr>
        <p:spPr>
          <a:xfrm>
            <a:off x="10710401" y="2441915"/>
            <a:ext cx="6" cy="35607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20" name="Connector 39"/>
          <p:cNvSpPr/>
          <p:nvPr/>
        </p:nvSpPr>
        <p:spPr>
          <a:xfrm>
            <a:off x="10559342" y="2592974"/>
            <a:ext cx="302124"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21" name="Connector 40"/>
          <p:cNvSpPr/>
          <p:nvPr/>
        </p:nvSpPr>
        <p:spPr>
          <a:xfrm flipH="1">
            <a:off x="10570132" y="2797979"/>
            <a:ext cx="140275" cy="22659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22" name="Connector 41"/>
          <p:cNvSpPr/>
          <p:nvPr/>
        </p:nvSpPr>
        <p:spPr>
          <a:xfrm>
            <a:off x="10710401" y="2797979"/>
            <a:ext cx="140275" cy="22659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23" name="Oval 42"/>
          <p:cNvSpPr/>
          <p:nvPr/>
        </p:nvSpPr>
        <p:spPr>
          <a:xfrm>
            <a:off x="7973568" y="2587749"/>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24" name="Connector 43"/>
          <p:cNvSpPr/>
          <p:nvPr/>
        </p:nvSpPr>
        <p:spPr>
          <a:xfrm>
            <a:off x="8014716" y="2697477"/>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25" name="Connector 44"/>
          <p:cNvSpPr/>
          <p:nvPr/>
        </p:nvSpPr>
        <p:spPr>
          <a:xfrm flipV="1">
            <a:off x="8060435" y="264261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26" name="Oval 45"/>
          <p:cNvSpPr/>
          <p:nvPr/>
        </p:nvSpPr>
        <p:spPr>
          <a:xfrm>
            <a:off x="9737645" y="2585210"/>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27" name="Connector 46"/>
          <p:cNvSpPr/>
          <p:nvPr/>
        </p:nvSpPr>
        <p:spPr>
          <a:xfrm>
            <a:off x="9778793" y="2694938"/>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28" name="Connector 47"/>
          <p:cNvSpPr/>
          <p:nvPr/>
        </p:nvSpPr>
        <p:spPr>
          <a:xfrm flipV="1">
            <a:off x="9824515" y="264007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29" name="Connector 48"/>
          <p:cNvSpPr/>
          <p:nvPr/>
        </p:nvSpPr>
        <p:spPr>
          <a:xfrm>
            <a:off x="7452359" y="2688333"/>
            <a:ext cx="429773" cy="6"/>
          </a:xfrm>
          <a:prstGeom prst="line">
            <a:avLst/>
          </a:prstGeom>
          <a:ln w="1778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30" name="Connector 50"/>
          <p:cNvSpPr/>
          <p:nvPr/>
        </p:nvSpPr>
        <p:spPr>
          <a:xfrm>
            <a:off x="10042906" y="2679444"/>
            <a:ext cx="448062" cy="6"/>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31" name="TextBox 51"/>
          <p:cNvSpPr txBox="1"/>
          <p:nvPr/>
        </p:nvSpPr>
        <p:spPr>
          <a:xfrm>
            <a:off x="6748271" y="4087367"/>
            <a:ext cx="1627636"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FA873"/>
                </a:solidFill>
                <a:latin typeface="Helvetica Neue"/>
                <a:ea typeface="Helvetica Neue"/>
                <a:cs typeface="Helvetica Neue"/>
                <a:sym typeface="Helvetica Neue"/>
              </a:defRPr>
            </a:lvl1pPr>
          </a:lstStyle>
          <a:p>
            <a:pPr/>
            <a:r>
              <a:t>UNEXPECTED</a:t>
            </a:r>
          </a:p>
        </p:txBody>
      </p:sp>
      <p:sp>
        <p:nvSpPr>
          <p:cNvPr id="632" name="TextBox 52"/>
          <p:cNvSpPr txBox="1"/>
          <p:nvPr/>
        </p:nvSpPr>
        <p:spPr>
          <a:xfrm>
            <a:off x="8357616" y="3931920"/>
            <a:ext cx="1691641" cy="3312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2100">
                <a:solidFill>
                  <a:srgbClr val="73777F"/>
                </a:solidFill>
                <a:latin typeface="Helvetica Neue"/>
                <a:ea typeface="Helvetica Neue"/>
                <a:cs typeface="Helvetica Neue"/>
                <a:sym typeface="Helvetica Neue"/>
              </a:defRPr>
            </a:pPr>
            <a:r>
              <a:t>f</a:t>
            </a:r>
            <a:r>
              <a:rPr>
                <a:latin typeface="+mj-lt"/>
                <a:ea typeface="+mj-ea"/>
                <a:cs typeface="+mj-cs"/>
                <a:sym typeface="Calibri"/>
              </a:rPr>
              <a:t>ᵤ </a:t>
            </a:r>
            <a:r>
              <a:t>· fₙ ≈ 0</a:t>
            </a:r>
          </a:p>
        </p:txBody>
      </p:sp>
      <p:sp>
        <p:nvSpPr>
          <p:cNvPr id="633" name="TextBox 53"/>
          <p:cNvSpPr txBox="1"/>
          <p:nvPr/>
        </p:nvSpPr>
        <p:spPr>
          <a:xfrm>
            <a:off x="10241280" y="3904486"/>
            <a:ext cx="914406" cy="3594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400">
                <a:solidFill>
                  <a:srgbClr val="1FA873"/>
                </a:solidFill>
                <a:latin typeface="Helvetica Neue"/>
                <a:ea typeface="Helvetica Neue"/>
                <a:cs typeface="Helvetica Neue"/>
                <a:sym typeface="Helvetica Neue"/>
              </a:defRPr>
            </a:lvl1pPr>
          </a:lstStyle>
          <a:p>
            <a:pPr/>
            <a:r>
              <a:t>iₙ  ↑</a:t>
            </a:r>
          </a:p>
        </p:txBody>
      </p:sp>
      <p:sp>
        <p:nvSpPr>
          <p:cNvPr id="634" name="Connector 54"/>
          <p:cNvSpPr/>
          <p:nvPr/>
        </p:nvSpPr>
        <p:spPr>
          <a:xfrm>
            <a:off x="8119871" y="4160520"/>
            <a:ext cx="219455"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35" name="Connector 55"/>
          <p:cNvSpPr/>
          <p:nvPr/>
        </p:nvSpPr>
        <p:spPr>
          <a:xfrm>
            <a:off x="10058399" y="4160520"/>
            <a:ext cx="164599"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36" name="TextBox 56"/>
          <p:cNvSpPr txBox="1"/>
          <p:nvPr/>
        </p:nvSpPr>
        <p:spPr>
          <a:xfrm>
            <a:off x="6784847" y="4773167"/>
            <a:ext cx="3108966"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1FA873"/>
                </a:solidFill>
                <a:latin typeface="Helvetica Neue"/>
                <a:ea typeface="Helvetica Neue"/>
                <a:cs typeface="Helvetica Neue"/>
                <a:sym typeface="Helvetica Neue"/>
              </a:defRPr>
            </a:pPr>
            <a:r>
              <a:t>• </a:t>
            </a:r>
            <a:r>
              <a:rPr b="0">
                <a:solidFill>
                  <a:srgbClr val="73777F"/>
                </a:solidFill>
              </a:rPr>
              <a:t>Cross-viewpoint surprise</a:t>
            </a:r>
          </a:p>
        </p:txBody>
      </p:sp>
      <p:sp>
        <p:nvSpPr>
          <p:cNvPr id="637" name="TextBox 59"/>
          <p:cNvSpPr txBox="1"/>
          <p:nvPr/>
        </p:nvSpPr>
        <p:spPr>
          <a:xfrm>
            <a:off x="6784847" y="5669279"/>
            <a:ext cx="374904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FF705B"/>
                </a:solidFill>
                <a:latin typeface="Helvetica Neue"/>
                <a:ea typeface="Helvetica Neue"/>
                <a:cs typeface="Helvetica Neue"/>
                <a:sym typeface="Helvetica Neue"/>
              </a:defRPr>
            </a:pPr>
            <a:r>
              <a:t>• </a:t>
            </a:r>
            <a:r>
              <a:rPr>
                <a:solidFill>
                  <a:srgbClr val="111318"/>
                </a:solidFill>
              </a:rPr>
              <a:t>The model asks who voted</a:t>
            </a:r>
          </a:p>
        </p:txBody>
      </p:sp>
      <p:sp>
        <p:nvSpPr>
          <p:cNvPr id="638" name="TextBox 60"/>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Wojcik et al. (2022); Buterin (2023); X Community Notes (2026)</a:t>
            </a:r>
          </a:p>
        </p:txBody>
      </p:sp>
      <p:sp>
        <p:nvSpPr>
          <p:cNvPr id="639" name="Rectangle"/>
          <p:cNvSpPr/>
          <p:nvPr/>
        </p:nvSpPr>
        <p:spPr>
          <a:xfrm>
            <a:off x="1630323" y="1436428"/>
            <a:ext cx="9768876" cy="4669920"/>
          </a:xfrm>
          <a:prstGeom prst="rect">
            <a:avLst/>
          </a:prstGeom>
          <a:solidFill>
            <a:srgbClr val="FFFFFF"/>
          </a:solidFill>
          <a:ln w="12700">
            <a:miter lim="400000"/>
          </a:ln>
        </p:spPr>
        <p:txBody>
          <a:bodyPr lIns="45718" tIns="45718" rIns="45718" bIns="45718" anchor="ctr"/>
          <a:lstStyle/>
          <a:p>
            <a:pPr>
              <a:defRPr>
                <a:latin typeface="+mj-lt"/>
                <a:ea typeface="+mj-ea"/>
                <a:cs typeface="+mj-cs"/>
                <a:sym typeface="Calibri"/>
              </a:defRPr>
            </a:pPr>
          </a:p>
        </p:txBody>
      </p:sp>
      <p:sp>
        <p:nvSpPr>
          <p:cNvPr id="640" name="TextBox 1"/>
          <p:cNvSpPr txBox="1"/>
          <p:nvPr/>
        </p:nvSpPr>
        <p:spPr>
          <a:xfrm>
            <a:off x="603499" y="420623"/>
            <a:ext cx="4389130"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HOW SYSTEM WORKS 1 - 2</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2"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It reads the rater</a:t>
            </a:r>
          </a:p>
        </p:txBody>
      </p:sp>
      <p:sp>
        <p:nvSpPr>
          <p:cNvPr id="643" name="TextBox 3"/>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04</a:t>
            </a:r>
          </a:p>
        </p:txBody>
      </p:sp>
      <p:sp>
        <p:nvSpPr>
          <p:cNvPr id="644" name="Connector 4"/>
          <p:cNvSpPr/>
          <p:nvPr/>
        </p:nvSpPr>
        <p:spPr>
          <a:xfrm flipH="1">
            <a:off x="6099047" y="1627632"/>
            <a:ext cx="6" cy="3511296"/>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45" name="TextBox 5"/>
          <p:cNvSpPr txBox="1"/>
          <p:nvPr/>
        </p:nvSpPr>
        <p:spPr>
          <a:xfrm>
            <a:off x="822958" y="1572766"/>
            <a:ext cx="1645923"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FF705B"/>
                </a:solidFill>
                <a:latin typeface="Helvetica Neue"/>
                <a:ea typeface="Helvetica Neue"/>
                <a:cs typeface="Helvetica Neue"/>
                <a:sym typeface="Helvetica Neue"/>
              </a:defRPr>
            </a:lvl1pPr>
          </a:lstStyle>
          <a:p>
            <a:pPr/>
            <a:r>
              <a:t>AMIGO</a:t>
            </a:r>
          </a:p>
        </p:txBody>
      </p:sp>
      <p:sp>
        <p:nvSpPr>
          <p:cNvPr id="646" name="Oval 6"/>
          <p:cNvSpPr/>
          <p:nvPr/>
        </p:nvSpPr>
        <p:spPr>
          <a:xfrm>
            <a:off x="1234438" y="2221992"/>
            <a:ext cx="228605" cy="22860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47" name="Connector 7"/>
          <p:cNvSpPr/>
          <p:nvPr/>
        </p:nvSpPr>
        <p:spPr>
          <a:xfrm>
            <a:off x="1348738" y="2450592"/>
            <a:ext cx="6" cy="37719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48" name="Connector 8"/>
          <p:cNvSpPr/>
          <p:nvPr/>
        </p:nvSpPr>
        <p:spPr>
          <a:xfrm>
            <a:off x="1188719" y="2610610"/>
            <a:ext cx="320046"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49" name="Connector 9"/>
          <p:cNvSpPr/>
          <p:nvPr/>
        </p:nvSpPr>
        <p:spPr>
          <a:xfrm flipH="1">
            <a:off x="1200149" y="2827782"/>
            <a:ext cx="148596" cy="24003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50" name="Connector 10"/>
          <p:cNvSpPr/>
          <p:nvPr/>
        </p:nvSpPr>
        <p:spPr>
          <a:xfrm>
            <a:off x="1348735" y="2827782"/>
            <a:ext cx="148597" cy="24003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51" name="Rounded Rectangle 11"/>
          <p:cNvSpPr/>
          <p:nvPr/>
        </p:nvSpPr>
        <p:spPr>
          <a:xfrm>
            <a:off x="3310128" y="2011677"/>
            <a:ext cx="1353318" cy="1719075"/>
          </a:xfrm>
          <a:prstGeom prst="roundRect">
            <a:avLst>
              <a:gd name="adj" fmla="val 16667"/>
            </a:avLst>
          </a:prstGeom>
          <a:ln w="1397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52" name="Connector 12"/>
          <p:cNvSpPr/>
          <p:nvPr/>
        </p:nvSpPr>
        <p:spPr>
          <a:xfrm>
            <a:off x="3529584" y="2450592"/>
            <a:ext cx="914405" cy="6"/>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53" name="Connector 13"/>
          <p:cNvSpPr/>
          <p:nvPr/>
        </p:nvSpPr>
        <p:spPr>
          <a:xfrm>
            <a:off x="3529584" y="2761487"/>
            <a:ext cx="786390" cy="7"/>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54" name="Connector 14"/>
          <p:cNvSpPr/>
          <p:nvPr/>
        </p:nvSpPr>
        <p:spPr>
          <a:xfrm>
            <a:off x="3529584" y="3072383"/>
            <a:ext cx="877829" cy="5"/>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55" name="Oval 15"/>
          <p:cNvSpPr/>
          <p:nvPr/>
        </p:nvSpPr>
        <p:spPr>
          <a:xfrm>
            <a:off x="2331720" y="2587749"/>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56" name="Connector 16"/>
          <p:cNvSpPr/>
          <p:nvPr/>
        </p:nvSpPr>
        <p:spPr>
          <a:xfrm>
            <a:off x="2372865" y="2697477"/>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57" name="Connector 17"/>
          <p:cNvSpPr/>
          <p:nvPr/>
        </p:nvSpPr>
        <p:spPr>
          <a:xfrm flipV="1">
            <a:off x="2418588" y="264261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58" name="TextBox 18"/>
          <p:cNvSpPr txBox="1"/>
          <p:nvPr/>
        </p:nvSpPr>
        <p:spPr>
          <a:xfrm>
            <a:off x="2103120" y="2907792"/>
            <a:ext cx="71323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900">
                <a:solidFill>
                  <a:srgbClr val="1FA873"/>
                </a:solidFill>
                <a:latin typeface="Helvetica Neue"/>
                <a:ea typeface="Helvetica Neue"/>
                <a:cs typeface="Helvetica Neue"/>
                <a:sym typeface="Helvetica Neue"/>
              </a:defRPr>
            </a:lvl1pPr>
          </a:lstStyle>
          <a:p>
            <a:pPr/>
            <a:r>
              <a:t>HELPFUL</a:t>
            </a:r>
          </a:p>
        </p:txBody>
      </p:sp>
      <p:sp>
        <p:nvSpPr>
          <p:cNvPr id="659" name="Connector 19"/>
          <p:cNvSpPr/>
          <p:nvPr/>
        </p:nvSpPr>
        <p:spPr>
          <a:xfrm>
            <a:off x="1837943" y="2688333"/>
            <a:ext cx="411486" cy="6"/>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60" name="Connector 20"/>
          <p:cNvSpPr/>
          <p:nvPr/>
        </p:nvSpPr>
        <p:spPr>
          <a:xfrm>
            <a:off x="2578604" y="2688333"/>
            <a:ext cx="694951" cy="5"/>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61" name="TextBox 22"/>
          <p:cNvSpPr txBox="1"/>
          <p:nvPr/>
        </p:nvSpPr>
        <p:spPr>
          <a:xfrm>
            <a:off x="2487166" y="3931920"/>
            <a:ext cx="1188724" cy="3567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2300">
                <a:solidFill>
                  <a:srgbClr val="FF705B"/>
                </a:solidFill>
                <a:latin typeface="Helvetica Neue"/>
                <a:ea typeface="Helvetica Neue"/>
                <a:cs typeface="Helvetica Neue"/>
                <a:sym typeface="Helvetica Neue"/>
              </a:defRPr>
            </a:pPr>
            <a:r>
              <a:t>f</a:t>
            </a:r>
            <a:r>
              <a:rPr>
                <a:latin typeface="+mj-lt"/>
                <a:ea typeface="+mj-ea"/>
                <a:cs typeface="+mj-cs"/>
                <a:sym typeface="Calibri"/>
              </a:rPr>
              <a:t>ᵤ </a:t>
            </a:r>
            <a:r>
              <a:t>· fₙ</a:t>
            </a:r>
          </a:p>
        </p:txBody>
      </p:sp>
      <p:sp>
        <p:nvSpPr>
          <p:cNvPr id="662" name="TextBox 23"/>
          <p:cNvSpPr txBox="1"/>
          <p:nvPr/>
        </p:nvSpPr>
        <p:spPr>
          <a:xfrm>
            <a:off x="3977637" y="3950208"/>
            <a:ext cx="1115572"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73777F"/>
                </a:solidFill>
                <a:latin typeface="Helvetica Neue"/>
                <a:ea typeface="Helvetica Neue"/>
                <a:cs typeface="Helvetica Neue"/>
                <a:sym typeface="Helvetica Neue"/>
              </a:defRPr>
            </a:lvl1pPr>
          </a:lstStyle>
          <a:p>
            <a:pPr/>
            <a:r>
              <a:t>iₙ  —</a:t>
            </a:r>
          </a:p>
        </p:txBody>
      </p:sp>
      <p:sp>
        <p:nvSpPr>
          <p:cNvPr id="663" name="Connector 24"/>
          <p:cNvSpPr/>
          <p:nvPr/>
        </p:nvSpPr>
        <p:spPr>
          <a:xfrm>
            <a:off x="2240277" y="4160520"/>
            <a:ext cx="228605"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64" name="Connector 25"/>
          <p:cNvSpPr/>
          <p:nvPr/>
        </p:nvSpPr>
        <p:spPr>
          <a:xfrm>
            <a:off x="3657598" y="4160520"/>
            <a:ext cx="274327"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65" name="TextBox 27"/>
          <p:cNvSpPr txBox="1"/>
          <p:nvPr/>
        </p:nvSpPr>
        <p:spPr>
          <a:xfrm>
            <a:off x="6419086" y="1572766"/>
            <a:ext cx="2468887"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FA873"/>
                </a:solidFill>
                <a:latin typeface="Helvetica Neue"/>
                <a:ea typeface="Helvetica Neue"/>
                <a:cs typeface="Helvetica Neue"/>
                <a:sym typeface="Helvetica Neue"/>
              </a:defRPr>
            </a:lvl1pPr>
          </a:lstStyle>
          <a:p>
            <a:pPr/>
            <a:r>
              <a:t>ENEMIES SHAKE HANDS</a:t>
            </a:r>
          </a:p>
        </p:txBody>
      </p:sp>
      <p:sp>
        <p:nvSpPr>
          <p:cNvPr id="666" name="Oval 28"/>
          <p:cNvSpPr/>
          <p:nvPr/>
        </p:nvSpPr>
        <p:spPr>
          <a:xfrm>
            <a:off x="6903718" y="2221992"/>
            <a:ext cx="215799" cy="21579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67" name="Connector 29"/>
          <p:cNvSpPr/>
          <p:nvPr/>
        </p:nvSpPr>
        <p:spPr>
          <a:xfrm>
            <a:off x="7011619" y="2437787"/>
            <a:ext cx="6" cy="356074"/>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68" name="Connector 30"/>
          <p:cNvSpPr/>
          <p:nvPr/>
        </p:nvSpPr>
        <p:spPr>
          <a:xfrm>
            <a:off x="6860560" y="2588847"/>
            <a:ext cx="302124" cy="5"/>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69" name="Connector 31"/>
          <p:cNvSpPr/>
          <p:nvPr/>
        </p:nvSpPr>
        <p:spPr>
          <a:xfrm flipH="1">
            <a:off x="6871350" y="2793856"/>
            <a:ext cx="140275" cy="226591"/>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70" name="Connector 32"/>
          <p:cNvSpPr/>
          <p:nvPr/>
        </p:nvSpPr>
        <p:spPr>
          <a:xfrm>
            <a:off x="7011619" y="2793856"/>
            <a:ext cx="140275" cy="226591"/>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71" name="Rounded Rectangle 33"/>
          <p:cNvSpPr/>
          <p:nvPr/>
        </p:nvSpPr>
        <p:spPr>
          <a:xfrm>
            <a:off x="8320327" y="2009138"/>
            <a:ext cx="1353315" cy="1719074"/>
          </a:xfrm>
          <a:prstGeom prst="roundRect">
            <a:avLst>
              <a:gd name="adj" fmla="val 16667"/>
            </a:avLst>
          </a:prstGeom>
          <a:ln w="1397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72" name="Connector 34"/>
          <p:cNvSpPr/>
          <p:nvPr/>
        </p:nvSpPr>
        <p:spPr>
          <a:xfrm>
            <a:off x="8539781" y="2448049"/>
            <a:ext cx="914406" cy="6"/>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73" name="Connector 35"/>
          <p:cNvSpPr/>
          <p:nvPr/>
        </p:nvSpPr>
        <p:spPr>
          <a:xfrm>
            <a:off x="8539781" y="2758944"/>
            <a:ext cx="786390" cy="7"/>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74" name="Connector 36"/>
          <p:cNvSpPr/>
          <p:nvPr/>
        </p:nvSpPr>
        <p:spPr>
          <a:xfrm>
            <a:off x="8539781" y="3069843"/>
            <a:ext cx="877830" cy="5"/>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75" name="Oval 37"/>
          <p:cNvSpPr/>
          <p:nvPr/>
        </p:nvSpPr>
        <p:spPr>
          <a:xfrm>
            <a:off x="10602500" y="2226117"/>
            <a:ext cx="215799" cy="21579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76" name="Connector 38"/>
          <p:cNvSpPr/>
          <p:nvPr/>
        </p:nvSpPr>
        <p:spPr>
          <a:xfrm>
            <a:off x="10710401" y="2441915"/>
            <a:ext cx="6" cy="35607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77" name="Connector 39"/>
          <p:cNvSpPr/>
          <p:nvPr/>
        </p:nvSpPr>
        <p:spPr>
          <a:xfrm>
            <a:off x="10559342" y="2592974"/>
            <a:ext cx="302124"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78" name="Connector 40"/>
          <p:cNvSpPr/>
          <p:nvPr/>
        </p:nvSpPr>
        <p:spPr>
          <a:xfrm flipH="1">
            <a:off x="10570132" y="2797979"/>
            <a:ext cx="140275" cy="22659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79" name="Connector 41"/>
          <p:cNvSpPr/>
          <p:nvPr/>
        </p:nvSpPr>
        <p:spPr>
          <a:xfrm>
            <a:off x="10710401" y="2797979"/>
            <a:ext cx="140275" cy="22659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80" name="Oval 42"/>
          <p:cNvSpPr/>
          <p:nvPr/>
        </p:nvSpPr>
        <p:spPr>
          <a:xfrm>
            <a:off x="7973568" y="2587749"/>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81" name="Connector 43"/>
          <p:cNvSpPr/>
          <p:nvPr/>
        </p:nvSpPr>
        <p:spPr>
          <a:xfrm>
            <a:off x="8014716" y="2697477"/>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82" name="Connector 44"/>
          <p:cNvSpPr/>
          <p:nvPr/>
        </p:nvSpPr>
        <p:spPr>
          <a:xfrm flipV="1">
            <a:off x="8060435" y="264261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83" name="Oval 45"/>
          <p:cNvSpPr/>
          <p:nvPr/>
        </p:nvSpPr>
        <p:spPr>
          <a:xfrm>
            <a:off x="9737645" y="2585210"/>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84" name="Connector 46"/>
          <p:cNvSpPr/>
          <p:nvPr/>
        </p:nvSpPr>
        <p:spPr>
          <a:xfrm>
            <a:off x="9778793" y="2694938"/>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85" name="Connector 47"/>
          <p:cNvSpPr/>
          <p:nvPr/>
        </p:nvSpPr>
        <p:spPr>
          <a:xfrm flipV="1">
            <a:off x="9824515" y="264007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86" name="Connector 48"/>
          <p:cNvSpPr/>
          <p:nvPr/>
        </p:nvSpPr>
        <p:spPr>
          <a:xfrm>
            <a:off x="7452359" y="2688333"/>
            <a:ext cx="429773" cy="6"/>
          </a:xfrm>
          <a:prstGeom prst="line">
            <a:avLst/>
          </a:prstGeom>
          <a:ln w="1778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87" name="Connector 50"/>
          <p:cNvSpPr/>
          <p:nvPr/>
        </p:nvSpPr>
        <p:spPr>
          <a:xfrm>
            <a:off x="10042906" y="2679444"/>
            <a:ext cx="448062" cy="5"/>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88" name="TextBox 51"/>
          <p:cNvSpPr txBox="1"/>
          <p:nvPr/>
        </p:nvSpPr>
        <p:spPr>
          <a:xfrm>
            <a:off x="6748271" y="4087367"/>
            <a:ext cx="1627636"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FA873"/>
                </a:solidFill>
                <a:latin typeface="Helvetica Neue"/>
                <a:ea typeface="Helvetica Neue"/>
                <a:cs typeface="Helvetica Neue"/>
                <a:sym typeface="Helvetica Neue"/>
              </a:defRPr>
            </a:lvl1pPr>
          </a:lstStyle>
          <a:p>
            <a:pPr/>
            <a:r>
              <a:t>UNEXPECTED</a:t>
            </a:r>
          </a:p>
        </p:txBody>
      </p:sp>
      <p:sp>
        <p:nvSpPr>
          <p:cNvPr id="689" name="TextBox 52"/>
          <p:cNvSpPr txBox="1"/>
          <p:nvPr/>
        </p:nvSpPr>
        <p:spPr>
          <a:xfrm>
            <a:off x="8357616" y="3931920"/>
            <a:ext cx="1691641" cy="3312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2100">
                <a:solidFill>
                  <a:srgbClr val="73777F"/>
                </a:solidFill>
                <a:latin typeface="Helvetica Neue"/>
                <a:ea typeface="Helvetica Neue"/>
                <a:cs typeface="Helvetica Neue"/>
                <a:sym typeface="Helvetica Neue"/>
              </a:defRPr>
            </a:pPr>
            <a:r>
              <a:t>f</a:t>
            </a:r>
            <a:r>
              <a:rPr>
                <a:latin typeface="+mj-lt"/>
                <a:ea typeface="+mj-ea"/>
                <a:cs typeface="+mj-cs"/>
                <a:sym typeface="Calibri"/>
              </a:rPr>
              <a:t>ᵤ </a:t>
            </a:r>
            <a:r>
              <a:t>· fₙ ≈ 0</a:t>
            </a:r>
          </a:p>
        </p:txBody>
      </p:sp>
      <p:sp>
        <p:nvSpPr>
          <p:cNvPr id="690" name="TextBox 53"/>
          <p:cNvSpPr txBox="1"/>
          <p:nvPr/>
        </p:nvSpPr>
        <p:spPr>
          <a:xfrm>
            <a:off x="10241280" y="3904486"/>
            <a:ext cx="914406" cy="3594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400">
                <a:solidFill>
                  <a:srgbClr val="1FA873"/>
                </a:solidFill>
                <a:latin typeface="Helvetica Neue"/>
                <a:ea typeface="Helvetica Neue"/>
                <a:cs typeface="Helvetica Neue"/>
                <a:sym typeface="Helvetica Neue"/>
              </a:defRPr>
            </a:lvl1pPr>
          </a:lstStyle>
          <a:p>
            <a:pPr/>
            <a:r>
              <a:t>iₙ  ↑</a:t>
            </a:r>
          </a:p>
        </p:txBody>
      </p:sp>
      <p:sp>
        <p:nvSpPr>
          <p:cNvPr id="691" name="Connector 54"/>
          <p:cNvSpPr/>
          <p:nvPr/>
        </p:nvSpPr>
        <p:spPr>
          <a:xfrm>
            <a:off x="8119871" y="4160520"/>
            <a:ext cx="219455"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92" name="Connector 55"/>
          <p:cNvSpPr/>
          <p:nvPr/>
        </p:nvSpPr>
        <p:spPr>
          <a:xfrm>
            <a:off x="10058399" y="4160520"/>
            <a:ext cx="164599"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693" name="TextBox 56"/>
          <p:cNvSpPr txBox="1"/>
          <p:nvPr/>
        </p:nvSpPr>
        <p:spPr>
          <a:xfrm>
            <a:off x="6784847" y="4773167"/>
            <a:ext cx="3108966"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1FA873"/>
                </a:solidFill>
                <a:latin typeface="Helvetica Neue"/>
                <a:ea typeface="Helvetica Neue"/>
                <a:cs typeface="Helvetica Neue"/>
                <a:sym typeface="Helvetica Neue"/>
              </a:defRPr>
            </a:pPr>
            <a:r>
              <a:t>• </a:t>
            </a:r>
            <a:r>
              <a:rPr b="0">
                <a:solidFill>
                  <a:srgbClr val="73777F"/>
                </a:solidFill>
              </a:rPr>
              <a:t>Cross-viewpoint surprise</a:t>
            </a:r>
          </a:p>
        </p:txBody>
      </p:sp>
      <p:sp>
        <p:nvSpPr>
          <p:cNvPr id="694" name="TextBox 59"/>
          <p:cNvSpPr txBox="1"/>
          <p:nvPr/>
        </p:nvSpPr>
        <p:spPr>
          <a:xfrm>
            <a:off x="6784847" y="5669279"/>
            <a:ext cx="374904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FF705B"/>
                </a:solidFill>
                <a:latin typeface="Helvetica Neue"/>
                <a:ea typeface="Helvetica Neue"/>
                <a:cs typeface="Helvetica Neue"/>
                <a:sym typeface="Helvetica Neue"/>
              </a:defRPr>
            </a:pPr>
            <a:r>
              <a:t>• </a:t>
            </a:r>
            <a:r>
              <a:rPr>
                <a:solidFill>
                  <a:srgbClr val="111318"/>
                </a:solidFill>
              </a:rPr>
              <a:t>The model asks who voted</a:t>
            </a:r>
          </a:p>
        </p:txBody>
      </p:sp>
      <p:sp>
        <p:nvSpPr>
          <p:cNvPr id="695" name="TextBox 60"/>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Wojcik et al. (2022); Buterin (2023); X Community Notes (2026)</a:t>
            </a:r>
          </a:p>
        </p:txBody>
      </p:sp>
      <p:sp>
        <p:nvSpPr>
          <p:cNvPr id="696" name="Rectangle"/>
          <p:cNvSpPr/>
          <p:nvPr/>
        </p:nvSpPr>
        <p:spPr>
          <a:xfrm>
            <a:off x="1630323" y="1436428"/>
            <a:ext cx="9768876" cy="4669920"/>
          </a:xfrm>
          <a:prstGeom prst="rect">
            <a:avLst/>
          </a:prstGeom>
          <a:solidFill>
            <a:srgbClr val="FFFFFF"/>
          </a:solidFill>
          <a:ln w="12700">
            <a:miter lim="400000"/>
          </a:ln>
        </p:spPr>
        <p:txBody>
          <a:bodyPr lIns="45718" tIns="45718" rIns="45718" bIns="45718" anchor="ctr"/>
          <a:lstStyle/>
          <a:p>
            <a:pPr>
              <a:defRPr>
                <a:latin typeface="+mj-lt"/>
                <a:ea typeface="+mj-ea"/>
                <a:cs typeface="+mj-cs"/>
                <a:sym typeface="Calibri"/>
              </a:defRPr>
            </a:pPr>
          </a:p>
        </p:txBody>
      </p:sp>
      <p:sp>
        <p:nvSpPr>
          <p:cNvPr id="697" name="TextBox 21"/>
          <p:cNvSpPr txBox="1"/>
          <p:nvPr/>
        </p:nvSpPr>
        <p:spPr>
          <a:xfrm>
            <a:off x="1051560" y="4087367"/>
            <a:ext cx="1371606"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73777F"/>
                </a:solidFill>
                <a:latin typeface="Helvetica Neue"/>
                <a:ea typeface="Helvetica Neue"/>
                <a:cs typeface="Helvetica Neue"/>
                <a:sym typeface="Helvetica Neue"/>
              </a:defRPr>
            </a:lvl1pPr>
          </a:lstStyle>
          <a:p>
            <a:pPr/>
            <a:r>
              <a:t>EXPECTED</a:t>
            </a:r>
          </a:p>
        </p:txBody>
      </p:sp>
      <p:sp>
        <p:nvSpPr>
          <p:cNvPr id="698" name="TextBox 26"/>
          <p:cNvSpPr txBox="1"/>
          <p:nvPr/>
        </p:nvSpPr>
        <p:spPr>
          <a:xfrm>
            <a:off x="987549" y="4773167"/>
            <a:ext cx="3200408"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FF705B"/>
                </a:solidFill>
                <a:latin typeface="Helvetica Neue"/>
                <a:ea typeface="Helvetica Neue"/>
                <a:cs typeface="Helvetica Neue"/>
                <a:sym typeface="Helvetica Neue"/>
              </a:defRPr>
            </a:pPr>
            <a:r>
              <a:t>• </a:t>
            </a:r>
            <a:r>
              <a:rPr b="0">
                <a:solidFill>
                  <a:srgbClr val="73777F"/>
                </a:solidFill>
              </a:rPr>
              <a:t>Predictable partisan support</a:t>
            </a:r>
          </a:p>
        </p:txBody>
      </p:sp>
      <p:sp>
        <p:nvSpPr>
          <p:cNvPr id="699" name="TextBox 1"/>
          <p:cNvSpPr txBox="1"/>
          <p:nvPr/>
        </p:nvSpPr>
        <p:spPr>
          <a:xfrm>
            <a:off x="603499" y="420623"/>
            <a:ext cx="4389130"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HOW SYSTEM WORKS 1 - 2</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1"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It reads the rater</a:t>
            </a:r>
          </a:p>
        </p:txBody>
      </p:sp>
      <p:sp>
        <p:nvSpPr>
          <p:cNvPr id="702" name="TextBox 3"/>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04</a:t>
            </a:r>
          </a:p>
        </p:txBody>
      </p:sp>
      <p:sp>
        <p:nvSpPr>
          <p:cNvPr id="703" name="Connector 4"/>
          <p:cNvSpPr/>
          <p:nvPr/>
        </p:nvSpPr>
        <p:spPr>
          <a:xfrm flipH="1">
            <a:off x="6099047" y="1627632"/>
            <a:ext cx="6" cy="3511296"/>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04" name="TextBox 5"/>
          <p:cNvSpPr txBox="1"/>
          <p:nvPr/>
        </p:nvSpPr>
        <p:spPr>
          <a:xfrm>
            <a:off x="822958" y="1572766"/>
            <a:ext cx="1645923"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FF705B"/>
                </a:solidFill>
                <a:latin typeface="Helvetica Neue"/>
                <a:ea typeface="Helvetica Neue"/>
                <a:cs typeface="Helvetica Neue"/>
                <a:sym typeface="Helvetica Neue"/>
              </a:defRPr>
            </a:lvl1pPr>
          </a:lstStyle>
          <a:p>
            <a:pPr/>
            <a:r>
              <a:t>AMIGO</a:t>
            </a:r>
          </a:p>
        </p:txBody>
      </p:sp>
      <p:sp>
        <p:nvSpPr>
          <p:cNvPr id="705" name="Oval 6"/>
          <p:cNvSpPr/>
          <p:nvPr/>
        </p:nvSpPr>
        <p:spPr>
          <a:xfrm>
            <a:off x="1234438" y="2221992"/>
            <a:ext cx="228605" cy="22860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06" name="Connector 7"/>
          <p:cNvSpPr/>
          <p:nvPr/>
        </p:nvSpPr>
        <p:spPr>
          <a:xfrm>
            <a:off x="1348738" y="2450592"/>
            <a:ext cx="6" cy="37719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07" name="Connector 8"/>
          <p:cNvSpPr/>
          <p:nvPr/>
        </p:nvSpPr>
        <p:spPr>
          <a:xfrm>
            <a:off x="1188719" y="2610610"/>
            <a:ext cx="320046"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08" name="Connector 9"/>
          <p:cNvSpPr/>
          <p:nvPr/>
        </p:nvSpPr>
        <p:spPr>
          <a:xfrm flipH="1">
            <a:off x="1200149" y="2827782"/>
            <a:ext cx="148596" cy="24003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09" name="Connector 10"/>
          <p:cNvSpPr/>
          <p:nvPr/>
        </p:nvSpPr>
        <p:spPr>
          <a:xfrm>
            <a:off x="1348735" y="2827782"/>
            <a:ext cx="148597" cy="24003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10" name="Rounded Rectangle 11"/>
          <p:cNvSpPr/>
          <p:nvPr/>
        </p:nvSpPr>
        <p:spPr>
          <a:xfrm>
            <a:off x="3310128" y="2011677"/>
            <a:ext cx="1353318" cy="1719075"/>
          </a:xfrm>
          <a:prstGeom prst="roundRect">
            <a:avLst>
              <a:gd name="adj" fmla="val 16667"/>
            </a:avLst>
          </a:prstGeom>
          <a:ln w="1397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11" name="Connector 12"/>
          <p:cNvSpPr/>
          <p:nvPr/>
        </p:nvSpPr>
        <p:spPr>
          <a:xfrm>
            <a:off x="3529584" y="2450592"/>
            <a:ext cx="914405" cy="6"/>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12" name="Connector 13"/>
          <p:cNvSpPr/>
          <p:nvPr/>
        </p:nvSpPr>
        <p:spPr>
          <a:xfrm>
            <a:off x="3529584" y="2761487"/>
            <a:ext cx="786390" cy="7"/>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13" name="Connector 14"/>
          <p:cNvSpPr/>
          <p:nvPr/>
        </p:nvSpPr>
        <p:spPr>
          <a:xfrm>
            <a:off x="3529584" y="3072383"/>
            <a:ext cx="877829" cy="5"/>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14" name="Oval 15"/>
          <p:cNvSpPr/>
          <p:nvPr/>
        </p:nvSpPr>
        <p:spPr>
          <a:xfrm>
            <a:off x="2331720" y="2587749"/>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15" name="Connector 16"/>
          <p:cNvSpPr/>
          <p:nvPr/>
        </p:nvSpPr>
        <p:spPr>
          <a:xfrm>
            <a:off x="2372865" y="2697477"/>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16" name="Connector 17"/>
          <p:cNvSpPr/>
          <p:nvPr/>
        </p:nvSpPr>
        <p:spPr>
          <a:xfrm flipV="1">
            <a:off x="2418588" y="264261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17" name="TextBox 18"/>
          <p:cNvSpPr txBox="1"/>
          <p:nvPr/>
        </p:nvSpPr>
        <p:spPr>
          <a:xfrm>
            <a:off x="2103120" y="2907792"/>
            <a:ext cx="71323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900">
                <a:solidFill>
                  <a:srgbClr val="1FA873"/>
                </a:solidFill>
                <a:latin typeface="Helvetica Neue"/>
                <a:ea typeface="Helvetica Neue"/>
                <a:cs typeface="Helvetica Neue"/>
                <a:sym typeface="Helvetica Neue"/>
              </a:defRPr>
            </a:lvl1pPr>
          </a:lstStyle>
          <a:p>
            <a:pPr/>
            <a:r>
              <a:t>HELPFUL</a:t>
            </a:r>
          </a:p>
        </p:txBody>
      </p:sp>
      <p:sp>
        <p:nvSpPr>
          <p:cNvPr id="718" name="Connector 19"/>
          <p:cNvSpPr/>
          <p:nvPr/>
        </p:nvSpPr>
        <p:spPr>
          <a:xfrm>
            <a:off x="1837943" y="2688333"/>
            <a:ext cx="411486" cy="6"/>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19" name="Connector 20"/>
          <p:cNvSpPr/>
          <p:nvPr/>
        </p:nvSpPr>
        <p:spPr>
          <a:xfrm>
            <a:off x="2578604" y="2688333"/>
            <a:ext cx="694951" cy="5"/>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20" name="TextBox 21"/>
          <p:cNvSpPr txBox="1"/>
          <p:nvPr/>
        </p:nvSpPr>
        <p:spPr>
          <a:xfrm>
            <a:off x="1051560" y="4087367"/>
            <a:ext cx="1371606"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73777F"/>
                </a:solidFill>
                <a:latin typeface="Helvetica Neue"/>
                <a:ea typeface="Helvetica Neue"/>
                <a:cs typeface="Helvetica Neue"/>
                <a:sym typeface="Helvetica Neue"/>
              </a:defRPr>
            </a:lvl1pPr>
          </a:lstStyle>
          <a:p>
            <a:pPr/>
            <a:r>
              <a:t>EXPECTED</a:t>
            </a:r>
          </a:p>
        </p:txBody>
      </p:sp>
      <p:sp>
        <p:nvSpPr>
          <p:cNvPr id="721" name="TextBox 22"/>
          <p:cNvSpPr txBox="1"/>
          <p:nvPr/>
        </p:nvSpPr>
        <p:spPr>
          <a:xfrm>
            <a:off x="2487166" y="3931920"/>
            <a:ext cx="1188724" cy="3567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2300">
                <a:solidFill>
                  <a:srgbClr val="FF705B"/>
                </a:solidFill>
                <a:latin typeface="Helvetica Neue"/>
                <a:ea typeface="Helvetica Neue"/>
                <a:cs typeface="Helvetica Neue"/>
                <a:sym typeface="Helvetica Neue"/>
              </a:defRPr>
            </a:pPr>
            <a:r>
              <a:t>f</a:t>
            </a:r>
            <a:r>
              <a:rPr>
                <a:latin typeface="+mj-lt"/>
                <a:ea typeface="+mj-ea"/>
                <a:cs typeface="+mj-cs"/>
                <a:sym typeface="Calibri"/>
              </a:rPr>
              <a:t>ᵤ </a:t>
            </a:r>
            <a:r>
              <a:t>· fₙ</a:t>
            </a:r>
          </a:p>
        </p:txBody>
      </p:sp>
      <p:sp>
        <p:nvSpPr>
          <p:cNvPr id="722" name="TextBox 23"/>
          <p:cNvSpPr txBox="1"/>
          <p:nvPr/>
        </p:nvSpPr>
        <p:spPr>
          <a:xfrm>
            <a:off x="3977637" y="3950208"/>
            <a:ext cx="1115572"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73777F"/>
                </a:solidFill>
                <a:latin typeface="Helvetica Neue"/>
                <a:ea typeface="Helvetica Neue"/>
                <a:cs typeface="Helvetica Neue"/>
                <a:sym typeface="Helvetica Neue"/>
              </a:defRPr>
            </a:lvl1pPr>
          </a:lstStyle>
          <a:p>
            <a:pPr/>
            <a:r>
              <a:t>iₙ  —</a:t>
            </a:r>
          </a:p>
        </p:txBody>
      </p:sp>
      <p:sp>
        <p:nvSpPr>
          <p:cNvPr id="723" name="Connector 24"/>
          <p:cNvSpPr/>
          <p:nvPr/>
        </p:nvSpPr>
        <p:spPr>
          <a:xfrm>
            <a:off x="2240277" y="4160520"/>
            <a:ext cx="228605"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24" name="Connector 25"/>
          <p:cNvSpPr/>
          <p:nvPr/>
        </p:nvSpPr>
        <p:spPr>
          <a:xfrm>
            <a:off x="3657598" y="4160520"/>
            <a:ext cx="274327"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25" name="TextBox 26"/>
          <p:cNvSpPr txBox="1"/>
          <p:nvPr/>
        </p:nvSpPr>
        <p:spPr>
          <a:xfrm>
            <a:off x="987549" y="4773167"/>
            <a:ext cx="3200408"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FF705B"/>
                </a:solidFill>
                <a:latin typeface="Helvetica Neue"/>
                <a:ea typeface="Helvetica Neue"/>
                <a:cs typeface="Helvetica Neue"/>
                <a:sym typeface="Helvetica Neue"/>
              </a:defRPr>
            </a:pPr>
            <a:r>
              <a:t>• </a:t>
            </a:r>
            <a:r>
              <a:rPr b="0">
                <a:solidFill>
                  <a:srgbClr val="73777F"/>
                </a:solidFill>
              </a:rPr>
              <a:t>Predictable partisan support</a:t>
            </a:r>
          </a:p>
        </p:txBody>
      </p:sp>
      <p:sp>
        <p:nvSpPr>
          <p:cNvPr id="726" name="TextBox 27"/>
          <p:cNvSpPr txBox="1"/>
          <p:nvPr/>
        </p:nvSpPr>
        <p:spPr>
          <a:xfrm>
            <a:off x="6419086" y="1572766"/>
            <a:ext cx="2468887"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FA873"/>
                </a:solidFill>
                <a:latin typeface="Helvetica Neue"/>
                <a:ea typeface="Helvetica Neue"/>
                <a:cs typeface="Helvetica Neue"/>
                <a:sym typeface="Helvetica Neue"/>
              </a:defRPr>
            </a:lvl1pPr>
          </a:lstStyle>
          <a:p>
            <a:pPr/>
            <a:r>
              <a:t>ENEMIES SHAKE HANDS</a:t>
            </a:r>
          </a:p>
        </p:txBody>
      </p:sp>
      <p:sp>
        <p:nvSpPr>
          <p:cNvPr id="727" name="Oval 28"/>
          <p:cNvSpPr/>
          <p:nvPr/>
        </p:nvSpPr>
        <p:spPr>
          <a:xfrm>
            <a:off x="6903718" y="2221992"/>
            <a:ext cx="215799" cy="21579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28" name="Connector 29"/>
          <p:cNvSpPr/>
          <p:nvPr/>
        </p:nvSpPr>
        <p:spPr>
          <a:xfrm>
            <a:off x="7011619" y="2437787"/>
            <a:ext cx="6" cy="356074"/>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29" name="Connector 30"/>
          <p:cNvSpPr/>
          <p:nvPr/>
        </p:nvSpPr>
        <p:spPr>
          <a:xfrm>
            <a:off x="6860560" y="2588847"/>
            <a:ext cx="302124" cy="5"/>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30" name="Connector 31"/>
          <p:cNvSpPr/>
          <p:nvPr/>
        </p:nvSpPr>
        <p:spPr>
          <a:xfrm flipH="1">
            <a:off x="6871350" y="2793856"/>
            <a:ext cx="140275" cy="226591"/>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31" name="Connector 32"/>
          <p:cNvSpPr/>
          <p:nvPr/>
        </p:nvSpPr>
        <p:spPr>
          <a:xfrm>
            <a:off x="7011619" y="2793856"/>
            <a:ext cx="140275" cy="226591"/>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32" name="Rounded Rectangle 33"/>
          <p:cNvSpPr/>
          <p:nvPr/>
        </p:nvSpPr>
        <p:spPr>
          <a:xfrm>
            <a:off x="8320327" y="2009138"/>
            <a:ext cx="1353315" cy="1719074"/>
          </a:xfrm>
          <a:prstGeom prst="roundRect">
            <a:avLst>
              <a:gd name="adj" fmla="val 16667"/>
            </a:avLst>
          </a:prstGeom>
          <a:ln w="1397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33" name="Connector 34"/>
          <p:cNvSpPr/>
          <p:nvPr/>
        </p:nvSpPr>
        <p:spPr>
          <a:xfrm>
            <a:off x="8539781" y="2448049"/>
            <a:ext cx="914406" cy="6"/>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34" name="Connector 35"/>
          <p:cNvSpPr/>
          <p:nvPr/>
        </p:nvSpPr>
        <p:spPr>
          <a:xfrm>
            <a:off x="8539781" y="2758944"/>
            <a:ext cx="786390" cy="7"/>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35" name="Connector 36"/>
          <p:cNvSpPr/>
          <p:nvPr/>
        </p:nvSpPr>
        <p:spPr>
          <a:xfrm>
            <a:off x="8539781" y="3069843"/>
            <a:ext cx="877830" cy="5"/>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36" name="Oval 37"/>
          <p:cNvSpPr/>
          <p:nvPr/>
        </p:nvSpPr>
        <p:spPr>
          <a:xfrm>
            <a:off x="10602500" y="2226117"/>
            <a:ext cx="215799" cy="21579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37" name="Connector 38"/>
          <p:cNvSpPr/>
          <p:nvPr/>
        </p:nvSpPr>
        <p:spPr>
          <a:xfrm>
            <a:off x="10710401" y="2441915"/>
            <a:ext cx="6" cy="35607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38" name="Connector 39"/>
          <p:cNvSpPr/>
          <p:nvPr/>
        </p:nvSpPr>
        <p:spPr>
          <a:xfrm>
            <a:off x="10559342" y="2592974"/>
            <a:ext cx="302124"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39" name="Connector 40"/>
          <p:cNvSpPr/>
          <p:nvPr/>
        </p:nvSpPr>
        <p:spPr>
          <a:xfrm flipH="1">
            <a:off x="10570132" y="2797979"/>
            <a:ext cx="140275" cy="22659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40" name="Connector 41"/>
          <p:cNvSpPr/>
          <p:nvPr/>
        </p:nvSpPr>
        <p:spPr>
          <a:xfrm>
            <a:off x="10710401" y="2797979"/>
            <a:ext cx="140275" cy="22659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41" name="Oval 42"/>
          <p:cNvSpPr/>
          <p:nvPr/>
        </p:nvSpPr>
        <p:spPr>
          <a:xfrm>
            <a:off x="7973568" y="2587749"/>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42" name="Connector 43"/>
          <p:cNvSpPr/>
          <p:nvPr/>
        </p:nvSpPr>
        <p:spPr>
          <a:xfrm>
            <a:off x="8014716" y="2697477"/>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43" name="Connector 44"/>
          <p:cNvSpPr/>
          <p:nvPr/>
        </p:nvSpPr>
        <p:spPr>
          <a:xfrm flipV="1">
            <a:off x="8060435" y="264261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44" name="Oval 45"/>
          <p:cNvSpPr/>
          <p:nvPr/>
        </p:nvSpPr>
        <p:spPr>
          <a:xfrm>
            <a:off x="9737645" y="2585210"/>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45" name="Connector 46"/>
          <p:cNvSpPr/>
          <p:nvPr/>
        </p:nvSpPr>
        <p:spPr>
          <a:xfrm>
            <a:off x="9778793" y="2694938"/>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46" name="Connector 47"/>
          <p:cNvSpPr/>
          <p:nvPr/>
        </p:nvSpPr>
        <p:spPr>
          <a:xfrm flipV="1">
            <a:off x="9824515" y="264007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47" name="Connector 48"/>
          <p:cNvSpPr/>
          <p:nvPr/>
        </p:nvSpPr>
        <p:spPr>
          <a:xfrm>
            <a:off x="7452359" y="2688333"/>
            <a:ext cx="429773" cy="6"/>
          </a:xfrm>
          <a:prstGeom prst="line">
            <a:avLst/>
          </a:prstGeom>
          <a:ln w="1778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48" name="Connector 50"/>
          <p:cNvSpPr/>
          <p:nvPr/>
        </p:nvSpPr>
        <p:spPr>
          <a:xfrm>
            <a:off x="10042906" y="2679444"/>
            <a:ext cx="448062" cy="5"/>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49" name="TextBox 51"/>
          <p:cNvSpPr txBox="1"/>
          <p:nvPr/>
        </p:nvSpPr>
        <p:spPr>
          <a:xfrm>
            <a:off x="6748271" y="4087367"/>
            <a:ext cx="1627636"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FA873"/>
                </a:solidFill>
                <a:latin typeface="Helvetica Neue"/>
                <a:ea typeface="Helvetica Neue"/>
                <a:cs typeface="Helvetica Neue"/>
                <a:sym typeface="Helvetica Neue"/>
              </a:defRPr>
            </a:lvl1pPr>
          </a:lstStyle>
          <a:p>
            <a:pPr/>
            <a:r>
              <a:t>UNEXPECTED</a:t>
            </a:r>
          </a:p>
        </p:txBody>
      </p:sp>
      <p:sp>
        <p:nvSpPr>
          <p:cNvPr id="750" name="TextBox 52"/>
          <p:cNvSpPr txBox="1"/>
          <p:nvPr/>
        </p:nvSpPr>
        <p:spPr>
          <a:xfrm>
            <a:off x="8357616" y="3931920"/>
            <a:ext cx="1691641" cy="3312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2100">
                <a:solidFill>
                  <a:srgbClr val="73777F"/>
                </a:solidFill>
                <a:latin typeface="Helvetica Neue"/>
                <a:ea typeface="Helvetica Neue"/>
                <a:cs typeface="Helvetica Neue"/>
                <a:sym typeface="Helvetica Neue"/>
              </a:defRPr>
            </a:pPr>
            <a:r>
              <a:t>f</a:t>
            </a:r>
            <a:r>
              <a:rPr>
                <a:latin typeface="+mj-lt"/>
                <a:ea typeface="+mj-ea"/>
                <a:cs typeface="+mj-cs"/>
                <a:sym typeface="Calibri"/>
              </a:rPr>
              <a:t>ᵤ </a:t>
            </a:r>
            <a:r>
              <a:t>· fₙ ≈ 0</a:t>
            </a:r>
          </a:p>
        </p:txBody>
      </p:sp>
      <p:sp>
        <p:nvSpPr>
          <p:cNvPr id="751" name="TextBox 53"/>
          <p:cNvSpPr txBox="1"/>
          <p:nvPr/>
        </p:nvSpPr>
        <p:spPr>
          <a:xfrm>
            <a:off x="10241280" y="3904486"/>
            <a:ext cx="914406" cy="3594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400">
                <a:solidFill>
                  <a:srgbClr val="1FA873"/>
                </a:solidFill>
                <a:latin typeface="Helvetica Neue"/>
                <a:ea typeface="Helvetica Neue"/>
                <a:cs typeface="Helvetica Neue"/>
                <a:sym typeface="Helvetica Neue"/>
              </a:defRPr>
            </a:lvl1pPr>
          </a:lstStyle>
          <a:p>
            <a:pPr/>
            <a:r>
              <a:t>iₙ  ↑</a:t>
            </a:r>
          </a:p>
        </p:txBody>
      </p:sp>
      <p:sp>
        <p:nvSpPr>
          <p:cNvPr id="752" name="Connector 54"/>
          <p:cNvSpPr/>
          <p:nvPr/>
        </p:nvSpPr>
        <p:spPr>
          <a:xfrm>
            <a:off x="8119871" y="4160520"/>
            <a:ext cx="219455"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53" name="Connector 55"/>
          <p:cNvSpPr/>
          <p:nvPr/>
        </p:nvSpPr>
        <p:spPr>
          <a:xfrm>
            <a:off x="10058399" y="4160520"/>
            <a:ext cx="164599"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54" name="TextBox 56"/>
          <p:cNvSpPr txBox="1"/>
          <p:nvPr/>
        </p:nvSpPr>
        <p:spPr>
          <a:xfrm>
            <a:off x="6784847" y="4773167"/>
            <a:ext cx="3108966"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1FA873"/>
                </a:solidFill>
                <a:latin typeface="Helvetica Neue"/>
                <a:ea typeface="Helvetica Neue"/>
                <a:cs typeface="Helvetica Neue"/>
                <a:sym typeface="Helvetica Neue"/>
              </a:defRPr>
            </a:pPr>
            <a:r>
              <a:t>• </a:t>
            </a:r>
            <a:r>
              <a:rPr b="0">
                <a:solidFill>
                  <a:srgbClr val="73777F"/>
                </a:solidFill>
              </a:rPr>
              <a:t>Cross-viewpoint surprise</a:t>
            </a:r>
          </a:p>
        </p:txBody>
      </p:sp>
      <p:sp>
        <p:nvSpPr>
          <p:cNvPr id="755" name="Connector 57"/>
          <p:cNvSpPr/>
          <p:nvPr/>
        </p:nvSpPr>
        <p:spPr>
          <a:xfrm>
            <a:off x="749804" y="5413247"/>
            <a:ext cx="10680201" cy="4"/>
          </a:xfrm>
          <a:prstGeom prst="line">
            <a:avLst/>
          </a:prstGeom>
          <a:ln w="1397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56" name="TextBox 58"/>
          <p:cNvSpPr txBox="1"/>
          <p:nvPr/>
        </p:nvSpPr>
        <p:spPr>
          <a:xfrm>
            <a:off x="841243" y="5669279"/>
            <a:ext cx="4114808"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3977F6"/>
                </a:solidFill>
                <a:latin typeface="Helvetica Neue"/>
                <a:ea typeface="Helvetica Neue"/>
                <a:cs typeface="Helvetica Neue"/>
                <a:sym typeface="Helvetica Neue"/>
              </a:defRPr>
            </a:pPr>
            <a:r>
              <a:t>• </a:t>
            </a:r>
            <a:r>
              <a:rPr>
                <a:solidFill>
                  <a:srgbClr val="111318"/>
                </a:solidFill>
              </a:rPr>
              <a:t>The same click receives different credit</a:t>
            </a:r>
          </a:p>
        </p:txBody>
      </p:sp>
      <p:sp>
        <p:nvSpPr>
          <p:cNvPr id="757" name="TextBox 59"/>
          <p:cNvSpPr txBox="1"/>
          <p:nvPr/>
        </p:nvSpPr>
        <p:spPr>
          <a:xfrm>
            <a:off x="6784847" y="5669279"/>
            <a:ext cx="374904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FF705B"/>
                </a:solidFill>
                <a:latin typeface="Helvetica Neue"/>
                <a:ea typeface="Helvetica Neue"/>
                <a:cs typeface="Helvetica Neue"/>
                <a:sym typeface="Helvetica Neue"/>
              </a:defRPr>
            </a:pPr>
            <a:r>
              <a:t>• </a:t>
            </a:r>
            <a:r>
              <a:rPr>
                <a:solidFill>
                  <a:srgbClr val="111318"/>
                </a:solidFill>
              </a:rPr>
              <a:t>The model asks who voted</a:t>
            </a:r>
          </a:p>
        </p:txBody>
      </p:sp>
      <p:sp>
        <p:nvSpPr>
          <p:cNvPr id="758" name="TextBox 60"/>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Wojcik et al. (2022); Buterin (2023); X Community Notes (2026)</a:t>
            </a:r>
          </a:p>
        </p:txBody>
      </p:sp>
      <p:sp>
        <p:nvSpPr>
          <p:cNvPr id="759" name="Rectangle"/>
          <p:cNvSpPr/>
          <p:nvPr/>
        </p:nvSpPr>
        <p:spPr>
          <a:xfrm>
            <a:off x="5919536" y="1436428"/>
            <a:ext cx="5479663" cy="4669920"/>
          </a:xfrm>
          <a:prstGeom prst="rect">
            <a:avLst/>
          </a:prstGeom>
          <a:solidFill>
            <a:srgbClr val="FFFFFF"/>
          </a:solidFill>
          <a:ln w="12700">
            <a:miter lim="400000"/>
          </a:ln>
        </p:spPr>
        <p:txBody>
          <a:bodyPr lIns="45718" tIns="45718" rIns="45718" bIns="45718" anchor="ctr"/>
          <a:lstStyle/>
          <a:p>
            <a:pPr>
              <a:defRPr>
                <a:latin typeface="+mj-lt"/>
                <a:ea typeface="+mj-ea"/>
                <a:cs typeface="+mj-cs"/>
                <a:sym typeface="Calibri"/>
              </a:defRPr>
            </a:pPr>
          </a:p>
        </p:txBody>
      </p:sp>
      <p:sp>
        <p:nvSpPr>
          <p:cNvPr id="760" name="TextBox 1"/>
          <p:cNvSpPr txBox="1"/>
          <p:nvPr/>
        </p:nvSpPr>
        <p:spPr>
          <a:xfrm>
            <a:off x="603499" y="420623"/>
            <a:ext cx="4389130"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HOW SYSTEM WORKS 1 - 2</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2"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It reads the rater</a:t>
            </a:r>
          </a:p>
        </p:txBody>
      </p:sp>
      <p:sp>
        <p:nvSpPr>
          <p:cNvPr id="763" name="TextBox 3"/>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04</a:t>
            </a:r>
          </a:p>
        </p:txBody>
      </p:sp>
      <p:sp>
        <p:nvSpPr>
          <p:cNvPr id="764" name="Connector 4"/>
          <p:cNvSpPr/>
          <p:nvPr/>
        </p:nvSpPr>
        <p:spPr>
          <a:xfrm flipH="1">
            <a:off x="6099047" y="1627632"/>
            <a:ext cx="6" cy="3511296"/>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65" name="TextBox 5"/>
          <p:cNvSpPr txBox="1"/>
          <p:nvPr/>
        </p:nvSpPr>
        <p:spPr>
          <a:xfrm>
            <a:off x="822958" y="1572766"/>
            <a:ext cx="1645923"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FF705B"/>
                </a:solidFill>
                <a:latin typeface="Helvetica Neue"/>
                <a:ea typeface="Helvetica Neue"/>
                <a:cs typeface="Helvetica Neue"/>
                <a:sym typeface="Helvetica Neue"/>
              </a:defRPr>
            </a:lvl1pPr>
          </a:lstStyle>
          <a:p>
            <a:pPr/>
            <a:r>
              <a:t>AMIGO</a:t>
            </a:r>
          </a:p>
        </p:txBody>
      </p:sp>
      <p:sp>
        <p:nvSpPr>
          <p:cNvPr id="766" name="Oval 6"/>
          <p:cNvSpPr/>
          <p:nvPr/>
        </p:nvSpPr>
        <p:spPr>
          <a:xfrm>
            <a:off x="1234438" y="2221992"/>
            <a:ext cx="228605" cy="22860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67" name="Connector 7"/>
          <p:cNvSpPr/>
          <p:nvPr/>
        </p:nvSpPr>
        <p:spPr>
          <a:xfrm>
            <a:off x="1348738" y="2450592"/>
            <a:ext cx="6" cy="37719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68" name="Connector 8"/>
          <p:cNvSpPr/>
          <p:nvPr/>
        </p:nvSpPr>
        <p:spPr>
          <a:xfrm>
            <a:off x="1188719" y="2610610"/>
            <a:ext cx="320046"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69" name="Connector 9"/>
          <p:cNvSpPr/>
          <p:nvPr/>
        </p:nvSpPr>
        <p:spPr>
          <a:xfrm flipH="1">
            <a:off x="1200149" y="2827782"/>
            <a:ext cx="148596" cy="24003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70" name="Connector 10"/>
          <p:cNvSpPr/>
          <p:nvPr/>
        </p:nvSpPr>
        <p:spPr>
          <a:xfrm>
            <a:off x="1348735" y="2827782"/>
            <a:ext cx="148597" cy="24003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71" name="Rounded Rectangle 11"/>
          <p:cNvSpPr/>
          <p:nvPr/>
        </p:nvSpPr>
        <p:spPr>
          <a:xfrm>
            <a:off x="3310128" y="2011677"/>
            <a:ext cx="1353318" cy="1719075"/>
          </a:xfrm>
          <a:prstGeom prst="roundRect">
            <a:avLst>
              <a:gd name="adj" fmla="val 16667"/>
            </a:avLst>
          </a:prstGeom>
          <a:ln w="1397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72" name="Connector 12"/>
          <p:cNvSpPr/>
          <p:nvPr/>
        </p:nvSpPr>
        <p:spPr>
          <a:xfrm>
            <a:off x="3529584" y="2450592"/>
            <a:ext cx="914405" cy="6"/>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73" name="Connector 13"/>
          <p:cNvSpPr/>
          <p:nvPr/>
        </p:nvSpPr>
        <p:spPr>
          <a:xfrm>
            <a:off x="3529584" y="2761487"/>
            <a:ext cx="786390" cy="7"/>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74" name="Connector 14"/>
          <p:cNvSpPr/>
          <p:nvPr/>
        </p:nvSpPr>
        <p:spPr>
          <a:xfrm>
            <a:off x="3529584" y="3072383"/>
            <a:ext cx="877829" cy="5"/>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75" name="Oval 15"/>
          <p:cNvSpPr/>
          <p:nvPr/>
        </p:nvSpPr>
        <p:spPr>
          <a:xfrm>
            <a:off x="2331720" y="2587749"/>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76" name="Connector 16"/>
          <p:cNvSpPr/>
          <p:nvPr/>
        </p:nvSpPr>
        <p:spPr>
          <a:xfrm>
            <a:off x="2372865" y="2697477"/>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77" name="Connector 17"/>
          <p:cNvSpPr/>
          <p:nvPr/>
        </p:nvSpPr>
        <p:spPr>
          <a:xfrm flipV="1">
            <a:off x="2418588" y="264261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78" name="TextBox 18"/>
          <p:cNvSpPr txBox="1"/>
          <p:nvPr/>
        </p:nvSpPr>
        <p:spPr>
          <a:xfrm>
            <a:off x="2103120" y="2907792"/>
            <a:ext cx="71323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900">
                <a:solidFill>
                  <a:srgbClr val="1FA873"/>
                </a:solidFill>
                <a:latin typeface="Helvetica Neue"/>
                <a:ea typeface="Helvetica Neue"/>
                <a:cs typeface="Helvetica Neue"/>
                <a:sym typeface="Helvetica Neue"/>
              </a:defRPr>
            </a:lvl1pPr>
          </a:lstStyle>
          <a:p>
            <a:pPr/>
            <a:r>
              <a:t>HELPFUL</a:t>
            </a:r>
          </a:p>
        </p:txBody>
      </p:sp>
      <p:sp>
        <p:nvSpPr>
          <p:cNvPr id="779" name="Connector 19"/>
          <p:cNvSpPr/>
          <p:nvPr/>
        </p:nvSpPr>
        <p:spPr>
          <a:xfrm>
            <a:off x="1837943" y="2688333"/>
            <a:ext cx="411486" cy="6"/>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80" name="Connector 20"/>
          <p:cNvSpPr/>
          <p:nvPr/>
        </p:nvSpPr>
        <p:spPr>
          <a:xfrm>
            <a:off x="2578604" y="2688333"/>
            <a:ext cx="694951" cy="5"/>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81" name="TextBox 21"/>
          <p:cNvSpPr txBox="1"/>
          <p:nvPr/>
        </p:nvSpPr>
        <p:spPr>
          <a:xfrm>
            <a:off x="1051560" y="4087367"/>
            <a:ext cx="1371606"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73777F"/>
                </a:solidFill>
                <a:latin typeface="Helvetica Neue"/>
                <a:ea typeface="Helvetica Neue"/>
                <a:cs typeface="Helvetica Neue"/>
                <a:sym typeface="Helvetica Neue"/>
              </a:defRPr>
            </a:lvl1pPr>
          </a:lstStyle>
          <a:p>
            <a:pPr/>
            <a:r>
              <a:t>EXPECTED</a:t>
            </a:r>
          </a:p>
        </p:txBody>
      </p:sp>
      <p:sp>
        <p:nvSpPr>
          <p:cNvPr id="782" name="TextBox 22"/>
          <p:cNvSpPr txBox="1"/>
          <p:nvPr/>
        </p:nvSpPr>
        <p:spPr>
          <a:xfrm>
            <a:off x="2487166" y="3931920"/>
            <a:ext cx="1188724" cy="3567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2300">
                <a:solidFill>
                  <a:srgbClr val="FF705B"/>
                </a:solidFill>
                <a:latin typeface="Helvetica Neue"/>
                <a:ea typeface="Helvetica Neue"/>
                <a:cs typeface="Helvetica Neue"/>
                <a:sym typeface="Helvetica Neue"/>
              </a:defRPr>
            </a:pPr>
            <a:r>
              <a:t>f</a:t>
            </a:r>
            <a:r>
              <a:rPr>
                <a:latin typeface="+mj-lt"/>
                <a:ea typeface="+mj-ea"/>
                <a:cs typeface="+mj-cs"/>
                <a:sym typeface="Calibri"/>
              </a:rPr>
              <a:t>ᵤ </a:t>
            </a:r>
            <a:r>
              <a:t>· fₙ</a:t>
            </a:r>
          </a:p>
        </p:txBody>
      </p:sp>
      <p:sp>
        <p:nvSpPr>
          <p:cNvPr id="783" name="TextBox 23"/>
          <p:cNvSpPr txBox="1"/>
          <p:nvPr/>
        </p:nvSpPr>
        <p:spPr>
          <a:xfrm>
            <a:off x="3977637" y="3950208"/>
            <a:ext cx="1115572"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73777F"/>
                </a:solidFill>
                <a:latin typeface="Helvetica Neue"/>
                <a:ea typeface="Helvetica Neue"/>
                <a:cs typeface="Helvetica Neue"/>
                <a:sym typeface="Helvetica Neue"/>
              </a:defRPr>
            </a:lvl1pPr>
          </a:lstStyle>
          <a:p>
            <a:pPr/>
            <a:r>
              <a:t>iₙ  —</a:t>
            </a:r>
          </a:p>
        </p:txBody>
      </p:sp>
      <p:sp>
        <p:nvSpPr>
          <p:cNvPr id="784" name="Connector 24"/>
          <p:cNvSpPr/>
          <p:nvPr/>
        </p:nvSpPr>
        <p:spPr>
          <a:xfrm>
            <a:off x="2240277" y="4160520"/>
            <a:ext cx="228605"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85" name="Connector 25"/>
          <p:cNvSpPr/>
          <p:nvPr/>
        </p:nvSpPr>
        <p:spPr>
          <a:xfrm>
            <a:off x="3657598" y="4160520"/>
            <a:ext cx="274327"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86" name="TextBox 26"/>
          <p:cNvSpPr txBox="1"/>
          <p:nvPr/>
        </p:nvSpPr>
        <p:spPr>
          <a:xfrm>
            <a:off x="987549" y="4773167"/>
            <a:ext cx="3200408"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FF705B"/>
                </a:solidFill>
                <a:latin typeface="Helvetica Neue"/>
                <a:ea typeface="Helvetica Neue"/>
                <a:cs typeface="Helvetica Neue"/>
                <a:sym typeface="Helvetica Neue"/>
              </a:defRPr>
            </a:pPr>
            <a:r>
              <a:t>• </a:t>
            </a:r>
            <a:r>
              <a:rPr b="0">
                <a:solidFill>
                  <a:srgbClr val="73777F"/>
                </a:solidFill>
              </a:rPr>
              <a:t>Predictable partisan support</a:t>
            </a:r>
          </a:p>
        </p:txBody>
      </p:sp>
      <p:sp>
        <p:nvSpPr>
          <p:cNvPr id="787" name="TextBox 27"/>
          <p:cNvSpPr txBox="1"/>
          <p:nvPr/>
        </p:nvSpPr>
        <p:spPr>
          <a:xfrm>
            <a:off x="6419086" y="1572766"/>
            <a:ext cx="2468887"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FA873"/>
                </a:solidFill>
                <a:latin typeface="Helvetica Neue"/>
                <a:ea typeface="Helvetica Neue"/>
                <a:cs typeface="Helvetica Neue"/>
                <a:sym typeface="Helvetica Neue"/>
              </a:defRPr>
            </a:lvl1pPr>
          </a:lstStyle>
          <a:p>
            <a:pPr/>
            <a:r>
              <a:t>ENEMIES SHAKE HANDS</a:t>
            </a:r>
          </a:p>
        </p:txBody>
      </p:sp>
      <p:sp>
        <p:nvSpPr>
          <p:cNvPr id="788" name="Oval 28"/>
          <p:cNvSpPr/>
          <p:nvPr/>
        </p:nvSpPr>
        <p:spPr>
          <a:xfrm>
            <a:off x="6903718" y="2221992"/>
            <a:ext cx="215799" cy="21579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89" name="Connector 29"/>
          <p:cNvSpPr/>
          <p:nvPr/>
        </p:nvSpPr>
        <p:spPr>
          <a:xfrm>
            <a:off x="7011619" y="2437787"/>
            <a:ext cx="6" cy="356074"/>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90" name="Connector 30"/>
          <p:cNvSpPr/>
          <p:nvPr/>
        </p:nvSpPr>
        <p:spPr>
          <a:xfrm>
            <a:off x="6860560" y="2588847"/>
            <a:ext cx="302124" cy="5"/>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91" name="Connector 31"/>
          <p:cNvSpPr/>
          <p:nvPr/>
        </p:nvSpPr>
        <p:spPr>
          <a:xfrm flipH="1">
            <a:off x="6871350" y="2793856"/>
            <a:ext cx="140275" cy="226591"/>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92" name="Connector 32"/>
          <p:cNvSpPr/>
          <p:nvPr/>
        </p:nvSpPr>
        <p:spPr>
          <a:xfrm>
            <a:off x="7011619" y="2793856"/>
            <a:ext cx="140275" cy="226591"/>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93" name="Rounded Rectangle 33"/>
          <p:cNvSpPr/>
          <p:nvPr/>
        </p:nvSpPr>
        <p:spPr>
          <a:xfrm>
            <a:off x="8320327" y="2009138"/>
            <a:ext cx="1353315" cy="1719074"/>
          </a:xfrm>
          <a:prstGeom prst="roundRect">
            <a:avLst>
              <a:gd name="adj" fmla="val 16667"/>
            </a:avLst>
          </a:prstGeom>
          <a:ln w="1397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94" name="Connector 34"/>
          <p:cNvSpPr/>
          <p:nvPr/>
        </p:nvSpPr>
        <p:spPr>
          <a:xfrm>
            <a:off x="8539781" y="2448049"/>
            <a:ext cx="914406" cy="6"/>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95" name="Connector 35"/>
          <p:cNvSpPr/>
          <p:nvPr/>
        </p:nvSpPr>
        <p:spPr>
          <a:xfrm>
            <a:off x="8539781" y="2758944"/>
            <a:ext cx="786390" cy="7"/>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96" name="Connector 36"/>
          <p:cNvSpPr/>
          <p:nvPr/>
        </p:nvSpPr>
        <p:spPr>
          <a:xfrm>
            <a:off x="8539781" y="3069843"/>
            <a:ext cx="877830" cy="5"/>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97" name="Oval 37"/>
          <p:cNvSpPr/>
          <p:nvPr/>
        </p:nvSpPr>
        <p:spPr>
          <a:xfrm>
            <a:off x="10602500" y="2226117"/>
            <a:ext cx="215799" cy="21579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98" name="Connector 38"/>
          <p:cNvSpPr/>
          <p:nvPr/>
        </p:nvSpPr>
        <p:spPr>
          <a:xfrm>
            <a:off x="10710401" y="2441915"/>
            <a:ext cx="6" cy="35607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799" name="Connector 39"/>
          <p:cNvSpPr/>
          <p:nvPr/>
        </p:nvSpPr>
        <p:spPr>
          <a:xfrm>
            <a:off x="10559342" y="2592974"/>
            <a:ext cx="302124"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00" name="Connector 40"/>
          <p:cNvSpPr/>
          <p:nvPr/>
        </p:nvSpPr>
        <p:spPr>
          <a:xfrm flipH="1">
            <a:off x="10570132" y="2797979"/>
            <a:ext cx="140275" cy="22659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01" name="Connector 41"/>
          <p:cNvSpPr/>
          <p:nvPr/>
        </p:nvSpPr>
        <p:spPr>
          <a:xfrm>
            <a:off x="10710401" y="2797979"/>
            <a:ext cx="140275" cy="22659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02" name="Oval 42"/>
          <p:cNvSpPr/>
          <p:nvPr/>
        </p:nvSpPr>
        <p:spPr>
          <a:xfrm>
            <a:off x="7973568" y="2587749"/>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803" name="Connector 43"/>
          <p:cNvSpPr/>
          <p:nvPr/>
        </p:nvSpPr>
        <p:spPr>
          <a:xfrm>
            <a:off x="8014716" y="2697477"/>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04" name="Connector 44"/>
          <p:cNvSpPr/>
          <p:nvPr/>
        </p:nvSpPr>
        <p:spPr>
          <a:xfrm flipV="1">
            <a:off x="8060435" y="264261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05" name="Connector 48"/>
          <p:cNvSpPr/>
          <p:nvPr/>
        </p:nvSpPr>
        <p:spPr>
          <a:xfrm>
            <a:off x="7452359" y="2688333"/>
            <a:ext cx="429773" cy="6"/>
          </a:xfrm>
          <a:prstGeom prst="line">
            <a:avLst/>
          </a:prstGeom>
          <a:ln w="1778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06" name="Connector 50"/>
          <p:cNvSpPr/>
          <p:nvPr/>
        </p:nvSpPr>
        <p:spPr>
          <a:xfrm>
            <a:off x="10042906" y="2679444"/>
            <a:ext cx="448062" cy="5"/>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07" name="TextBox 51"/>
          <p:cNvSpPr txBox="1"/>
          <p:nvPr/>
        </p:nvSpPr>
        <p:spPr>
          <a:xfrm>
            <a:off x="6748271" y="4087367"/>
            <a:ext cx="1627636"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FA873"/>
                </a:solidFill>
                <a:latin typeface="Helvetica Neue"/>
                <a:ea typeface="Helvetica Neue"/>
                <a:cs typeface="Helvetica Neue"/>
                <a:sym typeface="Helvetica Neue"/>
              </a:defRPr>
            </a:lvl1pPr>
          </a:lstStyle>
          <a:p>
            <a:pPr/>
            <a:r>
              <a:t>UNEXPECTED</a:t>
            </a:r>
          </a:p>
        </p:txBody>
      </p:sp>
      <p:sp>
        <p:nvSpPr>
          <p:cNvPr id="808" name="TextBox 52"/>
          <p:cNvSpPr txBox="1"/>
          <p:nvPr/>
        </p:nvSpPr>
        <p:spPr>
          <a:xfrm>
            <a:off x="8357616" y="3931920"/>
            <a:ext cx="1691641" cy="3312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2100">
                <a:solidFill>
                  <a:srgbClr val="73777F"/>
                </a:solidFill>
                <a:latin typeface="Helvetica Neue"/>
                <a:ea typeface="Helvetica Neue"/>
                <a:cs typeface="Helvetica Neue"/>
                <a:sym typeface="Helvetica Neue"/>
              </a:defRPr>
            </a:pPr>
            <a:r>
              <a:t>f</a:t>
            </a:r>
            <a:r>
              <a:rPr>
                <a:latin typeface="+mj-lt"/>
                <a:ea typeface="+mj-ea"/>
                <a:cs typeface="+mj-cs"/>
                <a:sym typeface="Calibri"/>
              </a:rPr>
              <a:t>ᵤ </a:t>
            </a:r>
            <a:r>
              <a:t>· fₙ ≈ 0</a:t>
            </a:r>
          </a:p>
        </p:txBody>
      </p:sp>
      <p:sp>
        <p:nvSpPr>
          <p:cNvPr id="809" name="TextBox 53"/>
          <p:cNvSpPr txBox="1"/>
          <p:nvPr/>
        </p:nvSpPr>
        <p:spPr>
          <a:xfrm>
            <a:off x="10241280" y="3904486"/>
            <a:ext cx="914406" cy="3594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400">
                <a:solidFill>
                  <a:srgbClr val="1FA873"/>
                </a:solidFill>
                <a:latin typeface="Helvetica Neue"/>
                <a:ea typeface="Helvetica Neue"/>
                <a:cs typeface="Helvetica Neue"/>
                <a:sym typeface="Helvetica Neue"/>
              </a:defRPr>
            </a:lvl1pPr>
          </a:lstStyle>
          <a:p>
            <a:pPr/>
            <a:r>
              <a:t>iₙ  ↑</a:t>
            </a:r>
          </a:p>
        </p:txBody>
      </p:sp>
      <p:sp>
        <p:nvSpPr>
          <p:cNvPr id="810" name="Connector 54"/>
          <p:cNvSpPr/>
          <p:nvPr/>
        </p:nvSpPr>
        <p:spPr>
          <a:xfrm>
            <a:off x="8119871" y="4160520"/>
            <a:ext cx="219455"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11" name="Connector 55"/>
          <p:cNvSpPr/>
          <p:nvPr/>
        </p:nvSpPr>
        <p:spPr>
          <a:xfrm>
            <a:off x="10058399" y="4160520"/>
            <a:ext cx="164599"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12" name="TextBox 56"/>
          <p:cNvSpPr txBox="1"/>
          <p:nvPr/>
        </p:nvSpPr>
        <p:spPr>
          <a:xfrm>
            <a:off x="6784847" y="4773167"/>
            <a:ext cx="3108966"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1FA873"/>
                </a:solidFill>
                <a:latin typeface="Helvetica Neue"/>
                <a:ea typeface="Helvetica Neue"/>
                <a:cs typeface="Helvetica Neue"/>
                <a:sym typeface="Helvetica Neue"/>
              </a:defRPr>
            </a:pPr>
            <a:r>
              <a:t>• </a:t>
            </a:r>
            <a:r>
              <a:rPr b="0">
                <a:solidFill>
                  <a:srgbClr val="73777F"/>
                </a:solidFill>
              </a:rPr>
              <a:t>Cross-viewpoint surprise</a:t>
            </a:r>
          </a:p>
        </p:txBody>
      </p:sp>
      <p:sp>
        <p:nvSpPr>
          <p:cNvPr id="813" name="Connector 57"/>
          <p:cNvSpPr/>
          <p:nvPr/>
        </p:nvSpPr>
        <p:spPr>
          <a:xfrm>
            <a:off x="749804" y="5413247"/>
            <a:ext cx="10680201" cy="4"/>
          </a:xfrm>
          <a:prstGeom prst="line">
            <a:avLst/>
          </a:prstGeom>
          <a:ln w="1397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14" name="TextBox 58"/>
          <p:cNvSpPr txBox="1"/>
          <p:nvPr/>
        </p:nvSpPr>
        <p:spPr>
          <a:xfrm>
            <a:off x="841243" y="5669279"/>
            <a:ext cx="4114808"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3977F6"/>
                </a:solidFill>
                <a:latin typeface="Helvetica Neue"/>
                <a:ea typeface="Helvetica Neue"/>
                <a:cs typeface="Helvetica Neue"/>
                <a:sym typeface="Helvetica Neue"/>
              </a:defRPr>
            </a:pPr>
            <a:r>
              <a:t>• </a:t>
            </a:r>
            <a:r>
              <a:rPr>
                <a:solidFill>
                  <a:srgbClr val="111318"/>
                </a:solidFill>
              </a:rPr>
              <a:t>The same click receives different credit</a:t>
            </a:r>
          </a:p>
        </p:txBody>
      </p:sp>
      <p:sp>
        <p:nvSpPr>
          <p:cNvPr id="815" name="TextBox 59"/>
          <p:cNvSpPr txBox="1"/>
          <p:nvPr/>
        </p:nvSpPr>
        <p:spPr>
          <a:xfrm>
            <a:off x="6784847" y="5669279"/>
            <a:ext cx="374904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FF705B"/>
                </a:solidFill>
                <a:latin typeface="Helvetica Neue"/>
                <a:ea typeface="Helvetica Neue"/>
                <a:cs typeface="Helvetica Neue"/>
                <a:sym typeface="Helvetica Neue"/>
              </a:defRPr>
            </a:pPr>
            <a:r>
              <a:t>• </a:t>
            </a:r>
            <a:r>
              <a:rPr>
                <a:solidFill>
                  <a:srgbClr val="111318"/>
                </a:solidFill>
              </a:rPr>
              <a:t>The model asks who voted</a:t>
            </a:r>
          </a:p>
        </p:txBody>
      </p:sp>
      <p:sp>
        <p:nvSpPr>
          <p:cNvPr id="816" name="TextBox 60"/>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Wojcik et al. (2022); Buterin (2023); X Community Notes (2026)</a:t>
            </a:r>
          </a:p>
        </p:txBody>
      </p:sp>
      <p:sp>
        <p:nvSpPr>
          <p:cNvPr id="817" name="Rectangle"/>
          <p:cNvSpPr/>
          <p:nvPr/>
        </p:nvSpPr>
        <p:spPr>
          <a:xfrm>
            <a:off x="5919536" y="3945001"/>
            <a:ext cx="5479663" cy="2161347"/>
          </a:xfrm>
          <a:prstGeom prst="rect">
            <a:avLst/>
          </a:prstGeom>
          <a:solidFill>
            <a:srgbClr val="FFFFFF"/>
          </a:solidFill>
          <a:ln w="12700">
            <a:miter lim="400000"/>
          </a:ln>
        </p:spPr>
        <p:txBody>
          <a:bodyPr lIns="45718" tIns="45718" rIns="45718" bIns="45718" anchor="ctr"/>
          <a:lstStyle/>
          <a:p>
            <a:pPr>
              <a:defRPr>
                <a:latin typeface="+mj-lt"/>
                <a:ea typeface="+mj-ea"/>
                <a:cs typeface="+mj-cs"/>
                <a:sym typeface="Calibri"/>
              </a:defRPr>
            </a:pPr>
          </a:p>
        </p:txBody>
      </p:sp>
      <p:sp>
        <p:nvSpPr>
          <p:cNvPr id="818" name="Rectangle"/>
          <p:cNvSpPr/>
          <p:nvPr/>
        </p:nvSpPr>
        <p:spPr>
          <a:xfrm>
            <a:off x="5994177" y="1402529"/>
            <a:ext cx="2226838" cy="2717920"/>
          </a:xfrm>
          <a:prstGeom prst="rect">
            <a:avLst/>
          </a:prstGeom>
          <a:solidFill>
            <a:srgbClr val="FFFFFF"/>
          </a:solidFill>
          <a:ln w="12700">
            <a:miter lim="400000"/>
          </a:ln>
        </p:spPr>
        <p:txBody>
          <a:bodyPr lIns="45718" tIns="45718" rIns="45718" bIns="45718" anchor="ctr"/>
          <a:lstStyle/>
          <a:p>
            <a:pPr>
              <a:defRPr>
                <a:latin typeface="+mj-lt"/>
                <a:ea typeface="+mj-ea"/>
                <a:cs typeface="+mj-cs"/>
                <a:sym typeface="Calibri"/>
              </a:defRPr>
            </a:pPr>
          </a:p>
        </p:txBody>
      </p:sp>
      <p:sp>
        <p:nvSpPr>
          <p:cNvPr id="819" name="Oval 45"/>
          <p:cNvSpPr/>
          <p:nvPr/>
        </p:nvSpPr>
        <p:spPr>
          <a:xfrm>
            <a:off x="9737645" y="2585210"/>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820" name="Connector 46"/>
          <p:cNvSpPr/>
          <p:nvPr/>
        </p:nvSpPr>
        <p:spPr>
          <a:xfrm>
            <a:off x="9778793" y="2694938"/>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21" name="Connector 47"/>
          <p:cNvSpPr/>
          <p:nvPr/>
        </p:nvSpPr>
        <p:spPr>
          <a:xfrm flipV="1">
            <a:off x="9824515" y="264007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22" name="TextBox 1"/>
          <p:cNvSpPr txBox="1"/>
          <p:nvPr/>
        </p:nvSpPr>
        <p:spPr>
          <a:xfrm>
            <a:off x="603499" y="420623"/>
            <a:ext cx="4389130"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HOW SYSTEM WORKS 1 - 2</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4" name="TextBox 1"/>
          <p:cNvSpPr txBox="1"/>
          <p:nvPr/>
        </p:nvSpPr>
        <p:spPr>
          <a:xfrm>
            <a:off x="603499" y="420623"/>
            <a:ext cx="4389130"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HOW SYSTEM WORKS 1 - 2</a:t>
            </a:r>
          </a:p>
        </p:txBody>
      </p:sp>
      <p:sp>
        <p:nvSpPr>
          <p:cNvPr id="825"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It reads the rater</a:t>
            </a:r>
          </a:p>
        </p:txBody>
      </p:sp>
      <p:sp>
        <p:nvSpPr>
          <p:cNvPr id="826" name="TextBox 3"/>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04</a:t>
            </a:r>
          </a:p>
        </p:txBody>
      </p:sp>
      <p:sp>
        <p:nvSpPr>
          <p:cNvPr id="827" name="Connector 4"/>
          <p:cNvSpPr/>
          <p:nvPr/>
        </p:nvSpPr>
        <p:spPr>
          <a:xfrm flipH="1">
            <a:off x="6099047" y="1627632"/>
            <a:ext cx="6" cy="3511296"/>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28" name="TextBox 5"/>
          <p:cNvSpPr txBox="1"/>
          <p:nvPr/>
        </p:nvSpPr>
        <p:spPr>
          <a:xfrm>
            <a:off x="822958" y="1572766"/>
            <a:ext cx="1645923"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FF705B"/>
                </a:solidFill>
                <a:latin typeface="Helvetica Neue"/>
                <a:ea typeface="Helvetica Neue"/>
                <a:cs typeface="Helvetica Neue"/>
                <a:sym typeface="Helvetica Neue"/>
              </a:defRPr>
            </a:lvl1pPr>
          </a:lstStyle>
          <a:p>
            <a:pPr/>
            <a:r>
              <a:t>AMIGO</a:t>
            </a:r>
          </a:p>
        </p:txBody>
      </p:sp>
      <p:sp>
        <p:nvSpPr>
          <p:cNvPr id="829" name="Oval 6"/>
          <p:cNvSpPr/>
          <p:nvPr/>
        </p:nvSpPr>
        <p:spPr>
          <a:xfrm>
            <a:off x="1234438" y="2221992"/>
            <a:ext cx="228605" cy="22860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830" name="Connector 7"/>
          <p:cNvSpPr/>
          <p:nvPr/>
        </p:nvSpPr>
        <p:spPr>
          <a:xfrm>
            <a:off x="1348738" y="2450592"/>
            <a:ext cx="6" cy="37719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31" name="Connector 8"/>
          <p:cNvSpPr/>
          <p:nvPr/>
        </p:nvSpPr>
        <p:spPr>
          <a:xfrm>
            <a:off x="1188719" y="2610610"/>
            <a:ext cx="320046"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32" name="Connector 9"/>
          <p:cNvSpPr/>
          <p:nvPr/>
        </p:nvSpPr>
        <p:spPr>
          <a:xfrm flipH="1">
            <a:off x="1200149" y="2827782"/>
            <a:ext cx="148596" cy="24003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33" name="Connector 10"/>
          <p:cNvSpPr/>
          <p:nvPr/>
        </p:nvSpPr>
        <p:spPr>
          <a:xfrm>
            <a:off x="1348735" y="2827782"/>
            <a:ext cx="148597" cy="24003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34" name="Rounded Rectangle 11"/>
          <p:cNvSpPr/>
          <p:nvPr/>
        </p:nvSpPr>
        <p:spPr>
          <a:xfrm>
            <a:off x="3310128" y="2011677"/>
            <a:ext cx="1353318" cy="1719075"/>
          </a:xfrm>
          <a:prstGeom prst="roundRect">
            <a:avLst>
              <a:gd name="adj" fmla="val 16667"/>
            </a:avLst>
          </a:prstGeom>
          <a:ln w="1397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835" name="Connector 12"/>
          <p:cNvSpPr/>
          <p:nvPr/>
        </p:nvSpPr>
        <p:spPr>
          <a:xfrm>
            <a:off x="3529584" y="2450592"/>
            <a:ext cx="914405" cy="6"/>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36" name="Connector 13"/>
          <p:cNvSpPr/>
          <p:nvPr/>
        </p:nvSpPr>
        <p:spPr>
          <a:xfrm>
            <a:off x="3529584" y="2761487"/>
            <a:ext cx="786390" cy="7"/>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37" name="Connector 14"/>
          <p:cNvSpPr/>
          <p:nvPr/>
        </p:nvSpPr>
        <p:spPr>
          <a:xfrm>
            <a:off x="3529584" y="3072383"/>
            <a:ext cx="877829" cy="5"/>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38" name="Oval 15"/>
          <p:cNvSpPr/>
          <p:nvPr/>
        </p:nvSpPr>
        <p:spPr>
          <a:xfrm>
            <a:off x="2331720" y="2587749"/>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839" name="Connector 16"/>
          <p:cNvSpPr/>
          <p:nvPr/>
        </p:nvSpPr>
        <p:spPr>
          <a:xfrm>
            <a:off x="2372865" y="2697477"/>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40" name="Connector 17"/>
          <p:cNvSpPr/>
          <p:nvPr/>
        </p:nvSpPr>
        <p:spPr>
          <a:xfrm flipV="1">
            <a:off x="2418588" y="264261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41" name="TextBox 18"/>
          <p:cNvSpPr txBox="1"/>
          <p:nvPr/>
        </p:nvSpPr>
        <p:spPr>
          <a:xfrm>
            <a:off x="2103120" y="2907792"/>
            <a:ext cx="71323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900">
                <a:solidFill>
                  <a:srgbClr val="1FA873"/>
                </a:solidFill>
                <a:latin typeface="Helvetica Neue"/>
                <a:ea typeface="Helvetica Neue"/>
                <a:cs typeface="Helvetica Neue"/>
                <a:sym typeface="Helvetica Neue"/>
              </a:defRPr>
            </a:lvl1pPr>
          </a:lstStyle>
          <a:p>
            <a:pPr/>
            <a:r>
              <a:t>HELPFUL</a:t>
            </a:r>
          </a:p>
        </p:txBody>
      </p:sp>
      <p:sp>
        <p:nvSpPr>
          <p:cNvPr id="842" name="Connector 19"/>
          <p:cNvSpPr/>
          <p:nvPr/>
        </p:nvSpPr>
        <p:spPr>
          <a:xfrm>
            <a:off x="1837943" y="2688333"/>
            <a:ext cx="411486" cy="6"/>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43" name="Connector 20"/>
          <p:cNvSpPr/>
          <p:nvPr/>
        </p:nvSpPr>
        <p:spPr>
          <a:xfrm>
            <a:off x="2578604" y="2688333"/>
            <a:ext cx="694951" cy="5"/>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44" name="TextBox 21"/>
          <p:cNvSpPr txBox="1"/>
          <p:nvPr/>
        </p:nvSpPr>
        <p:spPr>
          <a:xfrm>
            <a:off x="1051560" y="4087367"/>
            <a:ext cx="1371606"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73777F"/>
                </a:solidFill>
                <a:latin typeface="Helvetica Neue"/>
                <a:ea typeface="Helvetica Neue"/>
                <a:cs typeface="Helvetica Neue"/>
                <a:sym typeface="Helvetica Neue"/>
              </a:defRPr>
            </a:lvl1pPr>
          </a:lstStyle>
          <a:p>
            <a:pPr/>
            <a:r>
              <a:t>EXPECTED</a:t>
            </a:r>
          </a:p>
        </p:txBody>
      </p:sp>
      <p:sp>
        <p:nvSpPr>
          <p:cNvPr id="845" name="TextBox 22"/>
          <p:cNvSpPr txBox="1"/>
          <p:nvPr/>
        </p:nvSpPr>
        <p:spPr>
          <a:xfrm>
            <a:off x="2487166" y="3931920"/>
            <a:ext cx="1188724" cy="3567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2300">
                <a:solidFill>
                  <a:srgbClr val="FF705B"/>
                </a:solidFill>
                <a:latin typeface="Helvetica Neue"/>
                <a:ea typeface="Helvetica Neue"/>
                <a:cs typeface="Helvetica Neue"/>
                <a:sym typeface="Helvetica Neue"/>
              </a:defRPr>
            </a:pPr>
            <a:r>
              <a:t>f</a:t>
            </a:r>
            <a:r>
              <a:rPr>
                <a:latin typeface="+mj-lt"/>
                <a:ea typeface="+mj-ea"/>
                <a:cs typeface="+mj-cs"/>
                <a:sym typeface="Calibri"/>
              </a:rPr>
              <a:t>ᵤ </a:t>
            </a:r>
            <a:r>
              <a:t>· fₙ</a:t>
            </a:r>
          </a:p>
        </p:txBody>
      </p:sp>
      <p:sp>
        <p:nvSpPr>
          <p:cNvPr id="846" name="TextBox 23"/>
          <p:cNvSpPr txBox="1"/>
          <p:nvPr/>
        </p:nvSpPr>
        <p:spPr>
          <a:xfrm>
            <a:off x="3977637" y="3950208"/>
            <a:ext cx="1115572"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73777F"/>
                </a:solidFill>
                <a:latin typeface="Helvetica Neue"/>
                <a:ea typeface="Helvetica Neue"/>
                <a:cs typeface="Helvetica Neue"/>
                <a:sym typeface="Helvetica Neue"/>
              </a:defRPr>
            </a:lvl1pPr>
          </a:lstStyle>
          <a:p>
            <a:pPr/>
            <a:r>
              <a:t>iₙ  —</a:t>
            </a:r>
          </a:p>
        </p:txBody>
      </p:sp>
      <p:sp>
        <p:nvSpPr>
          <p:cNvPr id="847" name="Connector 24"/>
          <p:cNvSpPr/>
          <p:nvPr/>
        </p:nvSpPr>
        <p:spPr>
          <a:xfrm>
            <a:off x="2240277" y="4160520"/>
            <a:ext cx="228605"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48" name="Connector 25"/>
          <p:cNvSpPr/>
          <p:nvPr/>
        </p:nvSpPr>
        <p:spPr>
          <a:xfrm>
            <a:off x="3657598" y="4160520"/>
            <a:ext cx="274327"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49" name="TextBox 26"/>
          <p:cNvSpPr txBox="1"/>
          <p:nvPr/>
        </p:nvSpPr>
        <p:spPr>
          <a:xfrm>
            <a:off x="987549" y="4773167"/>
            <a:ext cx="3200408"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FF705B"/>
                </a:solidFill>
                <a:latin typeface="Helvetica Neue"/>
                <a:ea typeface="Helvetica Neue"/>
                <a:cs typeface="Helvetica Neue"/>
                <a:sym typeface="Helvetica Neue"/>
              </a:defRPr>
            </a:pPr>
            <a:r>
              <a:t>• </a:t>
            </a:r>
            <a:r>
              <a:rPr b="0">
                <a:solidFill>
                  <a:srgbClr val="73777F"/>
                </a:solidFill>
              </a:rPr>
              <a:t>Predictable partisan support</a:t>
            </a:r>
          </a:p>
        </p:txBody>
      </p:sp>
      <p:sp>
        <p:nvSpPr>
          <p:cNvPr id="850" name="TextBox 27"/>
          <p:cNvSpPr txBox="1"/>
          <p:nvPr/>
        </p:nvSpPr>
        <p:spPr>
          <a:xfrm>
            <a:off x="6419086" y="1572766"/>
            <a:ext cx="2468887"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FA873"/>
                </a:solidFill>
                <a:latin typeface="Helvetica Neue"/>
                <a:ea typeface="Helvetica Neue"/>
                <a:cs typeface="Helvetica Neue"/>
                <a:sym typeface="Helvetica Neue"/>
              </a:defRPr>
            </a:lvl1pPr>
          </a:lstStyle>
          <a:p>
            <a:pPr/>
            <a:r>
              <a:t>ENEMIES SHAKE HANDS</a:t>
            </a:r>
          </a:p>
        </p:txBody>
      </p:sp>
      <p:sp>
        <p:nvSpPr>
          <p:cNvPr id="851" name="Oval 28"/>
          <p:cNvSpPr/>
          <p:nvPr/>
        </p:nvSpPr>
        <p:spPr>
          <a:xfrm>
            <a:off x="6903718" y="2221992"/>
            <a:ext cx="215799" cy="21579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852" name="Connector 29"/>
          <p:cNvSpPr/>
          <p:nvPr/>
        </p:nvSpPr>
        <p:spPr>
          <a:xfrm>
            <a:off x="7011619" y="2437787"/>
            <a:ext cx="6" cy="356074"/>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53" name="Connector 30"/>
          <p:cNvSpPr/>
          <p:nvPr/>
        </p:nvSpPr>
        <p:spPr>
          <a:xfrm>
            <a:off x="6860560" y="2588847"/>
            <a:ext cx="302124" cy="5"/>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54" name="Connector 31"/>
          <p:cNvSpPr/>
          <p:nvPr/>
        </p:nvSpPr>
        <p:spPr>
          <a:xfrm flipH="1">
            <a:off x="6871350" y="2793856"/>
            <a:ext cx="140275" cy="226591"/>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55" name="Connector 32"/>
          <p:cNvSpPr/>
          <p:nvPr/>
        </p:nvSpPr>
        <p:spPr>
          <a:xfrm>
            <a:off x="7011619" y="2793856"/>
            <a:ext cx="140275" cy="226591"/>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56" name="Rounded Rectangle 33"/>
          <p:cNvSpPr/>
          <p:nvPr/>
        </p:nvSpPr>
        <p:spPr>
          <a:xfrm>
            <a:off x="8320327" y="2009138"/>
            <a:ext cx="1353315" cy="1719074"/>
          </a:xfrm>
          <a:prstGeom prst="roundRect">
            <a:avLst>
              <a:gd name="adj" fmla="val 16667"/>
            </a:avLst>
          </a:prstGeom>
          <a:ln w="1397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857" name="Connector 34"/>
          <p:cNvSpPr/>
          <p:nvPr/>
        </p:nvSpPr>
        <p:spPr>
          <a:xfrm>
            <a:off x="8539781" y="2448049"/>
            <a:ext cx="914406" cy="6"/>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58" name="Connector 35"/>
          <p:cNvSpPr/>
          <p:nvPr/>
        </p:nvSpPr>
        <p:spPr>
          <a:xfrm>
            <a:off x="8539781" y="2758944"/>
            <a:ext cx="786390" cy="7"/>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59" name="Connector 36"/>
          <p:cNvSpPr/>
          <p:nvPr/>
        </p:nvSpPr>
        <p:spPr>
          <a:xfrm>
            <a:off x="8539781" y="3069843"/>
            <a:ext cx="877830" cy="5"/>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60" name="Oval 37"/>
          <p:cNvSpPr/>
          <p:nvPr/>
        </p:nvSpPr>
        <p:spPr>
          <a:xfrm>
            <a:off x="10602500" y="2226117"/>
            <a:ext cx="215799" cy="21579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861" name="Connector 38"/>
          <p:cNvSpPr/>
          <p:nvPr/>
        </p:nvSpPr>
        <p:spPr>
          <a:xfrm>
            <a:off x="10710401" y="2441915"/>
            <a:ext cx="6" cy="35607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62" name="Connector 39"/>
          <p:cNvSpPr/>
          <p:nvPr/>
        </p:nvSpPr>
        <p:spPr>
          <a:xfrm>
            <a:off x="10559342" y="2592974"/>
            <a:ext cx="302124"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63" name="Connector 40"/>
          <p:cNvSpPr/>
          <p:nvPr/>
        </p:nvSpPr>
        <p:spPr>
          <a:xfrm flipH="1">
            <a:off x="10570132" y="2797979"/>
            <a:ext cx="140275" cy="22659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64" name="Connector 41"/>
          <p:cNvSpPr/>
          <p:nvPr/>
        </p:nvSpPr>
        <p:spPr>
          <a:xfrm>
            <a:off x="10710401" y="2797979"/>
            <a:ext cx="140275" cy="226591"/>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65" name="Oval 42"/>
          <p:cNvSpPr/>
          <p:nvPr/>
        </p:nvSpPr>
        <p:spPr>
          <a:xfrm>
            <a:off x="7973568" y="2587749"/>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866" name="Connector 43"/>
          <p:cNvSpPr/>
          <p:nvPr/>
        </p:nvSpPr>
        <p:spPr>
          <a:xfrm>
            <a:off x="8014716" y="2697477"/>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67" name="Connector 44"/>
          <p:cNvSpPr/>
          <p:nvPr/>
        </p:nvSpPr>
        <p:spPr>
          <a:xfrm flipV="1">
            <a:off x="8060435" y="264261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68" name="Connector 48"/>
          <p:cNvSpPr/>
          <p:nvPr/>
        </p:nvSpPr>
        <p:spPr>
          <a:xfrm>
            <a:off x="7452359" y="2688333"/>
            <a:ext cx="429773" cy="6"/>
          </a:xfrm>
          <a:prstGeom prst="line">
            <a:avLst/>
          </a:prstGeom>
          <a:ln w="1778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69" name="Connector 50"/>
          <p:cNvSpPr/>
          <p:nvPr/>
        </p:nvSpPr>
        <p:spPr>
          <a:xfrm>
            <a:off x="10042906" y="2679444"/>
            <a:ext cx="448062" cy="5"/>
          </a:xfrm>
          <a:prstGeom prst="line">
            <a:avLst/>
          </a:prstGeom>
          <a:ln w="1778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70" name="TextBox 51"/>
          <p:cNvSpPr txBox="1"/>
          <p:nvPr/>
        </p:nvSpPr>
        <p:spPr>
          <a:xfrm>
            <a:off x="6748271" y="4087367"/>
            <a:ext cx="1627636"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FA873"/>
                </a:solidFill>
                <a:latin typeface="Helvetica Neue"/>
                <a:ea typeface="Helvetica Neue"/>
                <a:cs typeface="Helvetica Neue"/>
                <a:sym typeface="Helvetica Neue"/>
              </a:defRPr>
            </a:lvl1pPr>
          </a:lstStyle>
          <a:p>
            <a:pPr/>
            <a:r>
              <a:t>UNEXPECTED</a:t>
            </a:r>
          </a:p>
        </p:txBody>
      </p:sp>
      <p:sp>
        <p:nvSpPr>
          <p:cNvPr id="871" name="TextBox 52"/>
          <p:cNvSpPr txBox="1"/>
          <p:nvPr/>
        </p:nvSpPr>
        <p:spPr>
          <a:xfrm>
            <a:off x="8357616" y="3931920"/>
            <a:ext cx="1691641" cy="3312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2100">
                <a:solidFill>
                  <a:srgbClr val="73777F"/>
                </a:solidFill>
                <a:latin typeface="Helvetica Neue"/>
                <a:ea typeface="Helvetica Neue"/>
                <a:cs typeface="Helvetica Neue"/>
                <a:sym typeface="Helvetica Neue"/>
              </a:defRPr>
            </a:pPr>
            <a:r>
              <a:t>f</a:t>
            </a:r>
            <a:r>
              <a:rPr>
                <a:latin typeface="+mj-lt"/>
                <a:ea typeface="+mj-ea"/>
                <a:cs typeface="+mj-cs"/>
                <a:sym typeface="Calibri"/>
              </a:rPr>
              <a:t>ᵤ </a:t>
            </a:r>
            <a:r>
              <a:t>· fₙ ≈ 0</a:t>
            </a:r>
          </a:p>
        </p:txBody>
      </p:sp>
      <p:sp>
        <p:nvSpPr>
          <p:cNvPr id="872" name="TextBox 53"/>
          <p:cNvSpPr txBox="1"/>
          <p:nvPr/>
        </p:nvSpPr>
        <p:spPr>
          <a:xfrm>
            <a:off x="10241280" y="3904486"/>
            <a:ext cx="914406" cy="3594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400">
                <a:solidFill>
                  <a:srgbClr val="1FA873"/>
                </a:solidFill>
                <a:latin typeface="Helvetica Neue"/>
                <a:ea typeface="Helvetica Neue"/>
                <a:cs typeface="Helvetica Neue"/>
                <a:sym typeface="Helvetica Neue"/>
              </a:defRPr>
            </a:lvl1pPr>
          </a:lstStyle>
          <a:p>
            <a:pPr/>
            <a:r>
              <a:t>iₙ  ↑</a:t>
            </a:r>
          </a:p>
        </p:txBody>
      </p:sp>
      <p:sp>
        <p:nvSpPr>
          <p:cNvPr id="873" name="Connector 54"/>
          <p:cNvSpPr/>
          <p:nvPr/>
        </p:nvSpPr>
        <p:spPr>
          <a:xfrm>
            <a:off x="8119871" y="4160520"/>
            <a:ext cx="219455"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74" name="Connector 55"/>
          <p:cNvSpPr/>
          <p:nvPr/>
        </p:nvSpPr>
        <p:spPr>
          <a:xfrm>
            <a:off x="10058399" y="4160520"/>
            <a:ext cx="164599" cy="6"/>
          </a:xfrm>
          <a:prstGeom prst="line">
            <a:avLst/>
          </a:prstGeom>
          <a:ln w="1651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75" name="TextBox 56"/>
          <p:cNvSpPr txBox="1"/>
          <p:nvPr/>
        </p:nvSpPr>
        <p:spPr>
          <a:xfrm>
            <a:off x="6784847" y="4773167"/>
            <a:ext cx="3108966"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1FA873"/>
                </a:solidFill>
                <a:latin typeface="Helvetica Neue"/>
                <a:ea typeface="Helvetica Neue"/>
                <a:cs typeface="Helvetica Neue"/>
                <a:sym typeface="Helvetica Neue"/>
              </a:defRPr>
            </a:pPr>
            <a:r>
              <a:t>• </a:t>
            </a:r>
            <a:r>
              <a:rPr b="0">
                <a:solidFill>
                  <a:srgbClr val="73777F"/>
                </a:solidFill>
              </a:rPr>
              <a:t>Cross-viewpoint surprise</a:t>
            </a:r>
          </a:p>
        </p:txBody>
      </p:sp>
      <p:sp>
        <p:nvSpPr>
          <p:cNvPr id="876" name="Connector 57"/>
          <p:cNvSpPr/>
          <p:nvPr/>
        </p:nvSpPr>
        <p:spPr>
          <a:xfrm>
            <a:off x="749804" y="5413247"/>
            <a:ext cx="10680201" cy="4"/>
          </a:xfrm>
          <a:prstGeom prst="line">
            <a:avLst/>
          </a:prstGeom>
          <a:ln w="1397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77" name="TextBox 58"/>
          <p:cNvSpPr txBox="1"/>
          <p:nvPr/>
        </p:nvSpPr>
        <p:spPr>
          <a:xfrm>
            <a:off x="841243" y="5669279"/>
            <a:ext cx="4114808"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3977F6"/>
                </a:solidFill>
                <a:latin typeface="Helvetica Neue"/>
                <a:ea typeface="Helvetica Neue"/>
                <a:cs typeface="Helvetica Neue"/>
                <a:sym typeface="Helvetica Neue"/>
              </a:defRPr>
            </a:pPr>
            <a:r>
              <a:t>• </a:t>
            </a:r>
            <a:r>
              <a:rPr>
                <a:solidFill>
                  <a:srgbClr val="111318"/>
                </a:solidFill>
              </a:rPr>
              <a:t>The same click receives different credit</a:t>
            </a:r>
          </a:p>
        </p:txBody>
      </p:sp>
      <p:sp>
        <p:nvSpPr>
          <p:cNvPr id="878" name="TextBox 59"/>
          <p:cNvSpPr txBox="1"/>
          <p:nvPr/>
        </p:nvSpPr>
        <p:spPr>
          <a:xfrm>
            <a:off x="6784847" y="5669279"/>
            <a:ext cx="374904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FF705B"/>
                </a:solidFill>
                <a:latin typeface="Helvetica Neue"/>
                <a:ea typeface="Helvetica Neue"/>
                <a:cs typeface="Helvetica Neue"/>
                <a:sym typeface="Helvetica Neue"/>
              </a:defRPr>
            </a:pPr>
            <a:r>
              <a:t>• </a:t>
            </a:r>
            <a:r>
              <a:rPr>
                <a:solidFill>
                  <a:srgbClr val="111318"/>
                </a:solidFill>
              </a:rPr>
              <a:t>The model asks who voted</a:t>
            </a:r>
          </a:p>
        </p:txBody>
      </p:sp>
      <p:sp>
        <p:nvSpPr>
          <p:cNvPr id="879" name="TextBox 60"/>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Wojcik et al. (2022); Buterin (2023); X Community Notes (2026)</a:t>
            </a:r>
          </a:p>
        </p:txBody>
      </p:sp>
      <p:sp>
        <p:nvSpPr>
          <p:cNvPr id="880" name="Oval 45"/>
          <p:cNvSpPr/>
          <p:nvPr/>
        </p:nvSpPr>
        <p:spPr>
          <a:xfrm>
            <a:off x="9737645" y="2585210"/>
            <a:ext cx="201179" cy="20117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881" name="Connector 46"/>
          <p:cNvSpPr/>
          <p:nvPr/>
        </p:nvSpPr>
        <p:spPr>
          <a:xfrm>
            <a:off x="9778793" y="2694938"/>
            <a:ext cx="45726" cy="45726"/>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82" name="Connector 47"/>
          <p:cNvSpPr/>
          <p:nvPr/>
        </p:nvSpPr>
        <p:spPr>
          <a:xfrm flipV="1">
            <a:off x="9824515" y="2640076"/>
            <a:ext cx="82302" cy="100590"/>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4" name="TextBox 1"/>
          <p:cNvSpPr txBox="1"/>
          <p:nvPr/>
        </p:nvSpPr>
        <p:spPr>
          <a:xfrm>
            <a:off x="603504" y="420623"/>
            <a:ext cx="2149208"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HOW SYSTEM WORKS 3</a:t>
            </a:r>
          </a:p>
        </p:txBody>
      </p:sp>
      <p:sp>
        <p:nvSpPr>
          <p:cNvPr id="885" name="TextBox 3"/>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The same hands draw the map</a:t>
            </a:r>
          </a:p>
        </p:txBody>
      </p:sp>
      <p:sp>
        <p:nvSpPr>
          <p:cNvPr id="886" name="TextBox 4"/>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05</a:t>
            </a:r>
          </a:p>
        </p:txBody>
      </p:sp>
      <p:sp>
        <p:nvSpPr>
          <p:cNvPr id="887" name="TextBox 5"/>
          <p:cNvSpPr txBox="1"/>
          <p:nvPr/>
        </p:nvSpPr>
        <p:spPr>
          <a:xfrm>
            <a:off x="804670" y="1554480"/>
            <a:ext cx="2103124"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CLASSROOM METAPHOR</a:t>
            </a:r>
          </a:p>
        </p:txBody>
      </p:sp>
      <p:sp>
        <p:nvSpPr>
          <p:cNvPr id="888" name="Oval 6"/>
          <p:cNvSpPr/>
          <p:nvPr/>
        </p:nvSpPr>
        <p:spPr>
          <a:xfrm>
            <a:off x="868680"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889" name="Connector 7"/>
          <p:cNvSpPr/>
          <p:nvPr/>
        </p:nvSpPr>
        <p:spPr>
          <a:xfrm>
            <a:off x="934516"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90" name="Connector 8"/>
          <p:cNvSpPr/>
          <p:nvPr/>
        </p:nvSpPr>
        <p:spPr>
          <a:xfrm>
            <a:off x="842344" y="2189805"/>
            <a:ext cx="184350"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91" name="Connector 9"/>
          <p:cNvSpPr/>
          <p:nvPr/>
        </p:nvSpPr>
        <p:spPr>
          <a:xfrm flipH="1">
            <a:off x="848928"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92" name="Connector 10"/>
          <p:cNvSpPr/>
          <p:nvPr/>
        </p:nvSpPr>
        <p:spPr>
          <a:xfrm>
            <a:off x="934516"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93" name="Oval 11"/>
          <p:cNvSpPr/>
          <p:nvPr/>
        </p:nvSpPr>
        <p:spPr>
          <a:xfrm>
            <a:off x="1490472"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894" name="Connector 12"/>
          <p:cNvSpPr/>
          <p:nvPr/>
        </p:nvSpPr>
        <p:spPr>
          <a:xfrm>
            <a:off x="1556308"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95" name="Connector 13"/>
          <p:cNvSpPr/>
          <p:nvPr/>
        </p:nvSpPr>
        <p:spPr>
          <a:xfrm>
            <a:off x="1464136"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96" name="Connector 14"/>
          <p:cNvSpPr/>
          <p:nvPr/>
        </p:nvSpPr>
        <p:spPr>
          <a:xfrm flipH="1">
            <a:off x="1470720"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97" name="Connector 15"/>
          <p:cNvSpPr/>
          <p:nvPr/>
        </p:nvSpPr>
        <p:spPr>
          <a:xfrm>
            <a:off x="1556308"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898" name="Oval 16"/>
          <p:cNvSpPr/>
          <p:nvPr/>
        </p:nvSpPr>
        <p:spPr>
          <a:xfrm>
            <a:off x="2112264"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899" name="Connector 17"/>
          <p:cNvSpPr/>
          <p:nvPr/>
        </p:nvSpPr>
        <p:spPr>
          <a:xfrm>
            <a:off x="2178099"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00" name="Connector 18"/>
          <p:cNvSpPr/>
          <p:nvPr/>
        </p:nvSpPr>
        <p:spPr>
          <a:xfrm>
            <a:off x="2085929"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01" name="Connector 19"/>
          <p:cNvSpPr/>
          <p:nvPr/>
        </p:nvSpPr>
        <p:spPr>
          <a:xfrm flipH="1">
            <a:off x="2092512"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02" name="Connector 20"/>
          <p:cNvSpPr/>
          <p:nvPr/>
        </p:nvSpPr>
        <p:spPr>
          <a:xfrm>
            <a:off x="2178099"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03" name="Oval 21"/>
          <p:cNvSpPr/>
          <p:nvPr/>
        </p:nvSpPr>
        <p:spPr>
          <a:xfrm>
            <a:off x="2734055"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04" name="Connector 22"/>
          <p:cNvSpPr/>
          <p:nvPr/>
        </p:nvSpPr>
        <p:spPr>
          <a:xfrm>
            <a:off x="2799892"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05" name="Connector 23"/>
          <p:cNvSpPr/>
          <p:nvPr/>
        </p:nvSpPr>
        <p:spPr>
          <a:xfrm>
            <a:off x="2707719"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06" name="Connector 24"/>
          <p:cNvSpPr/>
          <p:nvPr/>
        </p:nvSpPr>
        <p:spPr>
          <a:xfrm flipH="1">
            <a:off x="2714304"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07" name="Connector 25"/>
          <p:cNvSpPr/>
          <p:nvPr/>
        </p:nvSpPr>
        <p:spPr>
          <a:xfrm>
            <a:off x="2799892"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08" name="Oval 26"/>
          <p:cNvSpPr/>
          <p:nvPr/>
        </p:nvSpPr>
        <p:spPr>
          <a:xfrm>
            <a:off x="3355847" y="1965960"/>
            <a:ext cx="131685" cy="131685"/>
          </a:xfrm>
          <a:prstGeom prst="ellipse">
            <a:avLst/>
          </a:prstGeom>
          <a:solidFill>
            <a:srgbClr val="74777E"/>
          </a:solidFill>
          <a:ln w="10160">
            <a:solidFill>
              <a:srgbClr val="74777E"/>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09" name="Connector 27"/>
          <p:cNvSpPr/>
          <p:nvPr/>
        </p:nvSpPr>
        <p:spPr>
          <a:xfrm>
            <a:off x="3421684" y="2097633"/>
            <a:ext cx="6" cy="217264"/>
          </a:xfrm>
          <a:prstGeom prst="line">
            <a:avLst/>
          </a:prstGeom>
          <a:ln w="19050">
            <a:solidFill>
              <a:srgbClr val="74777E"/>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10" name="Connector 28"/>
          <p:cNvSpPr/>
          <p:nvPr/>
        </p:nvSpPr>
        <p:spPr>
          <a:xfrm>
            <a:off x="3329513" y="2189805"/>
            <a:ext cx="184349" cy="6"/>
          </a:xfrm>
          <a:prstGeom prst="line">
            <a:avLst/>
          </a:prstGeom>
          <a:ln w="19050">
            <a:solidFill>
              <a:srgbClr val="74777E"/>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11" name="Connector 30"/>
          <p:cNvSpPr/>
          <p:nvPr/>
        </p:nvSpPr>
        <p:spPr>
          <a:xfrm flipH="1">
            <a:off x="3336094" y="2314892"/>
            <a:ext cx="85594" cy="138264"/>
          </a:xfrm>
          <a:prstGeom prst="line">
            <a:avLst/>
          </a:prstGeom>
          <a:ln w="19050">
            <a:solidFill>
              <a:srgbClr val="74777E"/>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12" name="Connector 31"/>
          <p:cNvSpPr/>
          <p:nvPr/>
        </p:nvSpPr>
        <p:spPr>
          <a:xfrm>
            <a:off x="3421684" y="2314892"/>
            <a:ext cx="85594" cy="138264"/>
          </a:xfrm>
          <a:prstGeom prst="line">
            <a:avLst/>
          </a:prstGeom>
          <a:ln w="19050">
            <a:solidFill>
              <a:srgbClr val="74777E"/>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13" name="Oval 36"/>
          <p:cNvSpPr/>
          <p:nvPr/>
        </p:nvSpPr>
        <p:spPr>
          <a:xfrm>
            <a:off x="3977640"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14" name="Connector 37"/>
          <p:cNvSpPr/>
          <p:nvPr/>
        </p:nvSpPr>
        <p:spPr>
          <a:xfrm>
            <a:off x="4043476"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15" name="Connector 38"/>
          <p:cNvSpPr/>
          <p:nvPr/>
        </p:nvSpPr>
        <p:spPr>
          <a:xfrm>
            <a:off x="3951304"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16" name="Connector 39"/>
          <p:cNvSpPr/>
          <p:nvPr/>
        </p:nvSpPr>
        <p:spPr>
          <a:xfrm flipH="1">
            <a:off x="3957887"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17" name="Connector 40"/>
          <p:cNvSpPr/>
          <p:nvPr/>
        </p:nvSpPr>
        <p:spPr>
          <a:xfrm>
            <a:off x="4043476"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18" name="Oval 41"/>
          <p:cNvSpPr/>
          <p:nvPr/>
        </p:nvSpPr>
        <p:spPr>
          <a:xfrm>
            <a:off x="4599432"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19" name="Connector 42"/>
          <p:cNvSpPr/>
          <p:nvPr/>
        </p:nvSpPr>
        <p:spPr>
          <a:xfrm>
            <a:off x="4665267"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20" name="Connector 43"/>
          <p:cNvSpPr/>
          <p:nvPr/>
        </p:nvSpPr>
        <p:spPr>
          <a:xfrm>
            <a:off x="4573096"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21" name="Connector 44"/>
          <p:cNvSpPr/>
          <p:nvPr/>
        </p:nvSpPr>
        <p:spPr>
          <a:xfrm flipH="1">
            <a:off x="4579680"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22" name="Connector 45"/>
          <p:cNvSpPr/>
          <p:nvPr/>
        </p:nvSpPr>
        <p:spPr>
          <a:xfrm>
            <a:off x="4665267"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23" name="Oval 46"/>
          <p:cNvSpPr/>
          <p:nvPr/>
        </p:nvSpPr>
        <p:spPr>
          <a:xfrm>
            <a:off x="1033271"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24" name="Connector 47"/>
          <p:cNvSpPr/>
          <p:nvPr/>
        </p:nvSpPr>
        <p:spPr>
          <a:xfrm>
            <a:off x="1099108"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25" name="Connector 48"/>
          <p:cNvSpPr/>
          <p:nvPr/>
        </p:nvSpPr>
        <p:spPr>
          <a:xfrm>
            <a:off x="1006936" y="292132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26" name="Connector 49"/>
          <p:cNvSpPr/>
          <p:nvPr/>
        </p:nvSpPr>
        <p:spPr>
          <a:xfrm flipH="1">
            <a:off x="1013520"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27" name="Connector 50"/>
          <p:cNvSpPr/>
          <p:nvPr/>
        </p:nvSpPr>
        <p:spPr>
          <a:xfrm>
            <a:off x="1099108"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28" name="Oval 51"/>
          <p:cNvSpPr/>
          <p:nvPr/>
        </p:nvSpPr>
        <p:spPr>
          <a:xfrm>
            <a:off x="1655060" y="2697477"/>
            <a:ext cx="131685" cy="131685"/>
          </a:xfrm>
          <a:prstGeom prst="ellipse">
            <a:avLst/>
          </a:prstGeom>
          <a:solidFill>
            <a:srgbClr val="74777E"/>
          </a:solidFill>
          <a:ln w="10160">
            <a:solidFill>
              <a:srgbClr val="74777E"/>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29" name="Connector 52"/>
          <p:cNvSpPr/>
          <p:nvPr/>
        </p:nvSpPr>
        <p:spPr>
          <a:xfrm>
            <a:off x="1720899" y="2829153"/>
            <a:ext cx="6" cy="217264"/>
          </a:xfrm>
          <a:prstGeom prst="line">
            <a:avLst/>
          </a:prstGeom>
          <a:ln w="19050">
            <a:solidFill>
              <a:srgbClr val="74777E"/>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30" name="Connector 53"/>
          <p:cNvSpPr/>
          <p:nvPr/>
        </p:nvSpPr>
        <p:spPr>
          <a:xfrm>
            <a:off x="1628729" y="2921324"/>
            <a:ext cx="184349" cy="6"/>
          </a:xfrm>
          <a:prstGeom prst="line">
            <a:avLst/>
          </a:prstGeom>
          <a:ln w="19050">
            <a:solidFill>
              <a:srgbClr val="74777E"/>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31" name="Connector 55"/>
          <p:cNvSpPr/>
          <p:nvPr/>
        </p:nvSpPr>
        <p:spPr>
          <a:xfrm flipH="1">
            <a:off x="1635312" y="3046415"/>
            <a:ext cx="85594" cy="138263"/>
          </a:xfrm>
          <a:prstGeom prst="line">
            <a:avLst/>
          </a:prstGeom>
          <a:ln w="19050">
            <a:solidFill>
              <a:srgbClr val="74777E"/>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32" name="Connector 56"/>
          <p:cNvSpPr/>
          <p:nvPr/>
        </p:nvSpPr>
        <p:spPr>
          <a:xfrm>
            <a:off x="1720899" y="3046415"/>
            <a:ext cx="85594" cy="138263"/>
          </a:xfrm>
          <a:prstGeom prst="line">
            <a:avLst/>
          </a:prstGeom>
          <a:ln w="19050">
            <a:solidFill>
              <a:srgbClr val="74777E"/>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33" name="Oval 61"/>
          <p:cNvSpPr/>
          <p:nvPr/>
        </p:nvSpPr>
        <p:spPr>
          <a:xfrm>
            <a:off x="2276855"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34" name="Connector 62"/>
          <p:cNvSpPr/>
          <p:nvPr/>
        </p:nvSpPr>
        <p:spPr>
          <a:xfrm>
            <a:off x="2342692"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35" name="Connector 63"/>
          <p:cNvSpPr/>
          <p:nvPr/>
        </p:nvSpPr>
        <p:spPr>
          <a:xfrm>
            <a:off x="2250519" y="292132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36" name="Connector 64"/>
          <p:cNvSpPr/>
          <p:nvPr/>
        </p:nvSpPr>
        <p:spPr>
          <a:xfrm flipH="1">
            <a:off x="2257104"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37" name="Connector 65"/>
          <p:cNvSpPr/>
          <p:nvPr/>
        </p:nvSpPr>
        <p:spPr>
          <a:xfrm>
            <a:off x="2342692"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38" name="Oval 66"/>
          <p:cNvSpPr/>
          <p:nvPr/>
        </p:nvSpPr>
        <p:spPr>
          <a:xfrm>
            <a:off x="2898648"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39" name="Connector 67"/>
          <p:cNvSpPr/>
          <p:nvPr/>
        </p:nvSpPr>
        <p:spPr>
          <a:xfrm>
            <a:off x="2964483"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40" name="Connector 68"/>
          <p:cNvSpPr/>
          <p:nvPr/>
        </p:nvSpPr>
        <p:spPr>
          <a:xfrm>
            <a:off x="2872313" y="292132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41" name="Connector 69"/>
          <p:cNvSpPr/>
          <p:nvPr/>
        </p:nvSpPr>
        <p:spPr>
          <a:xfrm flipH="1">
            <a:off x="2878895"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42" name="Connector 70"/>
          <p:cNvSpPr/>
          <p:nvPr/>
        </p:nvSpPr>
        <p:spPr>
          <a:xfrm>
            <a:off x="2964483"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43" name="Oval 71"/>
          <p:cNvSpPr/>
          <p:nvPr/>
        </p:nvSpPr>
        <p:spPr>
          <a:xfrm>
            <a:off x="3520440"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44" name="Connector 72"/>
          <p:cNvSpPr/>
          <p:nvPr/>
        </p:nvSpPr>
        <p:spPr>
          <a:xfrm>
            <a:off x="3586276"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45" name="Connector 73"/>
          <p:cNvSpPr/>
          <p:nvPr/>
        </p:nvSpPr>
        <p:spPr>
          <a:xfrm>
            <a:off x="3494104" y="292132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46" name="Connector 74"/>
          <p:cNvSpPr/>
          <p:nvPr/>
        </p:nvSpPr>
        <p:spPr>
          <a:xfrm flipH="1">
            <a:off x="3500687"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47" name="Connector 75"/>
          <p:cNvSpPr/>
          <p:nvPr/>
        </p:nvSpPr>
        <p:spPr>
          <a:xfrm>
            <a:off x="3586276"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48" name="Oval 76"/>
          <p:cNvSpPr/>
          <p:nvPr/>
        </p:nvSpPr>
        <p:spPr>
          <a:xfrm>
            <a:off x="4142232"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49" name="Connector 77"/>
          <p:cNvSpPr/>
          <p:nvPr/>
        </p:nvSpPr>
        <p:spPr>
          <a:xfrm>
            <a:off x="4208067"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50" name="Connector 78"/>
          <p:cNvSpPr/>
          <p:nvPr/>
        </p:nvSpPr>
        <p:spPr>
          <a:xfrm>
            <a:off x="4115896" y="292132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51" name="Connector 79"/>
          <p:cNvSpPr/>
          <p:nvPr/>
        </p:nvSpPr>
        <p:spPr>
          <a:xfrm flipH="1">
            <a:off x="4122480"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52" name="Connector 80"/>
          <p:cNvSpPr/>
          <p:nvPr/>
        </p:nvSpPr>
        <p:spPr>
          <a:xfrm>
            <a:off x="4208067"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53" name="Oval 81"/>
          <p:cNvSpPr/>
          <p:nvPr/>
        </p:nvSpPr>
        <p:spPr>
          <a:xfrm>
            <a:off x="4764023"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54" name="Connector 82"/>
          <p:cNvSpPr/>
          <p:nvPr/>
        </p:nvSpPr>
        <p:spPr>
          <a:xfrm>
            <a:off x="4829859"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55" name="Connector 83"/>
          <p:cNvSpPr/>
          <p:nvPr/>
        </p:nvSpPr>
        <p:spPr>
          <a:xfrm>
            <a:off x="4737689" y="292132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56" name="Connector 84"/>
          <p:cNvSpPr/>
          <p:nvPr/>
        </p:nvSpPr>
        <p:spPr>
          <a:xfrm flipH="1">
            <a:off x="4744272"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57" name="Connector 85"/>
          <p:cNvSpPr/>
          <p:nvPr/>
        </p:nvSpPr>
        <p:spPr>
          <a:xfrm>
            <a:off x="4829859"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58" name="Oval 86"/>
          <p:cNvSpPr/>
          <p:nvPr/>
        </p:nvSpPr>
        <p:spPr>
          <a:xfrm>
            <a:off x="868680"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59" name="Connector 87"/>
          <p:cNvSpPr/>
          <p:nvPr/>
        </p:nvSpPr>
        <p:spPr>
          <a:xfrm>
            <a:off x="934516" y="356067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60" name="Connector 88"/>
          <p:cNvSpPr/>
          <p:nvPr/>
        </p:nvSpPr>
        <p:spPr>
          <a:xfrm>
            <a:off x="842344" y="3652844"/>
            <a:ext cx="184350"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61" name="Connector 89"/>
          <p:cNvSpPr/>
          <p:nvPr/>
        </p:nvSpPr>
        <p:spPr>
          <a:xfrm flipH="1">
            <a:off x="848928"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62" name="Connector 90"/>
          <p:cNvSpPr/>
          <p:nvPr/>
        </p:nvSpPr>
        <p:spPr>
          <a:xfrm>
            <a:off x="934516"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63" name="Oval 91"/>
          <p:cNvSpPr/>
          <p:nvPr/>
        </p:nvSpPr>
        <p:spPr>
          <a:xfrm>
            <a:off x="1490472"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64" name="Connector 92"/>
          <p:cNvSpPr/>
          <p:nvPr/>
        </p:nvSpPr>
        <p:spPr>
          <a:xfrm>
            <a:off x="1556308" y="356067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65" name="Connector 93"/>
          <p:cNvSpPr/>
          <p:nvPr/>
        </p:nvSpPr>
        <p:spPr>
          <a:xfrm>
            <a:off x="1464136"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66" name="Connector 94"/>
          <p:cNvSpPr/>
          <p:nvPr/>
        </p:nvSpPr>
        <p:spPr>
          <a:xfrm flipH="1">
            <a:off x="1470720"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67" name="Connector 95"/>
          <p:cNvSpPr/>
          <p:nvPr/>
        </p:nvSpPr>
        <p:spPr>
          <a:xfrm>
            <a:off x="1556308"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68" name="Oval 96"/>
          <p:cNvSpPr/>
          <p:nvPr/>
        </p:nvSpPr>
        <p:spPr>
          <a:xfrm>
            <a:off x="2112264"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69" name="Connector 97"/>
          <p:cNvSpPr/>
          <p:nvPr/>
        </p:nvSpPr>
        <p:spPr>
          <a:xfrm>
            <a:off x="2178099" y="356067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70" name="Connector 98"/>
          <p:cNvSpPr/>
          <p:nvPr/>
        </p:nvSpPr>
        <p:spPr>
          <a:xfrm>
            <a:off x="2085929"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71" name="Connector 99"/>
          <p:cNvSpPr/>
          <p:nvPr/>
        </p:nvSpPr>
        <p:spPr>
          <a:xfrm flipH="1">
            <a:off x="2092512"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72" name="Connector 100"/>
          <p:cNvSpPr/>
          <p:nvPr/>
        </p:nvSpPr>
        <p:spPr>
          <a:xfrm>
            <a:off x="2178099"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73" name="Oval 101"/>
          <p:cNvSpPr/>
          <p:nvPr/>
        </p:nvSpPr>
        <p:spPr>
          <a:xfrm>
            <a:off x="2734055"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74" name="Connector 102"/>
          <p:cNvSpPr/>
          <p:nvPr/>
        </p:nvSpPr>
        <p:spPr>
          <a:xfrm>
            <a:off x="2799892" y="356067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75" name="Connector 103"/>
          <p:cNvSpPr/>
          <p:nvPr/>
        </p:nvSpPr>
        <p:spPr>
          <a:xfrm>
            <a:off x="2707719"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76" name="Connector 104"/>
          <p:cNvSpPr/>
          <p:nvPr/>
        </p:nvSpPr>
        <p:spPr>
          <a:xfrm flipH="1">
            <a:off x="2714304"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77" name="Connector 105"/>
          <p:cNvSpPr/>
          <p:nvPr/>
        </p:nvSpPr>
        <p:spPr>
          <a:xfrm>
            <a:off x="2799892"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78" name="Oval 106"/>
          <p:cNvSpPr/>
          <p:nvPr/>
        </p:nvSpPr>
        <p:spPr>
          <a:xfrm>
            <a:off x="3355847"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79" name="Connector 107"/>
          <p:cNvSpPr/>
          <p:nvPr/>
        </p:nvSpPr>
        <p:spPr>
          <a:xfrm>
            <a:off x="3421684" y="356067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80" name="Connector 108"/>
          <p:cNvSpPr/>
          <p:nvPr/>
        </p:nvSpPr>
        <p:spPr>
          <a:xfrm>
            <a:off x="3329513"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81" name="Connector 109"/>
          <p:cNvSpPr/>
          <p:nvPr/>
        </p:nvSpPr>
        <p:spPr>
          <a:xfrm flipH="1">
            <a:off x="3336094"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82" name="Connector 110"/>
          <p:cNvSpPr/>
          <p:nvPr/>
        </p:nvSpPr>
        <p:spPr>
          <a:xfrm>
            <a:off x="3421684"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83" name="Oval 111"/>
          <p:cNvSpPr/>
          <p:nvPr/>
        </p:nvSpPr>
        <p:spPr>
          <a:xfrm>
            <a:off x="3977640" y="3428998"/>
            <a:ext cx="131685" cy="131683"/>
          </a:xfrm>
          <a:prstGeom prst="ellipse">
            <a:avLst/>
          </a:prstGeom>
          <a:solidFill>
            <a:srgbClr val="74777E"/>
          </a:solidFill>
          <a:ln w="10160">
            <a:solidFill>
              <a:srgbClr val="74777E"/>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84" name="Connector 112"/>
          <p:cNvSpPr/>
          <p:nvPr/>
        </p:nvSpPr>
        <p:spPr>
          <a:xfrm>
            <a:off x="4043476" y="3560671"/>
            <a:ext cx="6" cy="217264"/>
          </a:xfrm>
          <a:prstGeom prst="line">
            <a:avLst/>
          </a:prstGeom>
          <a:ln w="19050">
            <a:solidFill>
              <a:srgbClr val="74777E"/>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85" name="Connector 113"/>
          <p:cNvSpPr/>
          <p:nvPr/>
        </p:nvSpPr>
        <p:spPr>
          <a:xfrm>
            <a:off x="3951304" y="3652844"/>
            <a:ext cx="184349" cy="6"/>
          </a:xfrm>
          <a:prstGeom prst="line">
            <a:avLst/>
          </a:prstGeom>
          <a:ln w="19050">
            <a:solidFill>
              <a:srgbClr val="74777E"/>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86" name="Connector 115"/>
          <p:cNvSpPr/>
          <p:nvPr/>
        </p:nvSpPr>
        <p:spPr>
          <a:xfrm flipH="1">
            <a:off x="3957887" y="3777934"/>
            <a:ext cx="85594" cy="138263"/>
          </a:xfrm>
          <a:prstGeom prst="line">
            <a:avLst/>
          </a:prstGeom>
          <a:ln w="19050">
            <a:solidFill>
              <a:srgbClr val="74777E"/>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87" name="Connector 116"/>
          <p:cNvSpPr/>
          <p:nvPr/>
        </p:nvSpPr>
        <p:spPr>
          <a:xfrm>
            <a:off x="4043476" y="3777934"/>
            <a:ext cx="85594" cy="138263"/>
          </a:xfrm>
          <a:prstGeom prst="line">
            <a:avLst/>
          </a:prstGeom>
          <a:ln w="19050">
            <a:solidFill>
              <a:srgbClr val="74777E"/>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88" name="Oval 121"/>
          <p:cNvSpPr/>
          <p:nvPr/>
        </p:nvSpPr>
        <p:spPr>
          <a:xfrm>
            <a:off x="4599432"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89" name="Connector 122"/>
          <p:cNvSpPr/>
          <p:nvPr/>
        </p:nvSpPr>
        <p:spPr>
          <a:xfrm>
            <a:off x="4665267" y="356067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90" name="Connector 123"/>
          <p:cNvSpPr/>
          <p:nvPr/>
        </p:nvSpPr>
        <p:spPr>
          <a:xfrm>
            <a:off x="4573096"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91" name="Connector 124"/>
          <p:cNvSpPr/>
          <p:nvPr/>
        </p:nvSpPr>
        <p:spPr>
          <a:xfrm flipH="1">
            <a:off x="4579680"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92" name="Connector 125"/>
          <p:cNvSpPr/>
          <p:nvPr/>
        </p:nvSpPr>
        <p:spPr>
          <a:xfrm>
            <a:off x="4665267"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93" name="Oval 126"/>
          <p:cNvSpPr/>
          <p:nvPr/>
        </p:nvSpPr>
        <p:spPr>
          <a:xfrm>
            <a:off x="1033271"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94" name="Connector 127"/>
          <p:cNvSpPr/>
          <p:nvPr/>
        </p:nvSpPr>
        <p:spPr>
          <a:xfrm>
            <a:off x="1099108" y="429219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95" name="Connector 128"/>
          <p:cNvSpPr/>
          <p:nvPr/>
        </p:nvSpPr>
        <p:spPr>
          <a:xfrm>
            <a:off x="1006936"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96" name="Connector 129"/>
          <p:cNvSpPr/>
          <p:nvPr/>
        </p:nvSpPr>
        <p:spPr>
          <a:xfrm flipH="1">
            <a:off x="1013520"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97" name="Connector 130"/>
          <p:cNvSpPr/>
          <p:nvPr/>
        </p:nvSpPr>
        <p:spPr>
          <a:xfrm>
            <a:off x="1099108"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998" name="Oval 131"/>
          <p:cNvSpPr/>
          <p:nvPr/>
        </p:nvSpPr>
        <p:spPr>
          <a:xfrm>
            <a:off x="1655060"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99" name="Connector 132"/>
          <p:cNvSpPr/>
          <p:nvPr/>
        </p:nvSpPr>
        <p:spPr>
          <a:xfrm>
            <a:off x="1720899" y="429219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00" name="Connector 133"/>
          <p:cNvSpPr/>
          <p:nvPr/>
        </p:nvSpPr>
        <p:spPr>
          <a:xfrm>
            <a:off x="1628729"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01" name="Connector 134"/>
          <p:cNvSpPr/>
          <p:nvPr/>
        </p:nvSpPr>
        <p:spPr>
          <a:xfrm flipH="1">
            <a:off x="1635312"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02" name="Connector 135"/>
          <p:cNvSpPr/>
          <p:nvPr/>
        </p:nvSpPr>
        <p:spPr>
          <a:xfrm>
            <a:off x="1720899"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03" name="Oval 136"/>
          <p:cNvSpPr/>
          <p:nvPr/>
        </p:nvSpPr>
        <p:spPr>
          <a:xfrm>
            <a:off x="2276855"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04" name="Connector 137"/>
          <p:cNvSpPr/>
          <p:nvPr/>
        </p:nvSpPr>
        <p:spPr>
          <a:xfrm>
            <a:off x="2342692" y="429219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05" name="Connector 138"/>
          <p:cNvSpPr/>
          <p:nvPr/>
        </p:nvSpPr>
        <p:spPr>
          <a:xfrm>
            <a:off x="2250519"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06" name="Connector 139"/>
          <p:cNvSpPr/>
          <p:nvPr/>
        </p:nvSpPr>
        <p:spPr>
          <a:xfrm flipH="1">
            <a:off x="2257104"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07" name="Connector 140"/>
          <p:cNvSpPr/>
          <p:nvPr/>
        </p:nvSpPr>
        <p:spPr>
          <a:xfrm>
            <a:off x="2342692"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08" name="Oval 141"/>
          <p:cNvSpPr/>
          <p:nvPr/>
        </p:nvSpPr>
        <p:spPr>
          <a:xfrm>
            <a:off x="2898648"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09" name="Connector 142"/>
          <p:cNvSpPr/>
          <p:nvPr/>
        </p:nvSpPr>
        <p:spPr>
          <a:xfrm>
            <a:off x="2964483" y="429219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10" name="Connector 143"/>
          <p:cNvSpPr/>
          <p:nvPr/>
        </p:nvSpPr>
        <p:spPr>
          <a:xfrm>
            <a:off x="2872313"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11" name="Connector 144"/>
          <p:cNvSpPr/>
          <p:nvPr/>
        </p:nvSpPr>
        <p:spPr>
          <a:xfrm flipH="1">
            <a:off x="2878895"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12" name="Connector 145"/>
          <p:cNvSpPr/>
          <p:nvPr/>
        </p:nvSpPr>
        <p:spPr>
          <a:xfrm>
            <a:off x="2964483"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13" name="Oval 146"/>
          <p:cNvSpPr/>
          <p:nvPr/>
        </p:nvSpPr>
        <p:spPr>
          <a:xfrm>
            <a:off x="3520440"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14" name="Connector 147"/>
          <p:cNvSpPr/>
          <p:nvPr/>
        </p:nvSpPr>
        <p:spPr>
          <a:xfrm>
            <a:off x="3586276" y="429219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15" name="Connector 148"/>
          <p:cNvSpPr/>
          <p:nvPr/>
        </p:nvSpPr>
        <p:spPr>
          <a:xfrm>
            <a:off x="3494104"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16" name="Connector 149"/>
          <p:cNvSpPr/>
          <p:nvPr/>
        </p:nvSpPr>
        <p:spPr>
          <a:xfrm flipH="1">
            <a:off x="3500687"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17" name="Connector 150"/>
          <p:cNvSpPr/>
          <p:nvPr/>
        </p:nvSpPr>
        <p:spPr>
          <a:xfrm>
            <a:off x="3586276"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18" name="Oval 151"/>
          <p:cNvSpPr/>
          <p:nvPr/>
        </p:nvSpPr>
        <p:spPr>
          <a:xfrm>
            <a:off x="4142232"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19" name="Connector 152"/>
          <p:cNvSpPr/>
          <p:nvPr/>
        </p:nvSpPr>
        <p:spPr>
          <a:xfrm>
            <a:off x="4208067" y="429219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20" name="Connector 153"/>
          <p:cNvSpPr/>
          <p:nvPr/>
        </p:nvSpPr>
        <p:spPr>
          <a:xfrm>
            <a:off x="4115896"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21" name="Connector 154"/>
          <p:cNvSpPr/>
          <p:nvPr/>
        </p:nvSpPr>
        <p:spPr>
          <a:xfrm flipH="1">
            <a:off x="4122480"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22" name="Connector 155"/>
          <p:cNvSpPr/>
          <p:nvPr/>
        </p:nvSpPr>
        <p:spPr>
          <a:xfrm>
            <a:off x="4208067"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23" name="Oval 156"/>
          <p:cNvSpPr/>
          <p:nvPr/>
        </p:nvSpPr>
        <p:spPr>
          <a:xfrm>
            <a:off x="4764023"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24" name="Connector 157"/>
          <p:cNvSpPr/>
          <p:nvPr/>
        </p:nvSpPr>
        <p:spPr>
          <a:xfrm>
            <a:off x="4829859" y="429219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25" name="Connector 158"/>
          <p:cNvSpPr/>
          <p:nvPr/>
        </p:nvSpPr>
        <p:spPr>
          <a:xfrm>
            <a:off x="4737689"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26" name="Connector 159"/>
          <p:cNvSpPr/>
          <p:nvPr/>
        </p:nvSpPr>
        <p:spPr>
          <a:xfrm flipH="1">
            <a:off x="4744272"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27" name="Connector 160"/>
          <p:cNvSpPr/>
          <p:nvPr/>
        </p:nvSpPr>
        <p:spPr>
          <a:xfrm>
            <a:off x="4829859"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28" name="Connector 184"/>
          <p:cNvSpPr/>
          <p:nvPr/>
        </p:nvSpPr>
        <p:spPr>
          <a:xfrm>
            <a:off x="749803" y="5257800"/>
            <a:ext cx="10680201" cy="0"/>
          </a:xfrm>
          <a:prstGeom prst="line">
            <a:avLst/>
          </a:prstGeom>
          <a:ln w="1397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29" name="TextBox 185"/>
          <p:cNvSpPr txBox="1"/>
          <p:nvPr/>
        </p:nvSpPr>
        <p:spPr>
          <a:xfrm>
            <a:off x="841244" y="5577840"/>
            <a:ext cx="4389128"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FF705B"/>
                </a:solidFill>
                <a:latin typeface="Helvetica Neue"/>
                <a:ea typeface="Helvetica Neue"/>
                <a:cs typeface="Helvetica Neue"/>
                <a:sym typeface="Helvetica Neue"/>
              </a:defRPr>
            </a:pPr>
            <a:r>
              <a:t>• </a:t>
            </a:r>
            <a:r>
              <a:rPr>
                <a:solidFill>
                  <a:srgbClr val="111318"/>
                </a:solidFill>
              </a:rPr>
              <a:t>A few users supply most of the map</a:t>
            </a:r>
          </a:p>
        </p:txBody>
      </p:sp>
      <p:sp>
        <p:nvSpPr>
          <p:cNvPr id="1030" name="TextBox 186"/>
          <p:cNvSpPr txBox="1"/>
          <p:nvPr/>
        </p:nvSpPr>
        <p:spPr>
          <a:xfrm>
            <a:off x="6748271" y="5577840"/>
            <a:ext cx="4389121"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3977F6"/>
                </a:solidFill>
                <a:latin typeface="Helvetica Neue"/>
                <a:ea typeface="Helvetica Neue"/>
                <a:cs typeface="Helvetica Neue"/>
                <a:sym typeface="Helvetica Neue"/>
              </a:defRPr>
            </a:pPr>
            <a:r>
              <a:t>• </a:t>
            </a:r>
            <a:r>
              <a:rPr>
                <a:solidFill>
                  <a:srgbClr val="111318"/>
                </a:solidFill>
              </a:rPr>
              <a:t>The active core becomes ‘the community’</a:t>
            </a:r>
          </a:p>
        </p:txBody>
      </p:sp>
      <p:sp>
        <p:nvSpPr>
          <p:cNvPr id="1031" name="TextBox 187"/>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Nudo et al. (2026); authors’ 200k analysis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3" name="TextBox 3"/>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The same hands draw the map</a:t>
            </a:r>
          </a:p>
        </p:txBody>
      </p:sp>
      <p:sp>
        <p:nvSpPr>
          <p:cNvPr id="1034" name="TextBox 4"/>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05</a:t>
            </a:r>
          </a:p>
        </p:txBody>
      </p:sp>
      <p:sp>
        <p:nvSpPr>
          <p:cNvPr id="1035" name="TextBox 5"/>
          <p:cNvSpPr txBox="1"/>
          <p:nvPr/>
        </p:nvSpPr>
        <p:spPr>
          <a:xfrm>
            <a:off x="804670" y="1554480"/>
            <a:ext cx="2103124"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CLASSROOM METAPHOR</a:t>
            </a:r>
          </a:p>
        </p:txBody>
      </p:sp>
      <p:sp>
        <p:nvSpPr>
          <p:cNvPr id="1036" name="Oval 6"/>
          <p:cNvSpPr/>
          <p:nvPr/>
        </p:nvSpPr>
        <p:spPr>
          <a:xfrm>
            <a:off x="868680"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37" name="Connector 7"/>
          <p:cNvSpPr/>
          <p:nvPr/>
        </p:nvSpPr>
        <p:spPr>
          <a:xfrm>
            <a:off x="934516"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38" name="Connector 8"/>
          <p:cNvSpPr/>
          <p:nvPr/>
        </p:nvSpPr>
        <p:spPr>
          <a:xfrm>
            <a:off x="842344" y="2189805"/>
            <a:ext cx="184350"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39" name="Connector 9"/>
          <p:cNvSpPr/>
          <p:nvPr/>
        </p:nvSpPr>
        <p:spPr>
          <a:xfrm flipH="1">
            <a:off x="848928"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40" name="Connector 10"/>
          <p:cNvSpPr/>
          <p:nvPr/>
        </p:nvSpPr>
        <p:spPr>
          <a:xfrm>
            <a:off x="934513"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41" name="Oval 11"/>
          <p:cNvSpPr/>
          <p:nvPr/>
        </p:nvSpPr>
        <p:spPr>
          <a:xfrm>
            <a:off x="1490472"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42" name="Connector 12"/>
          <p:cNvSpPr/>
          <p:nvPr/>
        </p:nvSpPr>
        <p:spPr>
          <a:xfrm>
            <a:off x="1556308"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43" name="Connector 13"/>
          <p:cNvSpPr/>
          <p:nvPr/>
        </p:nvSpPr>
        <p:spPr>
          <a:xfrm>
            <a:off x="1464136"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44" name="Connector 14"/>
          <p:cNvSpPr/>
          <p:nvPr/>
        </p:nvSpPr>
        <p:spPr>
          <a:xfrm flipH="1">
            <a:off x="1470719"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45" name="Connector 15"/>
          <p:cNvSpPr/>
          <p:nvPr/>
        </p:nvSpPr>
        <p:spPr>
          <a:xfrm>
            <a:off x="1556307"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46" name="Oval 16"/>
          <p:cNvSpPr/>
          <p:nvPr/>
        </p:nvSpPr>
        <p:spPr>
          <a:xfrm>
            <a:off x="2112264"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47" name="Connector 17"/>
          <p:cNvSpPr/>
          <p:nvPr/>
        </p:nvSpPr>
        <p:spPr>
          <a:xfrm>
            <a:off x="2178098"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48" name="Connector 18"/>
          <p:cNvSpPr/>
          <p:nvPr/>
        </p:nvSpPr>
        <p:spPr>
          <a:xfrm>
            <a:off x="2085929"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49" name="Connector 19"/>
          <p:cNvSpPr/>
          <p:nvPr/>
        </p:nvSpPr>
        <p:spPr>
          <a:xfrm flipH="1">
            <a:off x="2092512"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50" name="Connector 20"/>
          <p:cNvSpPr/>
          <p:nvPr/>
        </p:nvSpPr>
        <p:spPr>
          <a:xfrm>
            <a:off x="2178099"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51" name="Oval 21"/>
          <p:cNvSpPr/>
          <p:nvPr/>
        </p:nvSpPr>
        <p:spPr>
          <a:xfrm>
            <a:off x="2734055"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52" name="Connector 22"/>
          <p:cNvSpPr/>
          <p:nvPr/>
        </p:nvSpPr>
        <p:spPr>
          <a:xfrm>
            <a:off x="2799892" y="2097633"/>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53" name="Connector 23"/>
          <p:cNvSpPr/>
          <p:nvPr/>
        </p:nvSpPr>
        <p:spPr>
          <a:xfrm>
            <a:off x="2707719"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54" name="Connector 24"/>
          <p:cNvSpPr/>
          <p:nvPr/>
        </p:nvSpPr>
        <p:spPr>
          <a:xfrm flipH="1">
            <a:off x="2714304"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55" name="Connector 25"/>
          <p:cNvSpPr/>
          <p:nvPr/>
        </p:nvSpPr>
        <p:spPr>
          <a:xfrm>
            <a:off x="2799892"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56" name="Oval 26"/>
          <p:cNvSpPr/>
          <p:nvPr/>
        </p:nvSpPr>
        <p:spPr>
          <a:xfrm>
            <a:off x="3355847" y="1965960"/>
            <a:ext cx="131685" cy="13168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57" name="Connector 27"/>
          <p:cNvSpPr/>
          <p:nvPr/>
        </p:nvSpPr>
        <p:spPr>
          <a:xfrm>
            <a:off x="3421684" y="2097633"/>
            <a:ext cx="6" cy="217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58" name="Connector 28"/>
          <p:cNvSpPr/>
          <p:nvPr/>
        </p:nvSpPr>
        <p:spPr>
          <a:xfrm>
            <a:off x="3329513" y="2189805"/>
            <a:ext cx="184349"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59" name="Connector 30"/>
          <p:cNvSpPr/>
          <p:nvPr/>
        </p:nvSpPr>
        <p:spPr>
          <a:xfrm flipH="1">
            <a:off x="3336092" y="2314892"/>
            <a:ext cx="85594" cy="138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60" name="Connector 31"/>
          <p:cNvSpPr/>
          <p:nvPr/>
        </p:nvSpPr>
        <p:spPr>
          <a:xfrm>
            <a:off x="3421684" y="2314892"/>
            <a:ext cx="85594" cy="138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61" name="Oval 36"/>
          <p:cNvSpPr/>
          <p:nvPr/>
        </p:nvSpPr>
        <p:spPr>
          <a:xfrm>
            <a:off x="3977640"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62" name="Connector 37"/>
          <p:cNvSpPr/>
          <p:nvPr/>
        </p:nvSpPr>
        <p:spPr>
          <a:xfrm>
            <a:off x="4043474"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63" name="Connector 38"/>
          <p:cNvSpPr/>
          <p:nvPr/>
        </p:nvSpPr>
        <p:spPr>
          <a:xfrm>
            <a:off x="3951304"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64" name="Connector 39"/>
          <p:cNvSpPr/>
          <p:nvPr/>
        </p:nvSpPr>
        <p:spPr>
          <a:xfrm flipH="1">
            <a:off x="3957885"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65" name="Connector 40"/>
          <p:cNvSpPr/>
          <p:nvPr/>
        </p:nvSpPr>
        <p:spPr>
          <a:xfrm>
            <a:off x="4043474"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66" name="Oval 41"/>
          <p:cNvSpPr/>
          <p:nvPr/>
        </p:nvSpPr>
        <p:spPr>
          <a:xfrm>
            <a:off x="4599432"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67" name="Connector 42"/>
          <p:cNvSpPr/>
          <p:nvPr/>
        </p:nvSpPr>
        <p:spPr>
          <a:xfrm>
            <a:off x="4665267"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68" name="Connector 43"/>
          <p:cNvSpPr/>
          <p:nvPr/>
        </p:nvSpPr>
        <p:spPr>
          <a:xfrm>
            <a:off x="4573096"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69" name="Connector 44"/>
          <p:cNvSpPr/>
          <p:nvPr/>
        </p:nvSpPr>
        <p:spPr>
          <a:xfrm flipH="1">
            <a:off x="4579680"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70" name="Connector 45"/>
          <p:cNvSpPr/>
          <p:nvPr/>
        </p:nvSpPr>
        <p:spPr>
          <a:xfrm>
            <a:off x="4665267"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71" name="Oval 46"/>
          <p:cNvSpPr/>
          <p:nvPr/>
        </p:nvSpPr>
        <p:spPr>
          <a:xfrm>
            <a:off x="1033271"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72" name="Connector 47"/>
          <p:cNvSpPr/>
          <p:nvPr/>
        </p:nvSpPr>
        <p:spPr>
          <a:xfrm>
            <a:off x="1099108"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73" name="Connector 48"/>
          <p:cNvSpPr/>
          <p:nvPr/>
        </p:nvSpPr>
        <p:spPr>
          <a:xfrm>
            <a:off x="1006936"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74" name="Connector 49"/>
          <p:cNvSpPr/>
          <p:nvPr/>
        </p:nvSpPr>
        <p:spPr>
          <a:xfrm flipH="1">
            <a:off x="1013519"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75" name="Connector 50"/>
          <p:cNvSpPr/>
          <p:nvPr/>
        </p:nvSpPr>
        <p:spPr>
          <a:xfrm>
            <a:off x="1099107"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76" name="Oval 51"/>
          <p:cNvSpPr/>
          <p:nvPr/>
        </p:nvSpPr>
        <p:spPr>
          <a:xfrm>
            <a:off x="1655060" y="2697477"/>
            <a:ext cx="131685" cy="13168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77" name="Connector 52"/>
          <p:cNvSpPr/>
          <p:nvPr/>
        </p:nvSpPr>
        <p:spPr>
          <a:xfrm>
            <a:off x="1720899" y="2829153"/>
            <a:ext cx="6" cy="217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78" name="Connector 53"/>
          <p:cNvSpPr/>
          <p:nvPr/>
        </p:nvSpPr>
        <p:spPr>
          <a:xfrm>
            <a:off x="1628729" y="2921323"/>
            <a:ext cx="184349"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79" name="Connector 55"/>
          <p:cNvSpPr/>
          <p:nvPr/>
        </p:nvSpPr>
        <p:spPr>
          <a:xfrm flipH="1">
            <a:off x="1635311" y="3046415"/>
            <a:ext cx="85594" cy="13826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80" name="Connector 56"/>
          <p:cNvSpPr/>
          <p:nvPr/>
        </p:nvSpPr>
        <p:spPr>
          <a:xfrm>
            <a:off x="1720899" y="3046415"/>
            <a:ext cx="85594" cy="13826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81" name="Oval 61"/>
          <p:cNvSpPr/>
          <p:nvPr/>
        </p:nvSpPr>
        <p:spPr>
          <a:xfrm>
            <a:off x="2276855"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82" name="Connector 62"/>
          <p:cNvSpPr/>
          <p:nvPr/>
        </p:nvSpPr>
        <p:spPr>
          <a:xfrm>
            <a:off x="2342692" y="2829153"/>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83" name="Connector 63"/>
          <p:cNvSpPr/>
          <p:nvPr/>
        </p:nvSpPr>
        <p:spPr>
          <a:xfrm>
            <a:off x="2250519"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84" name="Connector 64"/>
          <p:cNvSpPr/>
          <p:nvPr/>
        </p:nvSpPr>
        <p:spPr>
          <a:xfrm flipH="1">
            <a:off x="2257104"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85" name="Connector 65"/>
          <p:cNvSpPr/>
          <p:nvPr/>
        </p:nvSpPr>
        <p:spPr>
          <a:xfrm>
            <a:off x="2342692"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86" name="Oval 66"/>
          <p:cNvSpPr/>
          <p:nvPr/>
        </p:nvSpPr>
        <p:spPr>
          <a:xfrm>
            <a:off x="2898648"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87" name="Connector 67"/>
          <p:cNvSpPr/>
          <p:nvPr/>
        </p:nvSpPr>
        <p:spPr>
          <a:xfrm>
            <a:off x="2964482"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88" name="Connector 68"/>
          <p:cNvSpPr/>
          <p:nvPr/>
        </p:nvSpPr>
        <p:spPr>
          <a:xfrm>
            <a:off x="2872313"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89" name="Connector 69"/>
          <p:cNvSpPr/>
          <p:nvPr/>
        </p:nvSpPr>
        <p:spPr>
          <a:xfrm flipH="1">
            <a:off x="2878895"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90" name="Connector 70"/>
          <p:cNvSpPr/>
          <p:nvPr/>
        </p:nvSpPr>
        <p:spPr>
          <a:xfrm>
            <a:off x="2964483"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91" name="Oval 71"/>
          <p:cNvSpPr/>
          <p:nvPr/>
        </p:nvSpPr>
        <p:spPr>
          <a:xfrm>
            <a:off x="3520440"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92" name="Connector 72"/>
          <p:cNvSpPr/>
          <p:nvPr/>
        </p:nvSpPr>
        <p:spPr>
          <a:xfrm>
            <a:off x="3586274"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93" name="Connector 73"/>
          <p:cNvSpPr/>
          <p:nvPr/>
        </p:nvSpPr>
        <p:spPr>
          <a:xfrm>
            <a:off x="3494104"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94" name="Connector 74"/>
          <p:cNvSpPr/>
          <p:nvPr/>
        </p:nvSpPr>
        <p:spPr>
          <a:xfrm flipH="1">
            <a:off x="3500685"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95" name="Connector 75"/>
          <p:cNvSpPr/>
          <p:nvPr/>
        </p:nvSpPr>
        <p:spPr>
          <a:xfrm>
            <a:off x="3586274"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96" name="Oval 76"/>
          <p:cNvSpPr/>
          <p:nvPr/>
        </p:nvSpPr>
        <p:spPr>
          <a:xfrm>
            <a:off x="4142232"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97" name="Connector 77"/>
          <p:cNvSpPr/>
          <p:nvPr/>
        </p:nvSpPr>
        <p:spPr>
          <a:xfrm>
            <a:off x="4208067"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98" name="Connector 78"/>
          <p:cNvSpPr/>
          <p:nvPr/>
        </p:nvSpPr>
        <p:spPr>
          <a:xfrm>
            <a:off x="4115896"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099" name="Connector 79"/>
          <p:cNvSpPr/>
          <p:nvPr/>
        </p:nvSpPr>
        <p:spPr>
          <a:xfrm flipH="1">
            <a:off x="4122480"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00" name="Connector 80"/>
          <p:cNvSpPr/>
          <p:nvPr/>
        </p:nvSpPr>
        <p:spPr>
          <a:xfrm>
            <a:off x="4208067"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01" name="Oval 81"/>
          <p:cNvSpPr/>
          <p:nvPr/>
        </p:nvSpPr>
        <p:spPr>
          <a:xfrm>
            <a:off x="4764023"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02" name="Connector 82"/>
          <p:cNvSpPr/>
          <p:nvPr/>
        </p:nvSpPr>
        <p:spPr>
          <a:xfrm>
            <a:off x="4829859" y="2829153"/>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03" name="Connector 83"/>
          <p:cNvSpPr/>
          <p:nvPr/>
        </p:nvSpPr>
        <p:spPr>
          <a:xfrm>
            <a:off x="4737689"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04" name="Connector 84"/>
          <p:cNvSpPr/>
          <p:nvPr/>
        </p:nvSpPr>
        <p:spPr>
          <a:xfrm flipH="1">
            <a:off x="4744270"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05" name="Connector 85"/>
          <p:cNvSpPr/>
          <p:nvPr/>
        </p:nvSpPr>
        <p:spPr>
          <a:xfrm>
            <a:off x="4829857"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06" name="Oval 86"/>
          <p:cNvSpPr/>
          <p:nvPr/>
        </p:nvSpPr>
        <p:spPr>
          <a:xfrm>
            <a:off x="868680"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07" name="Connector 87"/>
          <p:cNvSpPr/>
          <p:nvPr/>
        </p:nvSpPr>
        <p:spPr>
          <a:xfrm>
            <a:off x="934516"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08" name="Connector 88"/>
          <p:cNvSpPr/>
          <p:nvPr/>
        </p:nvSpPr>
        <p:spPr>
          <a:xfrm>
            <a:off x="842344" y="3652844"/>
            <a:ext cx="184350"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09" name="Connector 89"/>
          <p:cNvSpPr/>
          <p:nvPr/>
        </p:nvSpPr>
        <p:spPr>
          <a:xfrm flipH="1">
            <a:off x="848928"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10" name="Connector 90"/>
          <p:cNvSpPr/>
          <p:nvPr/>
        </p:nvSpPr>
        <p:spPr>
          <a:xfrm>
            <a:off x="934513"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11" name="Oval 91"/>
          <p:cNvSpPr/>
          <p:nvPr/>
        </p:nvSpPr>
        <p:spPr>
          <a:xfrm>
            <a:off x="1490472"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12" name="Connector 92"/>
          <p:cNvSpPr/>
          <p:nvPr/>
        </p:nvSpPr>
        <p:spPr>
          <a:xfrm>
            <a:off x="1556308"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13" name="Connector 93"/>
          <p:cNvSpPr/>
          <p:nvPr/>
        </p:nvSpPr>
        <p:spPr>
          <a:xfrm>
            <a:off x="1464136"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14" name="Connector 94"/>
          <p:cNvSpPr/>
          <p:nvPr/>
        </p:nvSpPr>
        <p:spPr>
          <a:xfrm flipH="1">
            <a:off x="1470719"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15" name="Connector 95"/>
          <p:cNvSpPr/>
          <p:nvPr/>
        </p:nvSpPr>
        <p:spPr>
          <a:xfrm>
            <a:off x="1556307"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16" name="Oval 96"/>
          <p:cNvSpPr/>
          <p:nvPr/>
        </p:nvSpPr>
        <p:spPr>
          <a:xfrm>
            <a:off x="2112264"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17" name="Connector 97"/>
          <p:cNvSpPr/>
          <p:nvPr/>
        </p:nvSpPr>
        <p:spPr>
          <a:xfrm>
            <a:off x="2178098"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18" name="Connector 98"/>
          <p:cNvSpPr/>
          <p:nvPr/>
        </p:nvSpPr>
        <p:spPr>
          <a:xfrm>
            <a:off x="2085929"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19" name="Connector 99"/>
          <p:cNvSpPr/>
          <p:nvPr/>
        </p:nvSpPr>
        <p:spPr>
          <a:xfrm flipH="1">
            <a:off x="2092512"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20" name="Connector 100"/>
          <p:cNvSpPr/>
          <p:nvPr/>
        </p:nvSpPr>
        <p:spPr>
          <a:xfrm>
            <a:off x="2178099"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21" name="Oval 101"/>
          <p:cNvSpPr/>
          <p:nvPr/>
        </p:nvSpPr>
        <p:spPr>
          <a:xfrm>
            <a:off x="2734055"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22" name="Connector 102"/>
          <p:cNvSpPr/>
          <p:nvPr/>
        </p:nvSpPr>
        <p:spPr>
          <a:xfrm>
            <a:off x="2799892" y="3560669"/>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23" name="Connector 103"/>
          <p:cNvSpPr/>
          <p:nvPr/>
        </p:nvSpPr>
        <p:spPr>
          <a:xfrm>
            <a:off x="2707719"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24" name="Connector 104"/>
          <p:cNvSpPr/>
          <p:nvPr/>
        </p:nvSpPr>
        <p:spPr>
          <a:xfrm flipH="1">
            <a:off x="2714304"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25" name="Connector 105"/>
          <p:cNvSpPr/>
          <p:nvPr/>
        </p:nvSpPr>
        <p:spPr>
          <a:xfrm>
            <a:off x="2799892"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26" name="Oval 106"/>
          <p:cNvSpPr/>
          <p:nvPr/>
        </p:nvSpPr>
        <p:spPr>
          <a:xfrm>
            <a:off x="3355847"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27" name="Connector 107"/>
          <p:cNvSpPr/>
          <p:nvPr/>
        </p:nvSpPr>
        <p:spPr>
          <a:xfrm>
            <a:off x="3421684"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28" name="Connector 108"/>
          <p:cNvSpPr/>
          <p:nvPr/>
        </p:nvSpPr>
        <p:spPr>
          <a:xfrm>
            <a:off x="3329513"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29" name="Connector 109"/>
          <p:cNvSpPr/>
          <p:nvPr/>
        </p:nvSpPr>
        <p:spPr>
          <a:xfrm flipH="1">
            <a:off x="3336092"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30" name="Connector 110"/>
          <p:cNvSpPr/>
          <p:nvPr/>
        </p:nvSpPr>
        <p:spPr>
          <a:xfrm>
            <a:off x="3421684"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31" name="Oval 111"/>
          <p:cNvSpPr/>
          <p:nvPr/>
        </p:nvSpPr>
        <p:spPr>
          <a:xfrm>
            <a:off x="3977640" y="3428998"/>
            <a:ext cx="131685" cy="13168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32" name="Connector 112"/>
          <p:cNvSpPr/>
          <p:nvPr/>
        </p:nvSpPr>
        <p:spPr>
          <a:xfrm>
            <a:off x="4043474" y="3560669"/>
            <a:ext cx="6" cy="217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33" name="Connector 113"/>
          <p:cNvSpPr/>
          <p:nvPr/>
        </p:nvSpPr>
        <p:spPr>
          <a:xfrm>
            <a:off x="3951304" y="3652844"/>
            <a:ext cx="184349"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34" name="Connector 115"/>
          <p:cNvSpPr/>
          <p:nvPr/>
        </p:nvSpPr>
        <p:spPr>
          <a:xfrm flipH="1">
            <a:off x="3957885" y="3777934"/>
            <a:ext cx="85594" cy="13826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35" name="Connector 116"/>
          <p:cNvSpPr/>
          <p:nvPr/>
        </p:nvSpPr>
        <p:spPr>
          <a:xfrm>
            <a:off x="4043474" y="3777934"/>
            <a:ext cx="85594" cy="13826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36" name="Oval 121"/>
          <p:cNvSpPr/>
          <p:nvPr/>
        </p:nvSpPr>
        <p:spPr>
          <a:xfrm>
            <a:off x="4599432"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37" name="Connector 122"/>
          <p:cNvSpPr/>
          <p:nvPr/>
        </p:nvSpPr>
        <p:spPr>
          <a:xfrm>
            <a:off x="4665267"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38" name="Connector 123"/>
          <p:cNvSpPr/>
          <p:nvPr/>
        </p:nvSpPr>
        <p:spPr>
          <a:xfrm>
            <a:off x="4573096"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39" name="Connector 124"/>
          <p:cNvSpPr/>
          <p:nvPr/>
        </p:nvSpPr>
        <p:spPr>
          <a:xfrm flipH="1">
            <a:off x="4579680"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40" name="Connector 125"/>
          <p:cNvSpPr/>
          <p:nvPr/>
        </p:nvSpPr>
        <p:spPr>
          <a:xfrm>
            <a:off x="4665267"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41" name="Oval 126"/>
          <p:cNvSpPr/>
          <p:nvPr/>
        </p:nvSpPr>
        <p:spPr>
          <a:xfrm>
            <a:off x="1033271"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42" name="Connector 127"/>
          <p:cNvSpPr/>
          <p:nvPr/>
        </p:nvSpPr>
        <p:spPr>
          <a:xfrm>
            <a:off x="1099108"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43" name="Connector 128"/>
          <p:cNvSpPr/>
          <p:nvPr/>
        </p:nvSpPr>
        <p:spPr>
          <a:xfrm>
            <a:off x="1006936"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44" name="Connector 129"/>
          <p:cNvSpPr/>
          <p:nvPr/>
        </p:nvSpPr>
        <p:spPr>
          <a:xfrm flipH="1">
            <a:off x="1013519"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45" name="Connector 130"/>
          <p:cNvSpPr/>
          <p:nvPr/>
        </p:nvSpPr>
        <p:spPr>
          <a:xfrm>
            <a:off x="1099107"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46" name="Oval 131"/>
          <p:cNvSpPr/>
          <p:nvPr/>
        </p:nvSpPr>
        <p:spPr>
          <a:xfrm>
            <a:off x="1655060"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47" name="Connector 132"/>
          <p:cNvSpPr/>
          <p:nvPr/>
        </p:nvSpPr>
        <p:spPr>
          <a:xfrm>
            <a:off x="1720899"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48" name="Connector 133"/>
          <p:cNvSpPr/>
          <p:nvPr/>
        </p:nvSpPr>
        <p:spPr>
          <a:xfrm>
            <a:off x="1628729"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49" name="Connector 134"/>
          <p:cNvSpPr/>
          <p:nvPr/>
        </p:nvSpPr>
        <p:spPr>
          <a:xfrm flipH="1">
            <a:off x="1635311"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50" name="Connector 135"/>
          <p:cNvSpPr/>
          <p:nvPr/>
        </p:nvSpPr>
        <p:spPr>
          <a:xfrm>
            <a:off x="1720899"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51" name="Oval 136"/>
          <p:cNvSpPr/>
          <p:nvPr/>
        </p:nvSpPr>
        <p:spPr>
          <a:xfrm>
            <a:off x="2276855"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52" name="Connector 137"/>
          <p:cNvSpPr/>
          <p:nvPr/>
        </p:nvSpPr>
        <p:spPr>
          <a:xfrm>
            <a:off x="2342692" y="4292191"/>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53" name="Connector 138"/>
          <p:cNvSpPr/>
          <p:nvPr/>
        </p:nvSpPr>
        <p:spPr>
          <a:xfrm>
            <a:off x="2250519"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54" name="Connector 139"/>
          <p:cNvSpPr/>
          <p:nvPr/>
        </p:nvSpPr>
        <p:spPr>
          <a:xfrm flipH="1">
            <a:off x="2257104"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55" name="Connector 140"/>
          <p:cNvSpPr/>
          <p:nvPr/>
        </p:nvSpPr>
        <p:spPr>
          <a:xfrm>
            <a:off x="2342692"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56" name="Oval 141"/>
          <p:cNvSpPr/>
          <p:nvPr/>
        </p:nvSpPr>
        <p:spPr>
          <a:xfrm>
            <a:off x="2898648"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57" name="Connector 142"/>
          <p:cNvSpPr/>
          <p:nvPr/>
        </p:nvSpPr>
        <p:spPr>
          <a:xfrm>
            <a:off x="2964482"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58" name="Connector 143"/>
          <p:cNvSpPr/>
          <p:nvPr/>
        </p:nvSpPr>
        <p:spPr>
          <a:xfrm>
            <a:off x="2872313"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59" name="Connector 144"/>
          <p:cNvSpPr/>
          <p:nvPr/>
        </p:nvSpPr>
        <p:spPr>
          <a:xfrm flipH="1">
            <a:off x="2878895"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60" name="Connector 145"/>
          <p:cNvSpPr/>
          <p:nvPr/>
        </p:nvSpPr>
        <p:spPr>
          <a:xfrm>
            <a:off x="2964483"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61" name="Oval 146"/>
          <p:cNvSpPr/>
          <p:nvPr/>
        </p:nvSpPr>
        <p:spPr>
          <a:xfrm>
            <a:off x="3520440"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62" name="Connector 147"/>
          <p:cNvSpPr/>
          <p:nvPr/>
        </p:nvSpPr>
        <p:spPr>
          <a:xfrm>
            <a:off x="3586274"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63" name="Connector 148"/>
          <p:cNvSpPr/>
          <p:nvPr/>
        </p:nvSpPr>
        <p:spPr>
          <a:xfrm>
            <a:off x="3494104"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64" name="Connector 149"/>
          <p:cNvSpPr/>
          <p:nvPr/>
        </p:nvSpPr>
        <p:spPr>
          <a:xfrm flipH="1">
            <a:off x="3500685"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65" name="Connector 150"/>
          <p:cNvSpPr/>
          <p:nvPr/>
        </p:nvSpPr>
        <p:spPr>
          <a:xfrm>
            <a:off x="3586274"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66" name="Oval 151"/>
          <p:cNvSpPr/>
          <p:nvPr/>
        </p:nvSpPr>
        <p:spPr>
          <a:xfrm>
            <a:off x="4142232"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67" name="Connector 152"/>
          <p:cNvSpPr/>
          <p:nvPr/>
        </p:nvSpPr>
        <p:spPr>
          <a:xfrm>
            <a:off x="4208067"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68" name="Connector 153"/>
          <p:cNvSpPr/>
          <p:nvPr/>
        </p:nvSpPr>
        <p:spPr>
          <a:xfrm>
            <a:off x="4115896"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69" name="Connector 154"/>
          <p:cNvSpPr/>
          <p:nvPr/>
        </p:nvSpPr>
        <p:spPr>
          <a:xfrm flipH="1">
            <a:off x="4122480"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70" name="Connector 155"/>
          <p:cNvSpPr/>
          <p:nvPr/>
        </p:nvSpPr>
        <p:spPr>
          <a:xfrm>
            <a:off x="4208067"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71" name="Oval 156"/>
          <p:cNvSpPr/>
          <p:nvPr/>
        </p:nvSpPr>
        <p:spPr>
          <a:xfrm>
            <a:off x="4764023"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72" name="Connector 157"/>
          <p:cNvSpPr/>
          <p:nvPr/>
        </p:nvSpPr>
        <p:spPr>
          <a:xfrm>
            <a:off x="4829859" y="4292191"/>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73" name="Connector 158"/>
          <p:cNvSpPr/>
          <p:nvPr/>
        </p:nvSpPr>
        <p:spPr>
          <a:xfrm>
            <a:off x="4737689"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74" name="Connector 159"/>
          <p:cNvSpPr/>
          <p:nvPr/>
        </p:nvSpPr>
        <p:spPr>
          <a:xfrm flipH="1">
            <a:off x="4744270"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75" name="Connector 160"/>
          <p:cNvSpPr/>
          <p:nvPr/>
        </p:nvSpPr>
        <p:spPr>
          <a:xfrm>
            <a:off x="4829857"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76" name="Connector 184"/>
          <p:cNvSpPr/>
          <p:nvPr/>
        </p:nvSpPr>
        <p:spPr>
          <a:xfrm>
            <a:off x="749804" y="5257800"/>
            <a:ext cx="10680201" cy="0"/>
          </a:xfrm>
          <a:prstGeom prst="line">
            <a:avLst/>
          </a:prstGeom>
          <a:ln w="1397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77" name="TextBox 185"/>
          <p:cNvSpPr txBox="1"/>
          <p:nvPr/>
        </p:nvSpPr>
        <p:spPr>
          <a:xfrm>
            <a:off x="841244" y="5577840"/>
            <a:ext cx="4389128"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FF705B"/>
                </a:solidFill>
                <a:latin typeface="Helvetica Neue"/>
                <a:ea typeface="Helvetica Neue"/>
                <a:cs typeface="Helvetica Neue"/>
                <a:sym typeface="Helvetica Neue"/>
              </a:defRPr>
            </a:pPr>
            <a:r>
              <a:t>• </a:t>
            </a:r>
            <a:r>
              <a:rPr>
                <a:solidFill>
                  <a:srgbClr val="111318"/>
                </a:solidFill>
              </a:rPr>
              <a:t>A few users supply most of the map</a:t>
            </a:r>
          </a:p>
        </p:txBody>
      </p:sp>
      <p:sp>
        <p:nvSpPr>
          <p:cNvPr id="1178" name="TextBox 186"/>
          <p:cNvSpPr txBox="1"/>
          <p:nvPr/>
        </p:nvSpPr>
        <p:spPr>
          <a:xfrm>
            <a:off x="6748271" y="5577840"/>
            <a:ext cx="4389121"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3977F6"/>
                </a:solidFill>
                <a:latin typeface="Helvetica Neue"/>
                <a:ea typeface="Helvetica Neue"/>
                <a:cs typeface="Helvetica Neue"/>
                <a:sym typeface="Helvetica Neue"/>
              </a:defRPr>
            </a:pPr>
            <a:r>
              <a:t>• </a:t>
            </a:r>
            <a:r>
              <a:rPr>
                <a:solidFill>
                  <a:srgbClr val="111318"/>
                </a:solidFill>
              </a:rPr>
              <a:t>The active core becomes ‘the community’</a:t>
            </a:r>
          </a:p>
        </p:txBody>
      </p:sp>
      <p:sp>
        <p:nvSpPr>
          <p:cNvPr id="1179" name="TextBox 187"/>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Nudo et al. (2026); authors’ 200k analysis</a:t>
            </a:r>
          </a:p>
        </p:txBody>
      </p:sp>
      <p:sp>
        <p:nvSpPr>
          <p:cNvPr id="1180" name="TextBox 1"/>
          <p:cNvSpPr txBox="1"/>
          <p:nvPr/>
        </p:nvSpPr>
        <p:spPr>
          <a:xfrm>
            <a:off x="603504" y="420623"/>
            <a:ext cx="2149208"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HOW SYSTEM WORKS 3</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2" name="TextBox 3"/>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The same hands draw the map</a:t>
            </a:r>
          </a:p>
        </p:txBody>
      </p:sp>
      <p:sp>
        <p:nvSpPr>
          <p:cNvPr id="1183" name="TextBox 4"/>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05</a:t>
            </a:r>
          </a:p>
        </p:txBody>
      </p:sp>
      <p:sp>
        <p:nvSpPr>
          <p:cNvPr id="1184" name="TextBox 5"/>
          <p:cNvSpPr txBox="1"/>
          <p:nvPr/>
        </p:nvSpPr>
        <p:spPr>
          <a:xfrm>
            <a:off x="804670" y="1554480"/>
            <a:ext cx="2103124"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CLASSROOM METAPHOR</a:t>
            </a:r>
          </a:p>
        </p:txBody>
      </p:sp>
      <p:sp>
        <p:nvSpPr>
          <p:cNvPr id="1185" name="Oval 6"/>
          <p:cNvSpPr/>
          <p:nvPr/>
        </p:nvSpPr>
        <p:spPr>
          <a:xfrm>
            <a:off x="868680"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86" name="Connector 7"/>
          <p:cNvSpPr/>
          <p:nvPr/>
        </p:nvSpPr>
        <p:spPr>
          <a:xfrm>
            <a:off x="934516"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87" name="Connector 8"/>
          <p:cNvSpPr/>
          <p:nvPr/>
        </p:nvSpPr>
        <p:spPr>
          <a:xfrm>
            <a:off x="842344" y="2189805"/>
            <a:ext cx="184350"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88" name="Connector 9"/>
          <p:cNvSpPr/>
          <p:nvPr/>
        </p:nvSpPr>
        <p:spPr>
          <a:xfrm flipH="1">
            <a:off x="848928"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89" name="Connector 10"/>
          <p:cNvSpPr/>
          <p:nvPr/>
        </p:nvSpPr>
        <p:spPr>
          <a:xfrm>
            <a:off x="934513"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90" name="Oval 11"/>
          <p:cNvSpPr/>
          <p:nvPr/>
        </p:nvSpPr>
        <p:spPr>
          <a:xfrm>
            <a:off x="1490472"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91" name="Connector 12"/>
          <p:cNvSpPr/>
          <p:nvPr/>
        </p:nvSpPr>
        <p:spPr>
          <a:xfrm>
            <a:off x="1556308"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92" name="Connector 13"/>
          <p:cNvSpPr/>
          <p:nvPr/>
        </p:nvSpPr>
        <p:spPr>
          <a:xfrm>
            <a:off x="1464136"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93" name="Connector 14"/>
          <p:cNvSpPr/>
          <p:nvPr/>
        </p:nvSpPr>
        <p:spPr>
          <a:xfrm flipH="1">
            <a:off x="1470719"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94" name="Connector 15"/>
          <p:cNvSpPr/>
          <p:nvPr/>
        </p:nvSpPr>
        <p:spPr>
          <a:xfrm>
            <a:off x="1556307"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95" name="Oval 16"/>
          <p:cNvSpPr/>
          <p:nvPr/>
        </p:nvSpPr>
        <p:spPr>
          <a:xfrm>
            <a:off x="2112264"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96" name="Connector 17"/>
          <p:cNvSpPr/>
          <p:nvPr/>
        </p:nvSpPr>
        <p:spPr>
          <a:xfrm>
            <a:off x="2178098"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97" name="Connector 18"/>
          <p:cNvSpPr/>
          <p:nvPr/>
        </p:nvSpPr>
        <p:spPr>
          <a:xfrm>
            <a:off x="2085929"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98" name="Connector 19"/>
          <p:cNvSpPr/>
          <p:nvPr/>
        </p:nvSpPr>
        <p:spPr>
          <a:xfrm flipH="1">
            <a:off x="2092512"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199" name="Connector 20"/>
          <p:cNvSpPr/>
          <p:nvPr/>
        </p:nvSpPr>
        <p:spPr>
          <a:xfrm>
            <a:off x="2178099"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00" name="Oval 21"/>
          <p:cNvSpPr/>
          <p:nvPr/>
        </p:nvSpPr>
        <p:spPr>
          <a:xfrm>
            <a:off x="2734055"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01" name="Connector 22"/>
          <p:cNvSpPr/>
          <p:nvPr/>
        </p:nvSpPr>
        <p:spPr>
          <a:xfrm>
            <a:off x="2799892" y="2097633"/>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02" name="Connector 23"/>
          <p:cNvSpPr/>
          <p:nvPr/>
        </p:nvSpPr>
        <p:spPr>
          <a:xfrm>
            <a:off x="2707719"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03" name="Connector 24"/>
          <p:cNvSpPr/>
          <p:nvPr/>
        </p:nvSpPr>
        <p:spPr>
          <a:xfrm flipH="1">
            <a:off x="2714304"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04" name="Connector 25"/>
          <p:cNvSpPr/>
          <p:nvPr/>
        </p:nvSpPr>
        <p:spPr>
          <a:xfrm>
            <a:off x="2799892"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05" name="Oval 26"/>
          <p:cNvSpPr/>
          <p:nvPr/>
        </p:nvSpPr>
        <p:spPr>
          <a:xfrm>
            <a:off x="3355847" y="1965960"/>
            <a:ext cx="131685" cy="13168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06" name="Connector 27"/>
          <p:cNvSpPr/>
          <p:nvPr/>
        </p:nvSpPr>
        <p:spPr>
          <a:xfrm>
            <a:off x="3421684" y="2097633"/>
            <a:ext cx="6" cy="217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07" name="Connector 28"/>
          <p:cNvSpPr/>
          <p:nvPr/>
        </p:nvSpPr>
        <p:spPr>
          <a:xfrm>
            <a:off x="3329513" y="2189805"/>
            <a:ext cx="184349"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08" name="Connector 29"/>
          <p:cNvSpPr/>
          <p:nvPr/>
        </p:nvSpPr>
        <p:spPr>
          <a:xfrm flipV="1">
            <a:off x="3474353" y="1998877"/>
            <a:ext cx="98761" cy="190933"/>
          </a:xfrm>
          <a:prstGeom prst="line">
            <a:avLst/>
          </a:prstGeom>
          <a:ln w="2286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09" name="Connector 30"/>
          <p:cNvSpPr/>
          <p:nvPr/>
        </p:nvSpPr>
        <p:spPr>
          <a:xfrm flipH="1">
            <a:off x="3336092" y="2314892"/>
            <a:ext cx="85594" cy="138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10" name="Connector 31"/>
          <p:cNvSpPr/>
          <p:nvPr/>
        </p:nvSpPr>
        <p:spPr>
          <a:xfrm>
            <a:off x="3421684" y="2314892"/>
            <a:ext cx="85594" cy="138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11" name="Connector 32"/>
          <p:cNvSpPr/>
          <p:nvPr/>
        </p:nvSpPr>
        <p:spPr>
          <a:xfrm>
            <a:off x="3647435" y="1993388"/>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12" name="Connector 33"/>
          <p:cNvSpPr/>
          <p:nvPr/>
        </p:nvSpPr>
        <p:spPr>
          <a:xfrm>
            <a:off x="3711445" y="1993388"/>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13" name="Connector 34"/>
          <p:cNvSpPr/>
          <p:nvPr/>
        </p:nvSpPr>
        <p:spPr>
          <a:xfrm>
            <a:off x="3775452" y="1993388"/>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14" name="Connector 35"/>
          <p:cNvSpPr/>
          <p:nvPr/>
        </p:nvSpPr>
        <p:spPr>
          <a:xfrm>
            <a:off x="3839459" y="1993388"/>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15" name="Oval 36"/>
          <p:cNvSpPr/>
          <p:nvPr/>
        </p:nvSpPr>
        <p:spPr>
          <a:xfrm>
            <a:off x="3977640"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16" name="Connector 37"/>
          <p:cNvSpPr/>
          <p:nvPr/>
        </p:nvSpPr>
        <p:spPr>
          <a:xfrm>
            <a:off x="4043474"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17" name="Connector 38"/>
          <p:cNvSpPr/>
          <p:nvPr/>
        </p:nvSpPr>
        <p:spPr>
          <a:xfrm>
            <a:off x="3951304"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18" name="Connector 39"/>
          <p:cNvSpPr/>
          <p:nvPr/>
        </p:nvSpPr>
        <p:spPr>
          <a:xfrm flipH="1">
            <a:off x="3957885"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19" name="Connector 40"/>
          <p:cNvSpPr/>
          <p:nvPr/>
        </p:nvSpPr>
        <p:spPr>
          <a:xfrm>
            <a:off x="4043474"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20" name="Oval 41"/>
          <p:cNvSpPr/>
          <p:nvPr/>
        </p:nvSpPr>
        <p:spPr>
          <a:xfrm>
            <a:off x="4599432"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21" name="Connector 42"/>
          <p:cNvSpPr/>
          <p:nvPr/>
        </p:nvSpPr>
        <p:spPr>
          <a:xfrm>
            <a:off x="4665267"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22" name="Connector 43"/>
          <p:cNvSpPr/>
          <p:nvPr/>
        </p:nvSpPr>
        <p:spPr>
          <a:xfrm>
            <a:off x="4573096"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23" name="Connector 44"/>
          <p:cNvSpPr/>
          <p:nvPr/>
        </p:nvSpPr>
        <p:spPr>
          <a:xfrm flipH="1">
            <a:off x="4579680"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24" name="Connector 45"/>
          <p:cNvSpPr/>
          <p:nvPr/>
        </p:nvSpPr>
        <p:spPr>
          <a:xfrm>
            <a:off x="4665267"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25" name="Oval 46"/>
          <p:cNvSpPr/>
          <p:nvPr/>
        </p:nvSpPr>
        <p:spPr>
          <a:xfrm>
            <a:off x="1033271"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26" name="Connector 47"/>
          <p:cNvSpPr/>
          <p:nvPr/>
        </p:nvSpPr>
        <p:spPr>
          <a:xfrm>
            <a:off x="1099108"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27" name="Connector 48"/>
          <p:cNvSpPr/>
          <p:nvPr/>
        </p:nvSpPr>
        <p:spPr>
          <a:xfrm>
            <a:off x="1006936"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28" name="Connector 49"/>
          <p:cNvSpPr/>
          <p:nvPr/>
        </p:nvSpPr>
        <p:spPr>
          <a:xfrm flipH="1">
            <a:off x="1013519"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29" name="Connector 50"/>
          <p:cNvSpPr/>
          <p:nvPr/>
        </p:nvSpPr>
        <p:spPr>
          <a:xfrm>
            <a:off x="1099107"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30" name="Oval 51"/>
          <p:cNvSpPr/>
          <p:nvPr/>
        </p:nvSpPr>
        <p:spPr>
          <a:xfrm>
            <a:off x="1655060" y="2697477"/>
            <a:ext cx="131685" cy="13168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31" name="Connector 52"/>
          <p:cNvSpPr/>
          <p:nvPr/>
        </p:nvSpPr>
        <p:spPr>
          <a:xfrm>
            <a:off x="1720899" y="2829153"/>
            <a:ext cx="6" cy="217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32" name="Connector 53"/>
          <p:cNvSpPr/>
          <p:nvPr/>
        </p:nvSpPr>
        <p:spPr>
          <a:xfrm>
            <a:off x="1628729" y="2921323"/>
            <a:ext cx="184349"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33" name="Connector 54"/>
          <p:cNvSpPr/>
          <p:nvPr/>
        </p:nvSpPr>
        <p:spPr>
          <a:xfrm flipV="1">
            <a:off x="1773570" y="2730398"/>
            <a:ext cx="98761" cy="190933"/>
          </a:xfrm>
          <a:prstGeom prst="line">
            <a:avLst/>
          </a:prstGeom>
          <a:ln w="2286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34" name="Connector 55"/>
          <p:cNvSpPr/>
          <p:nvPr/>
        </p:nvSpPr>
        <p:spPr>
          <a:xfrm flipH="1">
            <a:off x="1635311" y="3046415"/>
            <a:ext cx="85594" cy="13826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35" name="Connector 56"/>
          <p:cNvSpPr/>
          <p:nvPr/>
        </p:nvSpPr>
        <p:spPr>
          <a:xfrm>
            <a:off x="1720899" y="3046415"/>
            <a:ext cx="85594" cy="13826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36" name="Connector 57"/>
          <p:cNvSpPr/>
          <p:nvPr/>
        </p:nvSpPr>
        <p:spPr>
          <a:xfrm>
            <a:off x="1946655" y="2724909"/>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37" name="Connector 58"/>
          <p:cNvSpPr/>
          <p:nvPr/>
        </p:nvSpPr>
        <p:spPr>
          <a:xfrm>
            <a:off x="2010660" y="2724909"/>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38" name="Connector 59"/>
          <p:cNvSpPr/>
          <p:nvPr/>
        </p:nvSpPr>
        <p:spPr>
          <a:xfrm>
            <a:off x="2074672" y="2724909"/>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39" name="Connector 60"/>
          <p:cNvSpPr/>
          <p:nvPr/>
        </p:nvSpPr>
        <p:spPr>
          <a:xfrm>
            <a:off x="2138677" y="2724909"/>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40" name="Oval 61"/>
          <p:cNvSpPr/>
          <p:nvPr/>
        </p:nvSpPr>
        <p:spPr>
          <a:xfrm>
            <a:off x="2276855"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41" name="Connector 62"/>
          <p:cNvSpPr/>
          <p:nvPr/>
        </p:nvSpPr>
        <p:spPr>
          <a:xfrm>
            <a:off x="2342692" y="2829153"/>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42" name="Connector 63"/>
          <p:cNvSpPr/>
          <p:nvPr/>
        </p:nvSpPr>
        <p:spPr>
          <a:xfrm>
            <a:off x="2250519"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43" name="Connector 64"/>
          <p:cNvSpPr/>
          <p:nvPr/>
        </p:nvSpPr>
        <p:spPr>
          <a:xfrm flipH="1">
            <a:off x="2257104"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44" name="Connector 65"/>
          <p:cNvSpPr/>
          <p:nvPr/>
        </p:nvSpPr>
        <p:spPr>
          <a:xfrm>
            <a:off x="2342692"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45" name="Oval 66"/>
          <p:cNvSpPr/>
          <p:nvPr/>
        </p:nvSpPr>
        <p:spPr>
          <a:xfrm>
            <a:off x="2898648"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46" name="Connector 67"/>
          <p:cNvSpPr/>
          <p:nvPr/>
        </p:nvSpPr>
        <p:spPr>
          <a:xfrm>
            <a:off x="2964482"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47" name="Connector 68"/>
          <p:cNvSpPr/>
          <p:nvPr/>
        </p:nvSpPr>
        <p:spPr>
          <a:xfrm>
            <a:off x="2872313"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48" name="Connector 69"/>
          <p:cNvSpPr/>
          <p:nvPr/>
        </p:nvSpPr>
        <p:spPr>
          <a:xfrm flipH="1">
            <a:off x="2878895"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49" name="Connector 70"/>
          <p:cNvSpPr/>
          <p:nvPr/>
        </p:nvSpPr>
        <p:spPr>
          <a:xfrm>
            <a:off x="2964483"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50" name="Oval 71"/>
          <p:cNvSpPr/>
          <p:nvPr/>
        </p:nvSpPr>
        <p:spPr>
          <a:xfrm>
            <a:off x="3520440"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51" name="Connector 72"/>
          <p:cNvSpPr/>
          <p:nvPr/>
        </p:nvSpPr>
        <p:spPr>
          <a:xfrm>
            <a:off x="3586274"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52" name="Connector 73"/>
          <p:cNvSpPr/>
          <p:nvPr/>
        </p:nvSpPr>
        <p:spPr>
          <a:xfrm>
            <a:off x="3494104"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53" name="Connector 74"/>
          <p:cNvSpPr/>
          <p:nvPr/>
        </p:nvSpPr>
        <p:spPr>
          <a:xfrm flipH="1">
            <a:off x="3500685"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54" name="Connector 75"/>
          <p:cNvSpPr/>
          <p:nvPr/>
        </p:nvSpPr>
        <p:spPr>
          <a:xfrm>
            <a:off x="3586274"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55" name="Oval 76"/>
          <p:cNvSpPr/>
          <p:nvPr/>
        </p:nvSpPr>
        <p:spPr>
          <a:xfrm>
            <a:off x="4142232"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56" name="Connector 77"/>
          <p:cNvSpPr/>
          <p:nvPr/>
        </p:nvSpPr>
        <p:spPr>
          <a:xfrm>
            <a:off x="4208067"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57" name="Connector 78"/>
          <p:cNvSpPr/>
          <p:nvPr/>
        </p:nvSpPr>
        <p:spPr>
          <a:xfrm>
            <a:off x="4115896"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58" name="Connector 79"/>
          <p:cNvSpPr/>
          <p:nvPr/>
        </p:nvSpPr>
        <p:spPr>
          <a:xfrm flipH="1">
            <a:off x="4122480"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59" name="Connector 80"/>
          <p:cNvSpPr/>
          <p:nvPr/>
        </p:nvSpPr>
        <p:spPr>
          <a:xfrm>
            <a:off x="4208067"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60" name="Oval 81"/>
          <p:cNvSpPr/>
          <p:nvPr/>
        </p:nvSpPr>
        <p:spPr>
          <a:xfrm>
            <a:off x="4764023"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61" name="Connector 82"/>
          <p:cNvSpPr/>
          <p:nvPr/>
        </p:nvSpPr>
        <p:spPr>
          <a:xfrm>
            <a:off x="4829859" y="2829153"/>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62" name="Connector 83"/>
          <p:cNvSpPr/>
          <p:nvPr/>
        </p:nvSpPr>
        <p:spPr>
          <a:xfrm>
            <a:off x="4737689"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63" name="Connector 84"/>
          <p:cNvSpPr/>
          <p:nvPr/>
        </p:nvSpPr>
        <p:spPr>
          <a:xfrm flipH="1">
            <a:off x="4744270"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64" name="Connector 85"/>
          <p:cNvSpPr/>
          <p:nvPr/>
        </p:nvSpPr>
        <p:spPr>
          <a:xfrm>
            <a:off x="4829857"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65" name="Oval 86"/>
          <p:cNvSpPr/>
          <p:nvPr/>
        </p:nvSpPr>
        <p:spPr>
          <a:xfrm>
            <a:off x="868680"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66" name="Connector 87"/>
          <p:cNvSpPr/>
          <p:nvPr/>
        </p:nvSpPr>
        <p:spPr>
          <a:xfrm>
            <a:off x="934516"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67" name="Connector 88"/>
          <p:cNvSpPr/>
          <p:nvPr/>
        </p:nvSpPr>
        <p:spPr>
          <a:xfrm>
            <a:off x="842344" y="3652844"/>
            <a:ext cx="184350"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68" name="Connector 89"/>
          <p:cNvSpPr/>
          <p:nvPr/>
        </p:nvSpPr>
        <p:spPr>
          <a:xfrm flipH="1">
            <a:off x="848928"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69" name="Connector 90"/>
          <p:cNvSpPr/>
          <p:nvPr/>
        </p:nvSpPr>
        <p:spPr>
          <a:xfrm>
            <a:off x="934513"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70" name="Oval 91"/>
          <p:cNvSpPr/>
          <p:nvPr/>
        </p:nvSpPr>
        <p:spPr>
          <a:xfrm>
            <a:off x="1490472"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71" name="Connector 92"/>
          <p:cNvSpPr/>
          <p:nvPr/>
        </p:nvSpPr>
        <p:spPr>
          <a:xfrm>
            <a:off x="1556308"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72" name="Connector 93"/>
          <p:cNvSpPr/>
          <p:nvPr/>
        </p:nvSpPr>
        <p:spPr>
          <a:xfrm>
            <a:off x="1464136"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73" name="Connector 94"/>
          <p:cNvSpPr/>
          <p:nvPr/>
        </p:nvSpPr>
        <p:spPr>
          <a:xfrm flipH="1">
            <a:off x="1470719"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74" name="Connector 95"/>
          <p:cNvSpPr/>
          <p:nvPr/>
        </p:nvSpPr>
        <p:spPr>
          <a:xfrm>
            <a:off x="1556307"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75" name="Oval 96"/>
          <p:cNvSpPr/>
          <p:nvPr/>
        </p:nvSpPr>
        <p:spPr>
          <a:xfrm>
            <a:off x="2112264"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76" name="Connector 97"/>
          <p:cNvSpPr/>
          <p:nvPr/>
        </p:nvSpPr>
        <p:spPr>
          <a:xfrm>
            <a:off x="2178098"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77" name="Connector 98"/>
          <p:cNvSpPr/>
          <p:nvPr/>
        </p:nvSpPr>
        <p:spPr>
          <a:xfrm>
            <a:off x="2085929"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78" name="Connector 99"/>
          <p:cNvSpPr/>
          <p:nvPr/>
        </p:nvSpPr>
        <p:spPr>
          <a:xfrm flipH="1">
            <a:off x="2092512"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79" name="Connector 100"/>
          <p:cNvSpPr/>
          <p:nvPr/>
        </p:nvSpPr>
        <p:spPr>
          <a:xfrm>
            <a:off x="2178099"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80" name="Oval 101"/>
          <p:cNvSpPr/>
          <p:nvPr/>
        </p:nvSpPr>
        <p:spPr>
          <a:xfrm>
            <a:off x="2734055"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81" name="Connector 102"/>
          <p:cNvSpPr/>
          <p:nvPr/>
        </p:nvSpPr>
        <p:spPr>
          <a:xfrm>
            <a:off x="2799892" y="3560669"/>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82" name="Connector 103"/>
          <p:cNvSpPr/>
          <p:nvPr/>
        </p:nvSpPr>
        <p:spPr>
          <a:xfrm>
            <a:off x="2707719"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83" name="Connector 104"/>
          <p:cNvSpPr/>
          <p:nvPr/>
        </p:nvSpPr>
        <p:spPr>
          <a:xfrm flipH="1">
            <a:off x="2714304"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84" name="Connector 105"/>
          <p:cNvSpPr/>
          <p:nvPr/>
        </p:nvSpPr>
        <p:spPr>
          <a:xfrm>
            <a:off x="2799892"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85" name="Oval 106"/>
          <p:cNvSpPr/>
          <p:nvPr/>
        </p:nvSpPr>
        <p:spPr>
          <a:xfrm>
            <a:off x="3355847"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86" name="Connector 107"/>
          <p:cNvSpPr/>
          <p:nvPr/>
        </p:nvSpPr>
        <p:spPr>
          <a:xfrm>
            <a:off x="3421684"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87" name="Connector 108"/>
          <p:cNvSpPr/>
          <p:nvPr/>
        </p:nvSpPr>
        <p:spPr>
          <a:xfrm>
            <a:off x="3329513"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88" name="Connector 109"/>
          <p:cNvSpPr/>
          <p:nvPr/>
        </p:nvSpPr>
        <p:spPr>
          <a:xfrm flipH="1">
            <a:off x="3336092"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89" name="Connector 110"/>
          <p:cNvSpPr/>
          <p:nvPr/>
        </p:nvSpPr>
        <p:spPr>
          <a:xfrm>
            <a:off x="3421684"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90" name="Oval 111"/>
          <p:cNvSpPr/>
          <p:nvPr/>
        </p:nvSpPr>
        <p:spPr>
          <a:xfrm>
            <a:off x="3977640" y="3428998"/>
            <a:ext cx="131685" cy="13168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91" name="Connector 112"/>
          <p:cNvSpPr/>
          <p:nvPr/>
        </p:nvSpPr>
        <p:spPr>
          <a:xfrm>
            <a:off x="4043474" y="3560669"/>
            <a:ext cx="6" cy="217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92" name="Connector 113"/>
          <p:cNvSpPr/>
          <p:nvPr/>
        </p:nvSpPr>
        <p:spPr>
          <a:xfrm>
            <a:off x="3951304" y="3652844"/>
            <a:ext cx="184349"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93" name="Connector 114"/>
          <p:cNvSpPr/>
          <p:nvPr/>
        </p:nvSpPr>
        <p:spPr>
          <a:xfrm flipV="1">
            <a:off x="4096146" y="3461915"/>
            <a:ext cx="98761" cy="190933"/>
          </a:xfrm>
          <a:prstGeom prst="line">
            <a:avLst/>
          </a:prstGeom>
          <a:ln w="2286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94" name="Connector 115"/>
          <p:cNvSpPr/>
          <p:nvPr/>
        </p:nvSpPr>
        <p:spPr>
          <a:xfrm flipH="1">
            <a:off x="3957885" y="3777934"/>
            <a:ext cx="85594" cy="13826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95" name="Connector 116"/>
          <p:cNvSpPr/>
          <p:nvPr/>
        </p:nvSpPr>
        <p:spPr>
          <a:xfrm>
            <a:off x="4043474" y="3777934"/>
            <a:ext cx="85594" cy="13826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96" name="Connector 117"/>
          <p:cNvSpPr/>
          <p:nvPr/>
        </p:nvSpPr>
        <p:spPr>
          <a:xfrm>
            <a:off x="4269232" y="3456432"/>
            <a:ext cx="6" cy="100590"/>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97" name="Connector 118"/>
          <p:cNvSpPr/>
          <p:nvPr/>
        </p:nvSpPr>
        <p:spPr>
          <a:xfrm>
            <a:off x="4333240" y="3456432"/>
            <a:ext cx="6" cy="100590"/>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98" name="Connector 119"/>
          <p:cNvSpPr/>
          <p:nvPr/>
        </p:nvSpPr>
        <p:spPr>
          <a:xfrm>
            <a:off x="4397247" y="3456432"/>
            <a:ext cx="6" cy="100590"/>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299" name="Connector 120"/>
          <p:cNvSpPr/>
          <p:nvPr/>
        </p:nvSpPr>
        <p:spPr>
          <a:xfrm>
            <a:off x="4461254" y="3456432"/>
            <a:ext cx="6" cy="100590"/>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00" name="Oval 121"/>
          <p:cNvSpPr/>
          <p:nvPr/>
        </p:nvSpPr>
        <p:spPr>
          <a:xfrm>
            <a:off x="4599432"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01" name="Connector 122"/>
          <p:cNvSpPr/>
          <p:nvPr/>
        </p:nvSpPr>
        <p:spPr>
          <a:xfrm>
            <a:off x="4665267"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02" name="Connector 123"/>
          <p:cNvSpPr/>
          <p:nvPr/>
        </p:nvSpPr>
        <p:spPr>
          <a:xfrm>
            <a:off x="4573096"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03" name="Connector 124"/>
          <p:cNvSpPr/>
          <p:nvPr/>
        </p:nvSpPr>
        <p:spPr>
          <a:xfrm flipH="1">
            <a:off x="4579680"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04" name="Connector 125"/>
          <p:cNvSpPr/>
          <p:nvPr/>
        </p:nvSpPr>
        <p:spPr>
          <a:xfrm>
            <a:off x="4665267"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05" name="Oval 126"/>
          <p:cNvSpPr/>
          <p:nvPr/>
        </p:nvSpPr>
        <p:spPr>
          <a:xfrm>
            <a:off x="1033271"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06" name="Connector 127"/>
          <p:cNvSpPr/>
          <p:nvPr/>
        </p:nvSpPr>
        <p:spPr>
          <a:xfrm>
            <a:off x="1099108"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07" name="Connector 128"/>
          <p:cNvSpPr/>
          <p:nvPr/>
        </p:nvSpPr>
        <p:spPr>
          <a:xfrm>
            <a:off x="1006936"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08" name="Connector 129"/>
          <p:cNvSpPr/>
          <p:nvPr/>
        </p:nvSpPr>
        <p:spPr>
          <a:xfrm flipH="1">
            <a:off x="1013519"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09" name="Connector 130"/>
          <p:cNvSpPr/>
          <p:nvPr/>
        </p:nvSpPr>
        <p:spPr>
          <a:xfrm>
            <a:off x="1099107"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10" name="Oval 131"/>
          <p:cNvSpPr/>
          <p:nvPr/>
        </p:nvSpPr>
        <p:spPr>
          <a:xfrm>
            <a:off x="1655060"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11" name="Connector 132"/>
          <p:cNvSpPr/>
          <p:nvPr/>
        </p:nvSpPr>
        <p:spPr>
          <a:xfrm>
            <a:off x="1720899"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12" name="Connector 133"/>
          <p:cNvSpPr/>
          <p:nvPr/>
        </p:nvSpPr>
        <p:spPr>
          <a:xfrm>
            <a:off x="1628729"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13" name="Connector 134"/>
          <p:cNvSpPr/>
          <p:nvPr/>
        </p:nvSpPr>
        <p:spPr>
          <a:xfrm flipH="1">
            <a:off x="1635311"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14" name="Connector 135"/>
          <p:cNvSpPr/>
          <p:nvPr/>
        </p:nvSpPr>
        <p:spPr>
          <a:xfrm>
            <a:off x="1720899"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15" name="Oval 136"/>
          <p:cNvSpPr/>
          <p:nvPr/>
        </p:nvSpPr>
        <p:spPr>
          <a:xfrm>
            <a:off x="2276855"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16" name="Connector 137"/>
          <p:cNvSpPr/>
          <p:nvPr/>
        </p:nvSpPr>
        <p:spPr>
          <a:xfrm>
            <a:off x="2342692" y="4292191"/>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17" name="Connector 138"/>
          <p:cNvSpPr/>
          <p:nvPr/>
        </p:nvSpPr>
        <p:spPr>
          <a:xfrm>
            <a:off x="2250519"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18" name="Connector 139"/>
          <p:cNvSpPr/>
          <p:nvPr/>
        </p:nvSpPr>
        <p:spPr>
          <a:xfrm flipH="1">
            <a:off x="2257104"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19" name="Connector 140"/>
          <p:cNvSpPr/>
          <p:nvPr/>
        </p:nvSpPr>
        <p:spPr>
          <a:xfrm>
            <a:off x="2342692"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20" name="Oval 141"/>
          <p:cNvSpPr/>
          <p:nvPr/>
        </p:nvSpPr>
        <p:spPr>
          <a:xfrm>
            <a:off x="2898648"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21" name="Connector 142"/>
          <p:cNvSpPr/>
          <p:nvPr/>
        </p:nvSpPr>
        <p:spPr>
          <a:xfrm>
            <a:off x="2964482"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22" name="Connector 143"/>
          <p:cNvSpPr/>
          <p:nvPr/>
        </p:nvSpPr>
        <p:spPr>
          <a:xfrm>
            <a:off x="2872313"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23" name="Connector 144"/>
          <p:cNvSpPr/>
          <p:nvPr/>
        </p:nvSpPr>
        <p:spPr>
          <a:xfrm flipH="1">
            <a:off x="2878895"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24" name="Connector 145"/>
          <p:cNvSpPr/>
          <p:nvPr/>
        </p:nvSpPr>
        <p:spPr>
          <a:xfrm>
            <a:off x="2964483"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25" name="Oval 146"/>
          <p:cNvSpPr/>
          <p:nvPr/>
        </p:nvSpPr>
        <p:spPr>
          <a:xfrm>
            <a:off x="3520440"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26" name="Connector 147"/>
          <p:cNvSpPr/>
          <p:nvPr/>
        </p:nvSpPr>
        <p:spPr>
          <a:xfrm>
            <a:off x="3586274"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27" name="Connector 148"/>
          <p:cNvSpPr/>
          <p:nvPr/>
        </p:nvSpPr>
        <p:spPr>
          <a:xfrm>
            <a:off x="3494104"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28" name="Connector 149"/>
          <p:cNvSpPr/>
          <p:nvPr/>
        </p:nvSpPr>
        <p:spPr>
          <a:xfrm flipH="1">
            <a:off x="3500685"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29" name="Connector 150"/>
          <p:cNvSpPr/>
          <p:nvPr/>
        </p:nvSpPr>
        <p:spPr>
          <a:xfrm>
            <a:off x="3586274"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30" name="Oval 151"/>
          <p:cNvSpPr/>
          <p:nvPr/>
        </p:nvSpPr>
        <p:spPr>
          <a:xfrm>
            <a:off x="4142232"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31" name="Connector 152"/>
          <p:cNvSpPr/>
          <p:nvPr/>
        </p:nvSpPr>
        <p:spPr>
          <a:xfrm>
            <a:off x="4208067"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32" name="Connector 153"/>
          <p:cNvSpPr/>
          <p:nvPr/>
        </p:nvSpPr>
        <p:spPr>
          <a:xfrm>
            <a:off x="4115896"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33" name="Connector 154"/>
          <p:cNvSpPr/>
          <p:nvPr/>
        </p:nvSpPr>
        <p:spPr>
          <a:xfrm flipH="1">
            <a:off x="4122480"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34" name="Connector 155"/>
          <p:cNvSpPr/>
          <p:nvPr/>
        </p:nvSpPr>
        <p:spPr>
          <a:xfrm>
            <a:off x="4208067"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35" name="Oval 156"/>
          <p:cNvSpPr/>
          <p:nvPr/>
        </p:nvSpPr>
        <p:spPr>
          <a:xfrm>
            <a:off x="4764023"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36" name="Connector 157"/>
          <p:cNvSpPr/>
          <p:nvPr/>
        </p:nvSpPr>
        <p:spPr>
          <a:xfrm>
            <a:off x="4829859" y="4292191"/>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37" name="Connector 158"/>
          <p:cNvSpPr/>
          <p:nvPr/>
        </p:nvSpPr>
        <p:spPr>
          <a:xfrm>
            <a:off x="4737689"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38" name="Connector 159"/>
          <p:cNvSpPr/>
          <p:nvPr/>
        </p:nvSpPr>
        <p:spPr>
          <a:xfrm flipH="1">
            <a:off x="4744270"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39" name="Connector 160"/>
          <p:cNvSpPr/>
          <p:nvPr/>
        </p:nvSpPr>
        <p:spPr>
          <a:xfrm>
            <a:off x="4829857"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40" name="Connector 184"/>
          <p:cNvSpPr/>
          <p:nvPr/>
        </p:nvSpPr>
        <p:spPr>
          <a:xfrm>
            <a:off x="749804" y="5257800"/>
            <a:ext cx="10680201" cy="0"/>
          </a:xfrm>
          <a:prstGeom prst="line">
            <a:avLst/>
          </a:prstGeom>
          <a:ln w="1397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41" name="TextBox 185"/>
          <p:cNvSpPr txBox="1"/>
          <p:nvPr/>
        </p:nvSpPr>
        <p:spPr>
          <a:xfrm>
            <a:off x="841244" y="5577840"/>
            <a:ext cx="4389128"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FF705B"/>
                </a:solidFill>
                <a:latin typeface="Helvetica Neue"/>
                <a:ea typeface="Helvetica Neue"/>
                <a:cs typeface="Helvetica Neue"/>
                <a:sym typeface="Helvetica Neue"/>
              </a:defRPr>
            </a:pPr>
            <a:r>
              <a:t>• </a:t>
            </a:r>
            <a:r>
              <a:rPr>
                <a:solidFill>
                  <a:srgbClr val="111318"/>
                </a:solidFill>
              </a:rPr>
              <a:t>A few users supply most of the map</a:t>
            </a:r>
          </a:p>
        </p:txBody>
      </p:sp>
      <p:sp>
        <p:nvSpPr>
          <p:cNvPr id="1342" name="TextBox 186"/>
          <p:cNvSpPr txBox="1"/>
          <p:nvPr/>
        </p:nvSpPr>
        <p:spPr>
          <a:xfrm>
            <a:off x="6748271" y="5577840"/>
            <a:ext cx="4389121"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3977F6"/>
                </a:solidFill>
                <a:latin typeface="Helvetica Neue"/>
                <a:ea typeface="Helvetica Neue"/>
                <a:cs typeface="Helvetica Neue"/>
                <a:sym typeface="Helvetica Neue"/>
              </a:defRPr>
            </a:pPr>
            <a:r>
              <a:t>• </a:t>
            </a:r>
            <a:r>
              <a:rPr>
                <a:solidFill>
                  <a:srgbClr val="111318"/>
                </a:solidFill>
              </a:rPr>
              <a:t>The active core becomes ‘the community’</a:t>
            </a:r>
          </a:p>
        </p:txBody>
      </p:sp>
      <p:sp>
        <p:nvSpPr>
          <p:cNvPr id="1343" name="TextBox 187"/>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Nudo et al. (2026); authors’ 200k analysis</a:t>
            </a:r>
          </a:p>
        </p:txBody>
      </p:sp>
      <p:sp>
        <p:nvSpPr>
          <p:cNvPr id="1344" name="TextBox 1"/>
          <p:cNvSpPr txBox="1"/>
          <p:nvPr/>
        </p:nvSpPr>
        <p:spPr>
          <a:xfrm>
            <a:off x="603504" y="420623"/>
            <a:ext cx="2149208"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HOW SYSTEM WORKS 3</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6" name="TextBox 3"/>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The same hands draw the map</a:t>
            </a:r>
          </a:p>
        </p:txBody>
      </p:sp>
      <p:sp>
        <p:nvSpPr>
          <p:cNvPr id="1347" name="TextBox 4"/>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05</a:t>
            </a:r>
          </a:p>
        </p:txBody>
      </p:sp>
      <p:sp>
        <p:nvSpPr>
          <p:cNvPr id="1348" name="TextBox 5"/>
          <p:cNvSpPr txBox="1"/>
          <p:nvPr/>
        </p:nvSpPr>
        <p:spPr>
          <a:xfrm>
            <a:off x="804670" y="1554480"/>
            <a:ext cx="2103124"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CLASSROOM METAPHOR</a:t>
            </a:r>
          </a:p>
        </p:txBody>
      </p:sp>
      <p:sp>
        <p:nvSpPr>
          <p:cNvPr id="1349" name="Oval 6"/>
          <p:cNvSpPr/>
          <p:nvPr/>
        </p:nvSpPr>
        <p:spPr>
          <a:xfrm>
            <a:off x="868680"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50" name="Connector 7"/>
          <p:cNvSpPr/>
          <p:nvPr/>
        </p:nvSpPr>
        <p:spPr>
          <a:xfrm>
            <a:off x="934516"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51" name="Connector 8"/>
          <p:cNvSpPr/>
          <p:nvPr/>
        </p:nvSpPr>
        <p:spPr>
          <a:xfrm>
            <a:off x="842344" y="2189805"/>
            <a:ext cx="184350"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52" name="Connector 9"/>
          <p:cNvSpPr/>
          <p:nvPr/>
        </p:nvSpPr>
        <p:spPr>
          <a:xfrm flipH="1">
            <a:off x="848928"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53" name="Connector 10"/>
          <p:cNvSpPr/>
          <p:nvPr/>
        </p:nvSpPr>
        <p:spPr>
          <a:xfrm>
            <a:off x="934513"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54" name="Oval 11"/>
          <p:cNvSpPr/>
          <p:nvPr/>
        </p:nvSpPr>
        <p:spPr>
          <a:xfrm>
            <a:off x="1490472"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55" name="Connector 12"/>
          <p:cNvSpPr/>
          <p:nvPr/>
        </p:nvSpPr>
        <p:spPr>
          <a:xfrm>
            <a:off x="1556308"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56" name="Connector 13"/>
          <p:cNvSpPr/>
          <p:nvPr/>
        </p:nvSpPr>
        <p:spPr>
          <a:xfrm>
            <a:off x="1464136"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57" name="Connector 14"/>
          <p:cNvSpPr/>
          <p:nvPr/>
        </p:nvSpPr>
        <p:spPr>
          <a:xfrm flipH="1">
            <a:off x="1470719"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58" name="Connector 15"/>
          <p:cNvSpPr/>
          <p:nvPr/>
        </p:nvSpPr>
        <p:spPr>
          <a:xfrm>
            <a:off x="1556307"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59" name="Oval 16"/>
          <p:cNvSpPr/>
          <p:nvPr/>
        </p:nvSpPr>
        <p:spPr>
          <a:xfrm>
            <a:off x="2112264"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60" name="Connector 17"/>
          <p:cNvSpPr/>
          <p:nvPr/>
        </p:nvSpPr>
        <p:spPr>
          <a:xfrm>
            <a:off x="2178098"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61" name="Connector 18"/>
          <p:cNvSpPr/>
          <p:nvPr/>
        </p:nvSpPr>
        <p:spPr>
          <a:xfrm>
            <a:off x="2085929"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62" name="Connector 19"/>
          <p:cNvSpPr/>
          <p:nvPr/>
        </p:nvSpPr>
        <p:spPr>
          <a:xfrm flipH="1">
            <a:off x="2092512"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63" name="Connector 20"/>
          <p:cNvSpPr/>
          <p:nvPr/>
        </p:nvSpPr>
        <p:spPr>
          <a:xfrm>
            <a:off x="2178099"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64" name="Oval 21"/>
          <p:cNvSpPr/>
          <p:nvPr/>
        </p:nvSpPr>
        <p:spPr>
          <a:xfrm>
            <a:off x="2734055"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65" name="Connector 22"/>
          <p:cNvSpPr/>
          <p:nvPr/>
        </p:nvSpPr>
        <p:spPr>
          <a:xfrm>
            <a:off x="2799892" y="2097633"/>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66" name="Connector 23"/>
          <p:cNvSpPr/>
          <p:nvPr/>
        </p:nvSpPr>
        <p:spPr>
          <a:xfrm>
            <a:off x="2707719"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67" name="Connector 24"/>
          <p:cNvSpPr/>
          <p:nvPr/>
        </p:nvSpPr>
        <p:spPr>
          <a:xfrm flipH="1">
            <a:off x="2714304"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68" name="Connector 25"/>
          <p:cNvSpPr/>
          <p:nvPr/>
        </p:nvSpPr>
        <p:spPr>
          <a:xfrm>
            <a:off x="2799892"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69" name="Oval 26"/>
          <p:cNvSpPr/>
          <p:nvPr/>
        </p:nvSpPr>
        <p:spPr>
          <a:xfrm>
            <a:off x="3355847" y="1965960"/>
            <a:ext cx="131685" cy="13168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70" name="Connector 27"/>
          <p:cNvSpPr/>
          <p:nvPr/>
        </p:nvSpPr>
        <p:spPr>
          <a:xfrm>
            <a:off x="3421684" y="2097633"/>
            <a:ext cx="6" cy="217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71" name="Connector 28"/>
          <p:cNvSpPr/>
          <p:nvPr/>
        </p:nvSpPr>
        <p:spPr>
          <a:xfrm>
            <a:off x="3329513" y="2189805"/>
            <a:ext cx="184349"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72" name="Connector 29"/>
          <p:cNvSpPr/>
          <p:nvPr/>
        </p:nvSpPr>
        <p:spPr>
          <a:xfrm flipV="1">
            <a:off x="3474353" y="1998877"/>
            <a:ext cx="98761" cy="190933"/>
          </a:xfrm>
          <a:prstGeom prst="line">
            <a:avLst/>
          </a:prstGeom>
          <a:ln w="2286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73" name="Connector 30"/>
          <p:cNvSpPr/>
          <p:nvPr/>
        </p:nvSpPr>
        <p:spPr>
          <a:xfrm flipH="1">
            <a:off x="3336092" y="2314892"/>
            <a:ext cx="85594" cy="138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74" name="Connector 31"/>
          <p:cNvSpPr/>
          <p:nvPr/>
        </p:nvSpPr>
        <p:spPr>
          <a:xfrm>
            <a:off x="3421684" y="2314892"/>
            <a:ext cx="85594" cy="138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75" name="Connector 32"/>
          <p:cNvSpPr/>
          <p:nvPr/>
        </p:nvSpPr>
        <p:spPr>
          <a:xfrm>
            <a:off x="3647435" y="1993388"/>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76" name="Connector 33"/>
          <p:cNvSpPr/>
          <p:nvPr/>
        </p:nvSpPr>
        <p:spPr>
          <a:xfrm>
            <a:off x="3711445" y="1993388"/>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77" name="Connector 34"/>
          <p:cNvSpPr/>
          <p:nvPr/>
        </p:nvSpPr>
        <p:spPr>
          <a:xfrm>
            <a:off x="3775452" y="1993388"/>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78" name="Connector 35"/>
          <p:cNvSpPr/>
          <p:nvPr/>
        </p:nvSpPr>
        <p:spPr>
          <a:xfrm>
            <a:off x="3839459" y="1993388"/>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79" name="Oval 36"/>
          <p:cNvSpPr/>
          <p:nvPr/>
        </p:nvSpPr>
        <p:spPr>
          <a:xfrm>
            <a:off x="3977640"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80" name="Connector 37"/>
          <p:cNvSpPr/>
          <p:nvPr/>
        </p:nvSpPr>
        <p:spPr>
          <a:xfrm>
            <a:off x="4043474"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81" name="Connector 38"/>
          <p:cNvSpPr/>
          <p:nvPr/>
        </p:nvSpPr>
        <p:spPr>
          <a:xfrm>
            <a:off x="3951304"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82" name="Connector 39"/>
          <p:cNvSpPr/>
          <p:nvPr/>
        </p:nvSpPr>
        <p:spPr>
          <a:xfrm flipH="1">
            <a:off x="3957885"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83" name="Connector 40"/>
          <p:cNvSpPr/>
          <p:nvPr/>
        </p:nvSpPr>
        <p:spPr>
          <a:xfrm>
            <a:off x="4043474"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84" name="Oval 41"/>
          <p:cNvSpPr/>
          <p:nvPr/>
        </p:nvSpPr>
        <p:spPr>
          <a:xfrm>
            <a:off x="4599432" y="196596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85" name="Connector 42"/>
          <p:cNvSpPr/>
          <p:nvPr/>
        </p:nvSpPr>
        <p:spPr>
          <a:xfrm>
            <a:off x="4665267" y="209763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86" name="Connector 43"/>
          <p:cNvSpPr/>
          <p:nvPr/>
        </p:nvSpPr>
        <p:spPr>
          <a:xfrm>
            <a:off x="4573096" y="2189805"/>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87" name="Connector 44"/>
          <p:cNvSpPr/>
          <p:nvPr/>
        </p:nvSpPr>
        <p:spPr>
          <a:xfrm flipH="1">
            <a:off x="4579680"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88" name="Connector 45"/>
          <p:cNvSpPr/>
          <p:nvPr/>
        </p:nvSpPr>
        <p:spPr>
          <a:xfrm>
            <a:off x="4665267" y="2314892"/>
            <a:ext cx="85594" cy="138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89" name="Oval 46"/>
          <p:cNvSpPr/>
          <p:nvPr/>
        </p:nvSpPr>
        <p:spPr>
          <a:xfrm>
            <a:off x="1033271"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90" name="Connector 47"/>
          <p:cNvSpPr/>
          <p:nvPr/>
        </p:nvSpPr>
        <p:spPr>
          <a:xfrm>
            <a:off x="1099108"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91" name="Connector 48"/>
          <p:cNvSpPr/>
          <p:nvPr/>
        </p:nvSpPr>
        <p:spPr>
          <a:xfrm>
            <a:off x="1006936"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92" name="Connector 49"/>
          <p:cNvSpPr/>
          <p:nvPr/>
        </p:nvSpPr>
        <p:spPr>
          <a:xfrm flipH="1">
            <a:off x="1013519"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93" name="Connector 50"/>
          <p:cNvSpPr/>
          <p:nvPr/>
        </p:nvSpPr>
        <p:spPr>
          <a:xfrm>
            <a:off x="1099107"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94" name="Oval 51"/>
          <p:cNvSpPr/>
          <p:nvPr/>
        </p:nvSpPr>
        <p:spPr>
          <a:xfrm>
            <a:off x="1655060" y="2697477"/>
            <a:ext cx="131685" cy="13168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95" name="Connector 52"/>
          <p:cNvSpPr/>
          <p:nvPr/>
        </p:nvSpPr>
        <p:spPr>
          <a:xfrm>
            <a:off x="1720899" y="2829153"/>
            <a:ext cx="6" cy="217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96" name="Connector 53"/>
          <p:cNvSpPr/>
          <p:nvPr/>
        </p:nvSpPr>
        <p:spPr>
          <a:xfrm>
            <a:off x="1628729" y="2921323"/>
            <a:ext cx="184349"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97" name="Connector 54"/>
          <p:cNvSpPr/>
          <p:nvPr/>
        </p:nvSpPr>
        <p:spPr>
          <a:xfrm flipV="1">
            <a:off x="1773570" y="2730398"/>
            <a:ext cx="98761" cy="190933"/>
          </a:xfrm>
          <a:prstGeom prst="line">
            <a:avLst/>
          </a:prstGeom>
          <a:ln w="2286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98" name="Connector 55"/>
          <p:cNvSpPr/>
          <p:nvPr/>
        </p:nvSpPr>
        <p:spPr>
          <a:xfrm flipH="1">
            <a:off x="1635311" y="3046415"/>
            <a:ext cx="85594" cy="13826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399" name="Connector 56"/>
          <p:cNvSpPr/>
          <p:nvPr/>
        </p:nvSpPr>
        <p:spPr>
          <a:xfrm>
            <a:off x="1720899" y="3046415"/>
            <a:ext cx="85594" cy="13826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00" name="Connector 57"/>
          <p:cNvSpPr/>
          <p:nvPr/>
        </p:nvSpPr>
        <p:spPr>
          <a:xfrm>
            <a:off x="1946655" y="2724909"/>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01" name="Connector 58"/>
          <p:cNvSpPr/>
          <p:nvPr/>
        </p:nvSpPr>
        <p:spPr>
          <a:xfrm>
            <a:off x="2010660" y="2724909"/>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02" name="Connector 59"/>
          <p:cNvSpPr/>
          <p:nvPr/>
        </p:nvSpPr>
        <p:spPr>
          <a:xfrm>
            <a:off x="2074672" y="2724909"/>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03" name="Connector 60"/>
          <p:cNvSpPr/>
          <p:nvPr/>
        </p:nvSpPr>
        <p:spPr>
          <a:xfrm>
            <a:off x="2138677" y="2724909"/>
            <a:ext cx="6" cy="100591"/>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04" name="Oval 61"/>
          <p:cNvSpPr/>
          <p:nvPr/>
        </p:nvSpPr>
        <p:spPr>
          <a:xfrm>
            <a:off x="2276855"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05" name="Connector 62"/>
          <p:cNvSpPr/>
          <p:nvPr/>
        </p:nvSpPr>
        <p:spPr>
          <a:xfrm>
            <a:off x="2342692" y="2829153"/>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06" name="Connector 63"/>
          <p:cNvSpPr/>
          <p:nvPr/>
        </p:nvSpPr>
        <p:spPr>
          <a:xfrm>
            <a:off x="2250519"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07" name="Connector 64"/>
          <p:cNvSpPr/>
          <p:nvPr/>
        </p:nvSpPr>
        <p:spPr>
          <a:xfrm flipH="1">
            <a:off x="2257104"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08" name="Connector 65"/>
          <p:cNvSpPr/>
          <p:nvPr/>
        </p:nvSpPr>
        <p:spPr>
          <a:xfrm>
            <a:off x="2342692"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09" name="Oval 66"/>
          <p:cNvSpPr/>
          <p:nvPr/>
        </p:nvSpPr>
        <p:spPr>
          <a:xfrm>
            <a:off x="2898648"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10" name="Connector 67"/>
          <p:cNvSpPr/>
          <p:nvPr/>
        </p:nvSpPr>
        <p:spPr>
          <a:xfrm>
            <a:off x="2964482"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11" name="Connector 68"/>
          <p:cNvSpPr/>
          <p:nvPr/>
        </p:nvSpPr>
        <p:spPr>
          <a:xfrm>
            <a:off x="2872313"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12" name="Connector 69"/>
          <p:cNvSpPr/>
          <p:nvPr/>
        </p:nvSpPr>
        <p:spPr>
          <a:xfrm flipH="1">
            <a:off x="2878895"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13" name="Connector 70"/>
          <p:cNvSpPr/>
          <p:nvPr/>
        </p:nvSpPr>
        <p:spPr>
          <a:xfrm>
            <a:off x="2964483"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14" name="Oval 71"/>
          <p:cNvSpPr/>
          <p:nvPr/>
        </p:nvSpPr>
        <p:spPr>
          <a:xfrm>
            <a:off x="3520440"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15" name="Connector 72"/>
          <p:cNvSpPr/>
          <p:nvPr/>
        </p:nvSpPr>
        <p:spPr>
          <a:xfrm>
            <a:off x="3586274"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16" name="Connector 73"/>
          <p:cNvSpPr/>
          <p:nvPr/>
        </p:nvSpPr>
        <p:spPr>
          <a:xfrm>
            <a:off x="3494104"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17" name="Connector 74"/>
          <p:cNvSpPr/>
          <p:nvPr/>
        </p:nvSpPr>
        <p:spPr>
          <a:xfrm flipH="1">
            <a:off x="3500685"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18" name="Connector 75"/>
          <p:cNvSpPr/>
          <p:nvPr/>
        </p:nvSpPr>
        <p:spPr>
          <a:xfrm>
            <a:off x="3586274"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19" name="Oval 76"/>
          <p:cNvSpPr/>
          <p:nvPr/>
        </p:nvSpPr>
        <p:spPr>
          <a:xfrm>
            <a:off x="4142232"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20" name="Connector 77"/>
          <p:cNvSpPr/>
          <p:nvPr/>
        </p:nvSpPr>
        <p:spPr>
          <a:xfrm>
            <a:off x="4208067" y="2829153"/>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21" name="Connector 78"/>
          <p:cNvSpPr/>
          <p:nvPr/>
        </p:nvSpPr>
        <p:spPr>
          <a:xfrm>
            <a:off x="4115896"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22" name="Connector 79"/>
          <p:cNvSpPr/>
          <p:nvPr/>
        </p:nvSpPr>
        <p:spPr>
          <a:xfrm flipH="1">
            <a:off x="4122480"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23" name="Connector 80"/>
          <p:cNvSpPr/>
          <p:nvPr/>
        </p:nvSpPr>
        <p:spPr>
          <a:xfrm>
            <a:off x="4208067"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24" name="Oval 81"/>
          <p:cNvSpPr/>
          <p:nvPr/>
        </p:nvSpPr>
        <p:spPr>
          <a:xfrm>
            <a:off x="4764023" y="2697477"/>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25" name="Connector 82"/>
          <p:cNvSpPr/>
          <p:nvPr/>
        </p:nvSpPr>
        <p:spPr>
          <a:xfrm>
            <a:off x="4829859" y="2829153"/>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26" name="Connector 83"/>
          <p:cNvSpPr/>
          <p:nvPr/>
        </p:nvSpPr>
        <p:spPr>
          <a:xfrm>
            <a:off x="4737689" y="2921323"/>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27" name="Connector 84"/>
          <p:cNvSpPr/>
          <p:nvPr/>
        </p:nvSpPr>
        <p:spPr>
          <a:xfrm flipH="1">
            <a:off x="4744270"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28" name="Connector 85"/>
          <p:cNvSpPr/>
          <p:nvPr/>
        </p:nvSpPr>
        <p:spPr>
          <a:xfrm>
            <a:off x="4829857" y="3046415"/>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29" name="Oval 86"/>
          <p:cNvSpPr/>
          <p:nvPr/>
        </p:nvSpPr>
        <p:spPr>
          <a:xfrm>
            <a:off x="868680"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30" name="Connector 87"/>
          <p:cNvSpPr/>
          <p:nvPr/>
        </p:nvSpPr>
        <p:spPr>
          <a:xfrm>
            <a:off x="934516"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31" name="Connector 88"/>
          <p:cNvSpPr/>
          <p:nvPr/>
        </p:nvSpPr>
        <p:spPr>
          <a:xfrm>
            <a:off x="842344" y="3652844"/>
            <a:ext cx="184350"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32" name="Connector 89"/>
          <p:cNvSpPr/>
          <p:nvPr/>
        </p:nvSpPr>
        <p:spPr>
          <a:xfrm flipH="1">
            <a:off x="848928"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33" name="Connector 90"/>
          <p:cNvSpPr/>
          <p:nvPr/>
        </p:nvSpPr>
        <p:spPr>
          <a:xfrm>
            <a:off x="934513"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34" name="Oval 91"/>
          <p:cNvSpPr/>
          <p:nvPr/>
        </p:nvSpPr>
        <p:spPr>
          <a:xfrm>
            <a:off x="1490472"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35" name="Connector 92"/>
          <p:cNvSpPr/>
          <p:nvPr/>
        </p:nvSpPr>
        <p:spPr>
          <a:xfrm>
            <a:off x="1556308"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36" name="Connector 93"/>
          <p:cNvSpPr/>
          <p:nvPr/>
        </p:nvSpPr>
        <p:spPr>
          <a:xfrm>
            <a:off x="1464136"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37" name="Connector 94"/>
          <p:cNvSpPr/>
          <p:nvPr/>
        </p:nvSpPr>
        <p:spPr>
          <a:xfrm flipH="1">
            <a:off x="1470719"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38" name="Connector 95"/>
          <p:cNvSpPr/>
          <p:nvPr/>
        </p:nvSpPr>
        <p:spPr>
          <a:xfrm>
            <a:off x="1556307"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39" name="Oval 96"/>
          <p:cNvSpPr/>
          <p:nvPr/>
        </p:nvSpPr>
        <p:spPr>
          <a:xfrm>
            <a:off x="2112264"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40" name="Connector 97"/>
          <p:cNvSpPr/>
          <p:nvPr/>
        </p:nvSpPr>
        <p:spPr>
          <a:xfrm>
            <a:off x="2178098"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41" name="Connector 98"/>
          <p:cNvSpPr/>
          <p:nvPr/>
        </p:nvSpPr>
        <p:spPr>
          <a:xfrm>
            <a:off x="2085929"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42" name="Connector 99"/>
          <p:cNvSpPr/>
          <p:nvPr/>
        </p:nvSpPr>
        <p:spPr>
          <a:xfrm flipH="1">
            <a:off x="2092512"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43" name="Connector 100"/>
          <p:cNvSpPr/>
          <p:nvPr/>
        </p:nvSpPr>
        <p:spPr>
          <a:xfrm>
            <a:off x="2178099"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44" name="Oval 101"/>
          <p:cNvSpPr/>
          <p:nvPr/>
        </p:nvSpPr>
        <p:spPr>
          <a:xfrm>
            <a:off x="2734055"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45" name="Connector 102"/>
          <p:cNvSpPr/>
          <p:nvPr/>
        </p:nvSpPr>
        <p:spPr>
          <a:xfrm>
            <a:off x="2799892" y="3560669"/>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46" name="Connector 103"/>
          <p:cNvSpPr/>
          <p:nvPr/>
        </p:nvSpPr>
        <p:spPr>
          <a:xfrm>
            <a:off x="2707719"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47" name="Connector 104"/>
          <p:cNvSpPr/>
          <p:nvPr/>
        </p:nvSpPr>
        <p:spPr>
          <a:xfrm flipH="1">
            <a:off x="2714304"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48" name="Connector 105"/>
          <p:cNvSpPr/>
          <p:nvPr/>
        </p:nvSpPr>
        <p:spPr>
          <a:xfrm>
            <a:off x="2799892"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49" name="Oval 106"/>
          <p:cNvSpPr/>
          <p:nvPr/>
        </p:nvSpPr>
        <p:spPr>
          <a:xfrm>
            <a:off x="3355847"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50" name="Connector 107"/>
          <p:cNvSpPr/>
          <p:nvPr/>
        </p:nvSpPr>
        <p:spPr>
          <a:xfrm>
            <a:off x="3421684"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51" name="Connector 108"/>
          <p:cNvSpPr/>
          <p:nvPr/>
        </p:nvSpPr>
        <p:spPr>
          <a:xfrm>
            <a:off x="3329513"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52" name="Connector 109"/>
          <p:cNvSpPr/>
          <p:nvPr/>
        </p:nvSpPr>
        <p:spPr>
          <a:xfrm flipH="1">
            <a:off x="3336092"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53" name="Connector 110"/>
          <p:cNvSpPr/>
          <p:nvPr/>
        </p:nvSpPr>
        <p:spPr>
          <a:xfrm>
            <a:off x="3421684"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54" name="Oval 111"/>
          <p:cNvSpPr/>
          <p:nvPr/>
        </p:nvSpPr>
        <p:spPr>
          <a:xfrm>
            <a:off x="3977640" y="3428998"/>
            <a:ext cx="131685" cy="13168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55" name="Connector 112"/>
          <p:cNvSpPr/>
          <p:nvPr/>
        </p:nvSpPr>
        <p:spPr>
          <a:xfrm>
            <a:off x="4043474" y="3560669"/>
            <a:ext cx="6" cy="217264"/>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56" name="Connector 113"/>
          <p:cNvSpPr/>
          <p:nvPr/>
        </p:nvSpPr>
        <p:spPr>
          <a:xfrm>
            <a:off x="3951304" y="3652844"/>
            <a:ext cx="184349" cy="6"/>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57" name="Connector 114"/>
          <p:cNvSpPr/>
          <p:nvPr/>
        </p:nvSpPr>
        <p:spPr>
          <a:xfrm flipV="1">
            <a:off x="4096146" y="3461915"/>
            <a:ext cx="98761" cy="190933"/>
          </a:xfrm>
          <a:prstGeom prst="line">
            <a:avLst/>
          </a:prstGeom>
          <a:ln w="2286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58" name="Connector 115"/>
          <p:cNvSpPr/>
          <p:nvPr/>
        </p:nvSpPr>
        <p:spPr>
          <a:xfrm flipH="1">
            <a:off x="3957885" y="3777934"/>
            <a:ext cx="85594" cy="13826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59" name="Connector 116"/>
          <p:cNvSpPr/>
          <p:nvPr/>
        </p:nvSpPr>
        <p:spPr>
          <a:xfrm>
            <a:off x="4043474" y="3777934"/>
            <a:ext cx="85594" cy="13826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60" name="Connector 117"/>
          <p:cNvSpPr/>
          <p:nvPr/>
        </p:nvSpPr>
        <p:spPr>
          <a:xfrm>
            <a:off x="4269232" y="3456432"/>
            <a:ext cx="6" cy="100590"/>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61" name="Connector 118"/>
          <p:cNvSpPr/>
          <p:nvPr/>
        </p:nvSpPr>
        <p:spPr>
          <a:xfrm>
            <a:off x="4333240" y="3456432"/>
            <a:ext cx="6" cy="100590"/>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62" name="Connector 119"/>
          <p:cNvSpPr/>
          <p:nvPr/>
        </p:nvSpPr>
        <p:spPr>
          <a:xfrm>
            <a:off x="4397247" y="3456432"/>
            <a:ext cx="6" cy="100590"/>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63" name="Connector 120"/>
          <p:cNvSpPr/>
          <p:nvPr/>
        </p:nvSpPr>
        <p:spPr>
          <a:xfrm>
            <a:off x="4461254" y="3456432"/>
            <a:ext cx="6" cy="100590"/>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64" name="Oval 121"/>
          <p:cNvSpPr/>
          <p:nvPr/>
        </p:nvSpPr>
        <p:spPr>
          <a:xfrm>
            <a:off x="4599432" y="3428998"/>
            <a:ext cx="131685" cy="13168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65" name="Connector 122"/>
          <p:cNvSpPr/>
          <p:nvPr/>
        </p:nvSpPr>
        <p:spPr>
          <a:xfrm>
            <a:off x="4665267" y="3560669"/>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66" name="Connector 123"/>
          <p:cNvSpPr/>
          <p:nvPr/>
        </p:nvSpPr>
        <p:spPr>
          <a:xfrm>
            <a:off x="4573096" y="365284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67" name="Connector 124"/>
          <p:cNvSpPr/>
          <p:nvPr/>
        </p:nvSpPr>
        <p:spPr>
          <a:xfrm flipH="1">
            <a:off x="4579680"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68" name="Connector 125"/>
          <p:cNvSpPr/>
          <p:nvPr/>
        </p:nvSpPr>
        <p:spPr>
          <a:xfrm>
            <a:off x="4665267" y="3777934"/>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69" name="Oval 126"/>
          <p:cNvSpPr/>
          <p:nvPr/>
        </p:nvSpPr>
        <p:spPr>
          <a:xfrm>
            <a:off x="1033271"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70" name="Connector 127"/>
          <p:cNvSpPr/>
          <p:nvPr/>
        </p:nvSpPr>
        <p:spPr>
          <a:xfrm>
            <a:off x="1099108"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71" name="Connector 128"/>
          <p:cNvSpPr/>
          <p:nvPr/>
        </p:nvSpPr>
        <p:spPr>
          <a:xfrm>
            <a:off x="1006936"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72" name="Connector 129"/>
          <p:cNvSpPr/>
          <p:nvPr/>
        </p:nvSpPr>
        <p:spPr>
          <a:xfrm flipH="1">
            <a:off x="1013519"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73" name="Connector 130"/>
          <p:cNvSpPr/>
          <p:nvPr/>
        </p:nvSpPr>
        <p:spPr>
          <a:xfrm>
            <a:off x="1099107"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74" name="Oval 131"/>
          <p:cNvSpPr/>
          <p:nvPr/>
        </p:nvSpPr>
        <p:spPr>
          <a:xfrm>
            <a:off x="1655060"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75" name="Connector 132"/>
          <p:cNvSpPr/>
          <p:nvPr/>
        </p:nvSpPr>
        <p:spPr>
          <a:xfrm>
            <a:off x="1720899"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76" name="Connector 133"/>
          <p:cNvSpPr/>
          <p:nvPr/>
        </p:nvSpPr>
        <p:spPr>
          <a:xfrm>
            <a:off x="1628729"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77" name="Connector 134"/>
          <p:cNvSpPr/>
          <p:nvPr/>
        </p:nvSpPr>
        <p:spPr>
          <a:xfrm flipH="1">
            <a:off x="1635311"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78" name="Connector 135"/>
          <p:cNvSpPr/>
          <p:nvPr/>
        </p:nvSpPr>
        <p:spPr>
          <a:xfrm>
            <a:off x="1720899"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79" name="Oval 136"/>
          <p:cNvSpPr/>
          <p:nvPr/>
        </p:nvSpPr>
        <p:spPr>
          <a:xfrm>
            <a:off x="2276855"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80" name="Connector 137"/>
          <p:cNvSpPr/>
          <p:nvPr/>
        </p:nvSpPr>
        <p:spPr>
          <a:xfrm>
            <a:off x="2342692" y="4292191"/>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81" name="Connector 138"/>
          <p:cNvSpPr/>
          <p:nvPr/>
        </p:nvSpPr>
        <p:spPr>
          <a:xfrm>
            <a:off x="2250519"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82" name="Connector 139"/>
          <p:cNvSpPr/>
          <p:nvPr/>
        </p:nvSpPr>
        <p:spPr>
          <a:xfrm flipH="1">
            <a:off x="2257104"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83" name="Connector 140"/>
          <p:cNvSpPr/>
          <p:nvPr/>
        </p:nvSpPr>
        <p:spPr>
          <a:xfrm>
            <a:off x="2342692"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84" name="Oval 141"/>
          <p:cNvSpPr/>
          <p:nvPr/>
        </p:nvSpPr>
        <p:spPr>
          <a:xfrm>
            <a:off x="2898648"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85" name="Connector 142"/>
          <p:cNvSpPr/>
          <p:nvPr/>
        </p:nvSpPr>
        <p:spPr>
          <a:xfrm>
            <a:off x="2964482"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86" name="Connector 143"/>
          <p:cNvSpPr/>
          <p:nvPr/>
        </p:nvSpPr>
        <p:spPr>
          <a:xfrm>
            <a:off x="2872313"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87" name="Connector 144"/>
          <p:cNvSpPr/>
          <p:nvPr/>
        </p:nvSpPr>
        <p:spPr>
          <a:xfrm flipH="1">
            <a:off x="2878895"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88" name="Connector 145"/>
          <p:cNvSpPr/>
          <p:nvPr/>
        </p:nvSpPr>
        <p:spPr>
          <a:xfrm>
            <a:off x="2964483"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89" name="Oval 146"/>
          <p:cNvSpPr/>
          <p:nvPr/>
        </p:nvSpPr>
        <p:spPr>
          <a:xfrm>
            <a:off x="3520440"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90" name="Connector 147"/>
          <p:cNvSpPr/>
          <p:nvPr/>
        </p:nvSpPr>
        <p:spPr>
          <a:xfrm>
            <a:off x="3586274"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91" name="Connector 148"/>
          <p:cNvSpPr/>
          <p:nvPr/>
        </p:nvSpPr>
        <p:spPr>
          <a:xfrm>
            <a:off x="3494104"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92" name="Connector 149"/>
          <p:cNvSpPr/>
          <p:nvPr/>
        </p:nvSpPr>
        <p:spPr>
          <a:xfrm flipH="1">
            <a:off x="3500685"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93" name="Connector 150"/>
          <p:cNvSpPr/>
          <p:nvPr/>
        </p:nvSpPr>
        <p:spPr>
          <a:xfrm>
            <a:off x="3586274"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94" name="Oval 151"/>
          <p:cNvSpPr/>
          <p:nvPr/>
        </p:nvSpPr>
        <p:spPr>
          <a:xfrm>
            <a:off x="4142232"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95" name="Connector 152"/>
          <p:cNvSpPr/>
          <p:nvPr/>
        </p:nvSpPr>
        <p:spPr>
          <a:xfrm>
            <a:off x="4208067" y="4292191"/>
            <a:ext cx="6"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96" name="Connector 153"/>
          <p:cNvSpPr/>
          <p:nvPr/>
        </p:nvSpPr>
        <p:spPr>
          <a:xfrm>
            <a:off x="4115896"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97" name="Connector 154"/>
          <p:cNvSpPr/>
          <p:nvPr/>
        </p:nvSpPr>
        <p:spPr>
          <a:xfrm flipH="1">
            <a:off x="4122480"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98" name="Connector 155"/>
          <p:cNvSpPr/>
          <p:nvPr/>
        </p:nvSpPr>
        <p:spPr>
          <a:xfrm>
            <a:off x="4208067"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499" name="Oval 156"/>
          <p:cNvSpPr/>
          <p:nvPr/>
        </p:nvSpPr>
        <p:spPr>
          <a:xfrm>
            <a:off x="4764023" y="4160520"/>
            <a:ext cx="131685" cy="13168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00" name="Connector 157"/>
          <p:cNvSpPr/>
          <p:nvPr/>
        </p:nvSpPr>
        <p:spPr>
          <a:xfrm>
            <a:off x="4829859" y="4292191"/>
            <a:ext cx="5" cy="217264"/>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01" name="Connector 158"/>
          <p:cNvSpPr/>
          <p:nvPr/>
        </p:nvSpPr>
        <p:spPr>
          <a:xfrm>
            <a:off x="4737689" y="4384364"/>
            <a:ext cx="184349" cy="6"/>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02" name="Connector 159"/>
          <p:cNvSpPr/>
          <p:nvPr/>
        </p:nvSpPr>
        <p:spPr>
          <a:xfrm flipH="1">
            <a:off x="4744270"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03" name="Connector 160"/>
          <p:cNvSpPr/>
          <p:nvPr/>
        </p:nvSpPr>
        <p:spPr>
          <a:xfrm>
            <a:off x="4829857" y="4509453"/>
            <a:ext cx="85594" cy="138263"/>
          </a:xfrm>
          <a:prstGeom prst="line">
            <a:avLst/>
          </a:prstGeom>
          <a:ln w="1905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04" name="Connector 161"/>
          <p:cNvSpPr/>
          <p:nvPr/>
        </p:nvSpPr>
        <p:spPr>
          <a:xfrm>
            <a:off x="6492240" y="3246116"/>
            <a:ext cx="4681734" cy="7"/>
          </a:xfrm>
          <a:prstGeom prst="line">
            <a:avLst/>
          </a:prstGeom>
          <a:ln w="254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05" name="Connector 162"/>
          <p:cNvSpPr/>
          <p:nvPr/>
        </p:nvSpPr>
        <p:spPr>
          <a:xfrm>
            <a:off x="3767328" y="2185416"/>
            <a:ext cx="2724917" cy="1060704"/>
          </a:xfrm>
          <a:prstGeom prst="line">
            <a:avLst/>
          </a:prstGeom>
          <a:ln w="1270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06" name="Connector 163"/>
          <p:cNvSpPr/>
          <p:nvPr/>
        </p:nvSpPr>
        <p:spPr>
          <a:xfrm>
            <a:off x="3803903" y="2249421"/>
            <a:ext cx="2688340" cy="1051566"/>
          </a:xfrm>
          <a:prstGeom prst="line">
            <a:avLst/>
          </a:prstGeom>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07" name="Connector 164"/>
          <p:cNvSpPr/>
          <p:nvPr/>
        </p:nvSpPr>
        <p:spPr>
          <a:xfrm>
            <a:off x="2066542" y="2916932"/>
            <a:ext cx="4425704" cy="329190"/>
          </a:xfrm>
          <a:prstGeom prst="line">
            <a:avLst/>
          </a:prstGeom>
          <a:ln w="1270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08" name="Connector 165"/>
          <p:cNvSpPr/>
          <p:nvPr/>
        </p:nvSpPr>
        <p:spPr>
          <a:xfrm>
            <a:off x="2103120" y="2980943"/>
            <a:ext cx="4389121" cy="320047"/>
          </a:xfrm>
          <a:prstGeom prst="line">
            <a:avLst/>
          </a:prstGeom>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09" name="Connector 166"/>
          <p:cNvSpPr/>
          <p:nvPr/>
        </p:nvSpPr>
        <p:spPr>
          <a:xfrm flipV="1">
            <a:off x="4389120" y="3246120"/>
            <a:ext cx="2103125" cy="402342"/>
          </a:xfrm>
          <a:prstGeom prst="line">
            <a:avLst/>
          </a:prstGeom>
          <a:ln w="1270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10" name="Connector 167"/>
          <p:cNvSpPr/>
          <p:nvPr/>
        </p:nvSpPr>
        <p:spPr>
          <a:xfrm flipV="1">
            <a:off x="4425696" y="3300984"/>
            <a:ext cx="2066547" cy="411486"/>
          </a:xfrm>
          <a:prstGeom prst="line">
            <a:avLst/>
          </a:prstGeom>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11" name="Connector 168"/>
          <p:cNvSpPr/>
          <p:nvPr/>
        </p:nvSpPr>
        <p:spPr>
          <a:xfrm flipV="1">
            <a:off x="4352542" y="3374136"/>
            <a:ext cx="2139702" cy="923549"/>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12" name="Connector 169"/>
          <p:cNvSpPr/>
          <p:nvPr/>
        </p:nvSpPr>
        <p:spPr>
          <a:xfrm>
            <a:off x="1810510" y="2834637"/>
            <a:ext cx="4681733" cy="301758"/>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13" name="Oval 170"/>
          <p:cNvSpPr/>
          <p:nvPr/>
        </p:nvSpPr>
        <p:spPr>
          <a:xfrm>
            <a:off x="6784847" y="3063238"/>
            <a:ext cx="91451" cy="91451"/>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14" name="Oval 171"/>
          <p:cNvSpPr/>
          <p:nvPr/>
        </p:nvSpPr>
        <p:spPr>
          <a:xfrm>
            <a:off x="7205471" y="3456432"/>
            <a:ext cx="82307" cy="8230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15" name="Oval 172"/>
          <p:cNvSpPr/>
          <p:nvPr/>
        </p:nvSpPr>
        <p:spPr>
          <a:xfrm>
            <a:off x="7626094" y="3017520"/>
            <a:ext cx="100595" cy="10059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16" name="Oval 173"/>
          <p:cNvSpPr/>
          <p:nvPr/>
        </p:nvSpPr>
        <p:spPr>
          <a:xfrm>
            <a:off x="8247888" y="3364991"/>
            <a:ext cx="73163" cy="73163"/>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17" name="Oval 174"/>
          <p:cNvSpPr/>
          <p:nvPr/>
        </p:nvSpPr>
        <p:spPr>
          <a:xfrm>
            <a:off x="8887968" y="2926077"/>
            <a:ext cx="128027" cy="12802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18" name="Oval 175"/>
          <p:cNvSpPr/>
          <p:nvPr/>
        </p:nvSpPr>
        <p:spPr>
          <a:xfrm>
            <a:off x="9290304" y="3410710"/>
            <a:ext cx="118881" cy="118881"/>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19" name="Oval 176"/>
          <p:cNvSpPr/>
          <p:nvPr/>
        </p:nvSpPr>
        <p:spPr>
          <a:xfrm>
            <a:off x="9765792" y="2889504"/>
            <a:ext cx="146315" cy="14631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20" name="Oval 177"/>
          <p:cNvSpPr/>
          <p:nvPr/>
        </p:nvSpPr>
        <p:spPr>
          <a:xfrm>
            <a:off x="10241280" y="3310128"/>
            <a:ext cx="128027" cy="12802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21" name="Oval 178"/>
          <p:cNvSpPr/>
          <p:nvPr/>
        </p:nvSpPr>
        <p:spPr>
          <a:xfrm>
            <a:off x="10735056" y="2980944"/>
            <a:ext cx="137171" cy="137171"/>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22" name="TextBox 179"/>
          <p:cNvSpPr txBox="1"/>
          <p:nvPr/>
        </p:nvSpPr>
        <p:spPr>
          <a:xfrm>
            <a:off x="6473952" y="3822191"/>
            <a:ext cx="1828803"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VIEWPOINT MAP</a:t>
            </a:r>
          </a:p>
        </p:txBody>
      </p:sp>
      <p:sp>
        <p:nvSpPr>
          <p:cNvPr id="1523" name="TextBox 180"/>
          <p:cNvSpPr txBox="1"/>
          <p:nvPr/>
        </p:nvSpPr>
        <p:spPr>
          <a:xfrm>
            <a:off x="7424925" y="4315967"/>
            <a:ext cx="914406" cy="5081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400">
                <a:solidFill>
                  <a:srgbClr val="FF705B"/>
                </a:solidFill>
                <a:latin typeface="Helvetica Neue"/>
                <a:ea typeface="Helvetica Neue"/>
                <a:cs typeface="Helvetica Neue"/>
                <a:sym typeface="Helvetica Neue"/>
              </a:defRPr>
            </a:lvl1pPr>
          </a:lstStyle>
          <a:p>
            <a:pPr/>
            <a:r>
              <a:t>64</a:t>
            </a:r>
          </a:p>
        </p:txBody>
      </p:sp>
      <p:sp>
        <p:nvSpPr>
          <p:cNvPr id="1524" name="TextBox 181"/>
          <p:cNvSpPr txBox="1"/>
          <p:nvPr/>
        </p:nvSpPr>
        <p:spPr>
          <a:xfrm>
            <a:off x="8016306" y="4477013"/>
            <a:ext cx="1508766"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73777F"/>
                </a:solidFill>
                <a:latin typeface="Helvetica Neue"/>
                <a:ea typeface="Helvetica Neue"/>
                <a:cs typeface="Helvetica Neue"/>
                <a:sym typeface="Helvetica Neue"/>
              </a:defRPr>
            </a:lvl1pPr>
          </a:lstStyle>
          <a:p>
            <a:pPr/>
            <a:r>
              <a:t>• power raters</a:t>
            </a:r>
          </a:p>
        </p:txBody>
      </p:sp>
      <p:sp>
        <p:nvSpPr>
          <p:cNvPr id="1525" name="TextBox 182"/>
          <p:cNvSpPr txBox="1"/>
          <p:nvPr/>
        </p:nvSpPr>
        <p:spPr>
          <a:xfrm>
            <a:off x="9802368" y="4315967"/>
            <a:ext cx="1024129" cy="5081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400">
                <a:solidFill>
                  <a:srgbClr val="111318"/>
                </a:solidFill>
                <a:latin typeface="Helvetica Neue"/>
                <a:ea typeface="Helvetica Neue"/>
                <a:cs typeface="Helvetica Neue"/>
                <a:sym typeface="Helvetica Neue"/>
              </a:defRPr>
            </a:lvl1pPr>
          </a:lstStyle>
          <a:p>
            <a:pPr/>
            <a:r>
              <a:t>11×</a:t>
            </a:r>
          </a:p>
        </p:txBody>
      </p:sp>
      <p:sp>
        <p:nvSpPr>
          <p:cNvPr id="1526" name="TextBox 183"/>
          <p:cNvSpPr txBox="1"/>
          <p:nvPr/>
        </p:nvSpPr>
        <p:spPr>
          <a:xfrm>
            <a:off x="10634471" y="4489703"/>
            <a:ext cx="1051566"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73777F"/>
                </a:solidFill>
                <a:latin typeface="Helvetica Neue"/>
                <a:ea typeface="Helvetica Neue"/>
                <a:cs typeface="Helvetica Neue"/>
                <a:sym typeface="Helvetica Neue"/>
              </a:defRPr>
            </a:lvl1pPr>
          </a:lstStyle>
          <a:p>
            <a:pPr/>
            <a:r>
              <a:t>• more active</a:t>
            </a:r>
          </a:p>
        </p:txBody>
      </p:sp>
      <p:sp>
        <p:nvSpPr>
          <p:cNvPr id="1527" name="Connector 184"/>
          <p:cNvSpPr/>
          <p:nvPr/>
        </p:nvSpPr>
        <p:spPr>
          <a:xfrm>
            <a:off x="749804" y="5257800"/>
            <a:ext cx="10680201" cy="0"/>
          </a:xfrm>
          <a:prstGeom prst="line">
            <a:avLst/>
          </a:prstGeom>
          <a:ln w="1397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28" name="TextBox 185"/>
          <p:cNvSpPr txBox="1"/>
          <p:nvPr/>
        </p:nvSpPr>
        <p:spPr>
          <a:xfrm>
            <a:off x="841244" y="5577840"/>
            <a:ext cx="4389128"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FF705B"/>
                </a:solidFill>
                <a:latin typeface="Helvetica Neue"/>
                <a:ea typeface="Helvetica Neue"/>
                <a:cs typeface="Helvetica Neue"/>
                <a:sym typeface="Helvetica Neue"/>
              </a:defRPr>
            </a:pPr>
            <a:r>
              <a:t>• </a:t>
            </a:r>
            <a:r>
              <a:rPr>
                <a:solidFill>
                  <a:srgbClr val="111318"/>
                </a:solidFill>
              </a:rPr>
              <a:t>A few users supply most of the map</a:t>
            </a:r>
          </a:p>
        </p:txBody>
      </p:sp>
      <p:sp>
        <p:nvSpPr>
          <p:cNvPr id="1529" name="TextBox 186"/>
          <p:cNvSpPr txBox="1"/>
          <p:nvPr/>
        </p:nvSpPr>
        <p:spPr>
          <a:xfrm>
            <a:off x="6748271" y="5577840"/>
            <a:ext cx="4389121"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3977F6"/>
                </a:solidFill>
                <a:latin typeface="Helvetica Neue"/>
                <a:ea typeface="Helvetica Neue"/>
                <a:cs typeface="Helvetica Neue"/>
                <a:sym typeface="Helvetica Neue"/>
              </a:defRPr>
            </a:pPr>
            <a:r>
              <a:t>• </a:t>
            </a:r>
            <a:r>
              <a:rPr>
                <a:solidFill>
                  <a:srgbClr val="111318"/>
                </a:solidFill>
              </a:rPr>
              <a:t>The active core becomes ‘the community’</a:t>
            </a:r>
          </a:p>
        </p:txBody>
      </p:sp>
      <p:sp>
        <p:nvSpPr>
          <p:cNvPr id="1530" name="TextBox 187"/>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Nudo et al. (2026); authors’ 200k analysis</a:t>
            </a:r>
          </a:p>
        </p:txBody>
      </p:sp>
      <p:sp>
        <p:nvSpPr>
          <p:cNvPr id="1531" name="TextBox 1"/>
          <p:cNvSpPr txBox="1"/>
          <p:nvPr/>
        </p:nvSpPr>
        <p:spPr>
          <a:xfrm>
            <a:off x="603504" y="420623"/>
            <a:ext cx="2149208"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HOW SYSTEM WORKS 3</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3" name="TextBox 1"/>
          <p:cNvSpPr txBox="1"/>
          <p:nvPr/>
        </p:nvSpPr>
        <p:spPr>
          <a:xfrm>
            <a:off x="603501" y="420623"/>
            <a:ext cx="4389125"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BRIDGING, REFRAMED</a:t>
            </a:r>
          </a:p>
        </p:txBody>
      </p:sp>
      <p:sp>
        <p:nvSpPr>
          <p:cNvPr id="1534"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The handshake is right. The electorate is not.</a:t>
            </a:r>
          </a:p>
        </p:txBody>
      </p:sp>
      <p:sp>
        <p:nvSpPr>
          <p:cNvPr id="1535" name="TextBox 3"/>
          <p:cNvSpPr txBox="1"/>
          <p:nvPr/>
        </p:nvSpPr>
        <p:spPr>
          <a:xfrm>
            <a:off x="11082528" y="457198"/>
            <a:ext cx="438915"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06</a:t>
            </a:r>
          </a:p>
        </p:txBody>
      </p:sp>
      <p:sp>
        <p:nvSpPr>
          <p:cNvPr id="1536" name="Connector 4"/>
          <p:cNvSpPr/>
          <p:nvPr/>
        </p:nvSpPr>
        <p:spPr>
          <a:xfrm flipH="1">
            <a:off x="4005071" y="1554478"/>
            <a:ext cx="3" cy="3456437"/>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37" name="Connector 5"/>
          <p:cNvSpPr/>
          <p:nvPr/>
        </p:nvSpPr>
        <p:spPr>
          <a:xfrm>
            <a:off x="8010142" y="1554478"/>
            <a:ext cx="3" cy="3456437"/>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38" name="TextBox 6"/>
          <p:cNvSpPr txBox="1"/>
          <p:nvPr/>
        </p:nvSpPr>
        <p:spPr>
          <a:xfrm>
            <a:off x="768094" y="1572766"/>
            <a:ext cx="1645924"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GOOD INSTINCT</a:t>
            </a:r>
          </a:p>
        </p:txBody>
      </p:sp>
      <p:sp>
        <p:nvSpPr>
          <p:cNvPr id="1539" name="Oval 7"/>
          <p:cNvSpPr/>
          <p:nvPr/>
        </p:nvSpPr>
        <p:spPr>
          <a:xfrm>
            <a:off x="960119" y="2240277"/>
            <a:ext cx="164597" cy="16459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40" name="Connector 8"/>
          <p:cNvSpPr/>
          <p:nvPr/>
        </p:nvSpPr>
        <p:spPr>
          <a:xfrm>
            <a:off x="1042416" y="2404872"/>
            <a:ext cx="3" cy="271579"/>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41" name="Connector 9"/>
          <p:cNvSpPr/>
          <p:nvPr/>
        </p:nvSpPr>
        <p:spPr>
          <a:xfrm>
            <a:off x="927199" y="2520083"/>
            <a:ext cx="230432" cy="3"/>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42" name="Connector 10"/>
          <p:cNvSpPr/>
          <p:nvPr/>
        </p:nvSpPr>
        <p:spPr>
          <a:xfrm flipH="1">
            <a:off x="935430" y="2676448"/>
            <a:ext cx="106988" cy="172825"/>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43" name="Connector 11"/>
          <p:cNvSpPr/>
          <p:nvPr/>
        </p:nvSpPr>
        <p:spPr>
          <a:xfrm>
            <a:off x="1042416" y="2676448"/>
            <a:ext cx="106987" cy="172825"/>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44" name="Oval 12"/>
          <p:cNvSpPr/>
          <p:nvPr/>
        </p:nvSpPr>
        <p:spPr>
          <a:xfrm>
            <a:off x="3502150" y="2215624"/>
            <a:ext cx="164597" cy="16459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45" name="Connector 13"/>
          <p:cNvSpPr/>
          <p:nvPr/>
        </p:nvSpPr>
        <p:spPr>
          <a:xfrm>
            <a:off x="3584447" y="2380214"/>
            <a:ext cx="3" cy="271579"/>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46" name="Connector 14"/>
          <p:cNvSpPr/>
          <p:nvPr/>
        </p:nvSpPr>
        <p:spPr>
          <a:xfrm>
            <a:off x="3469232" y="2495430"/>
            <a:ext cx="230432" cy="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47" name="Connector 15"/>
          <p:cNvSpPr/>
          <p:nvPr/>
        </p:nvSpPr>
        <p:spPr>
          <a:xfrm flipH="1">
            <a:off x="3477462" y="2651792"/>
            <a:ext cx="106988" cy="172825"/>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48" name="Connector 16"/>
          <p:cNvSpPr/>
          <p:nvPr/>
        </p:nvSpPr>
        <p:spPr>
          <a:xfrm>
            <a:off x="3584447" y="2651792"/>
            <a:ext cx="106987" cy="172825"/>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49" name="Rounded Rectangle 17"/>
          <p:cNvSpPr/>
          <p:nvPr/>
        </p:nvSpPr>
        <p:spPr>
          <a:xfrm>
            <a:off x="1856231" y="2011677"/>
            <a:ext cx="960123" cy="1298451"/>
          </a:xfrm>
          <a:prstGeom prst="roundRect">
            <a:avLst>
              <a:gd name="adj" fmla="val 16667"/>
            </a:avLst>
          </a:prstGeom>
          <a:ln w="1397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50" name="Connector 18"/>
          <p:cNvSpPr/>
          <p:nvPr/>
        </p:nvSpPr>
        <p:spPr>
          <a:xfrm>
            <a:off x="2075687" y="2450592"/>
            <a:ext cx="521209" cy="3"/>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51" name="Connector 19"/>
          <p:cNvSpPr/>
          <p:nvPr/>
        </p:nvSpPr>
        <p:spPr>
          <a:xfrm>
            <a:off x="2075687" y="2761488"/>
            <a:ext cx="393196" cy="3"/>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52" name="Connector 20"/>
          <p:cNvSpPr/>
          <p:nvPr/>
        </p:nvSpPr>
        <p:spPr>
          <a:xfrm>
            <a:off x="2075687" y="3072383"/>
            <a:ext cx="484636" cy="3"/>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53" name="Oval 21"/>
          <p:cNvSpPr/>
          <p:nvPr/>
        </p:nvSpPr>
        <p:spPr>
          <a:xfrm>
            <a:off x="1572766" y="2514599"/>
            <a:ext cx="201173" cy="201173"/>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54" name="Connector 22"/>
          <p:cNvSpPr/>
          <p:nvPr/>
        </p:nvSpPr>
        <p:spPr>
          <a:xfrm>
            <a:off x="1613916" y="2624327"/>
            <a:ext cx="45723" cy="45723"/>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55" name="Connector 23"/>
          <p:cNvSpPr/>
          <p:nvPr/>
        </p:nvSpPr>
        <p:spPr>
          <a:xfrm flipV="1">
            <a:off x="1659633" y="2569464"/>
            <a:ext cx="82299" cy="100587"/>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56" name="Connector 27"/>
          <p:cNvSpPr/>
          <p:nvPr/>
        </p:nvSpPr>
        <p:spPr>
          <a:xfrm>
            <a:off x="1344166" y="2615183"/>
            <a:ext cx="192027" cy="3"/>
          </a:xfrm>
          <a:prstGeom prst="line">
            <a:avLst/>
          </a:prstGeom>
          <a:ln w="1651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57" name="TextBox 30"/>
          <p:cNvSpPr txBox="1"/>
          <p:nvPr/>
        </p:nvSpPr>
        <p:spPr>
          <a:xfrm>
            <a:off x="941830" y="3675886"/>
            <a:ext cx="2834645"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100">
                <a:solidFill>
                  <a:srgbClr val="1FA873"/>
                </a:solidFill>
                <a:latin typeface="Helvetica Neue"/>
                <a:ea typeface="Helvetica Neue"/>
                <a:cs typeface="Helvetica Neue"/>
                <a:sym typeface="Helvetica Neue"/>
              </a:defRPr>
            </a:lvl1pPr>
          </a:lstStyle>
          <a:p>
            <a:pPr/>
            <a:r>
              <a:t>ENEMIES SHAKE HANDS</a:t>
            </a:r>
          </a:p>
        </p:txBody>
      </p:sp>
      <p:sp>
        <p:nvSpPr>
          <p:cNvPr id="1558" name="TextBox 31"/>
          <p:cNvSpPr txBox="1"/>
          <p:nvPr/>
        </p:nvSpPr>
        <p:spPr>
          <a:xfrm>
            <a:off x="859536" y="4315967"/>
            <a:ext cx="2971801"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FA873"/>
                </a:solidFill>
                <a:latin typeface="Helvetica Neue"/>
                <a:ea typeface="Helvetica Neue"/>
                <a:cs typeface="Helvetica Neue"/>
                <a:sym typeface="Helvetica Neue"/>
              </a:defRPr>
            </a:pPr>
            <a:r>
              <a:t>• </a:t>
            </a:r>
            <a:r>
              <a:rPr>
                <a:solidFill>
                  <a:srgbClr val="111318"/>
                </a:solidFill>
              </a:rPr>
              <a:t>Cross-group agreement is valuable</a:t>
            </a:r>
          </a:p>
        </p:txBody>
      </p:sp>
      <p:sp>
        <p:nvSpPr>
          <p:cNvPr id="1559" name="TextBox 32"/>
          <p:cNvSpPr txBox="1"/>
          <p:nvPr/>
        </p:nvSpPr>
        <p:spPr>
          <a:xfrm>
            <a:off x="4261103" y="1572766"/>
            <a:ext cx="1920241"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SELECTION BALANCE</a:t>
            </a:r>
          </a:p>
        </p:txBody>
      </p:sp>
      <p:sp>
        <p:nvSpPr>
          <p:cNvPr id="1560" name="TextBox 33"/>
          <p:cNvSpPr txBox="1"/>
          <p:nvPr/>
        </p:nvSpPr>
        <p:spPr>
          <a:xfrm>
            <a:off x="4315967" y="1993392"/>
            <a:ext cx="1005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BALANCED</a:t>
            </a:r>
          </a:p>
        </p:txBody>
      </p:sp>
      <p:sp>
        <p:nvSpPr>
          <p:cNvPr id="1561" name="Oval 34"/>
          <p:cNvSpPr/>
          <p:nvPr/>
        </p:nvSpPr>
        <p:spPr>
          <a:xfrm>
            <a:off x="4315967"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62" name="Oval 35"/>
          <p:cNvSpPr/>
          <p:nvPr/>
        </p:nvSpPr>
        <p:spPr>
          <a:xfrm>
            <a:off x="4507991"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63" name="Oval 36"/>
          <p:cNvSpPr/>
          <p:nvPr/>
        </p:nvSpPr>
        <p:spPr>
          <a:xfrm>
            <a:off x="4700015"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64" name="Oval 37"/>
          <p:cNvSpPr/>
          <p:nvPr/>
        </p:nvSpPr>
        <p:spPr>
          <a:xfrm>
            <a:off x="4892040"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65" name="Oval 38"/>
          <p:cNvSpPr/>
          <p:nvPr/>
        </p:nvSpPr>
        <p:spPr>
          <a:xfrm>
            <a:off x="5084064"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66" name="Oval 39"/>
          <p:cNvSpPr/>
          <p:nvPr/>
        </p:nvSpPr>
        <p:spPr>
          <a:xfrm>
            <a:off x="5276088"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67" name="Oval 40"/>
          <p:cNvSpPr/>
          <p:nvPr/>
        </p:nvSpPr>
        <p:spPr>
          <a:xfrm>
            <a:off x="5468110"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68" name="Oval 41"/>
          <p:cNvSpPr/>
          <p:nvPr/>
        </p:nvSpPr>
        <p:spPr>
          <a:xfrm>
            <a:off x="5660135"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69" name="Oval 42"/>
          <p:cNvSpPr/>
          <p:nvPr/>
        </p:nvSpPr>
        <p:spPr>
          <a:xfrm>
            <a:off x="5852159"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70" name="Oval 43"/>
          <p:cNvSpPr/>
          <p:nvPr/>
        </p:nvSpPr>
        <p:spPr>
          <a:xfrm>
            <a:off x="6044183"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71" name="TextBox 44"/>
          <p:cNvSpPr txBox="1"/>
          <p:nvPr/>
        </p:nvSpPr>
        <p:spPr>
          <a:xfrm>
            <a:off x="4315967" y="2670048"/>
            <a:ext cx="2057403"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11318"/>
                </a:solidFill>
                <a:latin typeface="Helvetica Neue"/>
                <a:ea typeface="Helvetica Neue"/>
                <a:cs typeface="Helvetica Neue"/>
                <a:sym typeface="Helvetica Neue"/>
              </a:defRPr>
            </a:lvl1pPr>
          </a:lstStyle>
          <a:p>
            <a:pPr/>
            <a:r>
              <a:t>πA = .50   πB = .50</a:t>
            </a:r>
          </a:p>
        </p:txBody>
      </p:sp>
      <p:sp>
        <p:nvSpPr>
          <p:cNvPr id="1572" name="TextBox 45"/>
          <p:cNvSpPr txBox="1"/>
          <p:nvPr/>
        </p:nvSpPr>
        <p:spPr>
          <a:xfrm>
            <a:off x="4315967" y="2990088"/>
            <a:ext cx="251460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A873"/>
                </a:solidFill>
                <a:latin typeface="Helvetica Neue"/>
                <a:ea typeface="Helvetica Neue"/>
                <a:cs typeface="Helvetica Neue"/>
                <a:sym typeface="Helvetica Neue"/>
              </a:defRPr>
            </a:lvl1pPr>
          </a:lstStyle>
          <a:p>
            <a:pPr/>
            <a:r>
              <a:t>2(.50)(.50) = 50%</a:t>
            </a:r>
          </a:p>
        </p:txBody>
      </p:sp>
      <p:sp>
        <p:nvSpPr>
          <p:cNvPr id="1573" name="TextBox 46"/>
          <p:cNvSpPr txBox="1"/>
          <p:nvPr/>
        </p:nvSpPr>
        <p:spPr>
          <a:xfrm>
            <a:off x="4315967" y="3566159"/>
            <a:ext cx="1005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OBSERVED</a:t>
            </a:r>
          </a:p>
        </p:txBody>
      </p:sp>
      <p:sp>
        <p:nvSpPr>
          <p:cNvPr id="1574" name="Oval 47"/>
          <p:cNvSpPr/>
          <p:nvPr/>
        </p:nvSpPr>
        <p:spPr>
          <a:xfrm>
            <a:off x="4315967"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75" name="Oval 48"/>
          <p:cNvSpPr/>
          <p:nvPr/>
        </p:nvSpPr>
        <p:spPr>
          <a:xfrm>
            <a:off x="4507991"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76" name="Oval 49"/>
          <p:cNvSpPr/>
          <p:nvPr/>
        </p:nvSpPr>
        <p:spPr>
          <a:xfrm>
            <a:off x="4700015"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77" name="Oval 50"/>
          <p:cNvSpPr/>
          <p:nvPr/>
        </p:nvSpPr>
        <p:spPr>
          <a:xfrm>
            <a:off x="4892040"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78" name="Oval 51"/>
          <p:cNvSpPr/>
          <p:nvPr/>
        </p:nvSpPr>
        <p:spPr>
          <a:xfrm>
            <a:off x="5084064"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79" name="Oval 52"/>
          <p:cNvSpPr/>
          <p:nvPr/>
        </p:nvSpPr>
        <p:spPr>
          <a:xfrm>
            <a:off x="5276088"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80" name="Oval 53"/>
          <p:cNvSpPr/>
          <p:nvPr/>
        </p:nvSpPr>
        <p:spPr>
          <a:xfrm>
            <a:off x="5468110"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81" name="Oval 54"/>
          <p:cNvSpPr/>
          <p:nvPr/>
        </p:nvSpPr>
        <p:spPr>
          <a:xfrm>
            <a:off x="5660135"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82" name="Oval 55"/>
          <p:cNvSpPr/>
          <p:nvPr/>
        </p:nvSpPr>
        <p:spPr>
          <a:xfrm>
            <a:off x="5852159"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83" name="Oval 56"/>
          <p:cNvSpPr/>
          <p:nvPr/>
        </p:nvSpPr>
        <p:spPr>
          <a:xfrm>
            <a:off x="6044183" y="3913632"/>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584" name="TextBox 57"/>
          <p:cNvSpPr txBox="1"/>
          <p:nvPr/>
        </p:nvSpPr>
        <p:spPr>
          <a:xfrm>
            <a:off x="4315967" y="4242815"/>
            <a:ext cx="2057403"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11318"/>
                </a:solidFill>
                <a:latin typeface="Helvetica Neue"/>
                <a:ea typeface="Helvetica Neue"/>
                <a:cs typeface="Helvetica Neue"/>
                <a:sym typeface="Helvetica Neue"/>
              </a:defRPr>
            </a:lvl1pPr>
          </a:lstStyle>
          <a:p>
            <a:pPr/>
            <a:r>
              <a:t>πA = .90   πB = .10</a:t>
            </a:r>
          </a:p>
        </p:txBody>
      </p:sp>
      <p:sp>
        <p:nvSpPr>
          <p:cNvPr id="1585" name="TextBox 58"/>
          <p:cNvSpPr txBox="1"/>
          <p:nvPr/>
        </p:nvSpPr>
        <p:spPr>
          <a:xfrm>
            <a:off x="4315967" y="4562854"/>
            <a:ext cx="251460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FF705B"/>
                </a:solidFill>
                <a:latin typeface="Helvetica Neue"/>
                <a:ea typeface="Helvetica Neue"/>
                <a:cs typeface="Helvetica Neue"/>
                <a:sym typeface="Helvetica Neue"/>
              </a:defRPr>
            </a:lvl1pPr>
          </a:lstStyle>
          <a:p>
            <a:pPr/>
            <a:r>
              <a:t>2(.90)(.10) = 18%</a:t>
            </a:r>
          </a:p>
        </p:txBody>
      </p:sp>
      <p:sp>
        <p:nvSpPr>
          <p:cNvPr id="1586" name="TextBox 59"/>
          <p:cNvSpPr txBox="1"/>
          <p:nvPr/>
        </p:nvSpPr>
        <p:spPr>
          <a:xfrm>
            <a:off x="6629400" y="3145533"/>
            <a:ext cx="1188720" cy="677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200">
                <a:solidFill>
                  <a:srgbClr val="111318"/>
                </a:solidFill>
                <a:latin typeface="Helvetica Neue"/>
                <a:ea typeface="Helvetica Neue"/>
                <a:cs typeface="Helvetica Neue"/>
                <a:sym typeface="Helvetica Neue"/>
              </a:defRPr>
            </a:lvl1pPr>
          </a:lstStyle>
          <a:p>
            <a:pPr/>
            <a:r>
              <a:t>50%  →  18%</a:t>
            </a:r>
          </a:p>
        </p:txBody>
      </p:sp>
      <p:sp>
        <p:nvSpPr>
          <p:cNvPr id="1587" name="TextBox 60"/>
          <p:cNvSpPr txBox="1"/>
          <p:nvPr/>
        </p:nvSpPr>
        <p:spPr>
          <a:xfrm>
            <a:off x="8193023" y="1572766"/>
            <a:ext cx="2377443"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THEN IT GETS MESSIER</a:t>
            </a:r>
          </a:p>
        </p:txBody>
      </p:sp>
      <p:sp>
        <p:nvSpPr>
          <p:cNvPr id="1588" name="TextBox 61"/>
          <p:cNvSpPr txBox="1"/>
          <p:nvPr/>
        </p:nvSpPr>
        <p:spPr>
          <a:xfrm>
            <a:off x="8229599" y="2039110"/>
            <a:ext cx="1051564"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FF705B"/>
                </a:solidFill>
                <a:latin typeface="Helvetica Neue"/>
                <a:ea typeface="Helvetica Neue"/>
                <a:cs typeface="Helvetica Neue"/>
                <a:sym typeface="Helvetica Neue"/>
              </a:defRPr>
            </a:lvl1pPr>
          </a:lstStyle>
          <a:p>
            <a:pPr/>
            <a:r>
              <a:t>PARTISAN</a:t>
            </a:r>
          </a:p>
        </p:txBody>
      </p:sp>
      <p:sp>
        <p:nvSpPr>
          <p:cNvPr id="1589" name="TextBox 62"/>
          <p:cNvSpPr txBox="1"/>
          <p:nvPr/>
        </p:nvSpPr>
        <p:spPr>
          <a:xfrm>
            <a:off x="8229599" y="2395727"/>
            <a:ext cx="1097284" cy="3312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100">
                <a:solidFill>
                  <a:srgbClr val="FF705B"/>
                </a:solidFill>
                <a:latin typeface="Helvetica Neue"/>
                <a:ea typeface="Helvetica Neue"/>
                <a:cs typeface="Helvetica Neue"/>
                <a:sym typeface="Helvetica Neue"/>
              </a:defRPr>
            </a:pPr>
            <a:r>
              <a:t>f</a:t>
            </a:r>
            <a:r>
              <a:rPr>
                <a:latin typeface="+mj-lt"/>
                <a:ea typeface="+mj-ea"/>
                <a:cs typeface="+mj-cs"/>
                <a:sym typeface="Calibri"/>
              </a:rPr>
              <a:t>ᵤ </a:t>
            </a:r>
            <a:r>
              <a:t>· fₙ</a:t>
            </a:r>
          </a:p>
        </p:txBody>
      </p:sp>
      <p:sp>
        <p:nvSpPr>
          <p:cNvPr id="1590" name="TextBox 63"/>
          <p:cNvSpPr txBox="1"/>
          <p:nvPr/>
        </p:nvSpPr>
        <p:spPr>
          <a:xfrm>
            <a:off x="9372600" y="2468877"/>
            <a:ext cx="1874518" cy="1860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111318"/>
                </a:solidFill>
                <a:latin typeface="Helvetica Neue"/>
                <a:ea typeface="Helvetica Neue"/>
                <a:cs typeface="Helvetica Neue"/>
                <a:sym typeface="Helvetica Neue"/>
              </a:defRPr>
            </a:lvl1pPr>
          </a:lstStyle>
          <a:p>
            <a:pPr/>
            <a:r>
              <a:t>changes the credit</a:t>
            </a:r>
          </a:p>
        </p:txBody>
      </p:sp>
      <p:sp>
        <p:nvSpPr>
          <p:cNvPr id="1591" name="TextBox 64"/>
          <p:cNvSpPr txBox="1"/>
          <p:nvPr/>
        </p:nvSpPr>
        <p:spPr>
          <a:xfrm>
            <a:off x="8229599" y="2852927"/>
            <a:ext cx="2880364"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FF705B"/>
                </a:solidFill>
                <a:latin typeface="Helvetica Neue"/>
                <a:ea typeface="Helvetica Neue"/>
                <a:cs typeface="Helvetica Neue"/>
                <a:sym typeface="Helvetica Neue"/>
              </a:defRPr>
            </a:pPr>
            <a:r>
              <a:t>• </a:t>
            </a:r>
            <a:r>
              <a:rPr b="0">
                <a:solidFill>
                  <a:srgbClr val="73777F"/>
                </a:solidFill>
              </a:rPr>
              <a:t>The same click is interpreted differently</a:t>
            </a:r>
          </a:p>
        </p:txBody>
      </p:sp>
      <p:sp>
        <p:nvSpPr>
          <p:cNvPr id="1592" name="Connector 65"/>
          <p:cNvSpPr/>
          <p:nvPr/>
        </p:nvSpPr>
        <p:spPr>
          <a:xfrm>
            <a:off x="8229599" y="3328415"/>
            <a:ext cx="3035811" cy="3"/>
          </a:xfrm>
          <a:prstGeom prst="line">
            <a:avLst/>
          </a:prstGeom>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93" name="TextBox 66"/>
          <p:cNvSpPr txBox="1"/>
          <p:nvPr/>
        </p:nvSpPr>
        <p:spPr>
          <a:xfrm>
            <a:off x="8229599" y="3639310"/>
            <a:ext cx="1051564"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3977F6"/>
                </a:solidFill>
                <a:latin typeface="Helvetica Neue"/>
                <a:ea typeface="Helvetica Neue"/>
                <a:cs typeface="Helvetica Neue"/>
                <a:sym typeface="Helvetica Neue"/>
              </a:defRPr>
            </a:lvl1pPr>
          </a:lstStyle>
          <a:p>
            <a:pPr/>
            <a:r>
              <a:t>ACTIVITY</a:t>
            </a:r>
          </a:p>
        </p:txBody>
      </p:sp>
      <p:sp>
        <p:nvSpPr>
          <p:cNvPr id="1594" name="TextBox 67"/>
          <p:cNvSpPr txBox="1"/>
          <p:nvPr/>
        </p:nvSpPr>
        <p:spPr>
          <a:xfrm>
            <a:off x="8229599" y="3968496"/>
            <a:ext cx="502923"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3977F6"/>
                </a:solidFill>
                <a:latin typeface="Helvetica Neue"/>
                <a:ea typeface="Helvetica Neue"/>
                <a:cs typeface="Helvetica Neue"/>
                <a:sym typeface="Helvetica Neue"/>
              </a:defRPr>
            </a:lvl1pPr>
          </a:lstStyle>
          <a:p>
            <a:pPr/>
            <a:r>
              <a:t>πg</a:t>
            </a:r>
          </a:p>
        </p:txBody>
      </p:sp>
      <p:sp>
        <p:nvSpPr>
          <p:cNvPr id="1595" name="TextBox 68"/>
          <p:cNvSpPr txBox="1"/>
          <p:nvPr/>
        </p:nvSpPr>
        <p:spPr>
          <a:xfrm>
            <a:off x="8732518" y="4041647"/>
            <a:ext cx="2487171"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111318"/>
                </a:solidFill>
                <a:latin typeface="Helvetica Neue"/>
                <a:ea typeface="Helvetica Neue"/>
                <a:cs typeface="Helvetica Neue"/>
                <a:sym typeface="Helvetica Neue"/>
              </a:defRPr>
            </a:lvl1pPr>
          </a:lstStyle>
          <a:p>
            <a:pPr/>
            <a:r>
              <a:t>follows ratings—not people</a:t>
            </a:r>
          </a:p>
        </p:txBody>
      </p:sp>
      <p:sp>
        <p:nvSpPr>
          <p:cNvPr id="1596" name="TextBox 69"/>
          <p:cNvSpPr txBox="1"/>
          <p:nvPr/>
        </p:nvSpPr>
        <p:spPr>
          <a:xfrm>
            <a:off x="8229600" y="4443984"/>
            <a:ext cx="2834640"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3977F6"/>
                </a:solidFill>
                <a:latin typeface="Helvetica Neue"/>
                <a:ea typeface="Helvetica Neue"/>
                <a:cs typeface="Helvetica Neue"/>
                <a:sym typeface="Helvetica Neue"/>
              </a:defRPr>
            </a:pPr>
            <a:r>
              <a:t>• </a:t>
            </a:r>
            <a:r>
              <a:rPr b="0">
                <a:solidFill>
                  <a:srgbClr val="73777F"/>
                </a:solidFill>
              </a:rPr>
              <a:t>Active users represent each side</a:t>
            </a:r>
          </a:p>
        </p:txBody>
      </p:sp>
      <p:sp>
        <p:nvSpPr>
          <p:cNvPr id="1597" name="Connector 70"/>
          <p:cNvSpPr/>
          <p:nvPr/>
        </p:nvSpPr>
        <p:spPr>
          <a:xfrm>
            <a:off x="749806" y="5230367"/>
            <a:ext cx="10680196" cy="3"/>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598" name="TextBox 71"/>
          <p:cNvSpPr txBox="1"/>
          <p:nvPr/>
        </p:nvSpPr>
        <p:spPr>
          <a:xfrm>
            <a:off x="2944366" y="5522976"/>
            <a:ext cx="6355084"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700">
                <a:solidFill>
                  <a:srgbClr val="1FA873"/>
                </a:solidFill>
                <a:latin typeface="Helvetica Neue"/>
                <a:ea typeface="Helvetica Neue"/>
                <a:cs typeface="Helvetica Neue"/>
                <a:sym typeface="Helvetica Neue"/>
              </a:defRPr>
            </a:pPr>
            <a:r>
              <a:t>• </a:t>
            </a:r>
            <a:r>
              <a:rPr>
                <a:solidFill>
                  <a:srgbClr val="111318"/>
                </a:solidFill>
              </a:rPr>
              <a:t>Keep consent. Make representation explicit.</a:t>
            </a:r>
          </a:p>
        </p:txBody>
      </p:sp>
      <p:sp>
        <p:nvSpPr>
          <p:cNvPr id="1599" name="TextBox 72"/>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Toy illustration—not the Community Notes scoring formula; Buterin (2023); Wojcik et al. (2022); Nudo et al. (2026)</a:t>
            </a:r>
          </a:p>
        </p:txBody>
      </p:sp>
      <p:sp>
        <p:nvSpPr>
          <p:cNvPr id="1600" name="Oval 21"/>
          <p:cNvSpPr/>
          <p:nvPr/>
        </p:nvSpPr>
        <p:spPr>
          <a:xfrm>
            <a:off x="2884696" y="2514599"/>
            <a:ext cx="201173" cy="201173"/>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01" name="Connector 22"/>
          <p:cNvSpPr/>
          <p:nvPr/>
        </p:nvSpPr>
        <p:spPr>
          <a:xfrm>
            <a:off x="2925845" y="2624327"/>
            <a:ext cx="45723" cy="45723"/>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02" name="Connector 23"/>
          <p:cNvSpPr/>
          <p:nvPr/>
        </p:nvSpPr>
        <p:spPr>
          <a:xfrm flipV="1">
            <a:off x="2971563" y="2569464"/>
            <a:ext cx="82299" cy="100587"/>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03" name="Connector 27"/>
          <p:cNvSpPr/>
          <p:nvPr/>
        </p:nvSpPr>
        <p:spPr>
          <a:xfrm>
            <a:off x="3134853" y="2615119"/>
            <a:ext cx="192028" cy="3"/>
          </a:xfrm>
          <a:prstGeom prst="line">
            <a:avLst/>
          </a:prstGeom>
          <a:ln w="16510">
            <a:solidFill>
              <a:srgbClr val="EE7963"/>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04" name="Rectangle"/>
          <p:cNvSpPr/>
          <p:nvPr/>
        </p:nvSpPr>
        <p:spPr>
          <a:xfrm>
            <a:off x="3742044" y="1460622"/>
            <a:ext cx="8005738" cy="3644146"/>
          </a:xfrm>
          <a:prstGeom prst="rect">
            <a:avLst/>
          </a:prstGeom>
          <a:solidFill>
            <a:srgbClr val="FFFFFF"/>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6" name="TextBox 1"/>
          <p:cNvSpPr txBox="1"/>
          <p:nvPr/>
        </p:nvSpPr>
        <p:spPr>
          <a:xfrm>
            <a:off x="603501" y="420623"/>
            <a:ext cx="4389125"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BRIDGING, REFRAMED</a:t>
            </a:r>
          </a:p>
        </p:txBody>
      </p:sp>
      <p:sp>
        <p:nvSpPr>
          <p:cNvPr id="1607"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The handshake is right. The electorate is not.</a:t>
            </a:r>
          </a:p>
        </p:txBody>
      </p:sp>
      <p:sp>
        <p:nvSpPr>
          <p:cNvPr id="1608" name="TextBox 3"/>
          <p:cNvSpPr txBox="1"/>
          <p:nvPr/>
        </p:nvSpPr>
        <p:spPr>
          <a:xfrm>
            <a:off x="11082528" y="457198"/>
            <a:ext cx="438915"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06</a:t>
            </a:r>
          </a:p>
        </p:txBody>
      </p:sp>
      <p:sp>
        <p:nvSpPr>
          <p:cNvPr id="1609" name="Connector 4"/>
          <p:cNvSpPr/>
          <p:nvPr/>
        </p:nvSpPr>
        <p:spPr>
          <a:xfrm flipH="1">
            <a:off x="4005071" y="1554478"/>
            <a:ext cx="3" cy="3456436"/>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10" name="Connector 5"/>
          <p:cNvSpPr/>
          <p:nvPr/>
        </p:nvSpPr>
        <p:spPr>
          <a:xfrm>
            <a:off x="8010142" y="1554478"/>
            <a:ext cx="3" cy="3456436"/>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11" name="TextBox 6"/>
          <p:cNvSpPr txBox="1"/>
          <p:nvPr/>
        </p:nvSpPr>
        <p:spPr>
          <a:xfrm>
            <a:off x="768094" y="1572766"/>
            <a:ext cx="1645924"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GOOD INSTINCT</a:t>
            </a:r>
          </a:p>
        </p:txBody>
      </p:sp>
      <p:sp>
        <p:nvSpPr>
          <p:cNvPr id="1612" name="Oval 7"/>
          <p:cNvSpPr/>
          <p:nvPr/>
        </p:nvSpPr>
        <p:spPr>
          <a:xfrm>
            <a:off x="960119" y="2240277"/>
            <a:ext cx="164597" cy="16459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13" name="Connector 8"/>
          <p:cNvSpPr/>
          <p:nvPr/>
        </p:nvSpPr>
        <p:spPr>
          <a:xfrm>
            <a:off x="1042413" y="2404872"/>
            <a:ext cx="3" cy="271579"/>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14" name="Connector 9"/>
          <p:cNvSpPr/>
          <p:nvPr/>
        </p:nvSpPr>
        <p:spPr>
          <a:xfrm>
            <a:off x="927199" y="2520083"/>
            <a:ext cx="230432" cy="3"/>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15" name="Connector 10"/>
          <p:cNvSpPr/>
          <p:nvPr/>
        </p:nvSpPr>
        <p:spPr>
          <a:xfrm flipH="1">
            <a:off x="935430" y="2676448"/>
            <a:ext cx="106988" cy="172825"/>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16" name="Connector 11"/>
          <p:cNvSpPr/>
          <p:nvPr/>
        </p:nvSpPr>
        <p:spPr>
          <a:xfrm>
            <a:off x="1042416" y="2676448"/>
            <a:ext cx="106987" cy="172825"/>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17" name="Oval 12"/>
          <p:cNvSpPr/>
          <p:nvPr/>
        </p:nvSpPr>
        <p:spPr>
          <a:xfrm>
            <a:off x="3502150" y="2215624"/>
            <a:ext cx="164597" cy="16459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18" name="Connector 13"/>
          <p:cNvSpPr/>
          <p:nvPr/>
        </p:nvSpPr>
        <p:spPr>
          <a:xfrm>
            <a:off x="3584447" y="2380214"/>
            <a:ext cx="3" cy="271579"/>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19" name="Connector 14"/>
          <p:cNvSpPr/>
          <p:nvPr/>
        </p:nvSpPr>
        <p:spPr>
          <a:xfrm>
            <a:off x="3469232" y="2495430"/>
            <a:ext cx="230432" cy="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20" name="Connector 15"/>
          <p:cNvSpPr/>
          <p:nvPr/>
        </p:nvSpPr>
        <p:spPr>
          <a:xfrm flipH="1">
            <a:off x="3477462" y="2651792"/>
            <a:ext cx="106988" cy="172825"/>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21" name="Connector 16"/>
          <p:cNvSpPr/>
          <p:nvPr/>
        </p:nvSpPr>
        <p:spPr>
          <a:xfrm>
            <a:off x="3584447" y="2651792"/>
            <a:ext cx="106987" cy="172825"/>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22" name="Rounded Rectangle 17"/>
          <p:cNvSpPr/>
          <p:nvPr/>
        </p:nvSpPr>
        <p:spPr>
          <a:xfrm>
            <a:off x="1856231" y="2011677"/>
            <a:ext cx="960123" cy="1298451"/>
          </a:xfrm>
          <a:prstGeom prst="roundRect">
            <a:avLst>
              <a:gd name="adj" fmla="val 16667"/>
            </a:avLst>
          </a:prstGeom>
          <a:ln w="1397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23" name="Connector 18"/>
          <p:cNvSpPr/>
          <p:nvPr/>
        </p:nvSpPr>
        <p:spPr>
          <a:xfrm>
            <a:off x="2075687" y="2450592"/>
            <a:ext cx="521209" cy="3"/>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24" name="Connector 19"/>
          <p:cNvSpPr/>
          <p:nvPr/>
        </p:nvSpPr>
        <p:spPr>
          <a:xfrm>
            <a:off x="2075687" y="2761488"/>
            <a:ext cx="393196" cy="3"/>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25" name="Connector 20"/>
          <p:cNvSpPr/>
          <p:nvPr/>
        </p:nvSpPr>
        <p:spPr>
          <a:xfrm>
            <a:off x="2075687" y="3072383"/>
            <a:ext cx="484636" cy="3"/>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26" name="Oval 21"/>
          <p:cNvSpPr/>
          <p:nvPr/>
        </p:nvSpPr>
        <p:spPr>
          <a:xfrm>
            <a:off x="1572766" y="2514599"/>
            <a:ext cx="201173" cy="201173"/>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27" name="Connector 22"/>
          <p:cNvSpPr/>
          <p:nvPr/>
        </p:nvSpPr>
        <p:spPr>
          <a:xfrm>
            <a:off x="1613916" y="2624327"/>
            <a:ext cx="45723" cy="45723"/>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28" name="Connector 23"/>
          <p:cNvSpPr/>
          <p:nvPr/>
        </p:nvSpPr>
        <p:spPr>
          <a:xfrm flipV="1">
            <a:off x="1659633" y="2569464"/>
            <a:ext cx="82299" cy="100587"/>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29" name="Connector 27"/>
          <p:cNvSpPr/>
          <p:nvPr/>
        </p:nvSpPr>
        <p:spPr>
          <a:xfrm>
            <a:off x="1344166" y="2615183"/>
            <a:ext cx="192027" cy="3"/>
          </a:xfrm>
          <a:prstGeom prst="line">
            <a:avLst/>
          </a:prstGeom>
          <a:ln w="1651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30" name="TextBox 30"/>
          <p:cNvSpPr txBox="1"/>
          <p:nvPr/>
        </p:nvSpPr>
        <p:spPr>
          <a:xfrm>
            <a:off x="941830" y="3675886"/>
            <a:ext cx="2834645"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100">
                <a:solidFill>
                  <a:srgbClr val="1FA873"/>
                </a:solidFill>
                <a:latin typeface="Helvetica Neue"/>
                <a:ea typeface="Helvetica Neue"/>
                <a:cs typeface="Helvetica Neue"/>
                <a:sym typeface="Helvetica Neue"/>
              </a:defRPr>
            </a:lvl1pPr>
          </a:lstStyle>
          <a:p>
            <a:pPr/>
            <a:r>
              <a:t>ENEMIES SHAKE HANDS</a:t>
            </a:r>
          </a:p>
        </p:txBody>
      </p:sp>
      <p:sp>
        <p:nvSpPr>
          <p:cNvPr id="1631" name="TextBox 31"/>
          <p:cNvSpPr txBox="1"/>
          <p:nvPr/>
        </p:nvSpPr>
        <p:spPr>
          <a:xfrm>
            <a:off x="859536" y="4315967"/>
            <a:ext cx="2971801"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FA873"/>
                </a:solidFill>
                <a:latin typeface="Helvetica Neue"/>
                <a:ea typeface="Helvetica Neue"/>
                <a:cs typeface="Helvetica Neue"/>
                <a:sym typeface="Helvetica Neue"/>
              </a:defRPr>
            </a:pPr>
            <a:r>
              <a:t>• </a:t>
            </a:r>
            <a:r>
              <a:rPr>
                <a:solidFill>
                  <a:srgbClr val="111318"/>
                </a:solidFill>
              </a:rPr>
              <a:t>Cross-group agreement is valuable</a:t>
            </a:r>
          </a:p>
        </p:txBody>
      </p:sp>
      <p:sp>
        <p:nvSpPr>
          <p:cNvPr id="1632" name="TextBox 32"/>
          <p:cNvSpPr txBox="1"/>
          <p:nvPr/>
        </p:nvSpPr>
        <p:spPr>
          <a:xfrm>
            <a:off x="4261103" y="1572766"/>
            <a:ext cx="1920241"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SELECTION BALANCE</a:t>
            </a:r>
          </a:p>
        </p:txBody>
      </p:sp>
      <p:sp>
        <p:nvSpPr>
          <p:cNvPr id="1633" name="TextBox 33"/>
          <p:cNvSpPr txBox="1"/>
          <p:nvPr/>
        </p:nvSpPr>
        <p:spPr>
          <a:xfrm>
            <a:off x="4315967" y="1993392"/>
            <a:ext cx="1005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BALANCED</a:t>
            </a:r>
          </a:p>
        </p:txBody>
      </p:sp>
      <p:sp>
        <p:nvSpPr>
          <p:cNvPr id="1634" name="Oval 34"/>
          <p:cNvSpPr/>
          <p:nvPr/>
        </p:nvSpPr>
        <p:spPr>
          <a:xfrm>
            <a:off x="4315967"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35" name="Oval 35"/>
          <p:cNvSpPr/>
          <p:nvPr/>
        </p:nvSpPr>
        <p:spPr>
          <a:xfrm>
            <a:off x="4507991"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36" name="Oval 36"/>
          <p:cNvSpPr/>
          <p:nvPr/>
        </p:nvSpPr>
        <p:spPr>
          <a:xfrm>
            <a:off x="4700015"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37" name="Oval 37"/>
          <p:cNvSpPr/>
          <p:nvPr/>
        </p:nvSpPr>
        <p:spPr>
          <a:xfrm>
            <a:off x="4892040"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38" name="Oval 38"/>
          <p:cNvSpPr/>
          <p:nvPr/>
        </p:nvSpPr>
        <p:spPr>
          <a:xfrm>
            <a:off x="5084064"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39" name="Oval 39"/>
          <p:cNvSpPr/>
          <p:nvPr/>
        </p:nvSpPr>
        <p:spPr>
          <a:xfrm>
            <a:off x="5276088"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40" name="Oval 40"/>
          <p:cNvSpPr/>
          <p:nvPr/>
        </p:nvSpPr>
        <p:spPr>
          <a:xfrm>
            <a:off x="5468110"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41" name="Oval 41"/>
          <p:cNvSpPr/>
          <p:nvPr/>
        </p:nvSpPr>
        <p:spPr>
          <a:xfrm>
            <a:off x="5660135"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42" name="Oval 42"/>
          <p:cNvSpPr/>
          <p:nvPr/>
        </p:nvSpPr>
        <p:spPr>
          <a:xfrm>
            <a:off x="5852159"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43" name="Oval 43"/>
          <p:cNvSpPr/>
          <p:nvPr/>
        </p:nvSpPr>
        <p:spPr>
          <a:xfrm>
            <a:off x="6044183"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44" name="TextBox 44"/>
          <p:cNvSpPr txBox="1"/>
          <p:nvPr/>
        </p:nvSpPr>
        <p:spPr>
          <a:xfrm>
            <a:off x="4315967" y="2670048"/>
            <a:ext cx="2057403"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11318"/>
                </a:solidFill>
                <a:latin typeface="Helvetica Neue"/>
                <a:ea typeface="Helvetica Neue"/>
                <a:cs typeface="Helvetica Neue"/>
                <a:sym typeface="Helvetica Neue"/>
              </a:defRPr>
            </a:lvl1pPr>
          </a:lstStyle>
          <a:p>
            <a:pPr/>
            <a:r>
              <a:t>πA = .50   πB = .50</a:t>
            </a:r>
          </a:p>
        </p:txBody>
      </p:sp>
      <p:sp>
        <p:nvSpPr>
          <p:cNvPr id="1645" name="TextBox 45"/>
          <p:cNvSpPr txBox="1"/>
          <p:nvPr/>
        </p:nvSpPr>
        <p:spPr>
          <a:xfrm>
            <a:off x="4315967" y="2990088"/>
            <a:ext cx="251460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A873"/>
                </a:solidFill>
                <a:latin typeface="Helvetica Neue"/>
                <a:ea typeface="Helvetica Neue"/>
                <a:cs typeface="Helvetica Neue"/>
                <a:sym typeface="Helvetica Neue"/>
              </a:defRPr>
            </a:lvl1pPr>
          </a:lstStyle>
          <a:p>
            <a:pPr/>
            <a:r>
              <a:t>2(.50)(.50) = 50%</a:t>
            </a:r>
          </a:p>
        </p:txBody>
      </p:sp>
      <p:sp>
        <p:nvSpPr>
          <p:cNvPr id="1646" name="TextBox 46"/>
          <p:cNvSpPr txBox="1"/>
          <p:nvPr/>
        </p:nvSpPr>
        <p:spPr>
          <a:xfrm>
            <a:off x="4315967" y="3566159"/>
            <a:ext cx="1005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OBSERVED</a:t>
            </a:r>
          </a:p>
        </p:txBody>
      </p:sp>
      <p:sp>
        <p:nvSpPr>
          <p:cNvPr id="1647" name="Oval 47"/>
          <p:cNvSpPr/>
          <p:nvPr/>
        </p:nvSpPr>
        <p:spPr>
          <a:xfrm>
            <a:off x="4315967"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48" name="Oval 48"/>
          <p:cNvSpPr/>
          <p:nvPr/>
        </p:nvSpPr>
        <p:spPr>
          <a:xfrm>
            <a:off x="4507991"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49" name="Oval 49"/>
          <p:cNvSpPr/>
          <p:nvPr/>
        </p:nvSpPr>
        <p:spPr>
          <a:xfrm>
            <a:off x="4700015"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50" name="Oval 50"/>
          <p:cNvSpPr/>
          <p:nvPr/>
        </p:nvSpPr>
        <p:spPr>
          <a:xfrm>
            <a:off x="4892040"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51" name="Oval 51"/>
          <p:cNvSpPr/>
          <p:nvPr/>
        </p:nvSpPr>
        <p:spPr>
          <a:xfrm>
            <a:off x="5084064"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52" name="Oval 52"/>
          <p:cNvSpPr/>
          <p:nvPr/>
        </p:nvSpPr>
        <p:spPr>
          <a:xfrm>
            <a:off x="5276088"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53" name="Oval 53"/>
          <p:cNvSpPr/>
          <p:nvPr/>
        </p:nvSpPr>
        <p:spPr>
          <a:xfrm>
            <a:off x="5468110"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54" name="Oval 54"/>
          <p:cNvSpPr/>
          <p:nvPr/>
        </p:nvSpPr>
        <p:spPr>
          <a:xfrm>
            <a:off x="5660135"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55" name="Oval 55"/>
          <p:cNvSpPr/>
          <p:nvPr/>
        </p:nvSpPr>
        <p:spPr>
          <a:xfrm>
            <a:off x="5852159"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56" name="Oval 56"/>
          <p:cNvSpPr/>
          <p:nvPr/>
        </p:nvSpPr>
        <p:spPr>
          <a:xfrm>
            <a:off x="6044183" y="3913632"/>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57" name="TextBox 57"/>
          <p:cNvSpPr txBox="1"/>
          <p:nvPr/>
        </p:nvSpPr>
        <p:spPr>
          <a:xfrm>
            <a:off x="4315967" y="4242815"/>
            <a:ext cx="2057403"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11318"/>
                </a:solidFill>
                <a:latin typeface="Helvetica Neue"/>
                <a:ea typeface="Helvetica Neue"/>
                <a:cs typeface="Helvetica Neue"/>
                <a:sym typeface="Helvetica Neue"/>
              </a:defRPr>
            </a:lvl1pPr>
          </a:lstStyle>
          <a:p>
            <a:pPr/>
            <a:r>
              <a:t>πA = .90   πB = .10</a:t>
            </a:r>
          </a:p>
        </p:txBody>
      </p:sp>
      <p:sp>
        <p:nvSpPr>
          <p:cNvPr id="1658" name="TextBox 58"/>
          <p:cNvSpPr txBox="1"/>
          <p:nvPr/>
        </p:nvSpPr>
        <p:spPr>
          <a:xfrm>
            <a:off x="4315967" y="4562854"/>
            <a:ext cx="251460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FF705B"/>
                </a:solidFill>
                <a:latin typeface="Helvetica Neue"/>
                <a:ea typeface="Helvetica Neue"/>
                <a:cs typeface="Helvetica Neue"/>
                <a:sym typeface="Helvetica Neue"/>
              </a:defRPr>
            </a:lvl1pPr>
          </a:lstStyle>
          <a:p>
            <a:pPr/>
            <a:r>
              <a:t>2(.90)(.10) = 18%</a:t>
            </a:r>
          </a:p>
        </p:txBody>
      </p:sp>
      <p:sp>
        <p:nvSpPr>
          <p:cNvPr id="1659" name="TextBox 59"/>
          <p:cNvSpPr txBox="1"/>
          <p:nvPr/>
        </p:nvSpPr>
        <p:spPr>
          <a:xfrm>
            <a:off x="6629400" y="3145533"/>
            <a:ext cx="1188720" cy="677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200">
                <a:solidFill>
                  <a:srgbClr val="111318"/>
                </a:solidFill>
                <a:latin typeface="Helvetica Neue"/>
                <a:ea typeface="Helvetica Neue"/>
                <a:cs typeface="Helvetica Neue"/>
                <a:sym typeface="Helvetica Neue"/>
              </a:defRPr>
            </a:lvl1pPr>
          </a:lstStyle>
          <a:p>
            <a:pPr/>
            <a:r>
              <a:t>50%  →  18%</a:t>
            </a:r>
          </a:p>
        </p:txBody>
      </p:sp>
      <p:sp>
        <p:nvSpPr>
          <p:cNvPr id="1660" name="TextBox 60"/>
          <p:cNvSpPr txBox="1"/>
          <p:nvPr/>
        </p:nvSpPr>
        <p:spPr>
          <a:xfrm>
            <a:off x="8193023" y="1572766"/>
            <a:ext cx="2377443"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THEN IT GETS MESSIER</a:t>
            </a:r>
          </a:p>
        </p:txBody>
      </p:sp>
      <p:sp>
        <p:nvSpPr>
          <p:cNvPr id="1661" name="TextBox 61"/>
          <p:cNvSpPr txBox="1"/>
          <p:nvPr/>
        </p:nvSpPr>
        <p:spPr>
          <a:xfrm>
            <a:off x="8229599" y="2039110"/>
            <a:ext cx="1051564"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FF705B"/>
                </a:solidFill>
                <a:latin typeface="Helvetica Neue"/>
                <a:ea typeface="Helvetica Neue"/>
                <a:cs typeface="Helvetica Neue"/>
                <a:sym typeface="Helvetica Neue"/>
              </a:defRPr>
            </a:lvl1pPr>
          </a:lstStyle>
          <a:p>
            <a:pPr/>
            <a:r>
              <a:t>PARTISAN</a:t>
            </a:r>
          </a:p>
        </p:txBody>
      </p:sp>
      <p:sp>
        <p:nvSpPr>
          <p:cNvPr id="1662" name="TextBox 62"/>
          <p:cNvSpPr txBox="1"/>
          <p:nvPr/>
        </p:nvSpPr>
        <p:spPr>
          <a:xfrm>
            <a:off x="8229600" y="2395727"/>
            <a:ext cx="1097281" cy="3312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100">
                <a:solidFill>
                  <a:srgbClr val="FF705B"/>
                </a:solidFill>
                <a:latin typeface="Helvetica Neue"/>
                <a:ea typeface="Helvetica Neue"/>
                <a:cs typeface="Helvetica Neue"/>
                <a:sym typeface="Helvetica Neue"/>
              </a:defRPr>
            </a:pPr>
            <a:r>
              <a:t>f</a:t>
            </a:r>
            <a:r>
              <a:rPr>
                <a:latin typeface="+mj-lt"/>
                <a:ea typeface="+mj-ea"/>
                <a:cs typeface="+mj-cs"/>
                <a:sym typeface="Calibri"/>
              </a:rPr>
              <a:t>ᵤ </a:t>
            </a:r>
            <a:r>
              <a:t>· fₙ</a:t>
            </a:r>
          </a:p>
        </p:txBody>
      </p:sp>
      <p:sp>
        <p:nvSpPr>
          <p:cNvPr id="1663" name="TextBox 63"/>
          <p:cNvSpPr txBox="1"/>
          <p:nvPr/>
        </p:nvSpPr>
        <p:spPr>
          <a:xfrm>
            <a:off x="9372600" y="2468877"/>
            <a:ext cx="1874518" cy="1860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111318"/>
                </a:solidFill>
                <a:latin typeface="Helvetica Neue"/>
                <a:ea typeface="Helvetica Neue"/>
                <a:cs typeface="Helvetica Neue"/>
                <a:sym typeface="Helvetica Neue"/>
              </a:defRPr>
            </a:lvl1pPr>
          </a:lstStyle>
          <a:p>
            <a:pPr/>
            <a:r>
              <a:t>changes the credit</a:t>
            </a:r>
          </a:p>
        </p:txBody>
      </p:sp>
      <p:sp>
        <p:nvSpPr>
          <p:cNvPr id="1664" name="TextBox 64"/>
          <p:cNvSpPr txBox="1"/>
          <p:nvPr/>
        </p:nvSpPr>
        <p:spPr>
          <a:xfrm>
            <a:off x="8229599" y="2852927"/>
            <a:ext cx="2880364"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FF705B"/>
                </a:solidFill>
                <a:latin typeface="Helvetica Neue"/>
                <a:ea typeface="Helvetica Neue"/>
                <a:cs typeface="Helvetica Neue"/>
                <a:sym typeface="Helvetica Neue"/>
              </a:defRPr>
            </a:pPr>
            <a:r>
              <a:t>• </a:t>
            </a:r>
            <a:r>
              <a:rPr b="0">
                <a:solidFill>
                  <a:srgbClr val="73777F"/>
                </a:solidFill>
              </a:rPr>
              <a:t>The same click is interpreted differently</a:t>
            </a:r>
          </a:p>
        </p:txBody>
      </p:sp>
      <p:sp>
        <p:nvSpPr>
          <p:cNvPr id="1665" name="Connector 65"/>
          <p:cNvSpPr/>
          <p:nvPr/>
        </p:nvSpPr>
        <p:spPr>
          <a:xfrm>
            <a:off x="8229599" y="3328415"/>
            <a:ext cx="3035812" cy="3"/>
          </a:xfrm>
          <a:prstGeom prst="line">
            <a:avLst/>
          </a:prstGeom>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66" name="TextBox 66"/>
          <p:cNvSpPr txBox="1"/>
          <p:nvPr/>
        </p:nvSpPr>
        <p:spPr>
          <a:xfrm>
            <a:off x="8229599" y="3639310"/>
            <a:ext cx="1051564"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3977F6"/>
                </a:solidFill>
                <a:latin typeface="Helvetica Neue"/>
                <a:ea typeface="Helvetica Neue"/>
                <a:cs typeface="Helvetica Neue"/>
                <a:sym typeface="Helvetica Neue"/>
              </a:defRPr>
            </a:lvl1pPr>
          </a:lstStyle>
          <a:p>
            <a:pPr/>
            <a:r>
              <a:t>ACTIVITY</a:t>
            </a:r>
          </a:p>
        </p:txBody>
      </p:sp>
      <p:sp>
        <p:nvSpPr>
          <p:cNvPr id="1667" name="TextBox 67"/>
          <p:cNvSpPr txBox="1"/>
          <p:nvPr/>
        </p:nvSpPr>
        <p:spPr>
          <a:xfrm>
            <a:off x="8229599" y="3968496"/>
            <a:ext cx="502922"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3977F6"/>
                </a:solidFill>
                <a:latin typeface="Helvetica Neue"/>
                <a:ea typeface="Helvetica Neue"/>
                <a:cs typeface="Helvetica Neue"/>
                <a:sym typeface="Helvetica Neue"/>
              </a:defRPr>
            </a:lvl1pPr>
          </a:lstStyle>
          <a:p>
            <a:pPr/>
            <a:r>
              <a:t>πg</a:t>
            </a:r>
          </a:p>
        </p:txBody>
      </p:sp>
      <p:sp>
        <p:nvSpPr>
          <p:cNvPr id="1668" name="TextBox 68"/>
          <p:cNvSpPr txBox="1"/>
          <p:nvPr/>
        </p:nvSpPr>
        <p:spPr>
          <a:xfrm>
            <a:off x="8732518" y="4041647"/>
            <a:ext cx="2487171"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111318"/>
                </a:solidFill>
                <a:latin typeface="Helvetica Neue"/>
                <a:ea typeface="Helvetica Neue"/>
                <a:cs typeface="Helvetica Neue"/>
                <a:sym typeface="Helvetica Neue"/>
              </a:defRPr>
            </a:lvl1pPr>
          </a:lstStyle>
          <a:p>
            <a:pPr/>
            <a:r>
              <a:t>follows ratings—not people</a:t>
            </a:r>
          </a:p>
        </p:txBody>
      </p:sp>
      <p:sp>
        <p:nvSpPr>
          <p:cNvPr id="1669" name="TextBox 69"/>
          <p:cNvSpPr txBox="1"/>
          <p:nvPr/>
        </p:nvSpPr>
        <p:spPr>
          <a:xfrm>
            <a:off x="8229600" y="4443984"/>
            <a:ext cx="2834640"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3977F6"/>
                </a:solidFill>
                <a:latin typeface="Helvetica Neue"/>
                <a:ea typeface="Helvetica Neue"/>
                <a:cs typeface="Helvetica Neue"/>
                <a:sym typeface="Helvetica Neue"/>
              </a:defRPr>
            </a:pPr>
            <a:r>
              <a:t>• </a:t>
            </a:r>
            <a:r>
              <a:rPr b="0">
                <a:solidFill>
                  <a:srgbClr val="73777F"/>
                </a:solidFill>
              </a:rPr>
              <a:t>Active users represent each side</a:t>
            </a:r>
          </a:p>
        </p:txBody>
      </p:sp>
      <p:sp>
        <p:nvSpPr>
          <p:cNvPr id="1670" name="Connector 70"/>
          <p:cNvSpPr/>
          <p:nvPr/>
        </p:nvSpPr>
        <p:spPr>
          <a:xfrm>
            <a:off x="749806" y="5230367"/>
            <a:ext cx="10680196" cy="3"/>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71" name="TextBox 71"/>
          <p:cNvSpPr txBox="1"/>
          <p:nvPr/>
        </p:nvSpPr>
        <p:spPr>
          <a:xfrm>
            <a:off x="2944366" y="5522976"/>
            <a:ext cx="6355084"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700">
                <a:solidFill>
                  <a:srgbClr val="1FA873"/>
                </a:solidFill>
                <a:latin typeface="Helvetica Neue"/>
                <a:ea typeface="Helvetica Neue"/>
                <a:cs typeface="Helvetica Neue"/>
                <a:sym typeface="Helvetica Neue"/>
              </a:defRPr>
            </a:pPr>
            <a:r>
              <a:t>• </a:t>
            </a:r>
            <a:r>
              <a:rPr>
                <a:solidFill>
                  <a:srgbClr val="111318"/>
                </a:solidFill>
              </a:rPr>
              <a:t>Keep consent. Make representation explicit.</a:t>
            </a:r>
          </a:p>
        </p:txBody>
      </p:sp>
      <p:sp>
        <p:nvSpPr>
          <p:cNvPr id="1672" name="TextBox 72"/>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Toy illustration—not the Community Notes scoring formula; Buterin (2023); Wojcik et al. (2022); Nudo et al. (2026)</a:t>
            </a:r>
          </a:p>
        </p:txBody>
      </p:sp>
      <p:sp>
        <p:nvSpPr>
          <p:cNvPr id="1673" name="Oval 21"/>
          <p:cNvSpPr/>
          <p:nvPr/>
        </p:nvSpPr>
        <p:spPr>
          <a:xfrm>
            <a:off x="2884696" y="2514599"/>
            <a:ext cx="201173" cy="201173"/>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74" name="Connector 22"/>
          <p:cNvSpPr/>
          <p:nvPr/>
        </p:nvSpPr>
        <p:spPr>
          <a:xfrm>
            <a:off x="2925845" y="2624327"/>
            <a:ext cx="45723" cy="45723"/>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75" name="Connector 23"/>
          <p:cNvSpPr/>
          <p:nvPr/>
        </p:nvSpPr>
        <p:spPr>
          <a:xfrm flipV="1">
            <a:off x="2971563" y="2569464"/>
            <a:ext cx="82299" cy="100587"/>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76" name="Connector 27"/>
          <p:cNvSpPr/>
          <p:nvPr/>
        </p:nvSpPr>
        <p:spPr>
          <a:xfrm>
            <a:off x="3134853" y="2615119"/>
            <a:ext cx="192028" cy="3"/>
          </a:xfrm>
          <a:prstGeom prst="line">
            <a:avLst/>
          </a:prstGeom>
          <a:ln w="16510">
            <a:solidFill>
              <a:srgbClr val="EE7963"/>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77" name="Rectangle"/>
          <p:cNvSpPr/>
          <p:nvPr/>
        </p:nvSpPr>
        <p:spPr>
          <a:xfrm>
            <a:off x="6594474" y="1460622"/>
            <a:ext cx="5153309" cy="3644146"/>
          </a:xfrm>
          <a:prstGeom prst="rect">
            <a:avLst/>
          </a:prstGeom>
          <a:solidFill>
            <a:srgbClr val="FFFFFF"/>
          </a:solidFill>
          <a:ln w="12700">
            <a:miter lim="400000"/>
          </a:ln>
        </p:spPr>
        <p:txBody>
          <a:bodyPr lIns="45718" tIns="45718" rIns="45718" bIns="45718" anchor="ctr"/>
          <a:lstStyle/>
          <a:p>
            <a:pPr>
              <a:defRPr>
                <a:latin typeface="+mj-lt"/>
                <a:ea typeface="+mj-ea"/>
                <a:cs typeface="+mj-cs"/>
                <a:sym typeface="Calibri"/>
              </a:defRPr>
            </a:pPr>
          </a:p>
        </p:txBody>
      </p:sp>
      <p:sp>
        <p:nvSpPr>
          <p:cNvPr id="1678" name="Rectangle"/>
          <p:cNvSpPr/>
          <p:nvPr/>
        </p:nvSpPr>
        <p:spPr>
          <a:xfrm>
            <a:off x="4145505" y="3414910"/>
            <a:ext cx="7729275" cy="1691628"/>
          </a:xfrm>
          <a:prstGeom prst="rect">
            <a:avLst/>
          </a:prstGeom>
          <a:solidFill>
            <a:srgbClr val="FFFFFF"/>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0" name="TextBox 1"/>
          <p:cNvSpPr txBox="1"/>
          <p:nvPr/>
        </p:nvSpPr>
        <p:spPr>
          <a:xfrm>
            <a:off x="603501" y="420623"/>
            <a:ext cx="4389125"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BRIDGING, REFRAMED</a:t>
            </a:r>
          </a:p>
        </p:txBody>
      </p:sp>
      <p:sp>
        <p:nvSpPr>
          <p:cNvPr id="1681"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The handshake is right. The electorate is not.</a:t>
            </a:r>
          </a:p>
        </p:txBody>
      </p:sp>
      <p:sp>
        <p:nvSpPr>
          <p:cNvPr id="1682" name="TextBox 3"/>
          <p:cNvSpPr txBox="1"/>
          <p:nvPr/>
        </p:nvSpPr>
        <p:spPr>
          <a:xfrm>
            <a:off x="11082528" y="457198"/>
            <a:ext cx="438915"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06</a:t>
            </a:r>
          </a:p>
        </p:txBody>
      </p:sp>
      <p:sp>
        <p:nvSpPr>
          <p:cNvPr id="1683" name="Connector 4"/>
          <p:cNvSpPr/>
          <p:nvPr/>
        </p:nvSpPr>
        <p:spPr>
          <a:xfrm flipH="1">
            <a:off x="4005071" y="1554478"/>
            <a:ext cx="3" cy="3456436"/>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84" name="Connector 5"/>
          <p:cNvSpPr/>
          <p:nvPr/>
        </p:nvSpPr>
        <p:spPr>
          <a:xfrm>
            <a:off x="8010142" y="1554478"/>
            <a:ext cx="3" cy="3456436"/>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85" name="TextBox 6"/>
          <p:cNvSpPr txBox="1"/>
          <p:nvPr/>
        </p:nvSpPr>
        <p:spPr>
          <a:xfrm>
            <a:off x="768094" y="1572766"/>
            <a:ext cx="1645924"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GOOD INSTINCT</a:t>
            </a:r>
          </a:p>
        </p:txBody>
      </p:sp>
      <p:sp>
        <p:nvSpPr>
          <p:cNvPr id="1686" name="Oval 7"/>
          <p:cNvSpPr/>
          <p:nvPr/>
        </p:nvSpPr>
        <p:spPr>
          <a:xfrm>
            <a:off x="960119" y="2240277"/>
            <a:ext cx="164597" cy="16459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87" name="Connector 8"/>
          <p:cNvSpPr/>
          <p:nvPr/>
        </p:nvSpPr>
        <p:spPr>
          <a:xfrm>
            <a:off x="1042413" y="2404872"/>
            <a:ext cx="3" cy="271579"/>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88" name="Connector 9"/>
          <p:cNvSpPr/>
          <p:nvPr/>
        </p:nvSpPr>
        <p:spPr>
          <a:xfrm>
            <a:off x="927199" y="2520083"/>
            <a:ext cx="230432" cy="3"/>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89" name="Connector 10"/>
          <p:cNvSpPr/>
          <p:nvPr/>
        </p:nvSpPr>
        <p:spPr>
          <a:xfrm flipH="1">
            <a:off x="935430" y="2676448"/>
            <a:ext cx="106988" cy="172825"/>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90" name="Connector 11"/>
          <p:cNvSpPr/>
          <p:nvPr/>
        </p:nvSpPr>
        <p:spPr>
          <a:xfrm>
            <a:off x="1042416" y="2676448"/>
            <a:ext cx="106987" cy="172825"/>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91" name="Oval 12"/>
          <p:cNvSpPr/>
          <p:nvPr/>
        </p:nvSpPr>
        <p:spPr>
          <a:xfrm>
            <a:off x="3502150" y="2215624"/>
            <a:ext cx="164597" cy="16459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92" name="Connector 13"/>
          <p:cNvSpPr/>
          <p:nvPr/>
        </p:nvSpPr>
        <p:spPr>
          <a:xfrm>
            <a:off x="3584447" y="2380214"/>
            <a:ext cx="3" cy="271579"/>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93" name="Connector 14"/>
          <p:cNvSpPr/>
          <p:nvPr/>
        </p:nvSpPr>
        <p:spPr>
          <a:xfrm>
            <a:off x="3469232" y="2495430"/>
            <a:ext cx="230432" cy="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94" name="Connector 15"/>
          <p:cNvSpPr/>
          <p:nvPr/>
        </p:nvSpPr>
        <p:spPr>
          <a:xfrm flipH="1">
            <a:off x="3477462" y="2651792"/>
            <a:ext cx="106988" cy="172825"/>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95" name="Connector 16"/>
          <p:cNvSpPr/>
          <p:nvPr/>
        </p:nvSpPr>
        <p:spPr>
          <a:xfrm>
            <a:off x="3584447" y="2651792"/>
            <a:ext cx="106987" cy="172825"/>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96" name="Rounded Rectangle 17"/>
          <p:cNvSpPr/>
          <p:nvPr/>
        </p:nvSpPr>
        <p:spPr>
          <a:xfrm>
            <a:off x="1856231" y="2011677"/>
            <a:ext cx="960123" cy="1298451"/>
          </a:xfrm>
          <a:prstGeom prst="roundRect">
            <a:avLst>
              <a:gd name="adj" fmla="val 16667"/>
            </a:avLst>
          </a:prstGeom>
          <a:ln w="1397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697" name="Connector 18"/>
          <p:cNvSpPr/>
          <p:nvPr/>
        </p:nvSpPr>
        <p:spPr>
          <a:xfrm>
            <a:off x="2075687" y="2450592"/>
            <a:ext cx="521209" cy="3"/>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98" name="Connector 19"/>
          <p:cNvSpPr/>
          <p:nvPr/>
        </p:nvSpPr>
        <p:spPr>
          <a:xfrm>
            <a:off x="2075687" y="2761488"/>
            <a:ext cx="393196" cy="3"/>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699" name="Connector 20"/>
          <p:cNvSpPr/>
          <p:nvPr/>
        </p:nvSpPr>
        <p:spPr>
          <a:xfrm>
            <a:off x="2075687" y="3072383"/>
            <a:ext cx="484636" cy="3"/>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00" name="Oval 21"/>
          <p:cNvSpPr/>
          <p:nvPr/>
        </p:nvSpPr>
        <p:spPr>
          <a:xfrm>
            <a:off x="1572766" y="2514599"/>
            <a:ext cx="201173" cy="201173"/>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01" name="Connector 22"/>
          <p:cNvSpPr/>
          <p:nvPr/>
        </p:nvSpPr>
        <p:spPr>
          <a:xfrm>
            <a:off x="1613916" y="2624327"/>
            <a:ext cx="45723" cy="45723"/>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02" name="Connector 23"/>
          <p:cNvSpPr/>
          <p:nvPr/>
        </p:nvSpPr>
        <p:spPr>
          <a:xfrm flipV="1">
            <a:off x="1659633" y="2569464"/>
            <a:ext cx="82299" cy="100587"/>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03" name="Connector 27"/>
          <p:cNvSpPr/>
          <p:nvPr/>
        </p:nvSpPr>
        <p:spPr>
          <a:xfrm>
            <a:off x="1344166" y="2615183"/>
            <a:ext cx="192027" cy="3"/>
          </a:xfrm>
          <a:prstGeom prst="line">
            <a:avLst/>
          </a:prstGeom>
          <a:ln w="1651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04" name="TextBox 30"/>
          <p:cNvSpPr txBox="1"/>
          <p:nvPr/>
        </p:nvSpPr>
        <p:spPr>
          <a:xfrm>
            <a:off x="941830" y="3675886"/>
            <a:ext cx="2834645"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100">
                <a:solidFill>
                  <a:srgbClr val="1FA873"/>
                </a:solidFill>
                <a:latin typeface="Helvetica Neue"/>
                <a:ea typeface="Helvetica Neue"/>
                <a:cs typeface="Helvetica Neue"/>
                <a:sym typeface="Helvetica Neue"/>
              </a:defRPr>
            </a:lvl1pPr>
          </a:lstStyle>
          <a:p>
            <a:pPr/>
            <a:r>
              <a:t>ENEMIES SHAKE HANDS</a:t>
            </a:r>
          </a:p>
        </p:txBody>
      </p:sp>
      <p:sp>
        <p:nvSpPr>
          <p:cNvPr id="1705" name="TextBox 31"/>
          <p:cNvSpPr txBox="1"/>
          <p:nvPr/>
        </p:nvSpPr>
        <p:spPr>
          <a:xfrm>
            <a:off x="859536" y="4315967"/>
            <a:ext cx="2971801"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FA873"/>
                </a:solidFill>
                <a:latin typeface="Helvetica Neue"/>
                <a:ea typeface="Helvetica Neue"/>
                <a:cs typeface="Helvetica Neue"/>
                <a:sym typeface="Helvetica Neue"/>
              </a:defRPr>
            </a:pPr>
            <a:r>
              <a:t>• </a:t>
            </a:r>
            <a:r>
              <a:rPr>
                <a:solidFill>
                  <a:srgbClr val="111318"/>
                </a:solidFill>
              </a:rPr>
              <a:t>Cross-group agreement is valuable</a:t>
            </a:r>
          </a:p>
        </p:txBody>
      </p:sp>
      <p:sp>
        <p:nvSpPr>
          <p:cNvPr id="1706" name="TextBox 32"/>
          <p:cNvSpPr txBox="1"/>
          <p:nvPr/>
        </p:nvSpPr>
        <p:spPr>
          <a:xfrm>
            <a:off x="4261103" y="1572766"/>
            <a:ext cx="1920241"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SELECTION BALANCE</a:t>
            </a:r>
          </a:p>
        </p:txBody>
      </p:sp>
      <p:sp>
        <p:nvSpPr>
          <p:cNvPr id="1707" name="TextBox 33"/>
          <p:cNvSpPr txBox="1"/>
          <p:nvPr/>
        </p:nvSpPr>
        <p:spPr>
          <a:xfrm>
            <a:off x="4315967" y="1993392"/>
            <a:ext cx="1005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BALANCED</a:t>
            </a:r>
          </a:p>
        </p:txBody>
      </p:sp>
      <p:sp>
        <p:nvSpPr>
          <p:cNvPr id="1708" name="Oval 34"/>
          <p:cNvSpPr/>
          <p:nvPr/>
        </p:nvSpPr>
        <p:spPr>
          <a:xfrm>
            <a:off x="4315967"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09" name="Oval 35"/>
          <p:cNvSpPr/>
          <p:nvPr/>
        </p:nvSpPr>
        <p:spPr>
          <a:xfrm>
            <a:off x="4507991"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10" name="Oval 36"/>
          <p:cNvSpPr/>
          <p:nvPr/>
        </p:nvSpPr>
        <p:spPr>
          <a:xfrm>
            <a:off x="4700015"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11" name="Oval 37"/>
          <p:cNvSpPr/>
          <p:nvPr/>
        </p:nvSpPr>
        <p:spPr>
          <a:xfrm>
            <a:off x="4892040"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12" name="Oval 38"/>
          <p:cNvSpPr/>
          <p:nvPr/>
        </p:nvSpPr>
        <p:spPr>
          <a:xfrm>
            <a:off x="5084064"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13" name="Oval 39"/>
          <p:cNvSpPr/>
          <p:nvPr/>
        </p:nvSpPr>
        <p:spPr>
          <a:xfrm>
            <a:off x="5276088"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14" name="Oval 40"/>
          <p:cNvSpPr/>
          <p:nvPr/>
        </p:nvSpPr>
        <p:spPr>
          <a:xfrm>
            <a:off x="5468110"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15" name="Oval 41"/>
          <p:cNvSpPr/>
          <p:nvPr/>
        </p:nvSpPr>
        <p:spPr>
          <a:xfrm>
            <a:off x="5660135"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16" name="Oval 42"/>
          <p:cNvSpPr/>
          <p:nvPr/>
        </p:nvSpPr>
        <p:spPr>
          <a:xfrm>
            <a:off x="5852159"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17" name="Oval 43"/>
          <p:cNvSpPr/>
          <p:nvPr/>
        </p:nvSpPr>
        <p:spPr>
          <a:xfrm>
            <a:off x="6044183"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18" name="TextBox 44"/>
          <p:cNvSpPr txBox="1"/>
          <p:nvPr/>
        </p:nvSpPr>
        <p:spPr>
          <a:xfrm>
            <a:off x="4315967" y="2670048"/>
            <a:ext cx="2057403"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11318"/>
                </a:solidFill>
                <a:latin typeface="Helvetica Neue"/>
                <a:ea typeface="Helvetica Neue"/>
                <a:cs typeface="Helvetica Neue"/>
                <a:sym typeface="Helvetica Neue"/>
              </a:defRPr>
            </a:lvl1pPr>
          </a:lstStyle>
          <a:p>
            <a:pPr/>
            <a:r>
              <a:t>πA = .50   πB = .50</a:t>
            </a:r>
          </a:p>
        </p:txBody>
      </p:sp>
      <p:sp>
        <p:nvSpPr>
          <p:cNvPr id="1719" name="TextBox 45"/>
          <p:cNvSpPr txBox="1"/>
          <p:nvPr/>
        </p:nvSpPr>
        <p:spPr>
          <a:xfrm>
            <a:off x="4315967" y="2990088"/>
            <a:ext cx="251460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A873"/>
                </a:solidFill>
                <a:latin typeface="Helvetica Neue"/>
                <a:ea typeface="Helvetica Neue"/>
                <a:cs typeface="Helvetica Neue"/>
                <a:sym typeface="Helvetica Neue"/>
              </a:defRPr>
            </a:lvl1pPr>
          </a:lstStyle>
          <a:p>
            <a:pPr/>
            <a:r>
              <a:t>2(.50)(.50) = 50%</a:t>
            </a:r>
          </a:p>
        </p:txBody>
      </p:sp>
      <p:sp>
        <p:nvSpPr>
          <p:cNvPr id="1720" name="TextBox 46"/>
          <p:cNvSpPr txBox="1"/>
          <p:nvPr/>
        </p:nvSpPr>
        <p:spPr>
          <a:xfrm>
            <a:off x="4315967" y="3566159"/>
            <a:ext cx="1005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OBSERVED</a:t>
            </a:r>
          </a:p>
        </p:txBody>
      </p:sp>
      <p:sp>
        <p:nvSpPr>
          <p:cNvPr id="1721" name="Oval 47"/>
          <p:cNvSpPr/>
          <p:nvPr/>
        </p:nvSpPr>
        <p:spPr>
          <a:xfrm>
            <a:off x="4315967"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22" name="Oval 48"/>
          <p:cNvSpPr/>
          <p:nvPr/>
        </p:nvSpPr>
        <p:spPr>
          <a:xfrm>
            <a:off x="4507991"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23" name="Oval 49"/>
          <p:cNvSpPr/>
          <p:nvPr/>
        </p:nvSpPr>
        <p:spPr>
          <a:xfrm>
            <a:off x="4700015"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24" name="Oval 50"/>
          <p:cNvSpPr/>
          <p:nvPr/>
        </p:nvSpPr>
        <p:spPr>
          <a:xfrm>
            <a:off x="4892040"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25" name="Oval 51"/>
          <p:cNvSpPr/>
          <p:nvPr/>
        </p:nvSpPr>
        <p:spPr>
          <a:xfrm>
            <a:off x="5084064"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26" name="Oval 52"/>
          <p:cNvSpPr/>
          <p:nvPr/>
        </p:nvSpPr>
        <p:spPr>
          <a:xfrm>
            <a:off x="5276088"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27" name="Oval 53"/>
          <p:cNvSpPr/>
          <p:nvPr/>
        </p:nvSpPr>
        <p:spPr>
          <a:xfrm>
            <a:off x="5468110"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28" name="Oval 54"/>
          <p:cNvSpPr/>
          <p:nvPr/>
        </p:nvSpPr>
        <p:spPr>
          <a:xfrm>
            <a:off x="5660135"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29" name="Oval 55"/>
          <p:cNvSpPr/>
          <p:nvPr/>
        </p:nvSpPr>
        <p:spPr>
          <a:xfrm>
            <a:off x="5852159"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30" name="Oval 56"/>
          <p:cNvSpPr/>
          <p:nvPr/>
        </p:nvSpPr>
        <p:spPr>
          <a:xfrm>
            <a:off x="6044183" y="3913632"/>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31" name="TextBox 57"/>
          <p:cNvSpPr txBox="1"/>
          <p:nvPr/>
        </p:nvSpPr>
        <p:spPr>
          <a:xfrm>
            <a:off x="4315967" y="4242815"/>
            <a:ext cx="2057403"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11318"/>
                </a:solidFill>
                <a:latin typeface="Helvetica Neue"/>
                <a:ea typeface="Helvetica Neue"/>
                <a:cs typeface="Helvetica Neue"/>
                <a:sym typeface="Helvetica Neue"/>
              </a:defRPr>
            </a:lvl1pPr>
          </a:lstStyle>
          <a:p>
            <a:pPr/>
            <a:r>
              <a:t>πA = .90   πB = .10</a:t>
            </a:r>
          </a:p>
        </p:txBody>
      </p:sp>
      <p:sp>
        <p:nvSpPr>
          <p:cNvPr id="1732" name="TextBox 58"/>
          <p:cNvSpPr txBox="1"/>
          <p:nvPr/>
        </p:nvSpPr>
        <p:spPr>
          <a:xfrm>
            <a:off x="4315967" y="4562854"/>
            <a:ext cx="251460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FF705B"/>
                </a:solidFill>
                <a:latin typeface="Helvetica Neue"/>
                <a:ea typeface="Helvetica Neue"/>
                <a:cs typeface="Helvetica Neue"/>
                <a:sym typeface="Helvetica Neue"/>
              </a:defRPr>
            </a:lvl1pPr>
          </a:lstStyle>
          <a:p>
            <a:pPr/>
            <a:r>
              <a:t>2(.90)(.10) = 18%</a:t>
            </a:r>
          </a:p>
        </p:txBody>
      </p:sp>
      <p:sp>
        <p:nvSpPr>
          <p:cNvPr id="1733" name="TextBox 59"/>
          <p:cNvSpPr txBox="1"/>
          <p:nvPr/>
        </p:nvSpPr>
        <p:spPr>
          <a:xfrm>
            <a:off x="6629400" y="3145533"/>
            <a:ext cx="1188720" cy="677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200">
                <a:solidFill>
                  <a:srgbClr val="111318"/>
                </a:solidFill>
                <a:latin typeface="Helvetica Neue"/>
                <a:ea typeface="Helvetica Neue"/>
                <a:cs typeface="Helvetica Neue"/>
                <a:sym typeface="Helvetica Neue"/>
              </a:defRPr>
            </a:lvl1pPr>
          </a:lstStyle>
          <a:p>
            <a:pPr/>
            <a:r>
              <a:t>50%  →  18%</a:t>
            </a:r>
          </a:p>
        </p:txBody>
      </p:sp>
      <p:sp>
        <p:nvSpPr>
          <p:cNvPr id="1734" name="TextBox 60"/>
          <p:cNvSpPr txBox="1"/>
          <p:nvPr/>
        </p:nvSpPr>
        <p:spPr>
          <a:xfrm>
            <a:off x="8193023" y="1572766"/>
            <a:ext cx="2377443"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THEN IT GETS MESSIER</a:t>
            </a:r>
          </a:p>
        </p:txBody>
      </p:sp>
      <p:sp>
        <p:nvSpPr>
          <p:cNvPr id="1735" name="TextBox 61"/>
          <p:cNvSpPr txBox="1"/>
          <p:nvPr/>
        </p:nvSpPr>
        <p:spPr>
          <a:xfrm>
            <a:off x="8229599" y="2039110"/>
            <a:ext cx="1051564"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FF705B"/>
                </a:solidFill>
                <a:latin typeface="Helvetica Neue"/>
                <a:ea typeface="Helvetica Neue"/>
                <a:cs typeface="Helvetica Neue"/>
                <a:sym typeface="Helvetica Neue"/>
              </a:defRPr>
            </a:lvl1pPr>
          </a:lstStyle>
          <a:p>
            <a:pPr/>
            <a:r>
              <a:t>PARTISAN</a:t>
            </a:r>
          </a:p>
        </p:txBody>
      </p:sp>
      <p:sp>
        <p:nvSpPr>
          <p:cNvPr id="1736" name="TextBox 62"/>
          <p:cNvSpPr txBox="1"/>
          <p:nvPr/>
        </p:nvSpPr>
        <p:spPr>
          <a:xfrm>
            <a:off x="8229600" y="2395727"/>
            <a:ext cx="1097281" cy="3312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100">
                <a:solidFill>
                  <a:srgbClr val="FF705B"/>
                </a:solidFill>
                <a:latin typeface="Helvetica Neue"/>
                <a:ea typeface="Helvetica Neue"/>
                <a:cs typeface="Helvetica Neue"/>
                <a:sym typeface="Helvetica Neue"/>
              </a:defRPr>
            </a:pPr>
            <a:r>
              <a:t>f</a:t>
            </a:r>
            <a:r>
              <a:rPr>
                <a:latin typeface="+mj-lt"/>
                <a:ea typeface="+mj-ea"/>
                <a:cs typeface="+mj-cs"/>
                <a:sym typeface="Calibri"/>
              </a:rPr>
              <a:t>ᵤ </a:t>
            </a:r>
            <a:r>
              <a:t>· fₙ</a:t>
            </a:r>
          </a:p>
        </p:txBody>
      </p:sp>
      <p:sp>
        <p:nvSpPr>
          <p:cNvPr id="1737" name="TextBox 63"/>
          <p:cNvSpPr txBox="1"/>
          <p:nvPr/>
        </p:nvSpPr>
        <p:spPr>
          <a:xfrm>
            <a:off x="9372600" y="2468877"/>
            <a:ext cx="1874518" cy="1860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111318"/>
                </a:solidFill>
                <a:latin typeface="Helvetica Neue"/>
                <a:ea typeface="Helvetica Neue"/>
                <a:cs typeface="Helvetica Neue"/>
                <a:sym typeface="Helvetica Neue"/>
              </a:defRPr>
            </a:lvl1pPr>
          </a:lstStyle>
          <a:p>
            <a:pPr/>
            <a:r>
              <a:t>changes the credit</a:t>
            </a:r>
          </a:p>
        </p:txBody>
      </p:sp>
      <p:sp>
        <p:nvSpPr>
          <p:cNvPr id="1738" name="TextBox 64"/>
          <p:cNvSpPr txBox="1"/>
          <p:nvPr/>
        </p:nvSpPr>
        <p:spPr>
          <a:xfrm>
            <a:off x="8229599" y="2852927"/>
            <a:ext cx="2880364"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FF705B"/>
                </a:solidFill>
                <a:latin typeface="Helvetica Neue"/>
                <a:ea typeface="Helvetica Neue"/>
                <a:cs typeface="Helvetica Neue"/>
                <a:sym typeface="Helvetica Neue"/>
              </a:defRPr>
            </a:pPr>
            <a:r>
              <a:t>• </a:t>
            </a:r>
            <a:r>
              <a:rPr b="0">
                <a:solidFill>
                  <a:srgbClr val="73777F"/>
                </a:solidFill>
              </a:rPr>
              <a:t>The same click is interpreted differently</a:t>
            </a:r>
          </a:p>
        </p:txBody>
      </p:sp>
      <p:sp>
        <p:nvSpPr>
          <p:cNvPr id="1739" name="Connector 65"/>
          <p:cNvSpPr/>
          <p:nvPr/>
        </p:nvSpPr>
        <p:spPr>
          <a:xfrm>
            <a:off x="8229599" y="3328415"/>
            <a:ext cx="3035812" cy="3"/>
          </a:xfrm>
          <a:prstGeom prst="line">
            <a:avLst/>
          </a:prstGeom>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40" name="TextBox 66"/>
          <p:cNvSpPr txBox="1"/>
          <p:nvPr/>
        </p:nvSpPr>
        <p:spPr>
          <a:xfrm>
            <a:off x="8229599" y="3639310"/>
            <a:ext cx="1051564"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3977F6"/>
                </a:solidFill>
                <a:latin typeface="Helvetica Neue"/>
                <a:ea typeface="Helvetica Neue"/>
                <a:cs typeface="Helvetica Neue"/>
                <a:sym typeface="Helvetica Neue"/>
              </a:defRPr>
            </a:lvl1pPr>
          </a:lstStyle>
          <a:p>
            <a:pPr/>
            <a:r>
              <a:t>ACTIVITY</a:t>
            </a:r>
          </a:p>
        </p:txBody>
      </p:sp>
      <p:sp>
        <p:nvSpPr>
          <p:cNvPr id="1741" name="TextBox 67"/>
          <p:cNvSpPr txBox="1"/>
          <p:nvPr/>
        </p:nvSpPr>
        <p:spPr>
          <a:xfrm>
            <a:off x="8229599" y="3968496"/>
            <a:ext cx="502922"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3977F6"/>
                </a:solidFill>
                <a:latin typeface="Helvetica Neue"/>
                <a:ea typeface="Helvetica Neue"/>
                <a:cs typeface="Helvetica Neue"/>
                <a:sym typeface="Helvetica Neue"/>
              </a:defRPr>
            </a:lvl1pPr>
          </a:lstStyle>
          <a:p>
            <a:pPr/>
            <a:r>
              <a:t>πg</a:t>
            </a:r>
          </a:p>
        </p:txBody>
      </p:sp>
      <p:sp>
        <p:nvSpPr>
          <p:cNvPr id="1742" name="TextBox 68"/>
          <p:cNvSpPr txBox="1"/>
          <p:nvPr/>
        </p:nvSpPr>
        <p:spPr>
          <a:xfrm>
            <a:off x="8732518" y="4041647"/>
            <a:ext cx="2487171"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111318"/>
                </a:solidFill>
                <a:latin typeface="Helvetica Neue"/>
                <a:ea typeface="Helvetica Neue"/>
                <a:cs typeface="Helvetica Neue"/>
                <a:sym typeface="Helvetica Neue"/>
              </a:defRPr>
            </a:lvl1pPr>
          </a:lstStyle>
          <a:p>
            <a:pPr/>
            <a:r>
              <a:t>follows ratings—not people</a:t>
            </a:r>
          </a:p>
        </p:txBody>
      </p:sp>
      <p:sp>
        <p:nvSpPr>
          <p:cNvPr id="1743" name="TextBox 69"/>
          <p:cNvSpPr txBox="1"/>
          <p:nvPr/>
        </p:nvSpPr>
        <p:spPr>
          <a:xfrm>
            <a:off x="8229600" y="4443984"/>
            <a:ext cx="2834640"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3977F6"/>
                </a:solidFill>
                <a:latin typeface="Helvetica Neue"/>
                <a:ea typeface="Helvetica Neue"/>
                <a:cs typeface="Helvetica Neue"/>
                <a:sym typeface="Helvetica Neue"/>
              </a:defRPr>
            </a:pPr>
            <a:r>
              <a:t>• </a:t>
            </a:r>
            <a:r>
              <a:rPr b="0">
                <a:solidFill>
                  <a:srgbClr val="73777F"/>
                </a:solidFill>
              </a:rPr>
              <a:t>Active users represent each side</a:t>
            </a:r>
          </a:p>
        </p:txBody>
      </p:sp>
      <p:sp>
        <p:nvSpPr>
          <p:cNvPr id="1744" name="Connector 70"/>
          <p:cNvSpPr/>
          <p:nvPr/>
        </p:nvSpPr>
        <p:spPr>
          <a:xfrm>
            <a:off x="749806" y="5230367"/>
            <a:ext cx="10680196" cy="3"/>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45" name="TextBox 71"/>
          <p:cNvSpPr txBox="1"/>
          <p:nvPr/>
        </p:nvSpPr>
        <p:spPr>
          <a:xfrm>
            <a:off x="2944366" y="5522976"/>
            <a:ext cx="6355084"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700">
                <a:solidFill>
                  <a:srgbClr val="1FA873"/>
                </a:solidFill>
                <a:latin typeface="Helvetica Neue"/>
                <a:ea typeface="Helvetica Neue"/>
                <a:cs typeface="Helvetica Neue"/>
                <a:sym typeface="Helvetica Neue"/>
              </a:defRPr>
            </a:pPr>
            <a:r>
              <a:t>• </a:t>
            </a:r>
            <a:r>
              <a:rPr>
                <a:solidFill>
                  <a:srgbClr val="111318"/>
                </a:solidFill>
              </a:rPr>
              <a:t>Keep consent. Make representation explicit.</a:t>
            </a:r>
          </a:p>
        </p:txBody>
      </p:sp>
      <p:sp>
        <p:nvSpPr>
          <p:cNvPr id="1746" name="TextBox 72"/>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Toy illustration—not the Community Notes scoring formula; Buterin (2023); Wojcik et al. (2022); Nudo et al. (2026)</a:t>
            </a:r>
          </a:p>
        </p:txBody>
      </p:sp>
      <p:sp>
        <p:nvSpPr>
          <p:cNvPr id="1747" name="Oval 21"/>
          <p:cNvSpPr/>
          <p:nvPr/>
        </p:nvSpPr>
        <p:spPr>
          <a:xfrm>
            <a:off x="2884696" y="2514599"/>
            <a:ext cx="201173" cy="201173"/>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48" name="Connector 22"/>
          <p:cNvSpPr/>
          <p:nvPr/>
        </p:nvSpPr>
        <p:spPr>
          <a:xfrm>
            <a:off x="2925845" y="2624327"/>
            <a:ext cx="45723" cy="45723"/>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49" name="Connector 23"/>
          <p:cNvSpPr/>
          <p:nvPr/>
        </p:nvSpPr>
        <p:spPr>
          <a:xfrm flipV="1">
            <a:off x="2971563" y="2569464"/>
            <a:ext cx="82299" cy="100587"/>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50" name="Connector 27"/>
          <p:cNvSpPr/>
          <p:nvPr/>
        </p:nvSpPr>
        <p:spPr>
          <a:xfrm>
            <a:off x="3134853" y="2615119"/>
            <a:ext cx="192028" cy="3"/>
          </a:xfrm>
          <a:prstGeom prst="line">
            <a:avLst/>
          </a:prstGeom>
          <a:ln w="16510">
            <a:solidFill>
              <a:srgbClr val="EE7963"/>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51" name="Rectangle"/>
          <p:cNvSpPr/>
          <p:nvPr/>
        </p:nvSpPr>
        <p:spPr>
          <a:xfrm>
            <a:off x="6594475" y="1460622"/>
            <a:ext cx="5153306" cy="3644146"/>
          </a:xfrm>
          <a:prstGeom prst="rect">
            <a:avLst/>
          </a:prstGeom>
          <a:solidFill>
            <a:srgbClr val="FFFFFF"/>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3" name="TextBox 1"/>
          <p:cNvSpPr txBox="1"/>
          <p:nvPr/>
        </p:nvSpPr>
        <p:spPr>
          <a:xfrm>
            <a:off x="603501" y="420623"/>
            <a:ext cx="4389125"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BRIDGING, REFRAMED</a:t>
            </a:r>
          </a:p>
        </p:txBody>
      </p:sp>
      <p:sp>
        <p:nvSpPr>
          <p:cNvPr id="1754"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The handshake is right. The electorate is not.</a:t>
            </a:r>
          </a:p>
        </p:txBody>
      </p:sp>
      <p:sp>
        <p:nvSpPr>
          <p:cNvPr id="1755" name="TextBox 3"/>
          <p:cNvSpPr txBox="1"/>
          <p:nvPr/>
        </p:nvSpPr>
        <p:spPr>
          <a:xfrm>
            <a:off x="11082528" y="457198"/>
            <a:ext cx="438915"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06</a:t>
            </a:r>
          </a:p>
        </p:txBody>
      </p:sp>
      <p:sp>
        <p:nvSpPr>
          <p:cNvPr id="1756" name="Connector 4"/>
          <p:cNvSpPr/>
          <p:nvPr/>
        </p:nvSpPr>
        <p:spPr>
          <a:xfrm flipH="1">
            <a:off x="4005071" y="1554478"/>
            <a:ext cx="3" cy="3456436"/>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57" name="Connector 5"/>
          <p:cNvSpPr/>
          <p:nvPr/>
        </p:nvSpPr>
        <p:spPr>
          <a:xfrm>
            <a:off x="8010142" y="1554478"/>
            <a:ext cx="3" cy="3456436"/>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58" name="TextBox 6"/>
          <p:cNvSpPr txBox="1"/>
          <p:nvPr/>
        </p:nvSpPr>
        <p:spPr>
          <a:xfrm>
            <a:off x="768094" y="1572766"/>
            <a:ext cx="1645924"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GOOD INSTINCT</a:t>
            </a:r>
          </a:p>
        </p:txBody>
      </p:sp>
      <p:sp>
        <p:nvSpPr>
          <p:cNvPr id="1759" name="Oval 7"/>
          <p:cNvSpPr/>
          <p:nvPr/>
        </p:nvSpPr>
        <p:spPr>
          <a:xfrm>
            <a:off x="960119" y="2240277"/>
            <a:ext cx="164597" cy="16459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60" name="Connector 8"/>
          <p:cNvSpPr/>
          <p:nvPr/>
        </p:nvSpPr>
        <p:spPr>
          <a:xfrm>
            <a:off x="1042413" y="2404872"/>
            <a:ext cx="3" cy="271579"/>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61" name="Connector 9"/>
          <p:cNvSpPr/>
          <p:nvPr/>
        </p:nvSpPr>
        <p:spPr>
          <a:xfrm>
            <a:off x="927199" y="2520083"/>
            <a:ext cx="230432" cy="3"/>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62" name="Connector 10"/>
          <p:cNvSpPr/>
          <p:nvPr/>
        </p:nvSpPr>
        <p:spPr>
          <a:xfrm flipH="1">
            <a:off x="935430" y="2676448"/>
            <a:ext cx="106988" cy="172825"/>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63" name="Connector 11"/>
          <p:cNvSpPr/>
          <p:nvPr/>
        </p:nvSpPr>
        <p:spPr>
          <a:xfrm>
            <a:off x="1042416" y="2676448"/>
            <a:ext cx="106987" cy="172825"/>
          </a:xfrm>
          <a:prstGeom prst="line">
            <a:avLst/>
          </a:prstGeom>
          <a:ln w="1905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64" name="Oval 12"/>
          <p:cNvSpPr/>
          <p:nvPr/>
        </p:nvSpPr>
        <p:spPr>
          <a:xfrm>
            <a:off x="3502150" y="2215624"/>
            <a:ext cx="164597" cy="16459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65" name="Connector 13"/>
          <p:cNvSpPr/>
          <p:nvPr/>
        </p:nvSpPr>
        <p:spPr>
          <a:xfrm>
            <a:off x="3584447" y="2380214"/>
            <a:ext cx="3" cy="271579"/>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66" name="Connector 14"/>
          <p:cNvSpPr/>
          <p:nvPr/>
        </p:nvSpPr>
        <p:spPr>
          <a:xfrm>
            <a:off x="3469232" y="2495430"/>
            <a:ext cx="230432" cy="3"/>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67" name="Connector 15"/>
          <p:cNvSpPr/>
          <p:nvPr/>
        </p:nvSpPr>
        <p:spPr>
          <a:xfrm flipH="1">
            <a:off x="3477462" y="2651792"/>
            <a:ext cx="106988" cy="172825"/>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68" name="Connector 16"/>
          <p:cNvSpPr/>
          <p:nvPr/>
        </p:nvSpPr>
        <p:spPr>
          <a:xfrm>
            <a:off x="3584447" y="2651792"/>
            <a:ext cx="106987" cy="172825"/>
          </a:xfrm>
          <a:prstGeom prst="line">
            <a:avLst/>
          </a:prstGeom>
          <a:ln w="1905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69" name="Rounded Rectangle 17"/>
          <p:cNvSpPr/>
          <p:nvPr/>
        </p:nvSpPr>
        <p:spPr>
          <a:xfrm>
            <a:off x="1856231" y="2011677"/>
            <a:ext cx="960123" cy="1298451"/>
          </a:xfrm>
          <a:prstGeom prst="roundRect">
            <a:avLst>
              <a:gd name="adj" fmla="val 16667"/>
            </a:avLst>
          </a:prstGeom>
          <a:ln w="1397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70" name="Connector 18"/>
          <p:cNvSpPr/>
          <p:nvPr/>
        </p:nvSpPr>
        <p:spPr>
          <a:xfrm>
            <a:off x="2075687" y="2450592"/>
            <a:ext cx="521209" cy="3"/>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71" name="Connector 19"/>
          <p:cNvSpPr/>
          <p:nvPr/>
        </p:nvSpPr>
        <p:spPr>
          <a:xfrm>
            <a:off x="2075687" y="2761488"/>
            <a:ext cx="393196" cy="3"/>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72" name="Connector 20"/>
          <p:cNvSpPr/>
          <p:nvPr/>
        </p:nvSpPr>
        <p:spPr>
          <a:xfrm>
            <a:off x="2075687" y="3072383"/>
            <a:ext cx="484636" cy="3"/>
          </a:xfrm>
          <a:prstGeom prst="line">
            <a:avLst/>
          </a:prstGeom>
          <a:ln w="15240">
            <a:solidFill>
              <a:srgbClr val="111318"/>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73" name="Oval 21"/>
          <p:cNvSpPr/>
          <p:nvPr/>
        </p:nvSpPr>
        <p:spPr>
          <a:xfrm>
            <a:off x="1572766" y="2514599"/>
            <a:ext cx="201173" cy="201173"/>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74" name="Connector 22"/>
          <p:cNvSpPr/>
          <p:nvPr/>
        </p:nvSpPr>
        <p:spPr>
          <a:xfrm>
            <a:off x="1613916" y="2624327"/>
            <a:ext cx="45723" cy="45723"/>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75" name="Connector 23"/>
          <p:cNvSpPr/>
          <p:nvPr/>
        </p:nvSpPr>
        <p:spPr>
          <a:xfrm flipV="1">
            <a:off x="1659633" y="2569464"/>
            <a:ext cx="82299" cy="100587"/>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76" name="Connector 27"/>
          <p:cNvSpPr/>
          <p:nvPr/>
        </p:nvSpPr>
        <p:spPr>
          <a:xfrm>
            <a:off x="1344166" y="2615183"/>
            <a:ext cx="192027" cy="3"/>
          </a:xfrm>
          <a:prstGeom prst="line">
            <a:avLst/>
          </a:prstGeom>
          <a:ln w="1651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777" name="TextBox 30"/>
          <p:cNvSpPr txBox="1"/>
          <p:nvPr/>
        </p:nvSpPr>
        <p:spPr>
          <a:xfrm>
            <a:off x="941830" y="3675886"/>
            <a:ext cx="2834645"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100">
                <a:solidFill>
                  <a:srgbClr val="1FA873"/>
                </a:solidFill>
                <a:latin typeface="Helvetica Neue"/>
                <a:ea typeface="Helvetica Neue"/>
                <a:cs typeface="Helvetica Neue"/>
                <a:sym typeface="Helvetica Neue"/>
              </a:defRPr>
            </a:lvl1pPr>
          </a:lstStyle>
          <a:p>
            <a:pPr/>
            <a:r>
              <a:t>ENEMIES SHAKE HANDS</a:t>
            </a:r>
          </a:p>
        </p:txBody>
      </p:sp>
      <p:sp>
        <p:nvSpPr>
          <p:cNvPr id="1778" name="TextBox 31"/>
          <p:cNvSpPr txBox="1"/>
          <p:nvPr/>
        </p:nvSpPr>
        <p:spPr>
          <a:xfrm>
            <a:off x="859536" y="4315967"/>
            <a:ext cx="2971801"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FA873"/>
                </a:solidFill>
                <a:latin typeface="Helvetica Neue"/>
                <a:ea typeface="Helvetica Neue"/>
                <a:cs typeface="Helvetica Neue"/>
                <a:sym typeface="Helvetica Neue"/>
              </a:defRPr>
            </a:pPr>
            <a:r>
              <a:t>• </a:t>
            </a:r>
            <a:r>
              <a:rPr>
                <a:solidFill>
                  <a:srgbClr val="111318"/>
                </a:solidFill>
              </a:rPr>
              <a:t>Cross-group agreement is valuable</a:t>
            </a:r>
          </a:p>
        </p:txBody>
      </p:sp>
      <p:sp>
        <p:nvSpPr>
          <p:cNvPr id="1779" name="TextBox 32"/>
          <p:cNvSpPr txBox="1"/>
          <p:nvPr/>
        </p:nvSpPr>
        <p:spPr>
          <a:xfrm>
            <a:off x="4261103" y="1572766"/>
            <a:ext cx="1920241"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SELECTION BALANCE</a:t>
            </a:r>
          </a:p>
        </p:txBody>
      </p:sp>
      <p:sp>
        <p:nvSpPr>
          <p:cNvPr id="1780" name="TextBox 33"/>
          <p:cNvSpPr txBox="1"/>
          <p:nvPr/>
        </p:nvSpPr>
        <p:spPr>
          <a:xfrm>
            <a:off x="4315967" y="1993392"/>
            <a:ext cx="1005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BALANCED</a:t>
            </a:r>
          </a:p>
        </p:txBody>
      </p:sp>
      <p:sp>
        <p:nvSpPr>
          <p:cNvPr id="1781" name="Oval 34"/>
          <p:cNvSpPr/>
          <p:nvPr/>
        </p:nvSpPr>
        <p:spPr>
          <a:xfrm>
            <a:off x="4315967"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82" name="Oval 35"/>
          <p:cNvSpPr/>
          <p:nvPr/>
        </p:nvSpPr>
        <p:spPr>
          <a:xfrm>
            <a:off x="4507991"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83" name="Oval 36"/>
          <p:cNvSpPr/>
          <p:nvPr/>
        </p:nvSpPr>
        <p:spPr>
          <a:xfrm>
            <a:off x="4700015"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84" name="Oval 37"/>
          <p:cNvSpPr/>
          <p:nvPr/>
        </p:nvSpPr>
        <p:spPr>
          <a:xfrm>
            <a:off x="4892040"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85" name="Oval 38"/>
          <p:cNvSpPr/>
          <p:nvPr/>
        </p:nvSpPr>
        <p:spPr>
          <a:xfrm>
            <a:off x="5084064" y="2340864"/>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86" name="Oval 39"/>
          <p:cNvSpPr/>
          <p:nvPr/>
        </p:nvSpPr>
        <p:spPr>
          <a:xfrm>
            <a:off x="5276088"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87" name="Oval 40"/>
          <p:cNvSpPr/>
          <p:nvPr/>
        </p:nvSpPr>
        <p:spPr>
          <a:xfrm>
            <a:off x="5468110"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88" name="Oval 41"/>
          <p:cNvSpPr/>
          <p:nvPr/>
        </p:nvSpPr>
        <p:spPr>
          <a:xfrm>
            <a:off x="5660135"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89" name="Oval 42"/>
          <p:cNvSpPr/>
          <p:nvPr/>
        </p:nvSpPr>
        <p:spPr>
          <a:xfrm>
            <a:off x="5852159"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90" name="Oval 43"/>
          <p:cNvSpPr/>
          <p:nvPr/>
        </p:nvSpPr>
        <p:spPr>
          <a:xfrm>
            <a:off x="6044183" y="2340864"/>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91" name="TextBox 44"/>
          <p:cNvSpPr txBox="1"/>
          <p:nvPr/>
        </p:nvSpPr>
        <p:spPr>
          <a:xfrm>
            <a:off x="4315967" y="2670048"/>
            <a:ext cx="2057403"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11318"/>
                </a:solidFill>
                <a:latin typeface="Helvetica Neue"/>
                <a:ea typeface="Helvetica Neue"/>
                <a:cs typeface="Helvetica Neue"/>
                <a:sym typeface="Helvetica Neue"/>
              </a:defRPr>
            </a:lvl1pPr>
          </a:lstStyle>
          <a:p>
            <a:pPr/>
            <a:r>
              <a:t>πA = .50   πB = .50</a:t>
            </a:r>
          </a:p>
        </p:txBody>
      </p:sp>
      <p:sp>
        <p:nvSpPr>
          <p:cNvPr id="1792" name="TextBox 45"/>
          <p:cNvSpPr txBox="1"/>
          <p:nvPr/>
        </p:nvSpPr>
        <p:spPr>
          <a:xfrm>
            <a:off x="4315967" y="2990088"/>
            <a:ext cx="251460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A873"/>
                </a:solidFill>
                <a:latin typeface="Helvetica Neue"/>
                <a:ea typeface="Helvetica Neue"/>
                <a:cs typeface="Helvetica Neue"/>
                <a:sym typeface="Helvetica Neue"/>
              </a:defRPr>
            </a:lvl1pPr>
          </a:lstStyle>
          <a:p>
            <a:pPr/>
            <a:r>
              <a:t>2(.50)(.50) = 50%</a:t>
            </a:r>
          </a:p>
        </p:txBody>
      </p:sp>
      <p:sp>
        <p:nvSpPr>
          <p:cNvPr id="1793" name="TextBox 46"/>
          <p:cNvSpPr txBox="1"/>
          <p:nvPr/>
        </p:nvSpPr>
        <p:spPr>
          <a:xfrm>
            <a:off x="4315967" y="3566159"/>
            <a:ext cx="1005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OBSERVED</a:t>
            </a:r>
          </a:p>
        </p:txBody>
      </p:sp>
      <p:sp>
        <p:nvSpPr>
          <p:cNvPr id="1794" name="Oval 47"/>
          <p:cNvSpPr/>
          <p:nvPr/>
        </p:nvSpPr>
        <p:spPr>
          <a:xfrm>
            <a:off x="4315967"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95" name="Oval 48"/>
          <p:cNvSpPr/>
          <p:nvPr/>
        </p:nvSpPr>
        <p:spPr>
          <a:xfrm>
            <a:off x="4507991"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96" name="Oval 49"/>
          <p:cNvSpPr/>
          <p:nvPr/>
        </p:nvSpPr>
        <p:spPr>
          <a:xfrm>
            <a:off x="4700015"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97" name="Oval 50"/>
          <p:cNvSpPr/>
          <p:nvPr/>
        </p:nvSpPr>
        <p:spPr>
          <a:xfrm>
            <a:off x="4892040"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98" name="Oval 51"/>
          <p:cNvSpPr/>
          <p:nvPr/>
        </p:nvSpPr>
        <p:spPr>
          <a:xfrm>
            <a:off x="5084064"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799" name="Oval 52"/>
          <p:cNvSpPr/>
          <p:nvPr/>
        </p:nvSpPr>
        <p:spPr>
          <a:xfrm>
            <a:off x="5276088"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800" name="Oval 53"/>
          <p:cNvSpPr/>
          <p:nvPr/>
        </p:nvSpPr>
        <p:spPr>
          <a:xfrm>
            <a:off x="5468110"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801" name="Oval 54"/>
          <p:cNvSpPr/>
          <p:nvPr/>
        </p:nvSpPr>
        <p:spPr>
          <a:xfrm>
            <a:off x="5660135"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802" name="Oval 55"/>
          <p:cNvSpPr/>
          <p:nvPr/>
        </p:nvSpPr>
        <p:spPr>
          <a:xfrm>
            <a:off x="5852159" y="3913632"/>
            <a:ext cx="96017" cy="9601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803" name="Oval 56"/>
          <p:cNvSpPr/>
          <p:nvPr/>
        </p:nvSpPr>
        <p:spPr>
          <a:xfrm>
            <a:off x="6044183" y="3913632"/>
            <a:ext cx="96017" cy="9601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804" name="TextBox 57"/>
          <p:cNvSpPr txBox="1"/>
          <p:nvPr/>
        </p:nvSpPr>
        <p:spPr>
          <a:xfrm>
            <a:off x="4315967" y="4242815"/>
            <a:ext cx="2057403"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11318"/>
                </a:solidFill>
                <a:latin typeface="Helvetica Neue"/>
                <a:ea typeface="Helvetica Neue"/>
                <a:cs typeface="Helvetica Neue"/>
                <a:sym typeface="Helvetica Neue"/>
              </a:defRPr>
            </a:lvl1pPr>
          </a:lstStyle>
          <a:p>
            <a:pPr/>
            <a:r>
              <a:t>πA = .90   πB = .10</a:t>
            </a:r>
          </a:p>
        </p:txBody>
      </p:sp>
      <p:sp>
        <p:nvSpPr>
          <p:cNvPr id="1805" name="TextBox 58"/>
          <p:cNvSpPr txBox="1"/>
          <p:nvPr/>
        </p:nvSpPr>
        <p:spPr>
          <a:xfrm>
            <a:off x="4315967" y="4562854"/>
            <a:ext cx="251460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FF705B"/>
                </a:solidFill>
                <a:latin typeface="Helvetica Neue"/>
                <a:ea typeface="Helvetica Neue"/>
                <a:cs typeface="Helvetica Neue"/>
                <a:sym typeface="Helvetica Neue"/>
              </a:defRPr>
            </a:lvl1pPr>
          </a:lstStyle>
          <a:p>
            <a:pPr/>
            <a:r>
              <a:t>2(.90)(.10) = 18%</a:t>
            </a:r>
          </a:p>
        </p:txBody>
      </p:sp>
      <p:sp>
        <p:nvSpPr>
          <p:cNvPr id="1806" name="TextBox 59"/>
          <p:cNvSpPr txBox="1"/>
          <p:nvPr/>
        </p:nvSpPr>
        <p:spPr>
          <a:xfrm>
            <a:off x="6629400" y="3145533"/>
            <a:ext cx="1188720" cy="677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111318"/>
                </a:solidFill>
                <a:latin typeface="Helvetica Neue"/>
                <a:ea typeface="Helvetica Neue"/>
                <a:cs typeface="Helvetica Neue"/>
                <a:sym typeface="Helvetica Neue"/>
              </a:defRPr>
            </a:lvl1pPr>
          </a:lstStyle>
          <a:p>
            <a:pPr/>
            <a:r>
              <a:t>50%  →  18%</a:t>
            </a:r>
          </a:p>
        </p:txBody>
      </p:sp>
      <p:sp>
        <p:nvSpPr>
          <p:cNvPr id="1807" name="TextBox 60"/>
          <p:cNvSpPr txBox="1"/>
          <p:nvPr/>
        </p:nvSpPr>
        <p:spPr>
          <a:xfrm>
            <a:off x="8193023" y="1572766"/>
            <a:ext cx="2377443"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THEN IT GETS MESSIER</a:t>
            </a:r>
          </a:p>
        </p:txBody>
      </p:sp>
      <p:sp>
        <p:nvSpPr>
          <p:cNvPr id="1808" name="TextBox 61"/>
          <p:cNvSpPr txBox="1"/>
          <p:nvPr/>
        </p:nvSpPr>
        <p:spPr>
          <a:xfrm>
            <a:off x="8229599" y="2039110"/>
            <a:ext cx="1051564"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FF705B"/>
                </a:solidFill>
                <a:latin typeface="Helvetica Neue"/>
                <a:ea typeface="Helvetica Neue"/>
                <a:cs typeface="Helvetica Neue"/>
                <a:sym typeface="Helvetica Neue"/>
              </a:defRPr>
            </a:lvl1pPr>
          </a:lstStyle>
          <a:p>
            <a:pPr/>
            <a:r>
              <a:t>PARTISAN</a:t>
            </a:r>
          </a:p>
        </p:txBody>
      </p:sp>
      <p:sp>
        <p:nvSpPr>
          <p:cNvPr id="1809" name="TextBox 62"/>
          <p:cNvSpPr txBox="1"/>
          <p:nvPr/>
        </p:nvSpPr>
        <p:spPr>
          <a:xfrm>
            <a:off x="8229600" y="2395727"/>
            <a:ext cx="1097281" cy="3312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100">
                <a:solidFill>
                  <a:srgbClr val="FF705B"/>
                </a:solidFill>
                <a:latin typeface="Helvetica Neue"/>
                <a:ea typeface="Helvetica Neue"/>
                <a:cs typeface="Helvetica Neue"/>
                <a:sym typeface="Helvetica Neue"/>
              </a:defRPr>
            </a:pPr>
            <a:r>
              <a:t>f</a:t>
            </a:r>
            <a:r>
              <a:rPr>
                <a:latin typeface="+mj-lt"/>
                <a:ea typeface="+mj-ea"/>
                <a:cs typeface="+mj-cs"/>
                <a:sym typeface="Calibri"/>
              </a:rPr>
              <a:t>ᵤ </a:t>
            </a:r>
            <a:r>
              <a:t>· fₙ</a:t>
            </a:r>
          </a:p>
        </p:txBody>
      </p:sp>
      <p:sp>
        <p:nvSpPr>
          <p:cNvPr id="1810" name="TextBox 63"/>
          <p:cNvSpPr txBox="1"/>
          <p:nvPr/>
        </p:nvSpPr>
        <p:spPr>
          <a:xfrm>
            <a:off x="9372600" y="2468877"/>
            <a:ext cx="1874518" cy="1860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111318"/>
                </a:solidFill>
                <a:latin typeface="Helvetica Neue"/>
                <a:ea typeface="Helvetica Neue"/>
                <a:cs typeface="Helvetica Neue"/>
                <a:sym typeface="Helvetica Neue"/>
              </a:defRPr>
            </a:lvl1pPr>
          </a:lstStyle>
          <a:p>
            <a:pPr/>
            <a:r>
              <a:t>changes the credit</a:t>
            </a:r>
          </a:p>
        </p:txBody>
      </p:sp>
      <p:sp>
        <p:nvSpPr>
          <p:cNvPr id="1811" name="TextBox 64"/>
          <p:cNvSpPr txBox="1"/>
          <p:nvPr/>
        </p:nvSpPr>
        <p:spPr>
          <a:xfrm>
            <a:off x="8229599" y="2852927"/>
            <a:ext cx="2880364"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FF705B"/>
                </a:solidFill>
                <a:latin typeface="Helvetica Neue"/>
                <a:ea typeface="Helvetica Neue"/>
                <a:cs typeface="Helvetica Neue"/>
                <a:sym typeface="Helvetica Neue"/>
              </a:defRPr>
            </a:pPr>
            <a:r>
              <a:t>• </a:t>
            </a:r>
            <a:r>
              <a:rPr b="0">
                <a:solidFill>
                  <a:srgbClr val="73777F"/>
                </a:solidFill>
              </a:rPr>
              <a:t>The same click is interpreted differently</a:t>
            </a:r>
          </a:p>
        </p:txBody>
      </p:sp>
      <p:sp>
        <p:nvSpPr>
          <p:cNvPr id="1812" name="Connector 65"/>
          <p:cNvSpPr/>
          <p:nvPr/>
        </p:nvSpPr>
        <p:spPr>
          <a:xfrm>
            <a:off x="8229599" y="3328415"/>
            <a:ext cx="3035812" cy="3"/>
          </a:xfrm>
          <a:prstGeom prst="line">
            <a:avLst/>
          </a:prstGeom>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813" name="TextBox 66"/>
          <p:cNvSpPr txBox="1"/>
          <p:nvPr/>
        </p:nvSpPr>
        <p:spPr>
          <a:xfrm>
            <a:off x="8229599" y="3639310"/>
            <a:ext cx="1051564"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3977F6"/>
                </a:solidFill>
                <a:latin typeface="Helvetica Neue"/>
                <a:ea typeface="Helvetica Neue"/>
                <a:cs typeface="Helvetica Neue"/>
                <a:sym typeface="Helvetica Neue"/>
              </a:defRPr>
            </a:lvl1pPr>
          </a:lstStyle>
          <a:p>
            <a:pPr/>
            <a:r>
              <a:t>ACTIVITY</a:t>
            </a:r>
          </a:p>
        </p:txBody>
      </p:sp>
      <p:sp>
        <p:nvSpPr>
          <p:cNvPr id="1814" name="TextBox 67"/>
          <p:cNvSpPr txBox="1"/>
          <p:nvPr/>
        </p:nvSpPr>
        <p:spPr>
          <a:xfrm>
            <a:off x="8229599" y="3968496"/>
            <a:ext cx="502922"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3977F6"/>
                </a:solidFill>
                <a:latin typeface="Helvetica Neue"/>
                <a:ea typeface="Helvetica Neue"/>
                <a:cs typeface="Helvetica Neue"/>
                <a:sym typeface="Helvetica Neue"/>
              </a:defRPr>
            </a:lvl1pPr>
          </a:lstStyle>
          <a:p>
            <a:pPr/>
            <a:r>
              <a:t>πg</a:t>
            </a:r>
          </a:p>
        </p:txBody>
      </p:sp>
      <p:sp>
        <p:nvSpPr>
          <p:cNvPr id="1815" name="TextBox 68"/>
          <p:cNvSpPr txBox="1"/>
          <p:nvPr/>
        </p:nvSpPr>
        <p:spPr>
          <a:xfrm>
            <a:off x="8732518" y="4041647"/>
            <a:ext cx="2487171"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111318"/>
                </a:solidFill>
                <a:latin typeface="Helvetica Neue"/>
                <a:ea typeface="Helvetica Neue"/>
                <a:cs typeface="Helvetica Neue"/>
                <a:sym typeface="Helvetica Neue"/>
              </a:defRPr>
            </a:lvl1pPr>
          </a:lstStyle>
          <a:p>
            <a:pPr/>
            <a:r>
              <a:t>follows ratings—not people</a:t>
            </a:r>
          </a:p>
        </p:txBody>
      </p:sp>
      <p:sp>
        <p:nvSpPr>
          <p:cNvPr id="1816" name="TextBox 69"/>
          <p:cNvSpPr txBox="1"/>
          <p:nvPr/>
        </p:nvSpPr>
        <p:spPr>
          <a:xfrm>
            <a:off x="8229600" y="4443984"/>
            <a:ext cx="2834640"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3977F6"/>
                </a:solidFill>
                <a:latin typeface="Helvetica Neue"/>
                <a:ea typeface="Helvetica Neue"/>
                <a:cs typeface="Helvetica Neue"/>
                <a:sym typeface="Helvetica Neue"/>
              </a:defRPr>
            </a:pPr>
            <a:r>
              <a:t>• </a:t>
            </a:r>
            <a:r>
              <a:rPr b="0">
                <a:solidFill>
                  <a:srgbClr val="73777F"/>
                </a:solidFill>
              </a:rPr>
              <a:t>Active users represent each side</a:t>
            </a:r>
          </a:p>
        </p:txBody>
      </p:sp>
      <p:sp>
        <p:nvSpPr>
          <p:cNvPr id="1817" name="Connector 70"/>
          <p:cNvSpPr/>
          <p:nvPr/>
        </p:nvSpPr>
        <p:spPr>
          <a:xfrm>
            <a:off x="749806" y="5230367"/>
            <a:ext cx="10680196" cy="3"/>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818" name="TextBox 71"/>
          <p:cNvSpPr txBox="1"/>
          <p:nvPr/>
        </p:nvSpPr>
        <p:spPr>
          <a:xfrm>
            <a:off x="2944366" y="5522976"/>
            <a:ext cx="6355084"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700">
                <a:solidFill>
                  <a:srgbClr val="1FA873"/>
                </a:solidFill>
                <a:latin typeface="Helvetica Neue"/>
                <a:ea typeface="Helvetica Neue"/>
                <a:cs typeface="Helvetica Neue"/>
                <a:sym typeface="Helvetica Neue"/>
              </a:defRPr>
            </a:pPr>
            <a:r>
              <a:t>• </a:t>
            </a:r>
            <a:r>
              <a:rPr>
                <a:solidFill>
                  <a:srgbClr val="111318"/>
                </a:solidFill>
              </a:rPr>
              <a:t>Keep consent. Make representation explicit.</a:t>
            </a:r>
          </a:p>
        </p:txBody>
      </p:sp>
      <p:sp>
        <p:nvSpPr>
          <p:cNvPr id="1819" name="TextBox 72"/>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Toy illustration—not the Community Notes scoring formula; Buterin (2023); Wojcik et al. (2022); Nudo et al. (2026)</a:t>
            </a:r>
          </a:p>
        </p:txBody>
      </p:sp>
      <p:sp>
        <p:nvSpPr>
          <p:cNvPr id="1820" name="Oval 21"/>
          <p:cNvSpPr/>
          <p:nvPr/>
        </p:nvSpPr>
        <p:spPr>
          <a:xfrm>
            <a:off x="2884696" y="2514599"/>
            <a:ext cx="201173" cy="201173"/>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1821" name="Connector 22"/>
          <p:cNvSpPr/>
          <p:nvPr/>
        </p:nvSpPr>
        <p:spPr>
          <a:xfrm>
            <a:off x="2925845" y="2624327"/>
            <a:ext cx="45723" cy="45723"/>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822" name="Connector 23"/>
          <p:cNvSpPr/>
          <p:nvPr/>
        </p:nvSpPr>
        <p:spPr>
          <a:xfrm flipV="1">
            <a:off x="2971563" y="2569464"/>
            <a:ext cx="82299" cy="100587"/>
          </a:xfrm>
          <a:prstGeom prst="line">
            <a:avLst/>
          </a:prstGeom>
          <a:ln w="1651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823" name="Connector 27"/>
          <p:cNvSpPr/>
          <p:nvPr/>
        </p:nvSpPr>
        <p:spPr>
          <a:xfrm>
            <a:off x="3134853" y="2615119"/>
            <a:ext cx="192028" cy="3"/>
          </a:xfrm>
          <a:prstGeom prst="line">
            <a:avLst/>
          </a:prstGeom>
          <a:ln w="16510">
            <a:solidFill>
              <a:srgbClr val="EE7963"/>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5" name="TextBox 1"/>
          <p:cNvSpPr txBox="1"/>
          <p:nvPr/>
        </p:nvSpPr>
        <p:spPr>
          <a:xfrm>
            <a:off x="603499" y="420623"/>
            <a:ext cx="4389129"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COLLECTIVE DECISIONS</a:t>
            </a:r>
          </a:p>
        </p:txBody>
      </p:sp>
      <p:sp>
        <p:nvSpPr>
          <p:cNvPr id="1826"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This problem predates platforms</a:t>
            </a:r>
          </a:p>
        </p:txBody>
      </p:sp>
      <p:sp>
        <p:nvSpPr>
          <p:cNvPr id="1827" name="TextBox 3"/>
          <p:cNvSpPr txBox="1"/>
          <p:nvPr/>
        </p:nvSpPr>
        <p:spPr>
          <a:xfrm>
            <a:off x="11082528" y="457198"/>
            <a:ext cx="438917"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07</a:t>
            </a:r>
          </a:p>
        </p:txBody>
      </p:sp>
      <p:sp>
        <p:nvSpPr>
          <p:cNvPr id="1828" name="Connector 4"/>
          <p:cNvSpPr/>
          <p:nvPr/>
        </p:nvSpPr>
        <p:spPr>
          <a:xfrm flipH="1">
            <a:off x="4160520" y="1627631"/>
            <a:ext cx="5" cy="3291843"/>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829" name="TextBox 5"/>
          <p:cNvSpPr txBox="1"/>
          <p:nvPr/>
        </p:nvSpPr>
        <p:spPr>
          <a:xfrm>
            <a:off x="822960" y="1664205"/>
            <a:ext cx="2011680"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11318"/>
                </a:solidFill>
                <a:latin typeface="Helvetica Neue"/>
                <a:ea typeface="Helvetica Neue"/>
                <a:cs typeface="Helvetica Neue"/>
                <a:sym typeface="Helvetica Neue"/>
              </a:defRPr>
            </a:lvl1pPr>
          </a:lstStyle>
          <a:p>
            <a:pPr/>
            <a:r>
              <a:t>SWITZERLAND</a:t>
            </a:r>
          </a:p>
        </p:txBody>
      </p:sp>
      <p:sp>
        <p:nvSpPr>
          <p:cNvPr id="1830" name="TextBox 6"/>
          <p:cNvSpPr txBox="1"/>
          <p:nvPr/>
        </p:nvSpPr>
        <p:spPr>
          <a:xfrm>
            <a:off x="877824" y="2212848"/>
            <a:ext cx="77724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PEOPLE</a:t>
            </a:r>
          </a:p>
        </p:txBody>
      </p:sp>
      <p:sp>
        <p:nvSpPr>
          <p:cNvPr id="1831" name="Oval 7"/>
          <p:cNvSpPr/>
          <p:nvPr/>
        </p:nvSpPr>
        <p:spPr>
          <a:xfrm>
            <a:off x="932688" y="2560320"/>
            <a:ext cx="128025" cy="12802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32" name="Oval 8"/>
          <p:cNvSpPr/>
          <p:nvPr/>
        </p:nvSpPr>
        <p:spPr>
          <a:xfrm>
            <a:off x="1243583" y="2560320"/>
            <a:ext cx="128025" cy="12802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33" name="Oval 9"/>
          <p:cNvSpPr/>
          <p:nvPr/>
        </p:nvSpPr>
        <p:spPr>
          <a:xfrm>
            <a:off x="1554480" y="2560320"/>
            <a:ext cx="128025" cy="12802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34" name="Oval 10"/>
          <p:cNvSpPr/>
          <p:nvPr/>
        </p:nvSpPr>
        <p:spPr>
          <a:xfrm>
            <a:off x="1865376" y="2560320"/>
            <a:ext cx="128025" cy="12802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35" name="Oval 11"/>
          <p:cNvSpPr/>
          <p:nvPr/>
        </p:nvSpPr>
        <p:spPr>
          <a:xfrm>
            <a:off x="932688" y="2871215"/>
            <a:ext cx="128025" cy="128025"/>
          </a:xfrm>
          <a:prstGeom prst="ellipse">
            <a:avLst/>
          </a:prstGeom>
          <a:solidFill>
            <a:srgbClr val="DADDE2"/>
          </a:solidFill>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36" name="Oval 12"/>
          <p:cNvSpPr/>
          <p:nvPr/>
        </p:nvSpPr>
        <p:spPr>
          <a:xfrm>
            <a:off x="1243583" y="2871215"/>
            <a:ext cx="128025" cy="128025"/>
          </a:xfrm>
          <a:prstGeom prst="ellipse">
            <a:avLst/>
          </a:prstGeom>
          <a:solidFill>
            <a:srgbClr val="DADDE2"/>
          </a:solidFill>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37" name="Oval 13"/>
          <p:cNvSpPr/>
          <p:nvPr/>
        </p:nvSpPr>
        <p:spPr>
          <a:xfrm>
            <a:off x="1554480" y="2871215"/>
            <a:ext cx="128025" cy="128025"/>
          </a:xfrm>
          <a:prstGeom prst="ellipse">
            <a:avLst/>
          </a:prstGeom>
          <a:solidFill>
            <a:srgbClr val="DADDE2"/>
          </a:solidFill>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38" name="TextBox 14"/>
          <p:cNvSpPr txBox="1"/>
          <p:nvPr/>
        </p:nvSpPr>
        <p:spPr>
          <a:xfrm>
            <a:off x="2359150" y="2642616"/>
            <a:ext cx="274322" cy="2854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a:solidFill>
                  <a:srgbClr val="73777F"/>
                </a:solidFill>
                <a:latin typeface="Helvetica Neue"/>
                <a:ea typeface="Helvetica Neue"/>
                <a:cs typeface="Helvetica Neue"/>
                <a:sym typeface="Helvetica Neue"/>
              </a:defRPr>
            </a:lvl1pPr>
          </a:lstStyle>
          <a:p>
            <a:pPr/>
            <a:r>
              <a:t>+</a:t>
            </a:r>
          </a:p>
        </p:txBody>
      </p:sp>
      <p:sp>
        <p:nvSpPr>
          <p:cNvPr id="1839" name="TextBox 15"/>
          <p:cNvSpPr txBox="1"/>
          <p:nvPr/>
        </p:nvSpPr>
        <p:spPr>
          <a:xfrm>
            <a:off x="877824" y="3319271"/>
            <a:ext cx="77724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CANTONS</a:t>
            </a:r>
          </a:p>
        </p:txBody>
      </p:sp>
      <p:sp>
        <p:nvSpPr>
          <p:cNvPr id="1840" name="Oval 16"/>
          <p:cNvSpPr/>
          <p:nvPr/>
        </p:nvSpPr>
        <p:spPr>
          <a:xfrm>
            <a:off x="932688" y="3666744"/>
            <a:ext cx="128025" cy="12802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41" name="Oval 17"/>
          <p:cNvSpPr/>
          <p:nvPr/>
        </p:nvSpPr>
        <p:spPr>
          <a:xfrm>
            <a:off x="1243583" y="3666744"/>
            <a:ext cx="128025" cy="12802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42" name="Oval 18"/>
          <p:cNvSpPr/>
          <p:nvPr/>
        </p:nvSpPr>
        <p:spPr>
          <a:xfrm>
            <a:off x="1554480" y="3666744"/>
            <a:ext cx="128025" cy="12802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43" name="Oval 19"/>
          <p:cNvSpPr/>
          <p:nvPr/>
        </p:nvSpPr>
        <p:spPr>
          <a:xfrm>
            <a:off x="1865376" y="3666744"/>
            <a:ext cx="128025" cy="12802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44" name="Oval 20"/>
          <p:cNvSpPr/>
          <p:nvPr/>
        </p:nvSpPr>
        <p:spPr>
          <a:xfrm>
            <a:off x="932688" y="3977637"/>
            <a:ext cx="128025" cy="128025"/>
          </a:xfrm>
          <a:prstGeom prst="ellipse">
            <a:avLst/>
          </a:prstGeom>
          <a:solidFill>
            <a:srgbClr val="DADDE2"/>
          </a:solidFill>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45" name="Oval 21"/>
          <p:cNvSpPr/>
          <p:nvPr/>
        </p:nvSpPr>
        <p:spPr>
          <a:xfrm>
            <a:off x="1243583" y="3977637"/>
            <a:ext cx="128025" cy="128025"/>
          </a:xfrm>
          <a:prstGeom prst="ellipse">
            <a:avLst/>
          </a:prstGeom>
          <a:solidFill>
            <a:srgbClr val="DADDE2"/>
          </a:solidFill>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46" name="Oval 22"/>
          <p:cNvSpPr/>
          <p:nvPr/>
        </p:nvSpPr>
        <p:spPr>
          <a:xfrm>
            <a:off x="1554480" y="3977637"/>
            <a:ext cx="128025" cy="128025"/>
          </a:xfrm>
          <a:prstGeom prst="ellipse">
            <a:avLst/>
          </a:prstGeom>
          <a:solidFill>
            <a:srgbClr val="DADDE2"/>
          </a:solidFill>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47" name="Connector 23"/>
          <p:cNvSpPr/>
          <p:nvPr/>
        </p:nvSpPr>
        <p:spPr>
          <a:xfrm>
            <a:off x="2660904" y="2752344"/>
            <a:ext cx="521209" cy="301757"/>
          </a:xfrm>
          <a:prstGeom prst="line">
            <a:avLst/>
          </a:prstGeom>
          <a:ln w="1524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848" name="Connector 24"/>
          <p:cNvSpPr/>
          <p:nvPr/>
        </p:nvSpPr>
        <p:spPr>
          <a:xfrm flipV="1">
            <a:off x="2660904" y="3246120"/>
            <a:ext cx="521209" cy="576076"/>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849" name="TextBox 28"/>
          <p:cNvSpPr txBox="1"/>
          <p:nvPr/>
        </p:nvSpPr>
        <p:spPr>
          <a:xfrm>
            <a:off x="877824" y="4590288"/>
            <a:ext cx="2057403" cy="1984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FA873"/>
                </a:solidFill>
                <a:latin typeface="Helvetica Neue"/>
                <a:ea typeface="Helvetica Neue"/>
                <a:cs typeface="Helvetica Neue"/>
                <a:sym typeface="Helvetica Neue"/>
              </a:defRPr>
            </a:pPr>
            <a:r>
              <a:t>• </a:t>
            </a:r>
            <a:r>
              <a:rPr>
                <a:solidFill>
                  <a:srgbClr val="111318"/>
                </a:solidFill>
              </a:rPr>
              <a:t>Double majority</a:t>
            </a:r>
          </a:p>
        </p:txBody>
      </p:sp>
      <p:sp>
        <p:nvSpPr>
          <p:cNvPr id="1850" name="TextBox 29"/>
          <p:cNvSpPr txBox="1"/>
          <p:nvPr/>
        </p:nvSpPr>
        <p:spPr>
          <a:xfrm>
            <a:off x="4663440" y="2048255"/>
            <a:ext cx="1600205"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11318"/>
                </a:solidFill>
                <a:latin typeface="Helvetica Neue"/>
                <a:ea typeface="Helvetica Neue"/>
                <a:cs typeface="Helvetica Neue"/>
                <a:sym typeface="Helvetica Neue"/>
              </a:defRPr>
            </a:lvl1pPr>
          </a:lstStyle>
          <a:p>
            <a:pPr/>
            <a:r>
              <a:t>BELGIUM</a:t>
            </a:r>
          </a:p>
        </p:txBody>
      </p:sp>
      <p:sp>
        <p:nvSpPr>
          <p:cNvPr id="1851" name="Oval 30"/>
          <p:cNvSpPr/>
          <p:nvPr/>
        </p:nvSpPr>
        <p:spPr>
          <a:xfrm>
            <a:off x="6437376" y="2020821"/>
            <a:ext cx="246897" cy="24689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52" name="TextBox 31"/>
          <p:cNvSpPr txBox="1"/>
          <p:nvPr/>
        </p:nvSpPr>
        <p:spPr>
          <a:xfrm>
            <a:off x="6437376" y="2071116"/>
            <a:ext cx="24689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800">
                <a:solidFill>
                  <a:srgbClr val="FFFFFF"/>
                </a:solidFill>
                <a:latin typeface="Helvetica Neue"/>
                <a:ea typeface="Helvetica Neue"/>
                <a:cs typeface="Helvetica Neue"/>
                <a:sym typeface="Helvetica Neue"/>
              </a:defRPr>
            </a:lvl1pPr>
          </a:lstStyle>
          <a:p>
            <a:pPr/>
            <a:r>
              <a:t>NL</a:t>
            </a:r>
          </a:p>
        </p:txBody>
      </p:sp>
      <p:sp>
        <p:nvSpPr>
          <p:cNvPr id="1853" name="TextBox 32"/>
          <p:cNvSpPr txBox="1"/>
          <p:nvPr/>
        </p:nvSpPr>
        <p:spPr>
          <a:xfrm>
            <a:off x="6720840" y="2057399"/>
            <a:ext cx="182885"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100">
                <a:solidFill>
                  <a:srgbClr val="73777F"/>
                </a:solidFill>
                <a:latin typeface="Helvetica Neue"/>
                <a:ea typeface="Helvetica Neue"/>
                <a:cs typeface="Helvetica Neue"/>
                <a:sym typeface="Helvetica Neue"/>
              </a:defRPr>
            </a:lvl1pPr>
          </a:lstStyle>
          <a:p>
            <a:pPr/>
            <a:r>
              <a:t>+</a:t>
            </a:r>
          </a:p>
        </p:txBody>
      </p:sp>
      <p:sp>
        <p:nvSpPr>
          <p:cNvPr id="1854" name="Oval 33"/>
          <p:cNvSpPr/>
          <p:nvPr/>
        </p:nvSpPr>
        <p:spPr>
          <a:xfrm>
            <a:off x="6931152" y="2020821"/>
            <a:ext cx="246897" cy="24689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55" name="TextBox 34"/>
          <p:cNvSpPr txBox="1"/>
          <p:nvPr/>
        </p:nvSpPr>
        <p:spPr>
          <a:xfrm>
            <a:off x="6931152" y="2071116"/>
            <a:ext cx="24689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800">
                <a:solidFill>
                  <a:srgbClr val="FFFFFF"/>
                </a:solidFill>
                <a:latin typeface="Helvetica Neue"/>
                <a:ea typeface="Helvetica Neue"/>
                <a:cs typeface="Helvetica Neue"/>
                <a:sym typeface="Helvetica Neue"/>
              </a:defRPr>
            </a:lvl1pPr>
          </a:lstStyle>
          <a:p>
            <a:pPr/>
            <a:r>
              <a:t>FR</a:t>
            </a:r>
          </a:p>
        </p:txBody>
      </p:sp>
      <p:sp>
        <p:nvSpPr>
          <p:cNvPr id="1856" name="TextBox 35"/>
          <p:cNvSpPr txBox="1"/>
          <p:nvPr/>
        </p:nvSpPr>
        <p:spPr>
          <a:xfrm>
            <a:off x="7443216" y="2029966"/>
            <a:ext cx="31090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600">
                <a:solidFill>
                  <a:srgbClr val="73777F"/>
                </a:solidFill>
                <a:latin typeface="Helvetica Neue"/>
                <a:ea typeface="Helvetica Neue"/>
                <a:cs typeface="Helvetica Neue"/>
                <a:sym typeface="Helvetica Neue"/>
              </a:defRPr>
            </a:lvl1pPr>
          </a:lstStyle>
          <a:p>
            <a:pPr/>
            <a:r>
              <a:t>→</a:t>
            </a:r>
          </a:p>
        </p:txBody>
      </p:sp>
      <p:grpSp>
        <p:nvGrpSpPr>
          <p:cNvPr id="1860" name="Group"/>
          <p:cNvGrpSpPr/>
          <p:nvPr/>
        </p:nvGrpSpPr>
        <p:grpSpPr>
          <a:xfrm>
            <a:off x="7827263" y="2020820"/>
            <a:ext cx="246897" cy="246897"/>
            <a:chOff x="0" y="0"/>
            <a:chExt cx="246896" cy="246896"/>
          </a:xfrm>
        </p:grpSpPr>
        <p:sp>
          <p:nvSpPr>
            <p:cNvPr id="1857" name="Oval 36"/>
            <p:cNvSpPr/>
            <p:nvPr/>
          </p:nvSpPr>
          <p:spPr>
            <a:xfrm>
              <a:off x="-1" y="-1"/>
              <a:ext cx="246897" cy="246897"/>
            </a:xfrm>
            <a:prstGeom prst="ellipse">
              <a:avLst/>
            </a:prstGeom>
            <a:solidFill>
              <a:srgbClr val="1FA873"/>
            </a:solidFill>
            <a:ln w="10160" cap="flat">
              <a:solidFill>
                <a:srgbClr val="1FA873"/>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defRPr>
                  <a:solidFill>
                    <a:srgbClr val="FFFFFF"/>
                  </a:solidFill>
                </a:defRPr>
              </a:pPr>
            </a:p>
          </p:txBody>
        </p:sp>
        <p:sp>
          <p:nvSpPr>
            <p:cNvPr id="1858" name="Connector 37"/>
            <p:cNvSpPr/>
            <p:nvPr/>
          </p:nvSpPr>
          <p:spPr>
            <a:xfrm>
              <a:off x="45718" y="118871"/>
              <a:ext cx="45725" cy="45725"/>
            </a:xfrm>
            <a:prstGeom prst="line">
              <a:avLst/>
            </a:prstGeom>
            <a:noFill/>
            <a:ln w="15875" cap="flat">
              <a:solidFill>
                <a:srgbClr val="FFFFFF"/>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t">
              <a:noAutofit/>
            </a:bodyPr>
            <a:lstStyle/>
            <a:p>
              <a:pPr/>
            </a:p>
          </p:txBody>
        </p:sp>
        <p:sp>
          <p:nvSpPr>
            <p:cNvPr id="1859" name="Connector 38"/>
            <p:cNvSpPr/>
            <p:nvPr/>
          </p:nvSpPr>
          <p:spPr>
            <a:xfrm flipV="1">
              <a:off x="91440" y="54866"/>
              <a:ext cx="91445" cy="109733"/>
            </a:xfrm>
            <a:prstGeom prst="line">
              <a:avLst/>
            </a:prstGeom>
            <a:noFill/>
            <a:ln w="15875" cap="flat">
              <a:solidFill>
                <a:srgbClr val="FFFFFF"/>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t">
              <a:noAutofit/>
            </a:bodyPr>
            <a:lstStyle/>
            <a:p>
              <a:pPr/>
            </a:p>
          </p:txBody>
        </p:sp>
      </p:grpSp>
      <p:sp>
        <p:nvSpPr>
          <p:cNvPr id="1861" name="TextBox 39"/>
          <p:cNvSpPr txBox="1"/>
          <p:nvPr/>
        </p:nvSpPr>
        <p:spPr>
          <a:xfrm>
            <a:off x="9326880" y="2039110"/>
            <a:ext cx="1920241"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1FA873"/>
                </a:solidFill>
                <a:latin typeface="Helvetica Neue"/>
                <a:ea typeface="Helvetica Neue"/>
                <a:cs typeface="Helvetica Neue"/>
                <a:sym typeface="Helvetica Neue"/>
              </a:defRPr>
            </a:pPr>
            <a:r>
              <a:t>• </a:t>
            </a:r>
            <a:r>
              <a:rPr>
                <a:solidFill>
                  <a:srgbClr val="111318"/>
                </a:solidFill>
              </a:rPr>
              <a:t>Parallel majorities</a:t>
            </a:r>
          </a:p>
        </p:txBody>
      </p:sp>
      <p:sp>
        <p:nvSpPr>
          <p:cNvPr id="1862" name="Connector 40"/>
          <p:cNvSpPr/>
          <p:nvPr/>
        </p:nvSpPr>
        <p:spPr>
          <a:xfrm>
            <a:off x="4663440" y="2679192"/>
            <a:ext cx="6638544" cy="5"/>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863" name="TextBox 41"/>
          <p:cNvSpPr txBox="1"/>
          <p:nvPr/>
        </p:nvSpPr>
        <p:spPr>
          <a:xfrm>
            <a:off x="4663440" y="3172966"/>
            <a:ext cx="1600205"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11318"/>
                </a:solidFill>
                <a:latin typeface="Helvetica Neue"/>
                <a:ea typeface="Helvetica Neue"/>
                <a:cs typeface="Helvetica Neue"/>
                <a:sym typeface="Helvetica Neue"/>
              </a:defRPr>
            </a:lvl1pPr>
          </a:lstStyle>
          <a:p>
            <a:pPr/>
            <a:r>
              <a:t>BOSNIA</a:t>
            </a:r>
          </a:p>
        </p:txBody>
      </p:sp>
      <p:sp>
        <p:nvSpPr>
          <p:cNvPr id="1864" name="Oval 42"/>
          <p:cNvSpPr/>
          <p:nvPr/>
        </p:nvSpPr>
        <p:spPr>
          <a:xfrm>
            <a:off x="6437376" y="3145532"/>
            <a:ext cx="246897" cy="24689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65" name="TextBox 43"/>
          <p:cNvSpPr txBox="1"/>
          <p:nvPr/>
        </p:nvSpPr>
        <p:spPr>
          <a:xfrm>
            <a:off x="6437376" y="3195827"/>
            <a:ext cx="24689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800">
                <a:solidFill>
                  <a:srgbClr val="FFFFFF"/>
                </a:solidFill>
                <a:latin typeface="Helvetica Neue"/>
                <a:ea typeface="Helvetica Neue"/>
                <a:cs typeface="Helvetica Neue"/>
                <a:sym typeface="Helvetica Neue"/>
              </a:defRPr>
            </a:lvl1pPr>
          </a:lstStyle>
          <a:p>
            <a:pPr/>
            <a:r>
              <a:t>B</a:t>
            </a:r>
          </a:p>
        </p:txBody>
      </p:sp>
      <p:sp>
        <p:nvSpPr>
          <p:cNvPr id="1866" name="TextBox 44"/>
          <p:cNvSpPr txBox="1"/>
          <p:nvPr/>
        </p:nvSpPr>
        <p:spPr>
          <a:xfrm>
            <a:off x="6720840" y="3182111"/>
            <a:ext cx="182885"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100">
                <a:solidFill>
                  <a:srgbClr val="73777F"/>
                </a:solidFill>
                <a:latin typeface="Helvetica Neue"/>
                <a:ea typeface="Helvetica Neue"/>
                <a:cs typeface="Helvetica Neue"/>
                <a:sym typeface="Helvetica Neue"/>
              </a:defRPr>
            </a:lvl1pPr>
          </a:lstStyle>
          <a:p>
            <a:pPr/>
            <a:r>
              <a:t>+</a:t>
            </a:r>
          </a:p>
        </p:txBody>
      </p:sp>
      <p:sp>
        <p:nvSpPr>
          <p:cNvPr id="1867" name="Oval 45"/>
          <p:cNvSpPr/>
          <p:nvPr/>
        </p:nvSpPr>
        <p:spPr>
          <a:xfrm>
            <a:off x="6931152" y="3145532"/>
            <a:ext cx="246897" cy="246897"/>
          </a:xfrm>
          <a:prstGeom prst="ellipse">
            <a:avLst/>
          </a:prstGeom>
          <a:solidFill>
            <a:srgbClr val="D79A24"/>
          </a:solidFill>
          <a:ln w="10160">
            <a:solidFill>
              <a:srgbClr val="D79A24"/>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68" name="TextBox 46"/>
          <p:cNvSpPr txBox="1"/>
          <p:nvPr/>
        </p:nvSpPr>
        <p:spPr>
          <a:xfrm>
            <a:off x="6931152" y="3195827"/>
            <a:ext cx="24689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800">
                <a:solidFill>
                  <a:srgbClr val="FFFFFF"/>
                </a:solidFill>
                <a:latin typeface="Helvetica Neue"/>
                <a:ea typeface="Helvetica Neue"/>
                <a:cs typeface="Helvetica Neue"/>
                <a:sym typeface="Helvetica Neue"/>
              </a:defRPr>
            </a:lvl1pPr>
          </a:lstStyle>
          <a:p>
            <a:pPr/>
            <a:r>
              <a:t>C</a:t>
            </a:r>
          </a:p>
        </p:txBody>
      </p:sp>
      <p:sp>
        <p:nvSpPr>
          <p:cNvPr id="1869" name="TextBox 47"/>
          <p:cNvSpPr txBox="1"/>
          <p:nvPr/>
        </p:nvSpPr>
        <p:spPr>
          <a:xfrm>
            <a:off x="7214616" y="3182111"/>
            <a:ext cx="182885"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100">
                <a:solidFill>
                  <a:srgbClr val="73777F"/>
                </a:solidFill>
                <a:latin typeface="Helvetica Neue"/>
                <a:ea typeface="Helvetica Neue"/>
                <a:cs typeface="Helvetica Neue"/>
                <a:sym typeface="Helvetica Neue"/>
              </a:defRPr>
            </a:lvl1pPr>
          </a:lstStyle>
          <a:p>
            <a:pPr/>
            <a:r>
              <a:t>+</a:t>
            </a:r>
          </a:p>
        </p:txBody>
      </p:sp>
      <p:sp>
        <p:nvSpPr>
          <p:cNvPr id="1870" name="Oval 48"/>
          <p:cNvSpPr/>
          <p:nvPr/>
        </p:nvSpPr>
        <p:spPr>
          <a:xfrm>
            <a:off x="7424928" y="3145532"/>
            <a:ext cx="246897" cy="24689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71" name="TextBox 49"/>
          <p:cNvSpPr txBox="1"/>
          <p:nvPr/>
        </p:nvSpPr>
        <p:spPr>
          <a:xfrm>
            <a:off x="7424928" y="3195827"/>
            <a:ext cx="24689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800">
                <a:solidFill>
                  <a:srgbClr val="FFFFFF"/>
                </a:solidFill>
                <a:latin typeface="Helvetica Neue"/>
                <a:ea typeface="Helvetica Neue"/>
                <a:cs typeface="Helvetica Neue"/>
                <a:sym typeface="Helvetica Neue"/>
              </a:defRPr>
            </a:lvl1pPr>
          </a:lstStyle>
          <a:p>
            <a:pPr/>
            <a:r>
              <a:t>S</a:t>
            </a:r>
          </a:p>
        </p:txBody>
      </p:sp>
      <p:sp>
        <p:nvSpPr>
          <p:cNvPr id="1872" name="TextBox 50"/>
          <p:cNvSpPr txBox="1"/>
          <p:nvPr/>
        </p:nvSpPr>
        <p:spPr>
          <a:xfrm>
            <a:off x="7936992" y="3154677"/>
            <a:ext cx="31090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600">
                <a:solidFill>
                  <a:srgbClr val="73777F"/>
                </a:solidFill>
                <a:latin typeface="Helvetica Neue"/>
                <a:ea typeface="Helvetica Neue"/>
                <a:cs typeface="Helvetica Neue"/>
                <a:sym typeface="Helvetica Neue"/>
              </a:defRPr>
            </a:lvl1pPr>
          </a:lstStyle>
          <a:p>
            <a:pPr/>
            <a:r>
              <a:t>→</a:t>
            </a:r>
          </a:p>
        </p:txBody>
      </p:sp>
      <p:sp>
        <p:nvSpPr>
          <p:cNvPr id="1873" name="Oval 51"/>
          <p:cNvSpPr/>
          <p:nvPr/>
        </p:nvSpPr>
        <p:spPr>
          <a:xfrm>
            <a:off x="8321040" y="3145532"/>
            <a:ext cx="246897" cy="246897"/>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74" name="TextBox 52"/>
          <p:cNvSpPr txBox="1"/>
          <p:nvPr/>
        </p:nvSpPr>
        <p:spPr>
          <a:xfrm>
            <a:off x="8321040" y="3214116"/>
            <a:ext cx="24689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700">
                <a:solidFill>
                  <a:srgbClr val="FFFFFF"/>
                </a:solidFill>
                <a:latin typeface="Helvetica Neue"/>
                <a:ea typeface="Helvetica Neue"/>
                <a:cs typeface="Helvetica Neue"/>
                <a:sym typeface="Helvetica Neue"/>
              </a:defRPr>
            </a:lvl1pPr>
          </a:lstStyle>
          <a:p>
            <a:pPr/>
            <a:r>
              <a:t>VETO</a:t>
            </a:r>
          </a:p>
        </p:txBody>
      </p:sp>
      <p:sp>
        <p:nvSpPr>
          <p:cNvPr id="1875" name="TextBox 53"/>
          <p:cNvSpPr txBox="1"/>
          <p:nvPr/>
        </p:nvSpPr>
        <p:spPr>
          <a:xfrm>
            <a:off x="9326880" y="3163821"/>
            <a:ext cx="1920241"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1FA873"/>
                </a:solidFill>
                <a:latin typeface="Helvetica Neue"/>
                <a:ea typeface="Helvetica Neue"/>
                <a:cs typeface="Helvetica Neue"/>
                <a:sym typeface="Helvetica Neue"/>
              </a:defRPr>
            </a:pPr>
            <a:r>
              <a:t>• </a:t>
            </a:r>
            <a:r>
              <a:rPr>
                <a:solidFill>
                  <a:srgbClr val="111318"/>
                </a:solidFill>
              </a:rPr>
              <a:t>Vital-interest veto</a:t>
            </a:r>
          </a:p>
        </p:txBody>
      </p:sp>
      <p:sp>
        <p:nvSpPr>
          <p:cNvPr id="1876" name="Connector 54"/>
          <p:cNvSpPr/>
          <p:nvPr/>
        </p:nvSpPr>
        <p:spPr>
          <a:xfrm>
            <a:off x="4663440" y="3803903"/>
            <a:ext cx="6638544" cy="5"/>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877" name="TextBox 55"/>
          <p:cNvSpPr txBox="1"/>
          <p:nvPr/>
        </p:nvSpPr>
        <p:spPr>
          <a:xfrm>
            <a:off x="4663440" y="4297679"/>
            <a:ext cx="1600205"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11318"/>
                </a:solidFill>
                <a:latin typeface="Helvetica Neue"/>
                <a:ea typeface="Helvetica Neue"/>
                <a:cs typeface="Helvetica Neue"/>
                <a:sym typeface="Helvetica Neue"/>
              </a:defRPr>
            </a:lvl1pPr>
          </a:lstStyle>
          <a:p>
            <a:pPr/>
            <a:r>
              <a:t>N. IRELAND</a:t>
            </a:r>
          </a:p>
        </p:txBody>
      </p:sp>
      <p:sp>
        <p:nvSpPr>
          <p:cNvPr id="1878" name="Oval 56"/>
          <p:cNvSpPr/>
          <p:nvPr/>
        </p:nvSpPr>
        <p:spPr>
          <a:xfrm>
            <a:off x="6437376" y="4270247"/>
            <a:ext cx="246897" cy="24689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79" name="TextBox 57"/>
          <p:cNvSpPr txBox="1"/>
          <p:nvPr/>
        </p:nvSpPr>
        <p:spPr>
          <a:xfrm>
            <a:off x="6437376" y="4320540"/>
            <a:ext cx="24689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800">
                <a:solidFill>
                  <a:srgbClr val="FFFFFF"/>
                </a:solidFill>
                <a:latin typeface="Helvetica Neue"/>
                <a:ea typeface="Helvetica Neue"/>
                <a:cs typeface="Helvetica Neue"/>
                <a:sym typeface="Helvetica Neue"/>
              </a:defRPr>
            </a:lvl1pPr>
          </a:lstStyle>
          <a:p>
            <a:pPr/>
            <a:r>
              <a:t>U</a:t>
            </a:r>
          </a:p>
        </p:txBody>
      </p:sp>
      <p:sp>
        <p:nvSpPr>
          <p:cNvPr id="1880" name="TextBox 58"/>
          <p:cNvSpPr txBox="1"/>
          <p:nvPr/>
        </p:nvSpPr>
        <p:spPr>
          <a:xfrm>
            <a:off x="6720840" y="4306823"/>
            <a:ext cx="182885"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100">
                <a:solidFill>
                  <a:srgbClr val="73777F"/>
                </a:solidFill>
                <a:latin typeface="Helvetica Neue"/>
                <a:ea typeface="Helvetica Neue"/>
                <a:cs typeface="Helvetica Neue"/>
                <a:sym typeface="Helvetica Neue"/>
              </a:defRPr>
            </a:lvl1pPr>
          </a:lstStyle>
          <a:p>
            <a:pPr/>
            <a:r>
              <a:t>+</a:t>
            </a:r>
          </a:p>
        </p:txBody>
      </p:sp>
      <p:sp>
        <p:nvSpPr>
          <p:cNvPr id="1881" name="Oval 59"/>
          <p:cNvSpPr/>
          <p:nvPr/>
        </p:nvSpPr>
        <p:spPr>
          <a:xfrm>
            <a:off x="6931152" y="4270247"/>
            <a:ext cx="246897" cy="24689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82" name="TextBox 60"/>
          <p:cNvSpPr txBox="1"/>
          <p:nvPr/>
        </p:nvSpPr>
        <p:spPr>
          <a:xfrm>
            <a:off x="6931152" y="4320540"/>
            <a:ext cx="24689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800">
                <a:solidFill>
                  <a:srgbClr val="FFFFFF"/>
                </a:solidFill>
                <a:latin typeface="Helvetica Neue"/>
                <a:ea typeface="Helvetica Neue"/>
                <a:cs typeface="Helvetica Neue"/>
                <a:sym typeface="Helvetica Neue"/>
              </a:defRPr>
            </a:lvl1pPr>
          </a:lstStyle>
          <a:p>
            <a:pPr/>
            <a:r>
              <a:t>N</a:t>
            </a:r>
          </a:p>
        </p:txBody>
      </p:sp>
      <p:sp>
        <p:nvSpPr>
          <p:cNvPr id="1883" name="TextBox 61"/>
          <p:cNvSpPr txBox="1"/>
          <p:nvPr/>
        </p:nvSpPr>
        <p:spPr>
          <a:xfrm>
            <a:off x="7443216" y="4279391"/>
            <a:ext cx="31090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600">
                <a:solidFill>
                  <a:srgbClr val="73777F"/>
                </a:solidFill>
                <a:latin typeface="Helvetica Neue"/>
                <a:ea typeface="Helvetica Neue"/>
                <a:cs typeface="Helvetica Neue"/>
                <a:sym typeface="Helvetica Neue"/>
              </a:defRPr>
            </a:lvl1pPr>
          </a:lstStyle>
          <a:p>
            <a:pPr/>
            <a:r>
              <a:t>→</a:t>
            </a:r>
          </a:p>
        </p:txBody>
      </p:sp>
      <p:sp>
        <p:nvSpPr>
          <p:cNvPr id="1884" name="Oval 62"/>
          <p:cNvSpPr/>
          <p:nvPr/>
        </p:nvSpPr>
        <p:spPr>
          <a:xfrm>
            <a:off x="7827264" y="4270247"/>
            <a:ext cx="246897" cy="246897"/>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85" name="Connector 63"/>
          <p:cNvSpPr/>
          <p:nvPr/>
        </p:nvSpPr>
        <p:spPr>
          <a:xfrm>
            <a:off x="7872983" y="4389120"/>
            <a:ext cx="45725" cy="45725"/>
          </a:xfrm>
          <a:prstGeom prst="line">
            <a:avLst/>
          </a:prstGeom>
          <a:ln w="15875">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886" name="Connector 64"/>
          <p:cNvSpPr/>
          <p:nvPr/>
        </p:nvSpPr>
        <p:spPr>
          <a:xfrm flipV="1">
            <a:off x="7918704" y="4325111"/>
            <a:ext cx="91445" cy="109731"/>
          </a:xfrm>
          <a:prstGeom prst="line">
            <a:avLst/>
          </a:prstGeom>
          <a:ln w="15875">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887" name="TextBox 65"/>
          <p:cNvSpPr txBox="1"/>
          <p:nvPr/>
        </p:nvSpPr>
        <p:spPr>
          <a:xfrm>
            <a:off x="9326880" y="4288535"/>
            <a:ext cx="1920241"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1FA873"/>
                </a:solidFill>
                <a:latin typeface="Helvetica Neue"/>
                <a:ea typeface="Helvetica Neue"/>
                <a:cs typeface="Helvetica Neue"/>
                <a:sym typeface="Helvetica Neue"/>
              </a:defRPr>
            </a:pPr>
            <a:r>
              <a:t>• </a:t>
            </a:r>
            <a:r>
              <a:rPr>
                <a:solidFill>
                  <a:srgbClr val="111318"/>
                </a:solidFill>
              </a:rPr>
              <a:t>Parallel consent</a:t>
            </a:r>
          </a:p>
        </p:txBody>
      </p:sp>
      <p:sp>
        <p:nvSpPr>
          <p:cNvPr id="1888" name="Connector 66"/>
          <p:cNvSpPr/>
          <p:nvPr/>
        </p:nvSpPr>
        <p:spPr>
          <a:xfrm>
            <a:off x="749804" y="5230367"/>
            <a:ext cx="10680199" cy="5"/>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889" name="TextBox 67"/>
          <p:cNvSpPr txBox="1"/>
          <p:nvPr/>
        </p:nvSpPr>
        <p:spPr>
          <a:xfrm>
            <a:off x="841245" y="5532120"/>
            <a:ext cx="3154688"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1FA873"/>
                </a:solidFill>
                <a:latin typeface="Helvetica Neue"/>
                <a:ea typeface="Helvetica Neue"/>
                <a:cs typeface="Helvetica Neue"/>
                <a:sym typeface="Helvetica Neue"/>
              </a:defRPr>
            </a:pPr>
            <a:r>
              <a:t>• </a:t>
            </a:r>
            <a:r>
              <a:rPr>
                <a:solidFill>
                  <a:srgbClr val="111318"/>
                </a:solidFill>
              </a:rPr>
              <a:t>No group decides alone</a:t>
            </a:r>
          </a:p>
        </p:txBody>
      </p:sp>
      <p:sp>
        <p:nvSpPr>
          <p:cNvPr id="1890" name="TextBox 68"/>
          <p:cNvSpPr txBox="1"/>
          <p:nvPr/>
        </p:nvSpPr>
        <p:spPr>
          <a:xfrm>
            <a:off x="6693406" y="5532120"/>
            <a:ext cx="4297682"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a:defRPr b="1" sz="1600">
                <a:solidFill>
                  <a:srgbClr val="3977F6"/>
                </a:solidFill>
                <a:latin typeface="Helvetica Neue"/>
                <a:ea typeface="Helvetica Neue"/>
                <a:cs typeface="Helvetica Neue"/>
                <a:sym typeface="Helvetica Neue"/>
              </a:defRPr>
            </a:pPr>
            <a:r>
              <a:t>• </a:t>
            </a:r>
            <a:r>
              <a:rPr>
                <a:solidFill>
                  <a:srgbClr val="111318"/>
                </a:solidFill>
              </a:rPr>
              <a:t>But online, who are the groups? →</a:t>
            </a:r>
          </a:p>
        </p:txBody>
      </p:sp>
      <p:sp>
        <p:nvSpPr>
          <p:cNvPr id="1891" name="TextBox 69"/>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Linder &amp; Mueller (2021); Lijphart (1977); Bieber (2006); McGarry &amp; O’Leary (2009)</a:t>
            </a:r>
          </a:p>
        </p:txBody>
      </p:sp>
      <p:grpSp>
        <p:nvGrpSpPr>
          <p:cNvPr id="1895" name="Group"/>
          <p:cNvGrpSpPr/>
          <p:nvPr/>
        </p:nvGrpSpPr>
        <p:grpSpPr>
          <a:xfrm>
            <a:off x="3260341" y="3017770"/>
            <a:ext cx="246897" cy="246897"/>
            <a:chOff x="0" y="0"/>
            <a:chExt cx="246896" cy="246896"/>
          </a:xfrm>
        </p:grpSpPr>
        <p:sp>
          <p:nvSpPr>
            <p:cNvPr id="1892" name="Oval 36"/>
            <p:cNvSpPr/>
            <p:nvPr/>
          </p:nvSpPr>
          <p:spPr>
            <a:xfrm>
              <a:off x="-1" y="-1"/>
              <a:ext cx="246897" cy="246897"/>
            </a:xfrm>
            <a:prstGeom prst="ellipse">
              <a:avLst/>
            </a:prstGeom>
            <a:solidFill>
              <a:srgbClr val="1FA873"/>
            </a:solidFill>
            <a:ln w="10160" cap="flat">
              <a:solidFill>
                <a:srgbClr val="1FA873"/>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defRPr>
                  <a:solidFill>
                    <a:srgbClr val="FFFFFF"/>
                  </a:solidFill>
                </a:defRPr>
              </a:pPr>
            </a:p>
          </p:txBody>
        </p:sp>
        <p:sp>
          <p:nvSpPr>
            <p:cNvPr id="1893" name="Connector 37"/>
            <p:cNvSpPr/>
            <p:nvPr/>
          </p:nvSpPr>
          <p:spPr>
            <a:xfrm>
              <a:off x="45718" y="118871"/>
              <a:ext cx="45725" cy="45725"/>
            </a:xfrm>
            <a:prstGeom prst="line">
              <a:avLst/>
            </a:prstGeom>
            <a:noFill/>
            <a:ln w="15875" cap="flat">
              <a:solidFill>
                <a:srgbClr val="FFFFFF"/>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t">
              <a:noAutofit/>
            </a:bodyPr>
            <a:lstStyle/>
            <a:p>
              <a:pPr/>
            </a:p>
          </p:txBody>
        </p:sp>
        <p:sp>
          <p:nvSpPr>
            <p:cNvPr id="1894" name="Connector 38"/>
            <p:cNvSpPr/>
            <p:nvPr/>
          </p:nvSpPr>
          <p:spPr>
            <a:xfrm flipV="1">
              <a:off x="91440" y="54866"/>
              <a:ext cx="91445" cy="109733"/>
            </a:xfrm>
            <a:prstGeom prst="line">
              <a:avLst/>
            </a:prstGeom>
            <a:noFill/>
            <a:ln w="15875" cap="flat">
              <a:solidFill>
                <a:srgbClr val="FFFFFF"/>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t">
              <a:noAutofit/>
            </a:bodyPr>
            <a:lstStyle/>
            <a:p>
              <a:pPr/>
            </a:p>
          </p:txBody>
        </p:sp>
      </p:gr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7" name="TextBox 1"/>
          <p:cNvSpPr txBox="1"/>
          <p:nvPr/>
        </p:nvSpPr>
        <p:spPr>
          <a:xfrm>
            <a:off x="603499" y="420623"/>
            <a:ext cx="4389129"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OUR SHIFT · RECOVERY</a:t>
            </a:r>
          </a:p>
        </p:txBody>
      </p:sp>
      <p:sp>
        <p:nvSpPr>
          <p:cNvPr id="1898"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From ratings to constituencies</a:t>
            </a:r>
          </a:p>
        </p:txBody>
      </p:sp>
      <p:sp>
        <p:nvSpPr>
          <p:cNvPr id="1899" name="TextBox 3"/>
          <p:cNvSpPr txBox="1"/>
          <p:nvPr/>
        </p:nvSpPr>
        <p:spPr>
          <a:xfrm>
            <a:off x="11082528" y="457198"/>
            <a:ext cx="438917"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08</a:t>
            </a:r>
          </a:p>
        </p:txBody>
      </p:sp>
      <p:sp>
        <p:nvSpPr>
          <p:cNvPr id="1900" name="TextBox 4"/>
          <p:cNvSpPr txBox="1"/>
          <p:nvPr/>
        </p:nvSpPr>
        <p:spPr>
          <a:xfrm>
            <a:off x="841247" y="1609344"/>
            <a:ext cx="2194562"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3977F6"/>
                </a:solidFill>
                <a:latin typeface="Helvetica Neue"/>
                <a:ea typeface="Helvetica Neue"/>
                <a:cs typeface="Helvetica Neue"/>
                <a:sym typeface="Helvetica Neue"/>
              </a:defRPr>
            </a:pPr>
            <a:r>
              <a:t>• </a:t>
            </a:r>
            <a:r>
              <a:rPr>
                <a:solidFill>
                  <a:srgbClr val="111318"/>
                </a:solidFill>
              </a:rPr>
              <a:t>Rate notes</a:t>
            </a:r>
          </a:p>
        </p:txBody>
      </p:sp>
      <p:sp>
        <p:nvSpPr>
          <p:cNvPr id="1901" name="TextBox 5"/>
          <p:cNvSpPr txBox="1"/>
          <p:nvPr/>
        </p:nvSpPr>
        <p:spPr>
          <a:xfrm>
            <a:off x="4462269" y="1609344"/>
            <a:ext cx="2743206"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3977F6"/>
                </a:solidFill>
                <a:latin typeface="Helvetica Neue"/>
                <a:ea typeface="Helvetica Neue"/>
                <a:cs typeface="Helvetica Neue"/>
                <a:sym typeface="Helvetica Neue"/>
              </a:defRPr>
            </a:pPr>
            <a:r>
              <a:t>• </a:t>
            </a:r>
            <a:r>
              <a:rPr>
                <a:solidFill>
                  <a:srgbClr val="111318"/>
                </a:solidFill>
              </a:rPr>
              <a:t>Find matching patterns</a:t>
            </a:r>
          </a:p>
        </p:txBody>
      </p:sp>
      <p:sp>
        <p:nvSpPr>
          <p:cNvPr id="1902" name="TextBox 6"/>
          <p:cNvSpPr txBox="1"/>
          <p:nvPr/>
        </p:nvSpPr>
        <p:spPr>
          <a:xfrm>
            <a:off x="8641080" y="1609344"/>
            <a:ext cx="2743205"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3977F6"/>
                </a:solidFill>
                <a:latin typeface="Helvetica Neue"/>
                <a:ea typeface="Helvetica Neue"/>
                <a:cs typeface="Helvetica Neue"/>
                <a:sym typeface="Helvetica Neue"/>
              </a:defRPr>
            </a:pPr>
            <a:r>
              <a:t>• </a:t>
            </a:r>
            <a:r>
              <a:rPr>
                <a:solidFill>
                  <a:srgbClr val="111318"/>
                </a:solidFill>
              </a:rPr>
              <a:t>Recover constituencies</a:t>
            </a:r>
          </a:p>
        </p:txBody>
      </p:sp>
      <p:sp>
        <p:nvSpPr>
          <p:cNvPr id="1903" name="Connector 7"/>
          <p:cNvSpPr/>
          <p:nvPr/>
        </p:nvSpPr>
        <p:spPr>
          <a:xfrm flipH="1">
            <a:off x="1225294" y="2148837"/>
            <a:ext cx="5" cy="2359158"/>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04" name="Connector 8"/>
          <p:cNvSpPr/>
          <p:nvPr/>
        </p:nvSpPr>
        <p:spPr>
          <a:xfrm flipH="1">
            <a:off x="1581911" y="2148837"/>
            <a:ext cx="5" cy="2359158"/>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05" name="Connector 9"/>
          <p:cNvSpPr/>
          <p:nvPr/>
        </p:nvSpPr>
        <p:spPr>
          <a:xfrm flipH="1">
            <a:off x="1938527" y="2148837"/>
            <a:ext cx="5" cy="2359158"/>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06" name="Connector 10"/>
          <p:cNvSpPr/>
          <p:nvPr/>
        </p:nvSpPr>
        <p:spPr>
          <a:xfrm flipH="1">
            <a:off x="2295144" y="2148837"/>
            <a:ext cx="5" cy="2359158"/>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07" name="Connector 11"/>
          <p:cNvSpPr/>
          <p:nvPr/>
        </p:nvSpPr>
        <p:spPr>
          <a:xfrm flipH="1">
            <a:off x="2651760" y="2148837"/>
            <a:ext cx="5" cy="2359158"/>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08" name="Connector 12"/>
          <p:cNvSpPr/>
          <p:nvPr/>
        </p:nvSpPr>
        <p:spPr>
          <a:xfrm flipH="1">
            <a:off x="3008376" y="2148837"/>
            <a:ext cx="5" cy="2359158"/>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09" name="Connector 13"/>
          <p:cNvSpPr/>
          <p:nvPr/>
        </p:nvSpPr>
        <p:spPr>
          <a:xfrm flipH="1">
            <a:off x="3364991" y="2148837"/>
            <a:ext cx="5" cy="2359158"/>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10" name="Connector 14"/>
          <p:cNvSpPr/>
          <p:nvPr/>
        </p:nvSpPr>
        <p:spPr>
          <a:xfrm flipH="1">
            <a:off x="3721608" y="2148837"/>
            <a:ext cx="5" cy="2359158"/>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11" name="Connector 15"/>
          <p:cNvSpPr/>
          <p:nvPr/>
        </p:nvSpPr>
        <p:spPr>
          <a:xfrm>
            <a:off x="1225294" y="2148838"/>
            <a:ext cx="2496314" cy="5"/>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12" name="Connector 16"/>
          <p:cNvSpPr/>
          <p:nvPr/>
        </p:nvSpPr>
        <p:spPr>
          <a:xfrm>
            <a:off x="1225294" y="2542032"/>
            <a:ext cx="2496314" cy="5"/>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13" name="Connector 17"/>
          <p:cNvSpPr/>
          <p:nvPr/>
        </p:nvSpPr>
        <p:spPr>
          <a:xfrm>
            <a:off x="1225294" y="2935222"/>
            <a:ext cx="2496314" cy="5"/>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14" name="Connector 18"/>
          <p:cNvSpPr/>
          <p:nvPr/>
        </p:nvSpPr>
        <p:spPr>
          <a:xfrm>
            <a:off x="1225294" y="3328415"/>
            <a:ext cx="2496314" cy="5"/>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15" name="Connector 19"/>
          <p:cNvSpPr/>
          <p:nvPr/>
        </p:nvSpPr>
        <p:spPr>
          <a:xfrm>
            <a:off x="1225294" y="3721608"/>
            <a:ext cx="2496314" cy="5"/>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16" name="Connector 20"/>
          <p:cNvSpPr/>
          <p:nvPr/>
        </p:nvSpPr>
        <p:spPr>
          <a:xfrm>
            <a:off x="1225294" y="4114800"/>
            <a:ext cx="2496314" cy="0"/>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17" name="Connector 21"/>
          <p:cNvSpPr/>
          <p:nvPr/>
        </p:nvSpPr>
        <p:spPr>
          <a:xfrm>
            <a:off x="1225294" y="4507991"/>
            <a:ext cx="2496314" cy="5"/>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18" name="Oval 22"/>
          <p:cNvSpPr/>
          <p:nvPr/>
        </p:nvSpPr>
        <p:spPr>
          <a:xfrm>
            <a:off x="932688" y="2286000"/>
            <a:ext cx="109731" cy="109728"/>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19" name="TextBox 23"/>
          <p:cNvSpPr txBox="1"/>
          <p:nvPr/>
        </p:nvSpPr>
        <p:spPr>
          <a:xfrm>
            <a:off x="1289302" y="2217420"/>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20" name="TextBox 24"/>
          <p:cNvSpPr txBox="1"/>
          <p:nvPr/>
        </p:nvSpPr>
        <p:spPr>
          <a:xfrm>
            <a:off x="1645916" y="2217420"/>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21" name="TextBox 25"/>
          <p:cNvSpPr txBox="1"/>
          <p:nvPr/>
        </p:nvSpPr>
        <p:spPr>
          <a:xfrm>
            <a:off x="2359149" y="2217420"/>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22" name="TextBox 26"/>
          <p:cNvSpPr txBox="1"/>
          <p:nvPr/>
        </p:nvSpPr>
        <p:spPr>
          <a:xfrm>
            <a:off x="3072383" y="2217420"/>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23" name="TextBox 27"/>
          <p:cNvSpPr txBox="1"/>
          <p:nvPr/>
        </p:nvSpPr>
        <p:spPr>
          <a:xfrm>
            <a:off x="3429000" y="2217420"/>
            <a:ext cx="219456"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24" name="Oval 28"/>
          <p:cNvSpPr/>
          <p:nvPr/>
        </p:nvSpPr>
        <p:spPr>
          <a:xfrm>
            <a:off x="932688" y="2679192"/>
            <a:ext cx="109731" cy="109731"/>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25" name="TextBox 29"/>
          <p:cNvSpPr txBox="1"/>
          <p:nvPr/>
        </p:nvSpPr>
        <p:spPr>
          <a:xfrm>
            <a:off x="1289302" y="2610610"/>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26" name="TextBox 30"/>
          <p:cNvSpPr txBox="1"/>
          <p:nvPr/>
        </p:nvSpPr>
        <p:spPr>
          <a:xfrm>
            <a:off x="2002533" y="2610610"/>
            <a:ext cx="219458"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27" name="TextBox 31"/>
          <p:cNvSpPr txBox="1"/>
          <p:nvPr/>
        </p:nvSpPr>
        <p:spPr>
          <a:xfrm>
            <a:off x="2359149" y="2610610"/>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28" name="TextBox 32"/>
          <p:cNvSpPr txBox="1"/>
          <p:nvPr/>
        </p:nvSpPr>
        <p:spPr>
          <a:xfrm>
            <a:off x="3072383" y="2610610"/>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29" name="TextBox 33"/>
          <p:cNvSpPr txBox="1"/>
          <p:nvPr/>
        </p:nvSpPr>
        <p:spPr>
          <a:xfrm>
            <a:off x="3429000" y="2610610"/>
            <a:ext cx="219456"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30" name="Oval 34"/>
          <p:cNvSpPr/>
          <p:nvPr/>
        </p:nvSpPr>
        <p:spPr>
          <a:xfrm>
            <a:off x="932688" y="3072383"/>
            <a:ext cx="109731" cy="109731"/>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31" name="TextBox 35"/>
          <p:cNvSpPr txBox="1"/>
          <p:nvPr/>
        </p:nvSpPr>
        <p:spPr>
          <a:xfrm>
            <a:off x="1645916" y="3003804"/>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32" name="TextBox 36"/>
          <p:cNvSpPr txBox="1"/>
          <p:nvPr/>
        </p:nvSpPr>
        <p:spPr>
          <a:xfrm>
            <a:off x="2002533" y="3003804"/>
            <a:ext cx="219458"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33" name="TextBox 37"/>
          <p:cNvSpPr txBox="1"/>
          <p:nvPr/>
        </p:nvSpPr>
        <p:spPr>
          <a:xfrm>
            <a:off x="2359149" y="3003804"/>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34" name="TextBox 38"/>
          <p:cNvSpPr txBox="1"/>
          <p:nvPr/>
        </p:nvSpPr>
        <p:spPr>
          <a:xfrm>
            <a:off x="2715766" y="3003804"/>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35" name="TextBox 39"/>
          <p:cNvSpPr txBox="1"/>
          <p:nvPr/>
        </p:nvSpPr>
        <p:spPr>
          <a:xfrm>
            <a:off x="3429000" y="3003804"/>
            <a:ext cx="219456"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36" name="Oval 40"/>
          <p:cNvSpPr/>
          <p:nvPr/>
        </p:nvSpPr>
        <p:spPr>
          <a:xfrm>
            <a:off x="932688" y="3465576"/>
            <a:ext cx="109731" cy="109731"/>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37" name="TextBox 41"/>
          <p:cNvSpPr txBox="1"/>
          <p:nvPr/>
        </p:nvSpPr>
        <p:spPr>
          <a:xfrm>
            <a:off x="1289302" y="3396996"/>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38" name="TextBox 42"/>
          <p:cNvSpPr txBox="1"/>
          <p:nvPr/>
        </p:nvSpPr>
        <p:spPr>
          <a:xfrm>
            <a:off x="1645916" y="3396996"/>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39" name="TextBox 43"/>
          <p:cNvSpPr txBox="1"/>
          <p:nvPr/>
        </p:nvSpPr>
        <p:spPr>
          <a:xfrm>
            <a:off x="2359149" y="3396996"/>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40" name="TextBox 44"/>
          <p:cNvSpPr txBox="1"/>
          <p:nvPr/>
        </p:nvSpPr>
        <p:spPr>
          <a:xfrm>
            <a:off x="3072383" y="3396996"/>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41" name="TextBox 45"/>
          <p:cNvSpPr txBox="1"/>
          <p:nvPr/>
        </p:nvSpPr>
        <p:spPr>
          <a:xfrm>
            <a:off x="3429000" y="3396996"/>
            <a:ext cx="219456"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42" name="Oval 46"/>
          <p:cNvSpPr/>
          <p:nvPr/>
        </p:nvSpPr>
        <p:spPr>
          <a:xfrm>
            <a:off x="932688" y="3858767"/>
            <a:ext cx="109731" cy="109731"/>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43" name="TextBox 47"/>
          <p:cNvSpPr txBox="1"/>
          <p:nvPr/>
        </p:nvSpPr>
        <p:spPr>
          <a:xfrm>
            <a:off x="1289302" y="3790188"/>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44" name="TextBox 48"/>
          <p:cNvSpPr txBox="1"/>
          <p:nvPr/>
        </p:nvSpPr>
        <p:spPr>
          <a:xfrm>
            <a:off x="2002533" y="3790188"/>
            <a:ext cx="219458"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45" name="TextBox 49"/>
          <p:cNvSpPr txBox="1"/>
          <p:nvPr/>
        </p:nvSpPr>
        <p:spPr>
          <a:xfrm>
            <a:off x="2359149" y="3790188"/>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46" name="TextBox 50"/>
          <p:cNvSpPr txBox="1"/>
          <p:nvPr/>
        </p:nvSpPr>
        <p:spPr>
          <a:xfrm>
            <a:off x="2715766" y="3790188"/>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47" name="TextBox 51"/>
          <p:cNvSpPr txBox="1"/>
          <p:nvPr/>
        </p:nvSpPr>
        <p:spPr>
          <a:xfrm>
            <a:off x="3429000" y="3790188"/>
            <a:ext cx="219456"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48" name="Oval 52"/>
          <p:cNvSpPr/>
          <p:nvPr/>
        </p:nvSpPr>
        <p:spPr>
          <a:xfrm>
            <a:off x="932688" y="4251959"/>
            <a:ext cx="109731" cy="109731"/>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49" name="TextBox 53"/>
          <p:cNvSpPr txBox="1"/>
          <p:nvPr/>
        </p:nvSpPr>
        <p:spPr>
          <a:xfrm>
            <a:off x="1645916" y="4183379"/>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50" name="TextBox 54"/>
          <p:cNvSpPr txBox="1"/>
          <p:nvPr/>
        </p:nvSpPr>
        <p:spPr>
          <a:xfrm>
            <a:off x="2002533" y="4183379"/>
            <a:ext cx="219458"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51" name="TextBox 55"/>
          <p:cNvSpPr txBox="1"/>
          <p:nvPr/>
        </p:nvSpPr>
        <p:spPr>
          <a:xfrm>
            <a:off x="2359149" y="4183379"/>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52" name="TextBox 56"/>
          <p:cNvSpPr txBox="1"/>
          <p:nvPr/>
        </p:nvSpPr>
        <p:spPr>
          <a:xfrm>
            <a:off x="2715766" y="4183379"/>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1953" name="TextBox 57"/>
          <p:cNvSpPr txBox="1"/>
          <p:nvPr/>
        </p:nvSpPr>
        <p:spPr>
          <a:xfrm>
            <a:off x="3072383" y="4183379"/>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1954" name="TextBox 58"/>
          <p:cNvSpPr txBox="1"/>
          <p:nvPr/>
        </p:nvSpPr>
        <p:spPr>
          <a:xfrm>
            <a:off x="832102" y="4645152"/>
            <a:ext cx="6400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USERS</a:t>
            </a:r>
          </a:p>
        </p:txBody>
      </p:sp>
      <p:sp>
        <p:nvSpPr>
          <p:cNvPr id="1955" name="TextBox 59"/>
          <p:cNvSpPr txBox="1"/>
          <p:nvPr/>
        </p:nvSpPr>
        <p:spPr>
          <a:xfrm>
            <a:off x="2002532" y="4645152"/>
            <a:ext cx="6400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NOTES</a:t>
            </a:r>
          </a:p>
        </p:txBody>
      </p:sp>
      <p:sp>
        <p:nvSpPr>
          <p:cNvPr id="1956" name="TextBox 60"/>
          <p:cNvSpPr txBox="1"/>
          <p:nvPr/>
        </p:nvSpPr>
        <p:spPr>
          <a:xfrm>
            <a:off x="3703320" y="2990088"/>
            <a:ext cx="384053"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400">
                <a:solidFill>
                  <a:srgbClr val="73777F"/>
                </a:solidFill>
                <a:latin typeface="Helvetica Neue"/>
                <a:ea typeface="Helvetica Neue"/>
                <a:cs typeface="Helvetica Neue"/>
                <a:sym typeface="Helvetica Neue"/>
              </a:defRPr>
            </a:lvl1pPr>
          </a:lstStyle>
          <a:p>
            <a:pPr/>
            <a:r>
              <a:t>→</a:t>
            </a:r>
          </a:p>
        </p:txBody>
      </p:sp>
      <p:sp>
        <p:nvSpPr>
          <p:cNvPr id="1957" name="Connector 61"/>
          <p:cNvSpPr/>
          <p:nvPr/>
        </p:nvSpPr>
        <p:spPr>
          <a:xfrm flipV="1">
            <a:off x="4681728" y="2212848"/>
            <a:ext cx="521209" cy="246893"/>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58" name="Connector 62"/>
          <p:cNvSpPr/>
          <p:nvPr/>
        </p:nvSpPr>
        <p:spPr>
          <a:xfrm>
            <a:off x="4681728" y="2459732"/>
            <a:ext cx="182885" cy="603509"/>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59" name="Connector 63"/>
          <p:cNvSpPr/>
          <p:nvPr/>
        </p:nvSpPr>
        <p:spPr>
          <a:xfrm>
            <a:off x="5202935" y="2212848"/>
            <a:ext cx="484637" cy="320045"/>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60" name="Connector 64"/>
          <p:cNvSpPr/>
          <p:nvPr/>
        </p:nvSpPr>
        <p:spPr>
          <a:xfrm>
            <a:off x="5202935" y="2212848"/>
            <a:ext cx="237744" cy="758957"/>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61" name="Connector 65"/>
          <p:cNvSpPr/>
          <p:nvPr/>
        </p:nvSpPr>
        <p:spPr>
          <a:xfrm flipH="1">
            <a:off x="5440679" y="2532888"/>
            <a:ext cx="246893" cy="438917"/>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62" name="Connector 66"/>
          <p:cNvSpPr/>
          <p:nvPr/>
        </p:nvSpPr>
        <p:spPr>
          <a:xfrm>
            <a:off x="5687567" y="2532888"/>
            <a:ext cx="256033" cy="713237"/>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63" name="Connector 67"/>
          <p:cNvSpPr/>
          <p:nvPr/>
        </p:nvSpPr>
        <p:spPr>
          <a:xfrm flipV="1">
            <a:off x="4864608" y="2971799"/>
            <a:ext cx="576077" cy="91444"/>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64" name="Connector 68"/>
          <p:cNvSpPr/>
          <p:nvPr/>
        </p:nvSpPr>
        <p:spPr>
          <a:xfrm>
            <a:off x="5440679" y="2971799"/>
            <a:ext cx="502920" cy="274326"/>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65" name="Connector 69"/>
          <p:cNvSpPr/>
          <p:nvPr/>
        </p:nvSpPr>
        <p:spPr>
          <a:xfrm>
            <a:off x="5943598" y="3246120"/>
            <a:ext cx="411485" cy="246893"/>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66" name="Connector 70"/>
          <p:cNvSpPr/>
          <p:nvPr/>
        </p:nvSpPr>
        <p:spPr>
          <a:xfrm flipV="1">
            <a:off x="6355079" y="2953511"/>
            <a:ext cx="365765" cy="539498"/>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67" name="Connector 71"/>
          <p:cNvSpPr/>
          <p:nvPr/>
        </p:nvSpPr>
        <p:spPr>
          <a:xfrm flipV="1">
            <a:off x="6720840" y="2514599"/>
            <a:ext cx="438917" cy="438917"/>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68" name="Connector 72"/>
          <p:cNvSpPr/>
          <p:nvPr/>
        </p:nvSpPr>
        <p:spPr>
          <a:xfrm flipV="1">
            <a:off x="6720840" y="2743200"/>
            <a:ext cx="877829" cy="210312"/>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69" name="Connector 73"/>
          <p:cNvSpPr/>
          <p:nvPr/>
        </p:nvSpPr>
        <p:spPr>
          <a:xfrm>
            <a:off x="6720840" y="2953510"/>
            <a:ext cx="219459" cy="585219"/>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70" name="Connector 74"/>
          <p:cNvSpPr/>
          <p:nvPr/>
        </p:nvSpPr>
        <p:spPr>
          <a:xfrm>
            <a:off x="7159752" y="2514599"/>
            <a:ext cx="438917" cy="228605"/>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71" name="Connector 75"/>
          <p:cNvSpPr/>
          <p:nvPr/>
        </p:nvSpPr>
        <p:spPr>
          <a:xfrm flipH="1">
            <a:off x="7470648" y="2743199"/>
            <a:ext cx="128020" cy="630942"/>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72" name="Connector 76"/>
          <p:cNvSpPr/>
          <p:nvPr/>
        </p:nvSpPr>
        <p:spPr>
          <a:xfrm flipV="1">
            <a:off x="6940294" y="3374135"/>
            <a:ext cx="530357" cy="164596"/>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73" name="Connector 77"/>
          <p:cNvSpPr/>
          <p:nvPr/>
        </p:nvSpPr>
        <p:spPr>
          <a:xfrm>
            <a:off x="6940294" y="3538727"/>
            <a:ext cx="859541" cy="274326"/>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74" name="Connector 78"/>
          <p:cNvSpPr/>
          <p:nvPr/>
        </p:nvSpPr>
        <p:spPr>
          <a:xfrm>
            <a:off x="7470647" y="3374135"/>
            <a:ext cx="329189" cy="438917"/>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1975" name="Oval 79"/>
          <p:cNvSpPr/>
          <p:nvPr/>
        </p:nvSpPr>
        <p:spPr>
          <a:xfrm>
            <a:off x="4617720" y="2395727"/>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76" name="Oval 80"/>
          <p:cNvSpPr/>
          <p:nvPr/>
        </p:nvSpPr>
        <p:spPr>
          <a:xfrm>
            <a:off x="5138928" y="2148838"/>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77" name="Oval 81"/>
          <p:cNvSpPr/>
          <p:nvPr/>
        </p:nvSpPr>
        <p:spPr>
          <a:xfrm>
            <a:off x="5623559" y="2468877"/>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78" name="Oval 82"/>
          <p:cNvSpPr/>
          <p:nvPr/>
        </p:nvSpPr>
        <p:spPr>
          <a:xfrm>
            <a:off x="4800600" y="2999232"/>
            <a:ext cx="128016"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79" name="Oval 83"/>
          <p:cNvSpPr/>
          <p:nvPr/>
        </p:nvSpPr>
        <p:spPr>
          <a:xfrm>
            <a:off x="5376671" y="2907792"/>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80" name="Oval 84"/>
          <p:cNvSpPr/>
          <p:nvPr/>
        </p:nvSpPr>
        <p:spPr>
          <a:xfrm>
            <a:off x="5879591" y="3182111"/>
            <a:ext cx="128025" cy="128018"/>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81" name="Oval 85"/>
          <p:cNvSpPr/>
          <p:nvPr/>
        </p:nvSpPr>
        <p:spPr>
          <a:xfrm>
            <a:off x="6291071" y="3429000"/>
            <a:ext cx="128025" cy="128016"/>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82" name="Oval 86"/>
          <p:cNvSpPr/>
          <p:nvPr/>
        </p:nvSpPr>
        <p:spPr>
          <a:xfrm>
            <a:off x="6656830" y="2889504"/>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83" name="Oval 87"/>
          <p:cNvSpPr/>
          <p:nvPr/>
        </p:nvSpPr>
        <p:spPr>
          <a:xfrm>
            <a:off x="7095742" y="2450592"/>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84" name="Oval 88"/>
          <p:cNvSpPr/>
          <p:nvPr/>
        </p:nvSpPr>
        <p:spPr>
          <a:xfrm>
            <a:off x="7534656" y="2679192"/>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85" name="Oval 89"/>
          <p:cNvSpPr/>
          <p:nvPr/>
        </p:nvSpPr>
        <p:spPr>
          <a:xfrm>
            <a:off x="6876288" y="3474720"/>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86" name="Oval 90"/>
          <p:cNvSpPr/>
          <p:nvPr/>
        </p:nvSpPr>
        <p:spPr>
          <a:xfrm>
            <a:off x="7406640" y="3310128"/>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87" name="Oval 91"/>
          <p:cNvSpPr/>
          <p:nvPr/>
        </p:nvSpPr>
        <p:spPr>
          <a:xfrm>
            <a:off x="7735823" y="3749037"/>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88" name="TextBox 92"/>
          <p:cNvSpPr txBox="1"/>
          <p:nvPr/>
        </p:nvSpPr>
        <p:spPr>
          <a:xfrm>
            <a:off x="8074152" y="2990088"/>
            <a:ext cx="384053"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400">
                <a:solidFill>
                  <a:srgbClr val="73777F"/>
                </a:solidFill>
                <a:latin typeface="Helvetica Neue"/>
                <a:ea typeface="Helvetica Neue"/>
                <a:cs typeface="Helvetica Neue"/>
                <a:sym typeface="Helvetica Neue"/>
              </a:defRPr>
            </a:lvl1pPr>
          </a:lstStyle>
          <a:p>
            <a:pPr/>
            <a:r>
              <a:t>→</a:t>
            </a:r>
          </a:p>
        </p:txBody>
      </p:sp>
      <p:sp>
        <p:nvSpPr>
          <p:cNvPr id="1989" name="Oval 93"/>
          <p:cNvSpPr/>
          <p:nvPr/>
        </p:nvSpPr>
        <p:spPr>
          <a:xfrm>
            <a:off x="8887968" y="2331720"/>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90" name="Oval 94"/>
          <p:cNvSpPr/>
          <p:nvPr/>
        </p:nvSpPr>
        <p:spPr>
          <a:xfrm>
            <a:off x="9272016" y="2139694"/>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91" name="Oval 95"/>
          <p:cNvSpPr/>
          <p:nvPr/>
        </p:nvSpPr>
        <p:spPr>
          <a:xfrm>
            <a:off x="9646918" y="2395727"/>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92" name="Oval 96"/>
          <p:cNvSpPr/>
          <p:nvPr/>
        </p:nvSpPr>
        <p:spPr>
          <a:xfrm>
            <a:off x="9052559" y="2798064"/>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93" name="Oval 97"/>
          <p:cNvSpPr/>
          <p:nvPr/>
        </p:nvSpPr>
        <p:spPr>
          <a:xfrm>
            <a:off x="9454894" y="2852927"/>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94" name="Oval 98"/>
          <p:cNvSpPr/>
          <p:nvPr/>
        </p:nvSpPr>
        <p:spPr>
          <a:xfrm>
            <a:off x="9811511" y="2743199"/>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95" name="Oval 99"/>
          <p:cNvSpPr/>
          <p:nvPr/>
        </p:nvSpPr>
        <p:spPr>
          <a:xfrm>
            <a:off x="9235440" y="3236976"/>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96" name="Oval 100"/>
          <p:cNvSpPr/>
          <p:nvPr/>
        </p:nvSpPr>
        <p:spPr>
          <a:xfrm>
            <a:off x="9656064" y="3246120"/>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97" name="Oval 101"/>
          <p:cNvSpPr/>
          <p:nvPr/>
        </p:nvSpPr>
        <p:spPr>
          <a:xfrm>
            <a:off x="10286999" y="3154677"/>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98" name="Oval 102"/>
          <p:cNvSpPr/>
          <p:nvPr/>
        </p:nvSpPr>
        <p:spPr>
          <a:xfrm>
            <a:off x="10652759" y="2962655"/>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99" name="Oval 103"/>
          <p:cNvSpPr/>
          <p:nvPr/>
        </p:nvSpPr>
        <p:spPr>
          <a:xfrm>
            <a:off x="11018518" y="3218688"/>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00" name="Oval 104"/>
          <p:cNvSpPr/>
          <p:nvPr/>
        </p:nvSpPr>
        <p:spPr>
          <a:xfrm>
            <a:off x="10469880" y="3602735"/>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01" name="Oval 105"/>
          <p:cNvSpPr/>
          <p:nvPr/>
        </p:nvSpPr>
        <p:spPr>
          <a:xfrm>
            <a:off x="10844783" y="3675886"/>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02" name="Oval 106"/>
          <p:cNvSpPr/>
          <p:nvPr/>
        </p:nvSpPr>
        <p:spPr>
          <a:xfrm>
            <a:off x="11192256" y="3584447"/>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03" name="Oval 107"/>
          <p:cNvSpPr/>
          <p:nvPr/>
        </p:nvSpPr>
        <p:spPr>
          <a:xfrm>
            <a:off x="10634471" y="4041647"/>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04" name="Oval 108"/>
          <p:cNvSpPr/>
          <p:nvPr/>
        </p:nvSpPr>
        <p:spPr>
          <a:xfrm>
            <a:off x="11018518" y="4050791"/>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05" name="TextBox 109"/>
          <p:cNvSpPr txBox="1"/>
          <p:nvPr/>
        </p:nvSpPr>
        <p:spPr>
          <a:xfrm>
            <a:off x="8668511" y="4370832"/>
            <a:ext cx="1508765"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900">
                <a:solidFill>
                  <a:srgbClr val="3977F6"/>
                </a:solidFill>
                <a:latin typeface="Helvetica Neue"/>
                <a:ea typeface="Helvetica Neue"/>
                <a:cs typeface="Helvetica Neue"/>
                <a:sym typeface="Helvetica Neue"/>
              </a:defRPr>
            </a:lvl1pPr>
          </a:lstStyle>
          <a:p>
            <a:pPr/>
            <a:r>
              <a:t>CONSTITUENCY A</a:t>
            </a:r>
          </a:p>
        </p:txBody>
      </p:sp>
      <p:sp>
        <p:nvSpPr>
          <p:cNvPr id="2006" name="TextBox 110"/>
          <p:cNvSpPr txBox="1"/>
          <p:nvPr/>
        </p:nvSpPr>
        <p:spPr>
          <a:xfrm>
            <a:off x="10058399" y="4370832"/>
            <a:ext cx="1508766"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900">
                <a:solidFill>
                  <a:srgbClr val="FF705B"/>
                </a:solidFill>
                <a:latin typeface="Helvetica Neue"/>
                <a:ea typeface="Helvetica Neue"/>
                <a:cs typeface="Helvetica Neue"/>
                <a:sym typeface="Helvetica Neue"/>
              </a:defRPr>
            </a:lvl1pPr>
          </a:lstStyle>
          <a:p>
            <a:pPr/>
            <a:r>
              <a:t>CONSTITUENCY B</a:t>
            </a:r>
          </a:p>
        </p:txBody>
      </p:sp>
      <p:sp>
        <p:nvSpPr>
          <p:cNvPr id="2007" name="Connector 111"/>
          <p:cNvSpPr/>
          <p:nvPr/>
        </p:nvSpPr>
        <p:spPr>
          <a:xfrm>
            <a:off x="749804" y="5248654"/>
            <a:ext cx="10680199" cy="5"/>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08" name="TextBox 112"/>
          <p:cNvSpPr txBox="1"/>
          <p:nvPr/>
        </p:nvSpPr>
        <p:spPr>
          <a:xfrm>
            <a:off x="2468880" y="5532120"/>
            <a:ext cx="7223760"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700">
                <a:solidFill>
                  <a:srgbClr val="1FA873"/>
                </a:solidFill>
                <a:latin typeface="Helvetica Neue"/>
                <a:ea typeface="Helvetica Neue"/>
                <a:cs typeface="Helvetica Neue"/>
                <a:sym typeface="Helvetica Neue"/>
              </a:defRPr>
            </a:pPr>
            <a:r>
              <a:t>• </a:t>
            </a:r>
            <a:r>
              <a:rPr>
                <a:solidFill>
                  <a:srgbClr val="111318"/>
                </a:solidFill>
              </a:rPr>
              <a:t>Similar co-rating patterns → same behavioral constituency</a:t>
            </a:r>
          </a:p>
        </p:txBody>
      </p:sp>
      <p:sp>
        <p:nvSpPr>
          <p:cNvPr id="2009" name="TextBox 113"/>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Authors’ 100k-note / 200k-rater pipeline</a:t>
            </a:r>
          </a:p>
        </p:txBody>
      </p:sp>
      <p:sp>
        <p:nvSpPr>
          <p:cNvPr id="2010" name="Rectangle"/>
          <p:cNvSpPr/>
          <p:nvPr/>
        </p:nvSpPr>
        <p:spPr>
          <a:xfrm>
            <a:off x="3742044" y="1460622"/>
            <a:ext cx="8005738" cy="3644146"/>
          </a:xfrm>
          <a:prstGeom prst="rect">
            <a:avLst/>
          </a:prstGeom>
          <a:solidFill>
            <a:srgbClr val="FFFFFF"/>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2" name="TextBox 1"/>
          <p:cNvSpPr txBox="1"/>
          <p:nvPr/>
        </p:nvSpPr>
        <p:spPr>
          <a:xfrm>
            <a:off x="603499" y="420623"/>
            <a:ext cx="4389129"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OUR SHIFT · RECOVERY</a:t>
            </a:r>
          </a:p>
        </p:txBody>
      </p:sp>
      <p:sp>
        <p:nvSpPr>
          <p:cNvPr id="2013"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From ratings to constituencies</a:t>
            </a:r>
          </a:p>
        </p:txBody>
      </p:sp>
      <p:sp>
        <p:nvSpPr>
          <p:cNvPr id="2014" name="TextBox 3"/>
          <p:cNvSpPr txBox="1"/>
          <p:nvPr/>
        </p:nvSpPr>
        <p:spPr>
          <a:xfrm>
            <a:off x="11082528" y="457198"/>
            <a:ext cx="438917"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08</a:t>
            </a:r>
          </a:p>
        </p:txBody>
      </p:sp>
      <p:sp>
        <p:nvSpPr>
          <p:cNvPr id="2015" name="TextBox 4"/>
          <p:cNvSpPr txBox="1"/>
          <p:nvPr/>
        </p:nvSpPr>
        <p:spPr>
          <a:xfrm>
            <a:off x="841247" y="1609344"/>
            <a:ext cx="2194562"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3977F6"/>
                </a:solidFill>
                <a:latin typeface="Helvetica Neue"/>
                <a:ea typeface="Helvetica Neue"/>
                <a:cs typeface="Helvetica Neue"/>
                <a:sym typeface="Helvetica Neue"/>
              </a:defRPr>
            </a:pPr>
            <a:r>
              <a:t>• </a:t>
            </a:r>
            <a:r>
              <a:rPr>
                <a:solidFill>
                  <a:srgbClr val="111318"/>
                </a:solidFill>
              </a:rPr>
              <a:t>Rate notes</a:t>
            </a:r>
          </a:p>
        </p:txBody>
      </p:sp>
      <p:sp>
        <p:nvSpPr>
          <p:cNvPr id="2016" name="TextBox 5"/>
          <p:cNvSpPr txBox="1"/>
          <p:nvPr/>
        </p:nvSpPr>
        <p:spPr>
          <a:xfrm>
            <a:off x="4462271" y="1609344"/>
            <a:ext cx="2743203"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3977F6"/>
                </a:solidFill>
                <a:latin typeface="Helvetica Neue"/>
                <a:ea typeface="Helvetica Neue"/>
                <a:cs typeface="Helvetica Neue"/>
                <a:sym typeface="Helvetica Neue"/>
              </a:defRPr>
            </a:pPr>
            <a:r>
              <a:t>• </a:t>
            </a:r>
            <a:r>
              <a:rPr>
                <a:solidFill>
                  <a:srgbClr val="111318"/>
                </a:solidFill>
              </a:rPr>
              <a:t>Find matching patterns</a:t>
            </a:r>
          </a:p>
        </p:txBody>
      </p:sp>
      <p:sp>
        <p:nvSpPr>
          <p:cNvPr id="2017" name="TextBox 6"/>
          <p:cNvSpPr txBox="1"/>
          <p:nvPr/>
        </p:nvSpPr>
        <p:spPr>
          <a:xfrm>
            <a:off x="8641080" y="1609344"/>
            <a:ext cx="2743205"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3977F6"/>
                </a:solidFill>
                <a:latin typeface="Helvetica Neue"/>
                <a:ea typeface="Helvetica Neue"/>
                <a:cs typeface="Helvetica Neue"/>
                <a:sym typeface="Helvetica Neue"/>
              </a:defRPr>
            </a:pPr>
            <a:r>
              <a:t>• </a:t>
            </a:r>
            <a:r>
              <a:rPr>
                <a:solidFill>
                  <a:srgbClr val="111318"/>
                </a:solidFill>
              </a:rPr>
              <a:t>Recover constituencies</a:t>
            </a:r>
          </a:p>
        </p:txBody>
      </p:sp>
      <p:sp>
        <p:nvSpPr>
          <p:cNvPr id="2018" name="Connector 7"/>
          <p:cNvSpPr/>
          <p:nvPr/>
        </p:nvSpPr>
        <p:spPr>
          <a:xfrm flipH="1">
            <a:off x="1225293" y="2148838"/>
            <a:ext cx="6" cy="2359157"/>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19" name="Connector 8"/>
          <p:cNvSpPr/>
          <p:nvPr/>
        </p:nvSpPr>
        <p:spPr>
          <a:xfrm flipH="1">
            <a:off x="1581910" y="2148838"/>
            <a:ext cx="6" cy="2359157"/>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20" name="Connector 9"/>
          <p:cNvSpPr/>
          <p:nvPr/>
        </p:nvSpPr>
        <p:spPr>
          <a:xfrm flipH="1">
            <a:off x="1938526" y="2148838"/>
            <a:ext cx="6" cy="2359157"/>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21" name="Connector 10"/>
          <p:cNvSpPr/>
          <p:nvPr/>
        </p:nvSpPr>
        <p:spPr>
          <a:xfrm flipH="1">
            <a:off x="2295143" y="2148838"/>
            <a:ext cx="6" cy="2359157"/>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22" name="Connector 11"/>
          <p:cNvSpPr/>
          <p:nvPr/>
        </p:nvSpPr>
        <p:spPr>
          <a:xfrm flipH="1">
            <a:off x="2651759" y="2148838"/>
            <a:ext cx="6" cy="2359157"/>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23" name="Connector 12"/>
          <p:cNvSpPr/>
          <p:nvPr/>
        </p:nvSpPr>
        <p:spPr>
          <a:xfrm flipH="1">
            <a:off x="3008375" y="2148838"/>
            <a:ext cx="6" cy="2359157"/>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24" name="Connector 13"/>
          <p:cNvSpPr/>
          <p:nvPr/>
        </p:nvSpPr>
        <p:spPr>
          <a:xfrm flipH="1">
            <a:off x="3364989" y="2148838"/>
            <a:ext cx="6" cy="2359157"/>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25" name="Connector 14"/>
          <p:cNvSpPr/>
          <p:nvPr/>
        </p:nvSpPr>
        <p:spPr>
          <a:xfrm flipH="1">
            <a:off x="3721606" y="2148838"/>
            <a:ext cx="6" cy="2359157"/>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26" name="Connector 15"/>
          <p:cNvSpPr/>
          <p:nvPr/>
        </p:nvSpPr>
        <p:spPr>
          <a:xfrm>
            <a:off x="1225294" y="2148837"/>
            <a:ext cx="2496314" cy="6"/>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27" name="Connector 16"/>
          <p:cNvSpPr/>
          <p:nvPr/>
        </p:nvSpPr>
        <p:spPr>
          <a:xfrm>
            <a:off x="1225294" y="2542031"/>
            <a:ext cx="2496314" cy="6"/>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28" name="Connector 17"/>
          <p:cNvSpPr/>
          <p:nvPr/>
        </p:nvSpPr>
        <p:spPr>
          <a:xfrm>
            <a:off x="1225294" y="2935221"/>
            <a:ext cx="2496314" cy="6"/>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29" name="Connector 18"/>
          <p:cNvSpPr/>
          <p:nvPr/>
        </p:nvSpPr>
        <p:spPr>
          <a:xfrm>
            <a:off x="1225294" y="3328413"/>
            <a:ext cx="2496314" cy="6"/>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30" name="Connector 19"/>
          <p:cNvSpPr/>
          <p:nvPr/>
        </p:nvSpPr>
        <p:spPr>
          <a:xfrm>
            <a:off x="1225294" y="3721606"/>
            <a:ext cx="2496314" cy="6"/>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31" name="Connector 20"/>
          <p:cNvSpPr/>
          <p:nvPr/>
        </p:nvSpPr>
        <p:spPr>
          <a:xfrm>
            <a:off x="1225294" y="4114800"/>
            <a:ext cx="2496314" cy="0"/>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32" name="Connector 21"/>
          <p:cNvSpPr/>
          <p:nvPr/>
        </p:nvSpPr>
        <p:spPr>
          <a:xfrm>
            <a:off x="1225294" y="4507989"/>
            <a:ext cx="2496314" cy="6"/>
          </a:xfrm>
          <a:prstGeom prst="line">
            <a:avLst/>
          </a:prstGeom>
          <a:ln w="6985">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33" name="Oval 22"/>
          <p:cNvSpPr/>
          <p:nvPr/>
        </p:nvSpPr>
        <p:spPr>
          <a:xfrm>
            <a:off x="932688" y="2286000"/>
            <a:ext cx="109731" cy="109728"/>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34" name="TextBox 23"/>
          <p:cNvSpPr txBox="1"/>
          <p:nvPr/>
        </p:nvSpPr>
        <p:spPr>
          <a:xfrm>
            <a:off x="1289302" y="2217420"/>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35" name="TextBox 24"/>
          <p:cNvSpPr txBox="1"/>
          <p:nvPr/>
        </p:nvSpPr>
        <p:spPr>
          <a:xfrm>
            <a:off x="1645916" y="2217420"/>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36" name="TextBox 25"/>
          <p:cNvSpPr txBox="1"/>
          <p:nvPr/>
        </p:nvSpPr>
        <p:spPr>
          <a:xfrm>
            <a:off x="2359149" y="2217420"/>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37" name="TextBox 26"/>
          <p:cNvSpPr txBox="1"/>
          <p:nvPr/>
        </p:nvSpPr>
        <p:spPr>
          <a:xfrm>
            <a:off x="3072383" y="2217420"/>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38" name="TextBox 27"/>
          <p:cNvSpPr txBox="1"/>
          <p:nvPr/>
        </p:nvSpPr>
        <p:spPr>
          <a:xfrm>
            <a:off x="3429000" y="2217420"/>
            <a:ext cx="219456"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39" name="Oval 28"/>
          <p:cNvSpPr/>
          <p:nvPr/>
        </p:nvSpPr>
        <p:spPr>
          <a:xfrm>
            <a:off x="932688" y="2679192"/>
            <a:ext cx="109731" cy="109731"/>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40" name="TextBox 29"/>
          <p:cNvSpPr txBox="1"/>
          <p:nvPr/>
        </p:nvSpPr>
        <p:spPr>
          <a:xfrm>
            <a:off x="1289302" y="2610610"/>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41" name="TextBox 30"/>
          <p:cNvSpPr txBox="1"/>
          <p:nvPr/>
        </p:nvSpPr>
        <p:spPr>
          <a:xfrm>
            <a:off x="2002533" y="2610610"/>
            <a:ext cx="219458"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42" name="TextBox 31"/>
          <p:cNvSpPr txBox="1"/>
          <p:nvPr/>
        </p:nvSpPr>
        <p:spPr>
          <a:xfrm>
            <a:off x="2359149" y="2610610"/>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43" name="TextBox 32"/>
          <p:cNvSpPr txBox="1"/>
          <p:nvPr/>
        </p:nvSpPr>
        <p:spPr>
          <a:xfrm>
            <a:off x="3072383" y="2610610"/>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44" name="TextBox 33"/>
          <p:cNvSpPr txBox="1"/>
          <p:nvPr/>
        </p:nvSpPr>
        <p:spPr>
          <a:xfrm>
            <a:off x="3429000" y="2610610"/>
            <a:ext cx="219456"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45" name="Oval 34"/>
          <p:cNvSpPr/>
          <p:nvPr/>
        </p:nvSpPr>
        <p:spPr>
          <a:xfrm>
            <a:off x="932688" y="3072383"/>
            <a:ext cx="109731" cy="109731"/>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46" name="TextBox 35"/>
          <p:cNvSpPr txBox="1"/>
          <p:nvPr/>
        </p:nvSpPr>
        <p:spPr>
          <a:xfrm>
            <a:off x="1645916" y="3003804"/>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47" name="TextBox 36"/>
          <p:cNvSpPr txBox="1"/>
          <p:nvPr/>
        </p:nvSpPr>
        <p:spPr>
          <a:xfrm>
            <a:off x="2002533" y="3003804"/>
            <a:ext cx="219458"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48" name="TextBox 37"/>
          <p:cNvSpPr txBox="1"/>
          <p:nvPr/>
        </p:nvSpPr>
        <p:spPr>
          <a:xfrm>
            <a:off x="2359149" y="3003804"/>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49" name="TextBox 38"/>
          <p:cNvSpPr txBox="1"/>
          <p:nvPr/>
        </p:nvSpPr>
        <p:spPr>
          <a:xfrm>
            <a:off x="2715766" y="3003804"/>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50" name="TextBox 39"/>
          <p:cNvSpPr txBox="1"/>
          <p:nvPr/>
        </p:nvSpPr>
        <p:spPr>
          <a:xfrm>
            <a:off x="3429000" y="3003804"/>
            <a:ext cx="219456"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51" name="Oval 40"/>
          <p:cNvSpPr/>
          <p:nvPr/>
        </p:nvSpPr>
        <p:spPr>
          <a:xfrm>
            <a:off x="932688" y="3465576"/>
            <a:ext cx="109731" cy="109731"/>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52" name="TextBox 41"/>
          <p:cNvSpPr txBox="1"/>
          <p:nvPr/>
        </p:nvSpPr>
        <p:spPr>
          <a:xfrm>
            <a:off x="1289302" y="3396996"/>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53" name="TextBox 42"/>
          <p:cNvSpPr txBox="1"/>
          <p:nvPr/>
        </p:nvSpPr>
        <p:spPr>
          <a:xfrm>
            <a:off x="1645916" y="3396996"/>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54" name="TextBox 43"/>
          <p:cNvSpPr txBox="1"/>
          <p:nvPr/>
        </p:nvSpPr>
        <p:spPr>
          <a:xfrm>
            <a:off x="2359149" y="3396996"/>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55" name="TextBox 44"/>
          <p:cNvSpPr txBox="1"/>
          <p:nvPr/>
        </p:nvSpPr>
        <p:spPr>
          <a:xfrm>
            <a:off x="3072383" y="3396996"/>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56" name="TextBox 45"/>
          <p:cNvSpPr txBox="1"/>
          <p:nvPr/>
        </p:nvSpPr>
        <p:spPr>
          <a:xfrm>
            <a:off x="3429000" y="3396996"/>
            <a:ext cx="219456"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57" name="Oval 46"/>
          <p:cNvSpPr/>
          <p:nvPr/>
        </p:nvSpPr>
        <p:spPr>
          <a:xfrm>
            <a:off x="932688" y="3858767"/>
            <a:ext cx="109731" cy="109731"/>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58" name="TextBox 47"/>
          <p:cNvSpPr txBox="1"/>
          <p:nvPr/>
        </p:nvSpPr>
        <p:spPr>
          <a:xfrm>
            <a:off x="1289302" y="3790188"/>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59" name="TextBox 48"/>
          <p:cNvSpPr txBox="1"/>
          <p:nvPr/>
        </p:nvSpPr>
        <p:spPr>
          <a:xfrm>
            <a:off x="2002533" y="3790188"/>
            <a:ext cx="219458"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60" name="TextBox 49"/>
          <p:cNvSpPr txBox="1"/>
          <p:nvPr/>
        </p:nvSpPr>
        <p:spPr>
          <a:xfrm>
            <a:off x="2359149" y="3790188"/>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61" name="TextBox 50"/>
          <p:cNvSpPr txBox="1"/>
          <p:nvPr/>
        </p:nvSpPr>
        <p:spPr>
          <a:xfrm>
            <a:off x="2715766" y="3790188"/>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62" name="TextBox 51"/>
          <p:cNvSpPr txBox="1"/>
          <p:nvPr/>
        </p:nvSpPr>
        <p:spPr>
          <a:xfrm>
            <a:off x="3429000" y="3790188"/>
            <a:ext cx="219456"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63" name="Oval 52"/>
          <p:cNvSpPr/>
          <p:nvPr/>
        </p:nvSpPr>
        <p:spPr>
          <a:xfrm>
            <a:off x="932688" y="4251959"/>
            <a:ext cx="109731" cy="109731"/>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64" name="TextBox 53"/>
          <p:cNvSpPr txBox="1"/>
          <p:nvPr/>
        </p:nvSpPr>
        <p:spPr>
          <a:xfrm>
            <a:off x="1645916" y="4183379"/>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65" name="TextBox 54"/>
          <p:cNvSpPr txBox="1"/>
          <p:nvPr/>
        </p:nvSpPr>
        <p:spPr>
          <a:xfrm>
            <a:off x="2002533" y="4183379"/>
            <a:ext cx="219458"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66" name="TextBox 55"/>
          <p:cNvSpPr txBox="1"/>
          <p:nvPr/>
        </p:nvSpPr>
        <p:spPr>
          <a:xfrm>
            <a:off x="2359149" y="4183379"/>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67" name="TextBox 56"/>
          <p:cNvSpPr txBox="1"/>
          <p:nvPr/>
        </p:nvSpPr>
        <p:spPr>
          <a:xfrm>
            <a:off x="2715766" y="4183379"/>
            <a:ext cx="21945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1FA873"/>
                </a:solidFill>
              </a:defRPr>
            </a:lvl1pPr>
          </a:lstStyle>
          <a:p>
            <a:pPr/>
            <a:r>
              <a:t>✓</a:t>
            </a:r>
          </a:p>
        </p:txBody>
      </p:sp>
      <p:sp>
        <p:nvSpPr>
          <p:cNvPr id="2068" name="TextBox 57"/>
          <p:cNvSpPr txBox="1"/>
          <p:nvPr/>
        </p:nvSpPr>
        <p:spPr>
          <a:xfrm>
            <a:off x="3072383" y="4183379"/>
            <a:ext cx="21945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a:t>
            </a:r>
          </a:p>
        </p:txBody>
      </p:sp>
      <p:sp>
        <p:nvSpPr>
          <p:cNvPr id="2069" name="TextBox 58"/>
          <p:cNvSpPr txBox="1"/>
          <p:nvPr/>
        </p:nvSpPr>
        <p:spPr>
          <a:xfrm>
            <a:off x="832102" y="4645152"/>
            <a:ext cx="6400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USERS</a:t>
            </a:r>
          </a:p>
        </p:txBody>
      </p:sp>
      <p:sp>
        <p:nvSpPr>
          <p:cNvPr id="2070" name="TextBox 59"/>
          <p:cNvSpPr txBox="1"/>
          <p:nvPr/>
        </p:nvSpPr>
        <p:spPr>
          <a:xfrm>
            <a:off x="2002532" y="4645152"/>
            <a:ext cx="6400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NOTES</a:t>
            </a:r>
          </a:p>
        </p:txBody>
      </p:sp>
      <p:sp>
        <p:nvSpPr>
          <p:cNvPr id="2071" name="TextBox 60"/>
          <p:cNvSpPr txBox="1"/>
          <p:nvPr/>
        </p:nvSpPr>
        <p:spPr>
          <a:xfrm>
            <a:off x="3703320" y="2990088"/>
            <a:ext cx="384053"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400">
                <a:solidFill>
                  <a:srgbClr val="73777F"/>
                </a:solidFill>
                <a:latin typeface="Helvetica Neue"/>
                <a:ea typeface="Helvetica Neue"/>
                <a:cs typeface="Helvetica Neue"/>
                <a:sym typeface="Helvetica Neue"/>
              </a:defRPr>
            </a:lvl1pPr>
          </a:lstStyle>
          <a:p>
            <a:pPr/>
            <a:r>
              <a:t>→</a:t>
            </a:r>
          </a:p>
        </p:txBody>
      </p:sp>
      <p:sp>
        <p:nvSpPr>
          <p:cNvPr id="2072" name="Connector 61"/>
          <p:cNvSpPr/>
          <p:nvPr/>
        </p:nvSpPr>
        <p:spPr>
          <a:xfrm flipV="1">
            <a:off x="4681728" y="2212848"/>
            <a:ext cx="521209" cy="246893"/>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73" name="Connector 62"/>
          <p:cNvSpPr/>
          <p:nvPr/>
        </p:nvSpPr>
        <p:spPr>
          <a:xfrm>
            <a:off x="4681728" y="2459732"/>
            <a:ext cx="182885" cy="603509"/>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74" name="Connector 63"/>
          <p:cNvSpPr/>
          <p:nvPr/>
        </p:nvSpPr>
        <p:spPr>
          <a:xfrm>
            <a:off x="5202935" y="2212848"/>
            <a:ext cx="484636" cy="320045"/>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75" name="Connector 64"/>
          <p:cNvSpPr/>
          <p:nvPr/>
        </p:nvSpPr>
        <p:spPr>
          <a:xfrm>
            <a:off x="5202935" y="2212848"/>
            <a:ext cx="237744" cy="758957"/>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76" name="Connector 65"/>
          <p:cNvSpPr/>
          <p:nvPr/>
        </p:nvSpPr>
        <p:spPr>
          <a:xfrm flipH="1">
            <a:off x="5440679" y="2532887"/>
            <a:ext cx="246893" cy="438918"/>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77" name="Connector 66"/>
          <p:cNvSpPr/>
          <p:nvPr/>
        </p:nvSpPr>
        <p:spPr>
          <a:xfrm>
            <a:off x="5687567" y="2532888"/>
            <a:ext cx="256033" cy="713237"/>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78" name="Connector 67"/>
          <p:cNvSpPr/>
          <p:nvPr/>
        </p:nvSpPr>
        <p:spPr>
          <a:xfrm flipV="1">
            <a:off x="4864608" y="2971798"/>
            <a:ext cx="576077" cy="91444"/>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79" name="Connector 68"/>
          <p:cNvSpPr/>
          <p:nvPr/>
        </p:nvSpPr>
        <p:spPr>
          <a:xfrm>
            <a:off x="5440679" y="2971799"/>
            <a:ext cx="502920" cy="274326"/>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80" name="Connector 69"/>
          <p:cNvSpPr/>
          <p:nvPr/>
        </p:nvSpPr>
        <p:spPr>
          <a:xfrm>
            <a:off x="5943596" y="3246120"/>
            <a:ext cx="411485" cy="246893"/>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81" name="Connector 70"/>
          <p:cNvSpPr/>
          <p:nvPr/>
        </p:nvSpPr>
        <p:spPr>
          <a:xfrm flipV="1">
            <a:off x="6355079" y="2953510"/>
            <a:ext cx="365765" cy="539501"/>
          </a:xfrm>
          <a:prstGeom prst="line">
            <a:avLst/>
          </a:prstGeom>
          <a:ln w="889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82" name="Connector 71"/>
          <p:cNvSpPr/>
          <p:nvPr/>
        </p:nvSpPr>
        <p:spPr>
          <a:xfrm flipV="1">
            <a:off x="6720840" y="2514598"/>
            <a:ext cx="438917" cy="438917"/>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83" name="Connector 72"/>
          <p:cNvSpPr/>
          <p:nvPr/>
        </p:nvSpPr>
        <p:spPr>
          <a:xfrm flipV="1">
            <a:off x="6720840" y="2743199"/>
            <a:ext cx="877829" cy="210315"/>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84" name="Connector 73"/>
          <p:cNvSpPr/>
          <p:nvPr/>
        </p:nvSpPr>
        <p:spPr>
          <a:xfrm>
            <a:off x="6720839" y="2953510"/>
            <a:ext cx="219459" cy="585219"/>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85" name="Connector 74"/>
          <p:cNvSpPr/>
          <p:nvPr/>
        </p:nvSpPr>
        <p:spPr>
          <a:xfrm>
            <a:off x="7159752" y="2514599"/>
            <a:ext cx="438917" cy="228605"/>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86" name="Connector 75"/>
          <p:cNvSpPr/>
          <p:nvPr/>
        </p:nvSpPr>
        <p:spPr>
          <a:xfrm flipH="1">
            <a:off x="7470648" y="2743199"/>
            <a:ext cx="128020" cy="630942"/>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87" name="Connector 76"/>
          <p:cNvSpPr/>
          <p:nvPr/>
        </p:nvSpPr>
        <p:spPr>
          <a:xfrm flipV="1">
            <a:off x="6940294" y="3374135"/>
            <a:ext cx="530357" cy="164596"/>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88" name="Connector 77"/>
          <p:cNvSpPr/>
          <p:nvPr/>
        </p:nvSpPr>
        <p:spPr>
          <a:xfrm>
            <a:off x="6940294" y="3538725"/>
            <a:ext cx="859541" cy="274326"/>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89" name="Connector 78"/>
          <p:cNvSpPr/>
          <p:nvPr/>
        </p:nvSpPr>
        <p:spPr>
          <a:xfrm>
            <a:off x="7470647" y="3374135"/>
            <a:ext cx="329189" cy="438917"/>
          </a:xfrm>
          <a:prstGeom prst="line">
            <a:avLst/>
          </a:prstGeom>
          <a:ln w="12700">
            <a:solidFill>
              <a:srgbClr val="73777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090" name="Oval 79"/>
          <p:cNvSpPr/>
          <p:nvPr/>
        </p:nvSpPr>
        <p:spPr>
          <a:xfrm>
            <a:off x="4617720" y="2395727"/>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91" name="Oval 80"/>
          <p:cNvSpPr/>
          <p:nvPr/>
        </p:nvSpPr>
        <p:spPr>
          <a:xfrm>
            <a:off x="5138928" y="2148838"/>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92" name="Oval 81"/>
          <p:cNvSpPr/>
          <p:nvPr/>
        </p:nvSpPr>
        <p:spPr>
          <a:xfrm>
            <a:off x="5623559" y="2468877"/>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93" name="Oval 82"/>
          <p:cNvSpPr/>
          <p:nvPr/>
        </p:nvSpPr>
        <p:spPr>
          <a:xfrm>
            <a:off x="4800600" y="2999232"/>
            <a:ext cx="128016"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94" name="Oval 83"/>
          <p:cNvSpPr/>
          <p:nvPr/>
        </p:nvSpPr>
        <p:spPr>
          <a:xfrm>
            <a:off x="5376671" y="2907792"/>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95" name="Oval 84"/>
          <p:cNvSpPr/>
          <p:nvPr/>
        </p:nvSpPr>
        <p:spPr>
          <a:xfrm>
            <a:off x="5879591" y="3182111"/>
            <a:ext cx="128025" cy="128018"/>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96" name="Oval 85"/>
          <p:cNvSpPr/>
          <p:nvPr/>
        </p:nvSpPr>
        <p:spPr>
          <a:xfrm>
            <a:off x="6291071" y="3429000"/>
            <a:ext cx="128025" cy="128016"/>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97" name="Oval 86"/>
          <p:cNvSpPr/>
          <p:nvPr/>
        </p:nvSpPr>
        <p:spPr>
          <a:xfrm>
            <a:off x="6656830" y="2889504"/>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98" name="Oval 87"/>
          <p:cNvSpPr/>
          <p:nvPr/>
        </p:nvSpPr>
        <p:spPr>
          <a:xfrm>
            <a:off x="7095742" y="2450592"/>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99" name="Oval 88"/>
          <p:cNvSpPr/>
          <p:nvPr/>
        </p:nvSpPr>
        <p:spPr>
          <a:xfrm>
            <a:off x="7534656" y="2679192"/>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00" name="Oval 89"/>
          <p:cNvSpPr/>
          <p:nvPr/>
        </p:nvSpPr>
        <p:spPr>
          <a:xfrm>
            <a:off x="6876288" y="3474720"/>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01" name="Oval 90"/>
          <p:cNvSpPr/>
          <p:nvPr/>
        </p:nvSpPr>
        <p:spPr>
          <a:xfrm>
            <a:off x="7406640" y="3310128"/>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02" name="Oval 91"/>
          <p:cNvSpPr/>
          <p:nvPr/>
        </p:nvSpPr>
        <p:spPr>
          <a:xfrm>
            <a:off x="7735823" y="3749037"/>
            <a:ext cx="128025" cy="128025"/>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03" name="TextBox 92"/>
          <p:cNvSpPr txBox="1"/>
          <p:nvPr/>
        </p:nvSpPr>
        <p:spPr>
          <a:xfrm>
            <a:off x="8074152" y="2990088"/>
            <a:ext cx="384053"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400">
                <a:solidFill>
                  <a:srgbClr val="73777F"/>
                </a:solidFill>
                <a:latin typeface="Helvetica Neue"/>
                <a:ea typeface="Helvetica Neue"/>
                <a:cs typeface="Helvetica Neue"/>
                <a:sym typeface="Helvetica Neue"/>
              </a:defRPr>
            </a:lvl1pPr>
          </a:lstStyle>
          <a:p>
            <a:pPr/>
            <a:r>
              <a:t>→</a:t>
            </a:r>
          </a:p>
        </p:txBody>
      </p:sp>
      <p:sp>
        <p:nvSpPr>
          <p:cNvPr id="2104" name="Oval 93"/>
          <p:cNvSpPr/>
          <p:nvPr/>
        </p:nvSpPr>
        <p:spPr>
          <a:xfrm>
            <a:off x="8887968" y="2331720"/>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05" name="Oval 94"/>
          <p:cNvSpPr/>
          <p:nvPr/>
        </p:nvSpPr>
        <p:spPr>
          <a:xfrm>
            <a:off x="9272016" y="2139694"/>
            <a:ext cx="137169" cy="137167"/>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06" name="Oval 95"/>
          <p:cNvSpPr/>
          <p:nvPr/>
        </p:nvSpPr>
        <p:spPr>
          <a:xfrm>
            <a:off x="9646918" y="2395727"/>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07" name="Oval 96"/>
          <p:cNvSpPr/>
          <p:nvPr/>
        </p:nvSpPr>
        <p:spPr>
          <a:xfrm>
            <a:off x="9052559" y="2798064"/>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08" name="Oval 97"/>
          <p:cNvSpPr/>
          <p:nvPr/>
        </p:nvSpPr>
        <p:spPr>
          <a:xfrm>
            <a:off x="9454894" y="2852927"/>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09" name="Oval 98"/>
          <p:cNvSpPr/>
          <p:nvPr/>
        </p:nvSpPr>
        <p:spPr>
          <a:xfrm>
            <a:off x="9811511" y="2743199"/>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10" name="Oval 99"/>
          <p:cNvSpPr/>
          <p:nvPr/>
        </p:nvSpPr>
        <p:spPr>
          <a:xfrm>
            <a:off x="9235440" y="3236976"/>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11" name="Oval 100"/>
          <p:cNvSpPr/>
          <p:nvPr/>
        </p:nvSpPr>
        <p:spPr>
          <a:xfrm>
            <a:off x="9656064" y="3246120"/>
            <a:ext cx="137169" cy="137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12" name="Oval 101"/>
          <p:cNvSpPr/>
          <p:nvPr/>
        </p:nvSpPr>
        <p:spPr>
          <a:xfrm>
            <a:off x="10286999" y="3154677"/>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13" name="Oval 102"/>
          <p:cNvSpPr/>
          <p:nvPr/>
        </p:nvSpPr>
        <p:spPr>
          <a:xfrm>
            <a:off x="10652759" y="2962655"/>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14" name="Oval 103"/>
          <p:cNvSpPr/>
          <p:nvPr/>
        </p:nvSpPr>
        <p:spPr>
          <a:xfrm>
            <a:off x="11018518" y="3218688"/>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15" name="Oval 104"/>
          <p:cNvSpPr/>
          <p:nvPr/>
        </p:nvSpPr>
        <p:spPr>
          <a:xfrm>
            <a:off x="10469880" y="3602735"/>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16" name="Oval 105"/>
          <p:cNvSpPr/>
          <p:nvPr/>
        </p:nvSpPr>
        <p:spPr>
          <a:xfrm>
            <a:off x="10844783" y="3675886"/>
            <a:ext cx="137167"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17" name="Oval 106"/>
          <p:cNvSpPr/>
          <p:nvPr/>
        </p:nvSpPr>
        <p:spPr>
          <a:xfrm>
            <a:off x="11192256" y="3584447"/>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18" name="Oval 107"/>
          <p:cNvSpPr/>
          <p:nvPr/>
        </p:nvSpPr>
        <p:spPr>
          <a:xfrm>
            <a:off x="10634471" y="4041647"/>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19" name="Oval 108"/>
          <p:cNvSpPr/>
          <p:nvPr/>
        </p:nvSpPr>
        <p:spPr>
          <a:xfrm>
            <a:off x="11018518" y="4050791"/>
            <a:ext cx="137169" cy="137169"/>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20" name="TextBox 109"/>
          <p:cNvSpPr txBox="1"/>
          <p:nvPr/>
        </p:nvSpPr>
        <p:spPr>
          <a:xfrm>
            <a:off x="8668511" y="4370832"/>
            <a:ext cx="1508765"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900">
                <a:solidFill>
                  <a:srgbClr val="3977F6"/>
                </a:solidFill>
                <a:latin typeface="Helvetica Neue"/>
                <a:ea typeface="Helvetica Neue"/>
                <a:cs typeface="Helvetica Neue"/>
                <a:sym typeface="Helvetica Neue"/>
              </a:defRPr>
            </a:lvl1pPr>
          </a:lstStyle>
          <a:p>
            <a:pPr/>
            <a:r>
              <a:t>CONSTITUENCY A</a:t>
            </a:r>
          </a:p>
        </p:txBody>
      </p:sp>
      <p:sp>
        <p:nvSpPr>
          <p:cNvPr id="2121" name="TextBox 110"/>
          <p:cNvSpPr txBox="1"/>
          <p:nvPr/>
        </p:nvSpPr>
        <p:spPr>
          <a:xfrm>
            <a:off x="10058399" y="4370832"/>
            <a:ext cx="1508766"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900">
                <a:solidFill>
                  <a:srgbClr val="FF705B"/>
                </a:solidFill>
                <a:latin typeface="Helvetica Neue"/>
                <a:ea typeface="Helvetica Neue"/>
                <a:cs typeface="Helvetica Neue"/>
                <a:sym typeface="Helvetica Neue"/>
              </a:defRPr>
            </a:lvl1pPr>
          </a:lstStyle>
          <a:p>
            <a:pPr/>
            <a:r>
              <a:t>CONSTITUENCY B</a:t>
            </a:r>
          </a:p>
        </p:txBody>
      </p:sp>
      <p:sp>
        <p:nvSpPr>
          <p:cNvPr id="2122" name="Connector 111"/>
          <p:cNvSpPr/>
          <p:nvPr/>
        </p:nvSpPr>
        <p:spPr>
          <a:xfrm>
            <a:off x="749805" y="5248654"/>
            <a:ext cx="10680199" cy="3"/>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123" name="TextBox 112"/>
          <p:cNvSpPr txBox="1"/>
          <p:nvPr/>
        </p:nvSpPr>
        <p:spPr>
          <a:xfrm>
            <a:off x="2468879" y="5532120"/>
            <a:ext cx="7223760"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700">
                <a:solidFill>
                  <a:srgbClr val="1FA873"/>
                </a:solidFill>
                <a:latin typeface="Helvetica Neue"/>
                <a:ea typeface="Helvetica Neue"/>
                <a:cs typeface="Helvetica Neue"/>
                <a:sym typeface="Helvetica Neue"/>
              </a:defRPr>
            </a:pPr>
            <a:r>
              <a:t>• </a:t>
            </a:r>
            <a:r>
              <a:rPr>
                <a:solidFill>
                  <a:srgbClr val="111318"/>
                </a:solidFill>
              </a:rPr>
              <a:t>Similar co-rating patterns → same behavioral constituency</a:t>
            </a:r>
          </a:p>
        </p:txBody>
      </p:sp>
      <p:sp>
        <p:nvSpPr>
          <p:cNvPr id="2124" name="TextBox 113"/>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Authors’ 100k-note / 200k-rater pipeline</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6" name="TextBox 1"/>
          <p:cNvSpPr txBox="1"/>
          <p:nvPr/>
        </p:nvSpPr>
        <p:spPr>
          <a:xfrm>
            <a:off x="603504" y="420623"/>
            <a:ext cx="4297680"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OUR SHIFT</a:t>
            </a:r>
          </a:p>
        </p:txBody>
      </p:sp>
      <p:sp>
        <p:nvSpPr>
          <p:cNvPr id="2127" name="TextBox 2"/>
          <p:cNvSpPr txBox="1"/>
          <p:nvPr/>
        </p:nvSpPr>
        <p:spPr>
          <a:xfrm>
            <a:off x="603504" y="786383"/>
            <a:ext cx="10424160"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Consult constituencies directly</a:t>
            </a:r>
          </a:p>
        </p:txBody>
      </p:sp>
      <p:sp>
        <p:nvSpPr>
          <p:cNvPr id="2128" name="TextBox 3"/>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09</a:t>
            </a:r>
          </a:p>
        </p:txBody>
      </p:sp>
      <p:sp>
        <p:nvSpPr>
          <p:cNvPr id="2129" name="Oval 4"/>
          <p:cNvSpPr/>
          <p:nvPr/>
        </p:nvSpPr>
        <p:spPr>
          <a:xfrm>
            <a:off x="960119" y="1828799"/>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30" name="Oval 5"/>
          <p:cNvSpPr/>
          <p:nvPr/>
        </p:nvSpPr>
        <p:spPr>
          <a:xfrm>
            <a:off x="1344166" y="1828799"/>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31" name="Oval 6"/>
          <p:cNvSpPr/>
          <p:nvPr/>
        </p:nvSpPr>
        <p:spPr>
          <a:xfrm>
            <a:off x="1728216" y="1828799"/>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32" name="Oval 7"/>
          <p:cNvSpPr/>
          <p:nvPr/>
        </p:nvSpPr>
        <p:spPr>
          <a:xfrm>
            <a:off x="2112264" y="1828799"/>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33" name="Oval 8"/>
          <p:cNvSpPr/>
          <p:nvPr/>
        </p:nvSpPr>
        <p:spPr>
          <a:xfrm>
            <a:off x="2496310" y="1828799"/>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34" name="Oval 9"/>
          <p:cNvSpPr/>
          <p:nvPr/>
        </p:nvSpPr>
        <p:spPr>
          <a:xfrm>
            <a:off x="2880360" y="1828799"/>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35" name="Oval 10"/>
          <p:cNvSpPr/>
          <p:nvPr/>
        </p:nvSpPr>
        <p:spPr>
          <a:xfrm>
            <a:off x="3264408" y="1828799"/>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36" name="Oval 11"/>
          <p:cNvSpPr/>
          <p:nvPr/>
        </p:nvSpPr>
        <p:spPr>
          <a:xfrm>
            <a:off x="1088136" y="2240277"/>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37" name="Oval 12"/>
          <p:cNvSpPr/>
          <p:nvPr/>
        </p:nvSpPr>
        <p:spPr>
          <a:xfrm>
            <a:off x="1472183" y="2240277"/>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38" name="Oval 13"/>
          <p:cNvSpPr/>
          <p:nvPr/>
        </p:nvSpPr>
        <p:spPr>
          <a:xfrm>
            <a:off x="1856232" y="2240277"/>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39" name="Oval 14"/>
          <p:cNvSpPr/>
          <p:nvPr/>
        </p:nvSpPr>
        <p:spPr>
          <a:xfrm>
            <a:off x="2240277" y="2240277"/>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40" name="Oval 15"/>
          <p:cNvSpPr/>
          <p:nvPr/>
        </p:nvSpPr>
        <p:spPr>
          <a:xfrm>
            <a:off x="2624327" y="2240277"/>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41" name="Oval 16"/>
          <p:cNvSpPr/>
          <p:nvPr/>
        </p:nvSpPr>
        <p:spPr>
          <a:xfrm>
            <a:off x="3008376" y="2240277"/>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42" name="Oval 17"/>
          <p:cNvSpPr/>
          <p:nvPr/>
        </p:nvSpPr>
        <p:spPr>
          <a:xfrm>
            <a:off x="3392423" y="2240277"/>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43" name="Oval 18"/>
          <p:cNvSpPr/>
          <p:nvPr/>
        </p:nvSpPr>
        <p:spPr>
          <a:xfrm>
            <a:off x="960119" y="2651760"/>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44" name="Oval 19"/>
          <p:cNvSpPr/>
          <p:nvPr/>
        </p:nvSpPr>
        <p:spPr>
          <a:xfrm>
            <a:off x="1344166" y="2651760"/>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45" name="Oval 20"/>
          <p:cNvSpPr/>
          <p:nvPr/>
        </p:nvSpPr>
        <p:spPr>
          <a:xfrm>
            <a:off x="1728216" y="2651760"/>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46" name="Oval 21"/>
          <p:cNvSpPr/>
          <p:nvPr/>
        </p:nvSpPr>
        <p:spPr>
          <a:xfrm>
            <a:off x="2112264" y="2651760"/>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47" name="Oval 22"/>
          <p:cNvSpPr/>
          <p:nvPr/>
        </p:nvSpPr>
        <p:spPr>
          <a:xfrm>
            <a:off x="2496310" y="2651760"/>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48" name="Oval 23"/>
          <p:cNvSpPr/>
          <p:nvPr/>
        </p:nvSpPr>
        <p:spPr>
          <a:xfrm>
            <a:off x="2880360" y="2651760"/>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49" name="Oval 24"/>
          <p:cNvSpPr/>
          <p:nvPr/>
        </p:nvSpPr>
        <p:spPr>
          <a:xfrm>
            <a:off x="3264408" y="2651760"/>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50" name="Oval 25"/>
          <p:cNvSpPr/>
          <p:nvPr/>
        </p:nvSpPr>
        <p:spPr>
          <a:xfrm>
            <a:off x="1088136" y="306323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51" name="Oval 26"/>
          <p:cNvSpPr/>
          <p:nvPr/>
        </p:nvSpPr>
        <p:spPr>
          <a:xfrm>
            <a:off x="1472183" y="306323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52" name="Oval 27"/>
          <p:cNvSpPr/>
          <p:nvPr/>
        </p:nvSpPr>
        <p:spPr>
          <a:xfrm>
            <a:off x="1856232" y="306323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53" name="Oval 28"/>
          <p:cNvSpPr/>
          <p:nvPr/>
        </p:nvSpPr>
        <p:spPr>
          <a:xfrm>
            <a:off x="2240277" y="306323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54" name="Oval 29"/>
          <p:cNvSpPr/>
          <p:nvPr/>
        </p:nvSpPr>
        <p:spPr>
          <a:xfrm>
            <a:off x="2624327" y="306323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55" name="Oval 30"/>
          <p:cNvSpPr/>
          <p:nvPr/>
        </p:nvSpPr>
        <p:spPr>
          <a:xfrm>
            <a:off x="3008376" y="306323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56" name="Oval 31"/>
          <p:cNvSpPr/>
          <p:nvPr/>
        </p:nvSpPr>
        <p:spPr>
          <a:xfrm>
            <a:off x="3392423" y="306323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57" name="Oval 32"/>
          <p:cNvSpPr/>
          <p:nvPr/>
        </p:nvSpPr>
        <p:spPr>
          <a:xfrm>
            <a:off x="960119" y="3474720"/>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58" name="Oval 33"/>
          <p:cNvSpPr/>
          <p:nvPr/>
        </p:nvSpPr>
        <p:spPr>
          <a:xfrm>
            <a:off x="1344166" y="3474720"/>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59" name="Oval 34"/>
          <p:cNvSpPr/>
          <p:nvPr/>
        </p:nvSpPr>
        <p:spPr>
          <a:xfrm>
            <a:off x="1728216" y="3474720"/>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60" name="Oval 35"/>
          <p:cNvSpPr/>
          <p:nvPr/>
        </p:nvSpPr>
        <p:spPr>
          <a:xfrm>
            <a:off x="2112264" y="3474720"/>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61" name="Oval 36"/>
          <p:cNvSpPr/>
          <p:nvPr/>
        </p:nvSpPr>
        <p:spPr>
          <a:xfrm>
            <a:off x="2496310" y="3474720"/>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62" name="Oval 37"/>
          <p:cNvSpPr/>
          <p:nvPr/>
        </p:nvSpPr>
        <p:spPr>
          <a:xfrm>
            <a:off x="2880360" y="3474720"/>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63" name="Oval 38"/>
          <p:cNvSpPr/>
          <p:nvPr/>
        </p:nvSpPr>
        <p:spPr>
          <a:xfrm>
            <a:off x="3264408" y="3474720"/>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64" name="Oval 39"/>
          <p:cNvSpPr/>
          <p:nvPr/>
        </p:nvSpPr>
        <p:spPr>
          <a:xfrm>
            <a:off x="1088136" y="388619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65" name="Oval 40"/>
          <p:cNvSpPr/>
          <p:nvPr/>
        </p:nvSpPr>
        <p:spPr>
          <a:xfrm>
            <a:off x="1472183" y="388619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66" name="Oval 41"/>
          <p:cNvSpPr/>
          <p:nvPr/>
        </p:nvSpPr>
        <p:spPr>
          <a:xfrm>
            <a:off x="1856232" y="388619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67" name="Oval 42"/>
          <p:cNvSpPr/>
          <p:nvPr/>
        </p:nvSpPr>
        <p:spPr>
          <a:xfrm>
            <a:off x="2240277" y="388619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68" name="Oval 43"/>
          <p:cNvSpPr/>
          <p:nvPr/>
        </p:nvSpPr>
        <p:spPr>
          <a:xfrm>
            <a:off x="2624327" y="388619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69" name="Oval 44"/>
          <p:cNvSpPr/>
          <p:nvPr/>
        </p:nvSpPr>
        <p:spPr>
          <a:xfrm>
            <a:off x="3008376" y="388619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70" name="Oval 45"/>
          <p:cNvSpPr/>
          <p:nvPr/>
        </p:nvSpPr>
        <p:spPr>
          <a:xfrm>
            <a:off x="3392423" y="3886198"/>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71" name="Oval 46"/>
          <p:cNvSpPr/>
          <p:nvPr/>
        </p:nvSpPr>
        <p:spPr>
          <a:xfrm>
            <a:off x="960119" y="4297679"/>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72" name="Oval 47"/>
          <p:cNvSpPr/>
          <p:nvPr/>
        </p:nvSpPr>
        <p:spPr>
          <a:xfrm>
            <a:off x="1344166" y="4297679"/>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73" name="Oval 48"/>
          <p:cNvSpPr/>
          <p:nvPr/>
        </p:nvSpPr>
        <p:spPr>
          <a:xfrm>
            <a:off x="1728216" y="4297679"/>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74" name="Oval 49"/>
          <p:cNvSpPr/>
          <p:nvPr/>
        </p:nvSpPr>
        <p:spPr>
          <a:xfrm>
            <a:off x="2112264" y="4297679"/>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75" name="Oval 50"/>
          <p:cNvSpPr/>
          <p:nvPr/>
        </p:nvSpPr>
        <p:spPr>
          <a:xfrm>
            <a:off x="2496310" y="4297679"/>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76" name="Oval 51"/>
          <p:cNvSpPr/>
          <p:nvPr/>
        </p:nvSpPr>
        <p:spPr>
          <a:xfrm>
            <a:off x="2880360" y="4297679"/>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77" name="Oval 52"/>
          <p:cNvSpPr/>
          <p:nvPr/>
        </p:nvSpPr>
        <p:spPr>
          <a:xfrm>
            <a:off x="3264408" y="4297679"/>
            <a:ext cx="91453" cy="91453"/>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78" name="Oval 53"/>
          <p:cNvSpPr/>
          <p:nvPr/>
        </p:nvSpPr>
        <p:spPr>
          <a:xfrm>
            <a:off x="7909559" y="1828799"/>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79" name="Oval 54"/>
          <p:cNvSpPr/>
          <p:nvPr/>
        </p:nvSpPr>
        <p:spPr>
          <a:xfrm>
            <a:off x="8293606" y="1828799"/>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80" name="Oval 55"/>
          <p:cNvSpPr/>
          <p:nvPr/>
        </p:nvSpPr>
        <p:spPr>
          <a:xfrm>
            <a:off x="8677656" y="1828799"/>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81" name="Oval 56"/>
          <p:cNvSpPr/>
          <p:nvPr/>
        </p:nvSpPr>
        <p:spPr>
          <a:xfrm>
            <a:off x="9061704" y="1828799"/>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82" name="Oval 57"/>
          <p:cNvSpPr/>
          <p:nvPr/>
        </p:nvSpPr>
        <p:spPr>
          <a:xfrm>
            <a:off x="9445752" y="1828799"/>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83" name="Oval 58"/>
          <p:cNvSpPr/>
          <p:nvPr/>
        </p:nvSpPr>
        <p:spPr>
          <a:xfrm>
            <a:off x="9829799" y="1828799"/>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84" name="Oval 59"/>
          <p:cNvSpPr/>
          <p:nvPr/>
        </p:nvSpPr>
        <p:spPr>
          <a:xfrm>
            <a:off x="10213847" y="1828799"/>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85" name="Oval 60"/>
          <p:cNvSpPr/>
          <p:nvPr/>
        </p:nvSpPr>
        <p:spPr>
          <a:xfrm>
            <a:off x="8037576" y="2240277"/>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86" name="Oval 61"/>
          <p:cNvSpPr/>
          <p:nvPr/>
        </p:nvSpPr>
        <p:spPr>
          <a:xfrm>
            <a:off x="8421623" y="2240277"/>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87" name="Oval 62"/>
          <p:cNvSpPr/>
          <p:nvPr/>
        </p:nvSpPr>
        <p:spPr>
          <a:xfrm>
            <a:off x="8805671" y="2240277"/>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88" name="Oval 63"/>
          <p:cNvSpPr/>
          <p:nvPr/>
        </p:nvSpPr>
        <p:spPr>
          <a:xfrm>
            <a:off x="9189718" y="2240277"/>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89" name="Oval 64"/>
          <p:cNvSpPr/>
          <p:nvPr/>
        </p:nvSpPr>
        <p:spPr>
          <a:xfrm>
            <a:off x="9573768" y="2240277"/>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90" name="Oval 65"/>
          <p:cNvSpPr/>
          <p:nvPr/>
        </p:nvSpPr>
        <p:spPr>
          <a:xfrm>
            <a:off x="9957816" y="2240277"/>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91" name="Oval 66"/>
          <p:cNvSpPr/>
          <p:nvPr/>
        </p:nvSpPr>
        <p:spPr>
          <a:xfrm>
            <a:off x="10341864" y="2240277"/>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92" name="Oval 67"/>
          <p:cNvSpPr/>
          <p:nvPr/>
        </p:nvSpPr>
        <p:spPr>
          <a:xfrm>
            <a:off x="7909559" y="2651760"/>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93" name="Oval 68"/>
          <p:cNvSpPr/>
          <p:nvPr/>
        </p:nvSpPr>
        <p:spPr>
          <a:xfrm>
            <a:off x="8293606" y="2651760"/>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94" name="Oval 69"/>
          <p:cNvSpPr/>
          <p:nvPr/>
        </p:nvSpPr>
        <p:spPr>
          <a:xfrm>
            <a:off x="8677656" y="2651760"/>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95" name="Oval 70"/>
          <p:cNvSpPr/>
          <p:nvPr/>
        </p:nvSpPr>
        <p:spPr>
          <a:xfrm>
            <a:off x="9061704" y="2651760"/>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96" name="Oval 71"/>
          <p:cNvSpPr/>
          <p:nvPr/>
        </p:nvSpPr>
        <p:spPr>
          <a:xfrm>
            <a:off x="9445752" y="2651760"/>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97" name="Oval 72"/>
          <p:cNvSpPr/>
          <p:nvPr/>
        </p:nvSpPr>
        <p:spPr>
          <a:xfrm>
            <a:off x="9829799" y="2651760"/>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98" name="Oval 73"/>
          <p:cNvSpPr/>
          <p:nvPr/>
        </p:nvSpPr>
        <p:spPr>
          <a:xfrm>
            <a:off x="10213847" y="2651760"/>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199" name="Oval 74"/>
          <p:cNvSpPr/>
          <p:nvPr/>
        </p:nvSpPr>
        <p:spPr>
          <a:xfrm>
            <a:off x="8037576" y="3063238"/>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00" name="Oval 75"/>
          <p:cNvSpPr/>
          <p:nvPr/>
        </p:nvSpPr>
        <p:spPr>
          <a:xfrm>
            <a:off x="8421623" y="3063238"/>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01" name="Oval 76"/>
          <p:cNvSpPr/>
          <p:nvPr/>
        </p:nvSpPr>
        <p:spPr>
          <a:xfrm>
            <a:off x="8805671" y="3063238"/>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02" name="Oval 77"/>
          <p:cNvSpPr/>
          <p:nvPr/>
        </p:nvSpPr>
        <p:spPr>
          <a:xfrm>
            <a:off x="9189718" y="3063238"/>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03" name="Oval 78"/>
          <p:cNvSpPr/>
          <p:nvPr/>
        </p:nvSpPr>
        <p:spPr>
          <a:xfrm>
            <a:off x="9573768" y="3063238"/>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04" name="Oval 79"/>
          <p:cNvSpPr/>
          <p:nvPr/>
        </p:nvSpPr>
        <p:spPr>
          <a:xfrm>
            <a:off x="9957816" y="3063238"/>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05" name="Oval 80"/>
          <p:cNvSpPr/>
          <p:nvPr/>
        </p:nvSpPr>
        <p:spPr>
          <a:xfrm>
            <a:off x="10341864" y="3063238"/>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06" name="Oval 81"/>
          <p:cNvSpPr/>
          <p:nvPr/>
        </p:nvSpPr>
        <p:spPr>
          <a:xfrm>
            <a:off x="7909559" y="3474720"/>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07" name="Oval 82"/>
          <p:cNvSpPr/>
          <p:nvPr/>
        </p:nvSpPr>
        <p:spPr>
          <a:xfrm>
            <a:off x="8293606" y="3474720"/>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08" name="Oval 83"/>
          <p:cNvSpPr/>
          <p:nvPr/>
        </p:nvSpPr>
        <p:spPr>
          <a:xfrm>
            <a:off x="8677656" y="3474720"/>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09" name="Oval 84"/>
          <p:cNvSpPr/>
          <p:nvPr/>
        </p:nvSpPr>
        <p:spPr>
          <a:xfrm>
            <a:off x="9061704" y="3474720"/>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10" name="Oval 85"/>
          <p:cNvSpPr/>
          <p:nvPr/>
        </p:nvSpPr>
        <p:spPr>
          <a:xfrm>
            <a:off x="9445752" y="3474720"/>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11" name="Oval 86"/>
          <p:cNvSpPr/>
          <p:nvPr/>
        </p:nvSpPr>
        <p:spPr>
          <a:xfrm>
            <a:off x="9829799" y="3474720"/>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12" name="Oval 87"/>
          <p:cNvSpPr/>
          <p:nvPr/>
        </p:nvSpPr>
        <p:spPr>
          <a:xfrm>
            <a:off x="10213847" y="3474720"/>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13" name="Oval 88"/>
          <p:cNvSpPr/>
          <p:nvPr/>
        </p:nvSpPr>
        <p:spPr>
          <a:xfrm>
            <a:off x="8037576" y="3886198"/>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14" name="Oval 89"/>
          <p:cNvSpPr/>
          <p:nvPr/>
        </p:nvSpPr>
        <p:spPr>
          <a:xfrm>
            <a:off x="8421623" y="3886198"/>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15" name="Oval 90"/>
          <p:cNvSpPr/>
          <p:nvPr/>
        </p:nvSpPr>
        <p:spPr>
          <a:xfrm>
            <a:off x="8805671" y="3886198"/>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16" name="Oval 91"/>
          <p:cNvSpPr/>
          <p:nvPr/>
        </p:nvSpPr>
        <p:spPr>
          <a:xfrm>
            <a:off x="9189718" y="3886198"/>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17" name="Oval 92"/>
          <p:cNvSpPr/>
          <p:nvPr/>
        </p:nvSpPr>
        <p:spPr>
          <a:xfrm>
            <a:off x="9573768" y="3886198"/>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18" name="Oval 93"/>
          <p:cNvSpPr/>
          <p:nvPr/>
        </p:nvSpPr>
        <p:spPr>
          <a:xfrm>
            <a:off x="9957816" y="3886198"/>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19" name="Oval 94"/>
          <p:cNvSpPr/>
          <p:nvPr/>
        </p:nvSpPr>
        <p:spPr>
          <a:xfrm>
            <a:off x="10341864" y="3886198"/>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20" name="Oval 95"/>
          <p:cNvSpPr/>
          <p:nvPr/>
        </p:nvSpPr>
        <p:spPr>
          <a:xfrm>
            <a:off x="7909559" y="4297679"/>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21" name="Oval 96"/>
          <p:cNvSpPr/>
          <p:nvPr/>
        </p:nvSpPr>
        <p:spPr>
          <a:xfrm>
            <a:off x="8293606" y="4297679"/>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22" name="Oval 97"/>
          <p:cNvSpPr/>
          <p:nvPr/>
        </p:nvSpPr>
        <p:spPr>
          <a:xfrm>
            <a:off x="8677656" y="4297679"/>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23" name="Oval 98"/>
          <p:cNvSpPr/>
          <p:nvPr/>
        </p:nvSpPr>
        <p:spPr>
          <a:xfrm>
            <a:off x="9061704" y="4297679"/>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24" name="Oval 99"/>
          <p:cNvSpPr/>
          <p:nvPr/>
        </p:nvSpPr>
        <p:spPr>
          <a:xfrm>
            <a:off x="9445752" y="4297679"/>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25" name="Oval 100"/>
          <p:cNvSpPr/>
          <p:nvPr/>
        </p:nvSpPr>
        <p:spPr>
          <a:xfrm>
            <a:off x="9829799" y="4297679"/>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26" name="Oval 101"/>
          <p:cNvSpPr/>
          <p:nvPr/>
        </p:nvSpPr>
        <p:spPr>
          <a:xfrm>
            <a:off x="10213847" y="4297679"/>
            <a:ext cx="91453" cy="91453"/>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27" name="Rounded Rectangle 102"/>
          <p:cNvSpPr/>
          <p:nvPr/>
        </p:nvSpPr>
        <p:spPr>
          <a:xfrm>
            <a:off x="5413247" y="2304288"/>
            <a:ext cx="1371607" cy="1755652"/>
          </a:xfrm>
          <a:prstGeom prst="roundRect">
            <a:avLst>
              <a:gd name="adj" fmla="val 16667"/>
            </a:avLst>
          </a:prstGeom>
          <a:ln w="1397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28" name="Connector 103"/>
          <p:cNvSpPr/>
          <p:nvPr/>
        </p:nvSpPr>
        <p:spPr>
          <a:xfrm>
            <a:off x="5669279" y="2788920"/>
            <a:ext cx="868682" cy="7"/>
          </a:xfrm>
          <a:prstGeom prst="line">
            <a:avLst/>
          </a:prstGeom>
          <a:ln w="1651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229" name="Connector 104"/>
          <p:cNvSpPr/>
          <p:nvPr/>
        </p:nvSpPr>
        <p:spPr>
          <a:xfrm>
            <a:off x="5669279" y="3108960"/>
            <a:ext cx="731527" cy="7"/>
          </a:xfrm>
          <a:prstGeom prst="line">
            <a:avLst/>
          </a:prstGeom>
          <a:ln w="16510">
            <a:solidFill>
              <a:srgbClr val="111318"/>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230" name="Connector 105"/>
          <p:cNvSpPr/>
          <p:nvPr/>
        </p:nvSpPr>
        <p:spPr>
          <a:xfrm>
            <a:off x="5669279" y="3429000"/>
            <a:ext cx="822967" cy="0"/>
          </a:xfrm>
          <a:prstGeom prst="line">
            <a:avLst/>
          </a:prstGeom>
          <a:ln w="17780">
            <a:solidFill>
              <a:srgbClr val="1FA873"/>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231" name="Connector 106"/>
          <p:cNvSpPr/>
          <p:nvPr/>
        </p:nvSpPr>
        <p:spPr>
          <a:xfrm flipV="1">
            <a:off x="3310128" y="2907792"/>
            <a:ext cx="2103127" cy="1435613"/>
          </a:xfrm>
          <a:prstGeom prst="line">
            <a:avLst/>
          </a:prstGeom>
          <a:ln w="19050">
            <a:solidFill>
              <a:srgbClr val="3977F6"/>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232" name="Connector 107"/>
          <p:cNvSpPr/>
          <p:nvPr/>
        </p:nvSpPr>
        <p:spPr>
          <a:xfrm flipH="1">
            <a:off x="6784847" y="1874515"/>
            <a:ext cx="1170439" cy="1033280"/>
          </a:xfrm>
          <a:prstGeom prst="line">
            <a:avLst/>
          </a:prstGeom>
          <a:ln w="19050">
            <a:solidFill>
              <a:srgbClr val="FF705B"/>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233" name="TextBox 108"/>
          <p:cNvSpPr txBox="1"/>
          <p:nvPr/>
        </p:nvSpPr>
        <p:spPr>
          <a:xfrm>
            <a:off x="960119" y="5193791"/>
            <a:ext cx="2286001" cy="223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3977F6"/>
                </a:solidFill>
                <a:latin typeface="Helvetica Neue"/>
                <a:ea typeface="Helvetica Neue"/>
                <a:cs typeface="Helvetica Neue"/>
                <a:sym typeface="Helvetica Neue"/>
              </a:defRPr>
            </a:pPr>
            <a:r>
              <a:t>• </a:t>
            </a:r>
            <a:r>
              <a:rPr b="0">
                <a:solidFill>
                  <a:srgbClr val="111318"/>
                </a:solidFill>
              </a:rPr>
              <a:t>Recover groups</a:t>
            </a:r>
          </a:p>
        </p:txBody>
      </p:sp>
      <p:sp>
        <p:nvSpPr>
          <p:cNvPr id="2234" name="TextBox 109"/>
          <p:cNvSpPr txBox="1"/>
          <p:nvPr/>
        </p:nvSpPr>
        <p:spPr>
          <a:xfrm>
            <a:off x="4700013" y="5193791"/>
            <a:ext cx="2377448" cy="223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1FA873"/>
                </a:solidFill>
                <a:latin typeface="Helvetica Neue"/>
                <a:ea typeface="Helvetica Neue"/>
                <a:cs typeface="Helvetica Neue"/>
                <a:sym typeface="Helvetica Neue"/>
              </a:defRPr>
            </a:pPr>
            <a:r>
              <a:t>• </a:t>
            </a:r>
            <a:r>
              <a:rPr b="0">
                <a:solidFill>
                  <a:srgbClr val="111318"/>
                </a:solidFill>
              </a:rPr>
              <a:t>Ask each group</a:t>
            </a:r>
          </a:p>
        </p:txBody>
      </p:sp>
      <p:sp>
        <p:nvSpPr>
          <p:cNvPr id="2235" name="TextBox 110"/>
          <p:cNvSpPr txBox="1"/>
          <p:nvPr/>
        </p:nvSpPr>
        <p:spPr>
          <a:xfrm>
            <a:off x="8467342" y="5193791"/>
            <a:ext cx="2743203" cy="223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FF705B"/>
                </a:solidFill>
                <a:latin typeface="Helvetica Neue"/>
                <a:ea typeface="Helvetica Neue"/>
                <a:cs typeface="Helvetica Neue"/>
                <a:sym typeface="Helvetica Neue"/>
              </a:defRPr>
            </a:pPr>
            <a:r>
              <a:t>• </a:t>
            </a:r>
            <a:r>
              <a:rPr b="0">
                <a:solidFill>
                  <a:srgbClr val="111318"/>
                </a:solidFill>
              </a:rPr>
              <a:t>Aggregate explicitly</a:t>
            </a:r>
          </a:p>
        </p:txBody>
      </p:sp>
      <p:sp>
        <p:nvSpPr>
          <p:cNvPr id="2236" name="TextBox 111"/>
          <p:cNvSpPr txBox="1"/>
          <p:nvPr/>
        </p:nvSpPr>
        <p:spPr>
          <a:xfrm>
            <a:off x="3035802" y="5806440"/>
            <a:ext cx="6217932" cy="1526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73777F"/>
                </a:solidFill>
                <a:latin typeface="Helvetica Neue"/>
                <a:ea typeface="Helvetica Neue"/>
                <a:cs typeface="Helvetica Neue"/>
                <a:sym typeface="Helvetica Neue"/>
              </a:defRPr>
            </a:lvl1pPr>
          </a:lstStyle>
          <a:p>
            <a:pPr/>
            <a:r>
              <a:t>• Recover groups → consult each one → aggregate explicitly</a:t>
            </a:r>
          </a:p>
        </p:txBody>
      </p:sp>
      <p:sp>
        <p:nvSpPr>
          <p:cNvPr id="2237" name="TextBox 112"/>
          <p:cNvSpPr txBox="1"/>
          <p:nvPr/>
        </p:nvSpPr>
        <p:spPr>
          <a:xfrm>
            <a:off x="621792" y="6455664"/>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Authors’ cross-constituency aggregation</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9" name="TextBox 1"/>
          <p:cNvSpPr txBox="1"/>
          <p:nvPr/>
        </p:nvSpPr>
        <p:spPr>
          <a:xfrm>
            <a:off x="603503" y="420623"/>
            <a:ext cx="4389122" cy="14871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TOPIC MODELING</a:t>
            </a:r>
          </a:p>
        </p:txBody>
      </p:sp>
      <p:sp>
        <p:nvSpPr>
          <p:cNvPr id="2240" name="TextBox 2"/>
          <p:cNvSpPr txBox="1"/>
          <p:nvPr/>
        </p:nvSpPr>
        <p:spPr>
          <a:xfrm>
            <a:off x="603504" y="786383"/>
            <a:ext cx="10515601" cy="4588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Disagreement changes by topic</a:t>
            </a:r>
          </a:p>
        </p:txBody>
      </p:sp>
      <p:sp>
        <p:nvSpPr>
          <p:cNvPr id="2241" name="TextBox 3"/>
          <p:cNvSpPr txBox="1"/>
          <p:nvPr/>
        </p:nvSpPr>
        <p:spPr>
          <a:xfrm>
            <a:off x="11082528" y="457199"/>
            <a:ext cx="438913"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10</a:t>
            </a:r>
          </a:p>
        </p:txBody>
      </p:sp>
      <p:pic>
        <p:nvPicPr>
          <p:cNvPr id="2242" name="Picture 4" descr="Picture 4"/>
          <p:cNvPicPr>
            <a:picLocks noChangeAspect="1"/>
          </p:cNvPicPr>
          <p:nvPr/>
        </p:nvPicPr>
        <p:blipFill>
          <a:blip r:embed="rId2">
            <a:extLst/>
          </a:blip>
          <a:stretch>
            <a:fillRect/>
          </a:stretch>
        </p:blipFill>
        <p:spPr>
          <a:xfrm>
            <a:off x="621791" y="1426463"/>
            <a:ext cx="6565394" cy="4860711"/>
          </a:xfrm>
          <a:prstGeom prst="rect">
            <a:avLst/>
          </a:prstGeom>
          <a:ln w="12700">
            <a:miter lim="400000"/>
          </a:ln>
        </p:spPr>
      </p:pic>
      <p:sp>
        <p:nvSpPr>
          <p:cNvPr id="2243" name="TextBox 5"/>
          <p:cNvSpPr txBox="1"/>
          <p:nvPr/>
        </p:nvSpPr>
        <p:spPr>
          <a:xfrm>
            <a:off x="7571230" y="1490472"/>
            <a:ext cx="1920241"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HOW TO READ</a:t>
            </a:r>
          </a:p>
        </p:txBody>
      </p:sp>
      <p:sp>
        <p:nvSpPr>
          <p:cNvPr id="2244" name="TextBox 6"/>
          <p:cNvSpPr txBox="1"/>
          <p:nvPr/>
        </p:nvSpPr>
        <p:spPr>
          <a:xfrm>
            <a:off x="7571230" y="1874518"/>
            <a:ext cx="3429001"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3977F6"/>
                </a:solidFill>
                <a:latin typeface="Helvetica Neue"/>
                <a:ea typeface="Helvetica Neue"/>
                <a:cs typeface="Helvetica Neue"/>
                <a:sym typeface="Helvetica Neue"/>
              </a:defRPr>
            </a:pPr>
            <a:r>
              <a:t>• </a:t>
            </a:r>
            <a:r>
              <a:rPr b="0">
                <a:solidFill>
                  <a:srgbClr val="73777F"/>
                </a:solidFill>
              </a:rPr>
              <a:t>x-position = approval rate</a:t>
            </a:r>
          </a:p>
        </p:txBody>
      </p:sp>
      <p:sp>
        <p:nvSpPr>
          <p:cNvPr id="2245" name="TextBox 7"/>
          <p:cNvSpPr txBox="1"/>
          <p:nvPr/>
        </p:nvSpPr>
        <p:spPr>
          <a:xfrm>
            <a:off x="7571230" y="2285999"/>
            <a:ext cx="3429001"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FF705B"/>
                </a:solidFill>
                <a:latin typeface="Helvetica Neue"/>
                <a:ea typeface="Helvetica Neue"/>
                <a:cs typeface="Helvetica Neue"/>
                <a:sym typeface="Helvetica Neue"/>
              </a:defRPr>
            </a:pPr>
            <a:r>
              <a:t>• </a:t>
            </a:r>
            <a:r>
              <a:rPr b="0">
                <a:solidFill>
                  <a:srgbClr val="73777F"/>
                </a:solidFill>
              </a:rPr>
              <a:t>bubble size = note count</a:t>
            </a:r>
          </a:p>
        </p:txBody>
      </p:sp>
      <p:sp>
        <p:nvSpPr>
          <p:cNvPr id="2246" name="TextBox 8"/>
          <p:cNvSpPr txBox="1"/>
          <p:nvPr/>
        </p:nvSpPr>
        <p:spPr>
          <a:xfrm>
            <a:off x="7571230" y="2697479"/>
            <a:ext cx="3584449"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FA873"/>
                </a:solidFill>
                <a:latin typeface="Helvetica Neue"/>
                <a:ea typeface="Helvetica Neue"/>
                <a:cs typeface="Helvetica Neue"/>
                <a:sym typeface="Helvetica Neue"/>
              </a:defRPr>
            </a:pPr>
            <a:r>
              <a:t>• </a:t>
            </a:r>
            <a:r>
              <a:rPr b="0">
                <a:solidFill>
                  <a:srgbClr val="73777F"/>
                </a:solidFill>
              </a:rPr>
              <a:t>color = recovered constituency</a:t>
            </a:r>
          </a:p>
        </p:txBody>
      </p:sp>
      <p:sp>
        <p:nvSpPr>
          <p:cNvPr id="2247" name="Connector 9"/>
          <p:cNvSpPr/>
          <p:nvPr/>
        </p:nvSpPr>
        <p:spPr>
          <a:xfrm>
            <a:off x="7571230" y="3236976"/>
            <a:ext cx="3657602" cy="1"/>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248" name="TextBox 10"/>
          <p:cNvSpPr txBox="1"/>
          <p:nvPr/>
        </p:nvSpPr>
        <p:spPr>
          <a:xfrm>
            <a:off x="7571230" y="3538728"/>
            <a:ext cx="1920241"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FA873"/>
                </a:solidFill>
                <a:latin typeface="Helvetica Neue"/>
                <a:ea typeface="Helvetica Neue"/>
                <a:cs typeface="Helvetica Neue"/>
                <a:sym typeface="Helvetica Neue"/>
              </a:defRPr>
            </a:lvl1pPr>
          </a:lstStyle>
          <a:p>
            <a:pPr/>
            <a:r>
              <a:t>KEY RESULT</a:t>
            </a:r>
          </a:p>
        </p:txBody>
      </p:sp>
      <p:sp>
        <p:nvSpPr>
          <p:cNvPr id="2249" name="TextBox 11"/>
          <p:cNvSpPr txBox="1"/>
          <p:nvPr/>
        </p:nvSpPr>
        <p:spPr>
          <a:xfrm>
            <a:off x="7571230" y="3922776"/>
            <a:ext cx="3584449"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FA873"/>
                </a:solidFill>
                <a:latin typeface="Helvetica Neue"/>
                <a:ea typeface="Helvetica Neue"/>
                <a:cs typeface="Helvetica Neue"/>
                <a:sym typeface="Helvetica Neue"/>
              </a:defRPr>
            </a:pPr>
            <a:r>
              <a:t>• </a:t>
            </a:r>
            <a:r>
              <a:rPr>
                <a:solidFill>
                  <a:srgbClr val="111318"/>
                </a:solidFill>
              </a:rPr>
              <a:t>Approval leadership flips across topics</a:t>
            </a:r>
          </a:p>
        </p:txBody>
      </p:sp>
      <p:sp>
        <p:nvSpPr>
          <p:cNvPr id="2250" name="TextBox 12"/>
          <p:cNvSpPr txBox="1"/>
          <p:nvPr/>
        </p:nvSpPr>
        <p:spPr>
          <a:xfrm>
            <a:off x="7571230" y="4425696"/>
            <a:ext cx="3584449"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FA873"/>
                </a:solidFill>
                <a:latin typeface="Helvetica Neue"/>
                <a:ea typeface="Helvetica Neue"/>
                <a:cs typeface="Helvetica Neue"/>
                <a:sym typeface="Helvetica Neue"/>
              </a:defRPr>
            </a:pPr>
            <a:r>
              <a:t>• </a:t>
            </a:r>
            <a:r>
              <a:rPr>
                <a:solidFill>
                  <a:srgbClr val="111318"/>
                </a:solidFill>
              </a:rPr>
              <a:t>Constituencies are content-dependent</a:t>
            </a:r>
          </a:p>
        </p:txBody>
      </p:sp>
      <p:sp>
        <p:nvSpPr>
          <p:cNvPr id="2251" name="Connector 13"/>
          <p:cNvSpPr/>
          <p:nvPr/>
        </p:nvSpPr>
        <p:spPr>
          <a:xfrm>
            <a:off x="7571230" y="5047488"/>
            <a:ext cx="3657602" cy="1"/>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252" name="TextBox 14"/>
          <p:cNvSpPr txBox="1"/>
          <p:nvPr/>
        </p:nvSpPr>
        <p:spPr>
          <a:xfrm>
            <a:off x="7571230" y="5321808"/>
            <a:ext cx="3639313" cy="4016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FF705B"/>
                </a:solidFill>
                <a:latin typeface="Helvetica Neue"/>
                <a:ea typeface="Helvetica Neue"/>
                <a:cs typeface="Helvetica Neue"/>
                <a:sym typeface="Helvetica Neue"/>
              </a:defRPr>
            </a:pPr>
            <a:r>
              <a:t>• </a:t>
            </a:r>
            <a:r>
              <a:rPr>
                <a:solidFill>
                  <a:srgbClr val="111318"/>
                </a:solidFill>
              </a:rPr>
              <a:t>The clusters are not simply ‘strict’ versus ‘lenient’</a:t>
            </a:r>
          </a:p>
        </p:txBody>
      </p:sp>
      <p:sp>
        <p:nvSpPr>
          <p:cNvPr id="2253" name="TextBox 15"/>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Authors’ BERTopic analysis · Method-B clusters</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5" name="TextBox 1"/>
          <p:cNvSpPr txBox="1"/>
          <p:nvPr/>
        </p:nvSpPr>
        <p:spPr>
          <a:xfrm>
            <a:off x="603504" y="420623"/>
            <a:ext cx="4297680"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PRINCIPLES</a:t>
            </a:r>
          </a:p>
        </p:txBody>
      </p:sp>
      <p:sp>
        <p:nvSpPr>
          <p:cNvPr id="2256" name="TextBox 2"/>
          <p:cNvSpPr txBox="1"/>
          <p:nvPr/>
        </p:nvSpPr>
        <p:spPr>
          <a:xfrm>
            <a:off x="603504" y="786383"/>
            <a:ext cx="10424160"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Four design principles</a:t>
            </a:r>
          </a:p>
        </p:txBody>
      </p:sp>
      <p:sp>
        <p:nvSpPr>
          <p:cNvPr id="2257" name="TextBox 3"/>
          <p:cNvSpPr txBox="1"/>
          <p:nvPr/>
        </p:nvSpPr>
        <p:spPr>
          <a:xfrm>
            <a:off x="11082528" y="457198"/>
            <a:ext cx="438918"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11</a:t>
            </a:r>
          </a:p>
        </p:txBody>
      </p:sp>
      <p:sp>
        <p:nvSpPr>
          <p:cNvPr id="2258" name="Connector 4"/>
          <p:cNvSpPr/>
          <p:nvPr/>
        </p:nvSpPr>
        <p:spPr>
          <a:xfrm flipH="1">
            <a:off x="1298447" y="1709925"/>
            <a:ext cx="7" cy="4023367"/>
          </a:xfrm>
          <a:prstGeom prst="line">
            <a:avLst/>
          </a:prstGeom>
          <a:ln w="19050">
            <a:solidFill>
              <a:srgbClr val="DADDE2"/>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259" name="Oval 5"/>
          <p:cNvSpPr/>
          <p:nvPr/>
        </p:nvSpPr>
        <p:spPr>
          <a:xfrm>
            <a:off x="1216149" y="1901949"/>
            <a:ext cx="164605" cy="16460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60" name="TextBox 6"/>
          <p:cNvSpPr txBox="1"/>
          <p:nvPr/>
        </p:nvSpPr>
        <p:spPr>
          <a:xfrm>
            <a:off x="1700783" y="1810510"/>
            <a:ext cx="594362"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3977F6"/>
                </a:solidFill>
                <a:latin typeface="Helvetica Neue"/>
                <a:ea typeface="Helvetica Neue"/>
                <a:cs typeface="Helvetica Neue"/>
                <a:sym typeface="Helvetica Neue"/>
              </a:defRPr>
            </a:lvl1pPr>
          </a:lstStyle>
          <a:p>
            <a:pPr/>
            <a:r>
              <a:t>P1</a:t>
            </a:r>
          </a:p>
        </p:txBody>
      </p:sp>
      <p:sp>
        <p:nvSpPr>
          <p:cNvPr id="2261" name="TextBox 7"/>
          <p:cNvSpPr txBox="1"/>
          <p:nvPr/>
        </p:nvSpPr>
        <p:spPr>
          <a:xfrm>
            <a:off x="2377438" y="1737360"/>
            <a:ext cx="3246124" cy="29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111318"/>
                </a:solidFill>
                <a:latin typeface="Helvetica Neue"/>
                <a:ea typeface="Helvetica Neue"/>
                <a:cs typeface="Helvetica Neue"/>
                <a:sym typeface="Helvetica Neue"/>
              </a:defRPr>
            </a:lvl1pPr>
          </a:lstStyle>
          <a:p>
            <a:pPr/>
            <a:r>
              <a:t>Presence</a:t>
            </a:r>
          </a:p>
        </p:txBody>
      </p:sp>
      <p:sp>
        <p:nvSpPr>
          <p:cNvPr id="2262" name="TextBox 8"/>
          <p:cNvSpPr txBox="1"/>
          <p:nvPr/>
        </p:nvSpPr>
        <p:spPr>
          <a:xfrm>
            <a:off x="6400800" y="1773933"/>
            <a:ext cx="3200400" cy="223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3977F6"/>
                </a:solidFill>
                <a:latin typeface="Helvetica Neue"/>
                <a:ea typeface="Helvetica Neue"/>
                <a:cs typeface="Helvetica Neue"/>
                <a:sym typeface="Helvetica Neue"/>
              </a:defRPr>
            </a:pPr>
            <a:r>
              <a:t>• </a:t>
            </a:r>
            <a:r>
              <a:rPr b="0">
                <a:solidFill>
                  <a:srgbClr val="73777F"/>
                </a:solidFill>
              </a:rPr>
              <a:t>Every group enters</a:t>
            </a:r>
          </a:p>
        </p:txBody>
      </p:sp>
      <p:sp>
        <p:nvSpPr>
          <p:cNvPr id="2263" name="Oval 9"/>
          <p:cNvSpPr/>
          <p:nvPr/>
        </p:nvSpPr>
        <p:spPr>
          <a:xfrm>
            <a:off x="1216149" y="2871216"/>
            <a:ext cx="164605" cy="16460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64" name="TextBox 10"/>
          <p:cNvSpPr txBox="1"/>
          <p:nvPr/>
        </p:nvSpPr>
        <p:spPr>
          <a:xfrm>
            <a:off x="1700783" y="2779776"/>
            <a:ext cx="594362"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FF705B"/>
                </a:solidFill>
                <a:latin typeface="Helvetica Neue"/>
                <a:ea typeface="Helvetica Neue"/>
                <a:cs typeface="Helvetica Neue"/>
                <a:sym typeface="Helvetica Neue"/>
              </a:defRPr>
            </a:lvl1pPr>
          </a:lstStyle>
          <a:p>
            <a:pPr/>
            <a:r>
              <a:t>P2</a:t>
            </a:r>
          </a:p>
        </p:txBody>
      </p:sp>
      <p:sp>
        <p:nvSpPr>
          <p:cNvPr id="2265" name="TextBox 11"/>
          <p:cNvSpPr txBox="1"/>
          <p:nvPr/>
        </p:nvSpPr>
        <p:spPr>
          <a:xfrm>
            <a:off x="2377438" y="2706621"/>
            <a:ext cx="3246124" cy="29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111318"/>
                </a:solidFill>
                <a:latin typeface="Helvetica Neue"/>
                <a:ea typeface="Helvetica Neue"/>
                <a:cs typeface="Helvetica Neue"/>
                <a:sym typeface="Helvetica Neue"/>
              </a:defRPr>
            </a:lvl1pPr>
          </a:lstStyle>
          <a:p>
            <a:pPr/>
            <a:r>
              <a:t>Non-compensation</a:t>
            </a:r>
          </a:p>
        </p:txBody>
      </p:sp>
      <p:sp>
        <p:nvSpPr>
          <p:cNvPr id="2266" name="TextBox 12"/>
          <p:cNvSpPr txBox="1"/>
          <p:nvPr/>
        </p:nvSpPr>
        <p:spPr>
          <a:xfrm>
            <a:off x="6400800" y="2743200"/>
            <a:ext cx="3200400" cy="223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FF705B"/>
                </a:solidFill>
                <a:latin typeface="Helvetica Neue"/>
                <a:ea typeface="Helvetica Neue"/>
                <a:cs typeface="Helvetica Neue"/>
                <a:sym typeface="Helvetica Neue"/>
              </a:defRPr>
            </a:pPr>
            <a:r>
              <a:t>• </a:t>
            </a:r>
            <a:r>
              <a:rPr b="0">
                <a:solidFill>
                  <a:srgbClr val="73777F"/>
                </a:solidFill>
              </a:rPr>
              <a:t>Rejection still matters</a:t>
            </a:r>
          </a:p>
        </p:txBody>
      </p:sp>
      <p:sp>
        <p:nvSpPr>
          <p:cNvPr id="2267" name="Oval 13"/>
          <p:cNvSpPr/>
          <p:nvPr/>
        </p:nvSpPr>
        <p:spPr>
          <a:xfrm>
            <a:off x="1216149" y="3840479"/>
            <a:ext cx="164605" cy="164605"/>
          </a:xfrm>
          <a:prstGeom prst="ellipse">
            <a:avLst/>
          </a:prstGeom>
          <a:solidFill>
            <a:srgbClr val="D79A24"/>
          </a:solidFill>
          <a:ln w="10160">
            <a:solidFill>
              <a:srgbClr val="D79A24"/>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68" name="TextBox 14"/>
          <p:cNvSpPr txBox="1"/>
          <p:nvPr/>
        </p:nvSpPr>
        <p:spPr>
          <a:xfrm>
            <a:off x="1700783" y="3749040"/>
            <a:ext cx="594362"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D79A24"/>
                </a:solidFill>
                <a:latin typeface="Helvetica Neue"/>
                <a:ea typeface="Helvetica Neue"/>
                <a:cs typeface="Helvetica Neue"/>
                <a:sym typeface="Helvetica Neue"/>
              </a:defRPr>
            </a:lvl1pPr>
          </a:lstStyle>
          <a:p>
            <a:pPr/>
            <a:r>
              <a:t>P3</a:t>
            </a:r>
          </a:p>
        </p:txBody>
      </p:sp>
      <p:sp>
        <p:nvSpPr>
          <p:cNvPr id="2269" name="TextBox 15"/>
          <p:cNvSpPr txBox="1"/>
          <p:nvPr/>
        </p:nvSpPr>
        <p:spPr>
          <a:xfrm>
            <a:off x="2377438" y="3675888"/>
            <a:ext cx="3246124" cy="29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111318"/>
                </a:solidFill>
                <a:latin typeface="Helvetica Neue"/>
                <a:ea typeface="Helvetica Neue"/>
                <a:cs typeface="Helvetica Neue"/>
                <a:sym typeface="Helvetica Neue"/>
              </a:defRPr>
            </a:lvl1pPr>
          </a:lstStyle>
          <a:p>
            <a:pPr/>
            <a:r>
              <a:t>Symmetry</a:t>
            </a:r>
          </a:p>
        </p:txBody>
      </p:sp>
      <p:sp>
        <p:nvSpPr>
          <p:cNvPr id="2270" name="TextBox 16"/>
          <p:cNvSpPr txBox="1"/>
          <p:nvPr/>
        </p:nvSpPr>
        <p:spPr>
          <a:xfrm>
            <a:off x="6400800" y="3712464"/>
            <a:ext cx="3200400" cy="223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D79A24"/>
                </a:solidFill>
                <a:latin typeface="Helvetica Neue"/>
                <a:ea typeface="Helvetica Neue"/>
                <a:cs typeface="Helvetica Neue"/>
                <a:sym typeface="Helvetica Neue"/>
              </a:defRPr>
            </a:pPr>
            <a:r>
              <a:t>• </a:t>
            </a:r>
            <a:r>
              <a:rPr b="0">
                <a:solidFill>
                  <a:srgbClr val="73777F"/>
                </a:solidFill>
              </a:rPr>
              <a:t>No default winner</a:t>
            </a:r>
          </a:p>
        </p:txBody>
      </p:sp>
      <p:sp>
        <p:nvSpPr>
          <p:cNvPr id="2271" name="Oval 17"/>
          <p:cNvSpPr/>
          <p:nvPr/>
        </p:nvSpPr>
        <p:spPr>
          <a:xfrm>
            <a:off x="1216149" y="4809744"/>
            <a:ext cx="164605" cy="164605"/>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72" name="TextBox 18"/>
          <p:cNvSpPr txBox="1"/>
          <p:nvPr/>
        </p:nvSpPr>
        <p:spPr>
          <a:xfrm>
            <a:off x="1700783" y="4718303"/>
            <a:ext cx="594362"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1FA873"/>
                </a:solidFill>
                <a:latin typeface="Helvetica Neue"/>
                <a:ea typeface="Helvetica Neue"/>
                <a:cs typeface="Helvetica Neue"/>
                <a:sym typeface="Helvetica Neue"/>
              </a:defRPr>
            </a:lvl1pPr>
          </a:lstStyle>
          <a:p>
            <a:pPr/>
            <a:r>
              <a:t>P4</a:t>
            </a:r>
          </a:p>
        </p:txBody>
      </p:sp>
      <p:sp>
        <p:nvSpPr>
          <p:cNvPr id="2273" name="TextBox 19"/>
          <p:cNvSpPr txBox="1"/>
          <p:nvPr/>
        </p:nvSpPr>
        <p:spPr>
          <a:xfrm>
            <a:off x="2377438" y="4645152"/>
            <a:ext cx="3246124" cy="29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111318"/>
                </a:solidFill>
                <a:latin typeface="Helvetica Neue"/>
                <a:ea typeface="Helvetica Neue"/>
                <a:cs typeface="Helvetica Neue"/>
                <a:sym typeface="Helvetica Neue"/>
              </a:defRPr>
            </a:lvl1pPr>
          </a:lstStyle>
          <a:p>
            <a:pPr/>
            <a:r>
              <a:t>Behavioral recovery</a:t>
            </a:r>
          </a:p>
        </p:txBody>
      </p:sp>
      <p:sp>
        <p:nvSpPr>
          <p:cNvPr id="2274" name="TextBox 20"/>
          <p:cNvSpPr txBox="1"/>
          <p:nvPr/>
        </p:nvSpPr>
        <p:spPr>
          <a:xfrm>
            <a:off x="6400800" y="4681728"/>
            <a:ext cx="3200400" cy="223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1FA873"/>
                </a:solidFill>
                <a:latin typeface="Helvetica Neue"/>
                <a:ea typeface="Helvetica Neue"/>
                <a:cs typeface="Helvetica Neue"/>
                <a:sym typeface="Helvetica Neue"/>
              </a:defRPr>
            </a:pPr>
            <a:r>
              <a:t>• </a:t>
            </a:r>
            <a:r>
              <a:rPr b="0">
                <a:solidFill>
                  <a:srgbClr val="73777F"/>
                </a:solidFill>
              </a:rPr>
              <a:t>No outside labels</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6" name="TextBox 1"/>
          <p:cNvSpPr txBox="1"/>
          <p:nvPr/>
        </p:nvSpPr>
        <p:spPr>
          <a:xfrm>
            <a:off x="603502" y="420623"/>
            <a:ext cx="4389123"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IMPLEMENTATION</a:t>
            </a:r>
          </a:p>
        </p:txBody>
      </p:sp>
      <p:sp>
        <p:nvSpPr>
          <p:cNvPr id="2277"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Principles become operations</a:t>
            </a:r>
          </a:p>
        </p:txBody>
      </p:sp>
      <p:sp>
        <p:nvSpPr>
          <p:cNvPr id="2278" name="TextBox 3"/>
          <p:cNvSpPr txBox="1"/>
          <p:nvPr/>
        </p:nvSpPr>
        <p:spPr>
          <a:xfrm>
            <a:off x="11082528" y="457198"/>
            <a:ext cx="438914"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12</a:t>
            </a:r>
          </a:p>
        </p:txBody>
      </p:sp>
      <p:sp>
        <p:nvSpPr>
          <p:cNvPr id="2279" name="Connector 4"/>
          <p:cNvSpPr/>
          <p:nvPr/>
        </p:nvSpPr>
        <p:spPr>
          <a:xfrm flipH="1">
            <a:off x="1298447" y="1664206"/>
            <a:ext cx="2" cy="3621026"/>
          </a:xfrm>
          <a:prstGeom prst="line">
            <a:avLst/>
          </a:prstGeom>
          <a:ln w="1778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280" name="Oval 5"/>
          <p:cNvSpPr/>
          <p:nvPr/>
        </p:nvSpPr>
        <p:spPr>
          <a:xfrm>
            <a:off x="1216149" y="1810511"/>
            <a:ext cx="164595" cy="164594"/>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81" name="TextBox 6"/>
          <p:cNvSpPr txBox="1"/>
          <p:nvPr/>
        </p:nvSpPr>
        <p:spPr>
          <a:xfrm>
            <a:off x="1700783" y="1810511"/>
            <a:ext cx="594362"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3977F6"/>
                </a:solidFill>
                <a:latin typeface="Helvetica Neue"/>
                <a:ea typeface="Helvetica Neue"/>
                <a:cs typeface="Helvetica Neue"/>
                <a:sym typeface="Helvetica Neue"/>
              </a:defRPr>
            </a:lvl1pPr>
          </a:lstStyle>
          <a:p>
            <a:pPr/>
            <a:r>
              <a:t>P1</a:t>
            </a:r>
          </a:p>
        </p:txBody>
      </p:sp>
      <p:sp>
        <p:nvSpPr>
          <p:cNvPr id="2282" name="TextBox 7"/>
          <p:cNvSpPr txBox="1"/>
          <p:nvPr/>
        </p:nvSpPr>
        <p:spPr>
          <a:xfrm>
            <a:off x="2313431" y="1755648"/>
            <a:ext cx="2697483"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111318"/>
                </a:solidFill>
                <a:latin typeface="Helvetica Neue"/>
                <a:ea typeface="Helvetica Neue"/>
                <a:cs typeface="Helvetica Neue"/>
                <a:sym typeface="Helvetica Neue"/>
              </a:defRPr>
            </a:lvl1pPr>
          </a:lstStyle>
          <a:p>
            <a:pPr/>
            <a:r>
              <a:t>≥3 ratings</a:t>
            </a:r>
          </a:p>
        </p:txBody>
      </p:sp>
      <p:sp>
        <p:nvSpPr>
          <p:cNvPr id="2283" name="TextBox 8"/>
          <p:cNvSpPr txBox="1"/>
          <p:nvPr/>
        </p:nvSpPr>
        <p:spPr>
          <a:xfrm>
            <a:off x="5074920" y="1783078"/>
            <a:ext cx="2331722"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3977F6"/>
                </a:solidFill>
                <a:latin typeface="Helvetica Neue"/>
                <a:ea typeface="Helvetica Neue"/>
                <a:cs typeface="Helvetica Neue"/>
                <a:sym typeface="Helvetica Neue"/>
              </a:defRPr>
            </a:pPr>
            <a:r>
              <a:t>• </a:t>
            </a:r>
            <a:r>
              <a:rPr b="0">
                <a:solidFill>
                  <a:srgbClr val="73777F"/>
                </a:solidFill>
              </a:rPr>
              <a:t>from every group</a:t>
            </a:r>
          </a:p>
        </p:txBody>
      </p:sp>
      <p:sp>
        <p:nvSpPr>
          <p:cNvPr id="2284" name="TextBox 9"/>
          <p:cNvSpPr txBox="1"/>
          <p:nvPr/>
        </p:nvSpPr>
        <p:spPr>
          <a:xfrm>
            <a:off x="7845552" y="1609344"/>
            <a:ext cx="3520442"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CHECK 1 · PRESENCE</a:t>
            </a:r>
          </a:p>
        </p:txBody>
      </p:sp>
      <p:sp>
        <p:nvSpPr>
          <p:cNvPr id="2285" name="TextBox 10"/>
          <p:cNvSpPr txBox="1"/>
          <p:nvPr/>
        </p:nvSpPr>
        <p:spPr>
          <a:xfrm>
            <a:off x="7845552" y="1993392"/>
            <a:ext cx="11887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SAME NOTE</a:t>
            </a:r>
          </a:p>
        </p:txBody>
      </p:sp>
      <p:sp>
        <p:nvSpPr>
          <p:cNvPr id="2286" name="TextBox 11"/>
          <p:cNvSpPr txBox="1"/>
          <p:nvPr/>
        </p:nvSpPr>
        <p:spPr>
          <a:xfrm>
            <a:off x="7845552" y="2468878"/>
            <a:ext cx="1554482"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3977F6"/>
                </a:solidFill>
                <a:latin typeface="Helvetica Neue"/>
                <a:ea typeface="Helvetica Neue"/>
                <a:cs typeface="Helvetica Neue"/>
                <a:sym typeface="Helvetica Neue"/>
              </a:defRPr>
            </a:lvl1pPr>
          </a:lstStyle>
          <a:p>
            <a:pPr/>
            <a:r>
              <a:t>CONSTITUENCY A</a:t>
            </a:r>
          </a:p>
        </p:txBody>
      </p:sp>
      <p:sp>
        <p:nvSpPr>
          <p:cNvPr id="2287" name="TextBox 12"/>
          <p:cNvSpPr txBox="1"/>
          <p:nvPr/>
        </p:nvSpPr>
        <p:spPr>
          <a:xfrm>
            <a:off x="9464040" y="2395727"/>
            <a:ext cx="1097282"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111318"/>
                </a:solidFill>
                <a:latin typeface="Helvetica Neue"/>
                <a:ea typeface="Helvetica Neue"/>
                <a:cs typeface="Helvetica Neue"/>
                <a:sym typeface="Helvetica Neue"/>
              </a:defRPr>
            </a:lvl1pPr>
          </a:lstStyle>
          <a:p>
            <a:pPr/>
            <a:r>
              <a:t>90 ratings</a:t>
            </a:r>
          </a:p>
        </p:txBody>
      </p:sp>
      <p:sp>
        <p:nvSpPr>
          <p:cNvPr id="2288" name="Oval 13"/>
          <p:cNvSpPr/>
          <p:nvPr/>
        </p:nvSpPr>
        <p:spPr>
          <a:xfrm>
            <a:off x="10899647" y="2414016"/>
            <a:ext cx="237747" cy="237747"/>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89" name="Connector 14"/>
          <p:cNvSpPr/>
          <p:nvPr/>
        </p:nvSpPr>
        <p:spPr>
          <a:xfrm>
            <a:off x="10945368" y="2532888"/>
            <a:ext cx="45722" cy="45722"/>
          </a:xfrm>
          <a:prstGeom prst="line">
            <a:avLst/>
          </a:prstGeom>
          <a:ln w="1524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290" name="Connector 15"/>
          <p:cNvSpPr/>
          <p:nvPr/>
        </p:nvSpPr>
        <p:spPr>
          <a:xfrm flipV="1">
            <a:off x="10991088" y="2468878"/>
            <a:ext cx="91442" cy="109730"/>
          </a:xfrm>
          <a:prstGeom prst="line">
            <a:avLst/>
          </a:prstGeom>
          <a:ln w="1524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291" name="Connector 16"/>
          <p:cNvSpPr/>
          <p:nvPr/>
        </p:nvSpPr>
        <p:spPr>
          <a:xfrm>
            <a:off x="7845552" y="2907792"/>
            <a:ext cx="3456433" cy="2"/>
          </a:xfrm>
          <a:prstGeom prst="line">
            <a:avLst/>
          </a:prstGeom>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292" name="TextBox 17"/>
          <p:cNvSpPr txBox="1"/>
          <p:nvPr/>
        </p:nvSpPr>
        <p:spPr>
          <a:xfrm>
            <a:off x="7845552" y="3246120"/>
            <a:ext cx="1554482"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FF705B"/>
                </a:solidFill>
                <a:latin typeface="Helvetica Neue"/>
                <a:ea typeface="Helvetica Neue"/>
                <a:cs typeface="Helvetica Neue"/>
                <a:sym typeface="Helvetica Neue"/>
              </a:defRPr>
            </a:lvl1pPr>
          </a:lstStyle>
          <a:p>
            <a:pPr/>
            <a:r>
              <a:t>CONSTITUENCY B</a:t>
            </a:r>
          </a:p>
        </p:txBody>
      </p:sp>
      <p:sp>
        <p:nvSpPr>
          <p:cNvPr id="2293" name="TextBox 18"/>
          <p:cNvSpPr txBox="1"/>
          <p:nvPr/>
        </p:nvSpPr>
        <p:spPr>
          <a:xfrm>
            <a:off x="9464040" y="3172966"/>
            <a:ext cx="1097282" cy="2604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111318"/>
                </a:solidFill>
                <a:latin typeface="Helvetica Neue"/>
                <a:ea typeface="Helvetica Neue"/>
                <a:cs typeface="Helvetica Neue"/>
                <a:sym typeface="Helvetica Neue"/>
              </a:defRPr>
            </a:lvl1pPr>
          </a:lstStyle>
          <a:p>
            <a:pPr/>
            <a:r>
              <a:t>2 ratings</a:t>
            </a:r>
          </a:p>
        </p:txBody>
      </p:sp>
      <p:sp>
        <p:nvSpPr>
          <p:cNvPr id="2294" name="Oval 19"/>
          <p:cNvSpPr/>
          <p:nvPr/>
        </p:nvSpPr>
        <p:spPr>
          <a:xfrm>
            <a:off x="10899647" y="3191255"/>
            <a:ext cx="237747" cy="237747"/>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295" name="Connector 20"/>
          <p:cNvSpPr/>
          <p:nvPr/>
        </p:nvSpPr>
        <p:spPr>
          <a:xfrm>
            <a:off x="10954511" y="3246120"/>
            <a:ext cx="109730" cy="109730"/>
          </a:xfrm>
          <a:prstGeom prst="line">
            <a:avLst/>
          </a:prstGeom>
          <a:ln w="1524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296" name="Connector 21"/>
          <p:cNvSpPr/>
          <p:nvPr/>
        </p:nvSpPr>
        <p:spPr>
          <a:xfrm flipH="1">
            <a:off x="10954511" y="3246120"/>
            <a:ext cx="109730" cy="109730"/>
          </a:xfrm>
          <a:prstGeom prst="line">
            <a:avLst/>
          </a:prstGeom>
          <a:ln w="15240">
            <a:solidFill>
              <a:srgbClr val="FFFFFF"/>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297" name="TextBox 22"/>
          <p:cNvSpPr txBox="1"/>
          <p:nvPr/>
        </p:nvSpPr>
        <p:spPr>
          <a:xfrm>
            <a:off x="7845552" y="3931920"/>
            <a:ext cx="3493010" cy="3968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600">
                <a:solidFill>
                  <a:srgbClr val="FF705B"/>
                </a:solidFill>
                <a:latin typeface="Helvetica Neue"/>
                <a:ea typeface="Helvetica Neue"/>
                <a:cs typeface="Helvetica Neue"/>
                <a:sym typeface="Helvetica Neue"/>
              </a:defRPr>
            </a:lvl1pPr>
          </a:lstStyle>
          <a:p>
            <a:pPr/>
            <a:r>
              <a:t>NO SCORE YET</a:t>
            </a:r>
          </a:p>
        </p:txBody>
      </p:sp>
      <p:sp>
        <p:nvSpPr>
          <p:cNvPr id="2298" name="TextBox 23"/>
          <p:cNvSpPr txBox="1"/>
          <p:nvPr/>
        </p:nvSpPr>
        <p:spPr>
          <a:xfrm>
            <a:off x="8339325" y="4590288"/>
            <a:ext cx="2514602"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400">
                <a:solidFill>
                  <a:srgbClr val="FF705B"/>
                </a:solidFill>
                <a:latin typeface="Helvetica Neue"/>
                <a:ea typeface="Helvetica Neue"/>
                <a:cs typeface="Helvetica Neue"/>
                <a:sym typeface="Helvetica Neue"/>
              </a:defRPr>
            </a:pPr>
            <a:r>
              <a:t>• </a:t>
            </a:r>
            <a:r>
              <a:rPr>
                <a:solidFill>
                  <a:srgbClr val="73777F"/>
                </a:solidFill>
              </a:rPr>
              <a:t>≥3 from every group</a:t>
            </a:r>
          </a:p>
        </p:txBody>
      </p:sp>
      <p:sp>
        <p:nvSpPr>
          <p:cNvPr id="2299" name="TextBox 24"/>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Toy illustration—not the Community Notes scoring formula; authors’ CCA design</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1" name="TextBox 1"/>
          <p:cNvSpPr txBox="1"/>
          <p:nvPr/>
        </p:nvSpPr>
        <p:spPr>
          <a:xfrm>
            <a:off x="603502" y="420623"/>
            <a:ext cx="4389123"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IMPLEMENTATION</a:t>
            </a:r>
          </a:p>
        </p:txBody>
      </p:sp>
      <p:sp>
        <p:nvSpPr>
          <p:cNvPr id="2302"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Principles become operations</a:t>
            </a:r>
          </a:p>
        </p:txBody>
      </p:sp>
      <p:sp>
        <p:nvSpPr>
          <p:cNvPr id="2303" name="TextBox 3"/>
          <p:cNvSpPr txBox="1"/>
          <p:nvPr/>
        </p:nvSpPr>
        <p:spPr>
          <a:xfrm>
            <a:off x="11082528" y="457198"/>
            <a:ext cx="438914"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12</a:t>
            </a:r>
          </a:p>
        </p:txBody>
      </p:sp>
      <p:sp>
        <p:nvSpPr>
          <p:cNvPr id="2304" name="Connector 4"/>
          <p:cNvSpPr/>
          <p:nvPr/>
        </p:nvSpPr>
        <p:spPr>
          <a:xfrm flipH="1">
            <a:off x="1298447" y="1664206"/>
            <a:ext cx="2" cy="3621026"/>
          </a:xfrm>
          <a:prstGeom prst="line">
            <a:avLst/>
          </a:prstGeom>
          <a:ln w="1778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305" name="Oval 5"/>
          <p:cNvSpPr/>
          <p:nvPr/>
        </p:nvSpPr>
        <p:spPr>
          <a:xfrm>
            <a:off x="1216149" y="1810511"/>
            <a:ext cx="164595" cy="164594"/>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06" name="TextBox 6"/>
          <p:cNvSpPr txBox="1"/>
          <p:nvPr/>
        </p:nvSpPr>
        <p:spPr>
          <a:xfrm>
            <a:off x="1700783" y="1810511"/>
            <a:ext cx="594362"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3977F6"/>
                </a:solidFill>
                <a:latin typeface="Helvetica Neue"/>
                <a:ea typeface="Helvetica Neue"/>
                <a:cs typeface="Helvetica Neue"/>
                <a:sym typeface="Helvetica Neue"/>
              </a:defRPr>
            </a:lvl1pPr>
          </a:lstStyle>
          <a:p>
            <a:pPr/>
            <a:r>
              <a:t>P1</a:t>
            </a:r>
          </a:p>
        </p:txBody>
      </p:sp>
      <p:sp>
        <p:nvSpPr>
          <p:cNvPr id="2307" name="TextBox 7"/>
          <p:cNvSpPr txBox="1"/>
          <p:nvPr/>
        </p:nvSpPr>
        <p:spPr>
          <a:xfrm>
            <a:off x="2313431" y="1755648"/>
            <a:ext cx="2697483"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111318"/>
                </a:solidFill>
                <a:latin typeface="Helvetica Neue"/>
                <a:ea typeface="Helvetica Neue"/>
                <a:cs typeface="Helvetica Neue"/>
                <a:sym typeface="Helvetica Neue"/>
              </a:defRPr>
            </a:lvl1pPr>
          </a:lstStyle>
          <a:p>
            <a:pPr/>
            <a:r>
              <a:t>≥3 ratings</a:t>
            </a:r>
          </a:p>
        </p:txBody>
      </p:sp>
      <p:sp>
        <p:nvSpPr>
          <p:cNvPr id="2308" name="TextBox 8"/>
          <p:cNvSpPr txBox="1"/>
          <p:nvPr/>
        </p:nvSpPr>
        <p:spPr>
          <a:xfrm>
            <a:off x="5074920" y="1783078"/>
            <a:ext cx="2331722"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3977F6"/>
                </a:solidFill>
                <a:latin typeface="Helvetica Neue"/>
                <a:ea typeface="Helvetica Neue"/>
                <a:cs typeface="Helvetica Neue"/>
                <a:sym typeface="Helvetica Neue"/>
              </a:defRPr>
            </a:pPr>
            <a:r>
              <a:t>• </a:t>
            </a:r>
            <a:r>
              <a:rPr b="0">
                <a:solidFill>
                  <a:srgbClr val="73777F"/>
                </a:solidFill>
              </a:rPr>
              <a:t>from every group</a:t>
            </a:r>
          </a:p>
        </p:txBody>
      </p:sp>
      <p:sp>
        <p:nvSpPr>
          <p:cNvPr id="2309" name="Oval 9"/>
          <p:cNvSpPr/>
          <p:nvPr/>
        </p:nvSpPr>
        <p:spPr>
          <a:xfrm>
            <a:off x="1216149" y="2798064"/>
            <a:ext cx="164595" cy="16459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10" name="TextBox 10"/>
          <p:cNvSpPr txBox="1"/>
          <p:nvPr/>
        </p:nvSpPr>
        <p:spPr>
          <a:xfrm>
            <a:off x="1700783" y="2798064"/>
            <a:ext cx="594362"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FF705B"/>
                </a:solidFill>
                <a:latin typeface="Helvetica Neue"/>
                <a:ea typeface="Helvetica Neue"/>
                <a:cs typeface="Helvetica Neue"/>
                <a:sym typeface="Helvetica Neue"/>
              </a:defRPr>
            </a:lvl1pPr>
          </a:lstStyle>
          <a:p>
            <a:pPr/>
            <a:r>
              <a:t>P2</a:t>
            </a:r>
          </a:p>
        </p:txBody>
      </p:sp>
      <p:sp>
        <p:nvSpPr>
          <p:cNvPr id="2311" name="TextBox 11"/>
          <p:cNvSpPr txBox="1"/>
          <p:nvPr/>
        </p:nvSpPr>
        <p:spPr>
          <a:xfrm>
            <a:off x="2313431" y="2743199"/>
            <a:ext cx="2697483" cy="2604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111318"/>
                </a:solidFill>
                <a:latin typeface="Helvetica Neue"/>
                <a:ea typeface="Helvetica Neue"/>
                <a:cs typeface="Helvetica Neue"/>
                <a:sym typeface="Helvetica Neue"/>
              </a:defRPr>
            </a:lvl1pPr>
          </a:lstStyle>
          <a:p>
            <a:pPr/>
            <a:r>
              <a:t>Geometric mean</a:t>
            </a:r>
          </a:p>
        </p:txBody>
      </p:sp>
      <p:sp>
        <p:nvSpPr>
          <p:cNvPr id="2312" name="TextBox 12"/>
          <p:cNvSpPr txBox="1"/>
          <p:nvPr/>
        </p:nvSpPr>
        <p:spPr>
          <a:xfrm>
            <a:off x="5074920" y="2770632"/>
            <a:ext cx="2331722" cy="1984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FF705B"/>
                </a:solidFill>
                <a:latin typeface="Helvetica Neue"/>
                <a:ea typeface="Helvetica Neue"/>
                <a:cs typeface="Helvetica Neue"/>
                <a:sym typeface="Helvetica Neue"/>
              </a:defRPr>
            </a:pPr>
            <a:r>
              <a:t>• </a:t>
            </a:r>
            <a:r>
              <a:rPr b="0">
                <a:solidFill>
                  <a:srgbClr val="73777F"/>
                </a:solidFill>
              </a:rPr>
              <a:t>a soft veto</a:t>
            </a:r>
          </a:p>
        </p:txBody>
      </p:sp>
      <p:sp>
        <p:nvSpPr>
          <p:cNvPr id="2313" name="TextBox 13"/>
          <p:cNvSpPr txBox="1"/>
          <p:nvPr/>
        </p:nvSpPr>
        <p:spPr>
          <a:xfrm>
            <a:off x="7845552" y="1609344"/>
            <a:ext cx="3520442"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CHECK 2 · NON-COMPENSATION</a:t>
            </a:r>
          </a:p>
        </p:txBody>
      </p:sp>
      <p:sp>
        <p:nvSpPr>
          <p:cNvPr id="2314" name="TextBox 14"/>
          <p:cNvSpPr txBox="1"/>
          <p:nvPr/>
        </p:nvSpPr>
        <p:spPr>
          <a:xfrm>
            <a:off x="7845552" y="1965960"/>
            <a:ext cx="1600202"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3977F6"/>
                </a:solidFill>
                <a:latin typeface="Helvetica Neue"/>
                <a:ea typeface="Helvetica Neue"/>
                <a:cs typeface="Helvetica Neue"/>
                <a:sym typeface="Helvetica Neue"/>
              </a:defRPr>
            </a:lvl1pPr>
          </a:lstStyle>
          <a:p>
            <a:pPr/>
            <a:r>
              <a:t>A · 81 / 90 = 90%</a:t>
            </a:r>
          </a:p>
        </p:txBody>
      </p:sp>
      <p:sp>
        <p:nvSpPr>
          <p:cNvPr id="2315" name="TextBox 15"/>
          <p:cNvSpPr txBox="1"/>
          <p:nvPr/>
        </p:nvSpPr>
        <p:spPr>
          <a:xfrm>
            <a:off x="9710928" y="1965960"/>
            <a:ext cx="1600202"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1100">
                <a:solidFill>
                  <a:srgbClr val="FF705B"/>
                </a:solidFill>
                <a:latin typeface="Helvetica Neue"/>
                <a:ea typeface="Helvetica Neue"/>
                <a:cs typeface="Helvetica Neue"/>
                <a:sym typeface="Helvetica Neue"/>
              </a:defRPr>
            </a:lvl1pPr>
          </a:lstStyle>
          <a:p>
            <a:pPr/>
            <a:r>
              <a:t>B · 1 / 10 = 10%</a:t>
            </a:r>
          </a:p>
        </p:txBody>
      </p:sp>
      <p:sp>
        <p:nvSpPr>
          <p:cNvPr id="2316" name="TextBox 16"/>
          <p:cNvSpPr txBox="1"/>
          <p:nvPr/>
        </p:nvSpPr>
        <p:spPr>
          <a:xfrm>
            <a:off x="7845552" y="2468878"/>
            <a:ext cx="1417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POOLED VOTES</a:t>
            </a:r>
          </a:p>
        </p:txBody>
      </p:sp>
      <p:sp>
        <p:nvSpPr>
          <p:cNvPr id="2317" name="TextBox 17"/>
          <p:cNvSpPr txBox="1"/>
          <p:nvPr/>
        </p:nvSpPr>
        <p:spPr>
          <a:xfrm>
            <a:off x="7845552" y="2761488"/>
            <a:ext cx="3429002"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11318"/>
                </a:solidFill>
                <a:latin typeface="Helvetica Neue"/>
                <a:ea typeface="Helvetica Neue"/>
                <a:cs typeface="Helvetica Neue"/>
                <a:sym typeface="Helvetica Neue"/>
              </a:defRPr>
            </a:lvl1pPr>
          </a:lstStyle>
          <a:p>
            <a:pPr/>
            <a:r>
              <a:t>(81 + 1) / (90 + 10) = 82%</a:t>
            </a:r>
          </a:p>
        </p:txBody>
      </p:sp>
      <p:sp>
        <p:nvSpPr>
          <p:cNvPr id="2318" name="TextBox 18"/>
          <p:cNvSpPr txBox="1"/>
          <p:nvPr/>
        </p:nvSpPr>
        <p:spPr>
          <a:xfrm>
            <a:off x="10442447" y="3127248"/>
            <a:ext cx="822962"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1400">
                <a:solidFill>
                  <a:srgbClr val="1FA873"/>
                </a:solidFill>
                <a:latin typeface="Helvetica Neue"/>
                <a:ea typeface="Helvetica Neue"/>
                <a:cs typeface="Helvetica Neue"/>
                <a:sym typeface="Helvetica Neue"/>
              </a:defRPr>
            </a:lvl1pPr>
          </a:lstStyle>
          <a:p>
            <a:pPr/>
            <a:r>
              <a:t>PASS</a:t>
            </a:r>
          </a:p>
        </p:txBody>
      </p:sp>
      <p:sp>
        <p:nvSpPr>
          <p:cNvPr id="2319" name="Connector 19"/>
          <p:cNvSpPr/>
          <p:nvPr/>
        </p:nvSpPr>
        <p:spPr>
          <a:xfrm>
            <a:off x="7845552" y="3493008"/>
            <a:ext cx="3456433" cy="2"/>
          </a:xfrm>
          <a:prstGeom prst="line">
            <a:avLst/>
          </a:prstGeom>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320" name="TextBox 20"/>
          <p:cNvSpPr txBox="1"/>
          <p:nvPr/>
        </p:nvSpPr>
        <p:spPr>
          <a:xfrm>
            <a:off x="7845552" y="3794759"/>
            <a:ext cx="8229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1FA873"/>
                </a:solidFill>
                <a:latin typeface="Helvetica Neue"/>
                <a:ea typeface="Helvetica Neue"/>
                <a:cs typeface="Helvetica Neue"/>
                <a:sym typeface="Helvetica Neue"/>
              </a:defRPr>
            </a:lvl1pPr>
          </a:lstStyle>
          <a:p>
            <a:pPr/>
            <a:r>
              <a:t>CCA</a:t>
            </a:r>
          </a:p>
        </p:txBody>
      </p:sp>
      <p:sp>
        <p:nvSpPr>
          <p:cNvPr id="2321" name="TextBox 21"/>
          <p:cNvSpPr txBox="1"/>
          <p:nvPr/>
        </p:nvSpPr>
        <p:spPr>
          <a:xfrm>
            <a:off x="7845552" y="4069079"/>
            <a:ext cx="3429002" cy="29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111318"/>
                </a:solidFill>
                <a:latin typeface="Helvetica Neue"/>
                <a:ea typeface="Helvetica Neue"/>
                <a:cs typeface="Helvetica Neue"/>
                <a:sym typeface="Helvetica Neue"/>
              </a:defRPr>
            </a:lvl1pPr>
          </a:lstStyle>
          <a:p>
            <a:pPr/>
            <a:r>
              <a:t>√(.90 × .10) = 30%</a:t>
            </a:r>
          </a:p>
        </p:txBody>
      </p:sp>
      <p:sp>
        <p:nvSpPr>
          <p:cNvPr id="2322" name="TextBox 22"/>
          <p:cNvSpPr txBox="1"/>
          <p:nvPr/>
        </p:nvSpPr>
        <p:spPr>
          <a:xfrm>
            <a:off x="9509759" y="4507991"/>
            <a:ext cx="1755650"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1300">
                <a:solidFill>
                  <a:srgbClr val="FF705B"/>
                </a:solidFill>
                <a:latin typeface="Helvetica Neue"/>
                <a:ea typeface="Helvetica Neue"/>
                <a:cs typeface="Helvetica Neue"/>
                <a:sym typeface="Helvetica Neue"/>
              </a:defRPr>
            </a:lvl1pPr>
          </a:lstStyle>
          <a:p>
            <a:pPr/>
            <a:r>
              <a:t>DOES NOT PASS</a:t>
            </a:r>
          </a:p>
        </p:txBody>
      </p:sp>
      <p:sp>
        <p:nvSpPr>
          <p:cNvPr id="2323" name="TextBox 23"/>
          <p:cNvSpPr txBox="1"/>
          <p:nvPr/>
        </p:nvSpPr>
        <p:spPr>
          <a:xfrm>
            <a:off x="7845552" y="4864608"/>
            <a:ext cx="3337560"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FF705B"/>
                </a:solidFill>
                <a:latin typeface="Helvetica Neue"/>
                <a:ea typeface="Helvetica Neue"/>
                <a:cs typeface="Helvetica Neue"/>
                <a:sym typeface="Helvetica Neue"/>
              </a:defRPr>
            </a:pPr>
            <a:r>
              <a:t>• </a:t>
            </a:r>
            <a:r>
              <a:rPr b="0">
                <a:solidFill>
                  <a:srgbClr val="73777F"/>
                </a:solidFill>
              </a:rPr>
              <a:t>Enthusiasm cannot erase rejection</a:t>
            </a:r>
          </a:p>
        </p:txBody>
      </p:sp>
      <p:sp>
        <p:nvSpPr>
          <p:cNvPr id="2324" name="TextBox 24"/>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Toy illustration—not the Community Notes scoring formula; authors’ CCA design</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6" name="TextBox 1"/>
          <p:cNvSpPr txBox="1"/>
          <p:nvPr/>
        </p:nvSpPr>
        <p:spPr>
          <a:xfrm>
            <a:off x="603502" y="420623"/>
            <a:ext cx="4389123"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IMPLEMENTATION</a:t>
            </a:r>
          </a:p>
        </p:txBody>
      </p:sp>
      <p:sp>
        <p:nvSpPr>
          <p:cNvPr id="2327"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Principles become operations</a:t>
            </a:r>
          </a:p>
        </p:txBody>
      </p:sp>
      <p:sp>
        <p:nvSpPr>
          <p:cNvPr id="2328" name="TextBox 3"/>
          <p:cNvSpPr txBox="1"/>
          <p:nvPr/>
        </p:nvSpPr>
        <p:spPr>
          <a:xfrm>
            <a:off x="11082528" y="457198"/>
            <a:ext cx="438914"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12</a:t>
            </a:r>
          </a:p>
        </p:txBody>
      </p:sp>
      <p:sp>
        <p:nvSpPr>
          <p:cNvPr id="2329" name="Connector 4"/>
          <p:cNvSpPr/>
          <p:nvPr/>
        </p:nvSpPr>
        <p:spPr>
          <a:xfrm flipH="1">
            <a:off x="1298447" y="1664206"/>
            <a:ext cx="2" cy="3621026"/>
          </a:xfrm>
          <a:prstGeom prst="line">
            <a:avLst/>
          </a:prstGeom>
          <a:ln w="1778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330" name="Oval 5"/>
          <p:cNvSpPr/>
          <p:nvPr/>
        </p:nvSpPr>
        <p:spPr>
          <a:xfrm>
            <a:off x="1216149" y="1810511"/>
            <a:ext cx="164595" cy="164594"/>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31" name="TextBox 6"/>
          <p:cNvSpPr txBox="1"/>
          <p:nvPr/>
        </p:nvSpPr>
        <p:spPr>
          <a:xfrm>
            <a:off x="1700783" y="1810511"/>
            <a:ext cx="594362"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3977F6"/>
                </a:solidFill>
                <a:latin typeface="Helvetica Neue"/>
                <a:ea typeface="Helvetica Neue"/>
                <a:cs typeface="Helvetica Neue"/>
                <a:sym typeface="Helvetica Neue"/>
              </a:defRPr>
            </a:lvl1pPr>
          </a:lstStyle>
          <a:p>
            <a:pPr/>
            <a:r>
              <a:t>P1</a:t>
            </a:r>
          </a:p>
        </p:txBody>
      </p:sp>
      <p:sp>
        <p:nvSpPr>
          <p:cNvPr id="2332" name="TextBox 7"/>
          <p:cNvSpPr txBox="1"/>
          <p:nvPr/>
        </p:nvSpPr>
        <p:spPr>
          <a:xfrm>
            <a:off x="2313431" y="1755648"/>
            <a:ext cx="2697483"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111318"/>
                </a:solidFill>
                <a:latin typeface="Helvetica Neue"/>
                <a:ea typeface="Helvetica Neue"/>
                <a:cs typeface="Helvetica Neue"/>
                <a:sym typeface="Helvetica Neue"/>
              </a:defRPr>
            </a:lvl1pPr>
          </a:lstStyle>
          <a:p>
            <a:pPr/>
            <a:r>
              <a:t>≥3 ratings</a:t>
            </a:r>
          </a:p>
        </p:txBody>
      </p:sp>
      <p:sp>
        <p:nvSpPr>
          <p:cNvPr id="2333" name="TextBox 8"/>
          <p:cNvSpPr txBox="1"/>
          <p:nvPr/>
        </p:nvSpPr>
        <p:spPr>
          <a:xfrm>
            <a:off x="5074920" y="1783078"/>
            <a:ext cx="2331722"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3977F6"/>
                </a:solidFill>
                <a:latin typeface="Helvetica Neue"/>
                <a:ea typeface="Helvetica Neue"/>
                <a:cs typeface="Helvetica Neue"/>
                <a:sym typeface="Helvetica Neue"/>
              </a:defRPr>
            </a:pPr>
            <a:r>
              <a:t>• </a:t>
            </a:r>
            <a:r>
              <a:rPr b="0">
                <a:solidFill>
                  <a:srgbClr val="73777F"/>
                </a:solidFill>
              </a:rPr>
              <a:t>from every group</a:t>
            </a:r>
          </a:p>
        </p:txBody>
      </p:sp>
      <p:sp>
        <p:nvSpPr>
          <p:cNvPr id="2334" name="Oval 9"/>
          <p:cNvSpPr/>
          <p:nvPr/>
        </p:nvSpPr>
        <p:spPr>
          <a:xfrm>
            <a:off x="1216149" y="2798064"/>
            <a:ext cx="164595" cy="16459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35" name="TextBox 10"/>
          <p:cNvSpPr txBox="1"/>
          <p:nvPr/>
        </p:nvSpPr>
        <p:spPr>
          <a:xfrm>
            <a:off x="1700783" y="2798064"/>
            <a:ext cx="594362"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FF705B"/>
                </a:solidFill>
                <a:latin typeface="Helvetica Neue"/>
                <a:ea typeface="Helvetica Neue"/>
                <a:cs typeface="Helvetica Neue"/>
                <a:sym typeface="Helvetica Neue"/>
              </a:defRPr>
            </a:lvl1pPr>
          </a:lstStyle>
          <a:p>
            <a:pPr/>
            <a:r>
              <a:t>P2</a:t>
            </a:r>
          </a:p>
        </p:txBody>
      </p:sp>
      <p:sp>
        <p:nvSpPr>
          <p:cNvPr id="2336" name="TextBox 11"/>
          <p:cNvSpPr txBox="1"/>
          <p:nvPr/>
        </p:nvSpPr>
        <p:spPr>
          <a:xfrm>
            <a:off x="2313431" y="2743199"/>
            <a:ext cx="2697483" cy="2604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111318"/>
                </a:solidFill>
                <a:latin typeface="Helvetica Neue"/>
                <a:ea typeface="Helvetica Neue"/>
                <a:cs typeface="Helvetica Neue"/>
                <a:sym typeface="Helvetica Neue"/>
              </a:defRPr>
            </a:lvl1pPr>
          </a:lstStyle>
          <a:p>
            <a:pPr/>
            <a:r>
              <a:t>Geometric mean</a:t>
            </a:r>
          </a:p>
        </p:txBody>
      </p:sp>
      <p:sp>
        <p:nvSpPr>
          <p:cNvPr id="2337" name="TextBox 12"/>
          <p:cNvSpPr txBox="1"/>
          <p:nvPr/>
        </p:nvSpPr>
        <p:spPr>
          <a:xfrm>
            <a:off x="5074920" y="2770632"/>
            <a:ext cx="2331722" cy="1984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FF705B"/>
                </a:solidFill>
                <a:latin typeface="Helvetica Neue"/>
                <a:ea typeface="Helvetica Neue"/>
                <a:cs typeface="Helvetica Neue"/>
                <a:sym typeface="Helvetica Neue"/>
              </a:defRPr>
            </a:pPr>
            <a:r>
              <a:t>• </a:t>
            </a:r>
            <a:r>
              <a:rPr b="0">
                <a:solidFill>
                  <a:srgbClr val="73777F"/>
                </a:solidFill>
              </a:rPr>
              <a:t>a soft veto</a:t>
            </a:r>
          </a:p>
        </p:txBody>
      </p:sp>
      <p:sp>
        <p:nvSpPr>
          <p:cNvPr id="2338" name="Oval 13"/>
          <p:cNvSpPr/>
          <p:nvPr/>
        </p:nvSpPr>
        <p:spPr>
          <a:xfrm>
            <a:off x="1216149" y="3758183"/>
            <a:ext cx="164595" cy="164595"/>
          </a:xfrm>
          <a:prstGeom prst="ellipse">
            <a:avLst/>
          </a:prstGeom>
          <a:solidFill>
            <a:srgbClr val="D79A24"/>
          </a:solidFill>
          <a:ln w="10160">
            <a:solidFill>
              <a:srgbClr val="D79A24"/>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39" name="TextBox 14"/>
          <p:cNvSpPr txBox="1"/>
          <p:nvPr/>
        </p:nvSpPr>
        <p:spPr>
          <a:xfrm>
            <a:off x="1700783" y="3758183"/>
            <a:ext cx="594362"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D79A24"/>
                </a:solidFill>
                <a:latin typeface="Helvetica Neue"/>
                <a:ea typeface="Helvetica Neue"/>
                <a:cs typeface="Helvetica Neue"/>
                <a:sym typeface="Helvetica Neue"/>
              </a:defRPr>
            </a:lvl1pPr>
          </a:lstStyle>
          <a:p>
            <a:pPr/>
            <a:r>
              <a:t>P3</a:t>
            </a:r>
          </a:p>
        </p:txBody>
      </p:sp>
      <p:sp>
        <p:nvSpPr>
          <p:cNvPr id="2340" name="TextBox 15"/>
          <p:cNvSpPr txBox="1"/>
          <p:nvPr/>
        </p:nvSpPr>
        <p:spPr>
          <a:xfrm>
            <a:off x="2313431" y="3703320"/>
            <a:ext cx="2697483"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111318"/>
                </a:solidFill>
                <a:latin typeface="Helvetica Neue"/>
                <a:ea typeface="Helvetica Neue"/>
                <a:cs typeface="Helvetica Neue"/>
                <a:sym typeface="Helvetica Neue"/>
              </a:defRPr>
            </a:lvl1pPr>
          </a:lstStyle>
          <a:p>
            <a:pPr/>
            <a:r>
              <a:t>Same rule</a:t>
            </a:r>
          </a:p>
        </p:txBody>
      </p:sp>
      <p:sp>
        <p:nvSpPr>
          <p:cNvPr id="2341" name="TextBox 16"/>
          <p:cNvSpPr txBox="1"/>
          <p:nvPr/>
        </p:nvSpPr>
        <p:spPr>
          <a:xfrm>
            <a:off x="5074920" y="3730752"/>
            <a:ext cx="2331722"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D79A24"/>
                </a:solidFill>
                <a:latin typeface="Helvetica Neue"/>
                <a:ea typeface="Helvetica Neue"/>
                <a:cs typeface="Helvetica Neue"/>
                <a:sym typeface="Helvetica Neue"/>
              </a:defRPr>
            </a:pPr>
            <a:r>
              <a:t>• </a:t>
            </a:r>
            <a:r>
              <a:rPr b="0">
                <a:solidFill>
                  <a:srgbClr val="73777F"/>
                </a:solidFill>
              </a:rPr>
              <a:t>no size weighting</a:t>
            </a:r>
          </a:p>
        </p:txBody>
      </p:sp>
      <p:sp>
        <p:nvSpPr>
          <p:cNvPr id="2342" name="TextBox 17"/>
          <p:cNvSpPr txBox="1"/>
          <p:nvPr/>
        </p:nvSpPr>
        <p:spPr>
          <a:xfrm>
            <a:off x="7845552" y="1609344"/>
            <a:ext cx="3520442"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CHECK 3 · SYMMETRY</a:t>
            </a:r>
          </a:p>
        </p:txBody>
      </p:sp>
      <p:sp>
        <p:nvSpPr>
          <p:cNvPr id="2343" name="TextBox 18"/>
          <p:cNvSpPr txBox="1"/>
          <p:nvPr/>
        </p:nvSpPr>
        <p:spPr>
          <a:xfrm>
            <a:off x="7845552" y="2029966"/>
            <a:ext cx="1005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3977F6"/>
                </a:solidFill>
                <a:latin typeface="Helvetica Neue"/>
                <a:ea typeface="Helvetica Neue"/>
                <a:cs typeface="Helvetica Neue"/>
                <a:sym typeface="Helvetica Neue"/>
              </a:defRPr>
            </a:lvl1pPr>
          </a:lstStyle>
          <a:p>
            <a:pPr/>
            <a:r>
              <a:t>90 RATERS</a:t>
            </a:r>
          </a:p>
        </p:txBody>
      </p:sp>
      <p:sp>
        <p:nvSpPr>
          <p:cNvPr id="2344" name="Oval 19"/>
          <p:cNvSpPr/>
          <p:nvPr/>
        </p:nvSpPr>
        <p:spPr>
          <a:xfrm>
            <a:off x="7845552" y="2377438"/>
            <a:ext cx="96015" cy="9601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45" name="Oval 20"/>
          <p:cNvSpPr/>
          <p:nvPr/>
        </p:nvSpPr>
        <p:spPr>
          <a:xfrm>
            <a:off x="8028430" y="2377438"/>
            <a:ext cx="96015" cy="9601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46" name="Oval 21"/>
          <p:cNvSpPr/>
          <p:nvPr/>
        </p:nvSpPr>
        <p:spPr>
          <a:xfrm>
            <a:off x="8211311" y="2377438"/>
            <a:ext cx="96015" cy="9601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47" name="Oval 22"/>
          <p:cNvSpPr/>
          <p:nvPr/>
        </p:nvSpPr>
        <p:spPr>
          <a:xfrm>
            <a:off x="8394192" y="2377438"/>
            <a:ext cx="96015" cy="9601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48" name="Oval 23"/>
          <p:cNvSpPr/>
          <p:nvPr/>
        </p:nvSpPr>
        <p:spPr>
          <a:xfrm>
            <a:off x="8577071" y="2377438"/>
            <a:ext cx="96015" cy="9601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49" name="Oval 24"/>
          <p:cNvSpPr/>
          <p:nvPr/>
        </p:nvSpPr>
        <p:spPr>
          <a:xfrm>
            <a:off x="8759952" y="2377438"/>
            <a:ext cx="96015" cy="9601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50" name="Oval 25"/>
          <p:cNvSpPr/>
          <p:nvPr/>
        </p:nvSpPr>
        <p:spPr>
          <a:xfrm>
            <a:off x="8942830" y="2377438"/>
            <a:ext cx="96015" cy="9601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51" name="Oval 26"/>
          <p:cNvSpPr/>
          <p:nvPr/>
        </p:nvSpPr>
        <p:spPr>
          <a:xfrm>
            <a:off x="9125711" y="2377438"/>
            <a:ext cx="96015" cy="9601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52" name="Oval 27"/>
          <p:cNvSpPr/>
          <p:nvPr/>
        </p:nvSpPr>
        <p:spPr>
          <a:xfrm>
            <a:off x="9308592" y="2377438"/>
            <a:ext cx="96015" cy="9601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53" name="TextBox 28"/>
          <p:cNvSpPr txBox="1"/>
          <p:nvPr/>
        </p:nvSpPr>
        <p:spPr>
          <a:xfrm>
            <a:off x="9912094" y="2029966"/>
            <a:ext cx="1005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FF705B"/>
                </a:solidFill>
                <a:latin typeface="Helvetica Neue"/>
                <a:ea typeface="Helvetica Neue"/>
                <a:cs typeface="Helvetica Neue"/>
                <a:sym typeface="Helvetica Neue"/>
              </a:defRPr>
            </a:lvl1pPr>
          </a:lstStyle>
          <a:p>
            <a:pPr/>
            <a:r>
              <a:t>10 RATERS</a:t>
            </a:r>
          </a:p>
        </p:txBody>
      </p:sp>
      <p:sp>
        <p:nvSpPr>
          <p:cNvPr id="2354" name="Oval 29"/>
          <p:cNvSpPr/>
          <p:nvPr/>
        </p:nvSpPr>
        <p:spPr>
          <a:xfrm>
            <a:off x="9912094" y="2377438"/>
            <a:ext cx="96015" cy="9601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55" name="TextBox 30"/>
          <p:cNvSpPr txBox="1"/>
          <p:nvPr/>
        </p:nvSpPr>
        <p:spPr>
          <a:xfrm>
            <a:off x="7845552" y="2880360"/>
            <a:ext cx="3456433" cy="2854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a:solidFill>
                  <a:srgbClr val="111318"/>
                </a:solidFill>
                <a:latin typeface="Helvetica Neue"/>
                <a:ea typeface="Helvetica Neue"/>
                <a:cs typeface="Helvetica Neue"/>
                <a:sym typeface="Helvetica Neue"/>
              </a:defRPr>
            </a:lvl1pPr>
          </a:lstStyle>
          <a:p>
            <a:pPr/>
            <a:r>
              <a:t>90 raters  ≠  9× weight</a:t>
            </a:r>
          </a:p>
        </p:txBody>
      </p:sp>
      <p:sp>
        <p:nvSpPr>
          <p:cNvPr id="2356" name="Connector 31"/>
          <p:cNvSpPr/>
          <p:nvPr/>
        </p:nvSpPr>
        <p:spPr>
          <a:xfrm>
            <a:off x="7845552" y="3401567"/>
            <a:ext cx="3456433" cy="2"/>
          </a:xfrm>
          <a:prstGeom prst="line">
            <a:avLst/>
          </a:prstGeom>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357" name="TextBox 32"/>
          <p:cNvSpPr txBox="1"/>
          <p:nvPr/>
        </p:nvSpPr>
        <p:spPr>
          <a:xfrm>
            <a:off x="7845552" y="3730752"/>
            <a:ext cx="3456433"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600">
                <a:solidFill>
                  <a:srgbClr val="D79A24"/>
                </a:solidFill>
                <a:latin typeface="Helvetica Neue"/>
                <a:ea typeface="Helvetica Neue"/>
                <a:cs typeface="Helvetica Neue"/>
                <a:sym typeface="Helvetica Neue"/>
              </a:defRPr>
            </a:lvl1pPr>
          </a:lstStyle>
          <a:p>
            <a:pPr/>
            <a:r>
              <a:t>√(sA × sB)  =  √(sB × sA)</a:t>
            </a:r>
          </a:p>
        </p:txBody>
      </p:sp>
      <p:sp>
        <p:nvSpPr>
          <p:cNvPr id="2358" name="TextBox 33"/>
          <p:cNvSpPr txBox="1"/>
          <p:nvPr/>
        </p:nvSpPr>
        <p:spPr>
          <a:xfrm>
            <a:off x="7845552" y="4224528"/>
            <a:ext cx="3456433" cy="210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400">
                <a:solidFill>
                  <a:srgbClr val="111318"/>
                </a:solidFill>
                <a:latin typeface="Helvetica Neue"/>
                <a:ea typeface="Helvetica Neue"/>
                <a:cs typeface="Helvetica Neue"/>
                <a:sym typeface="Helvetica Neue"/>
              </a:defRPr>
            </a:lvl1pPr>
          </a:lstStyle>
          <a:p>
            <a:pPr/>
            <a:r>
              <a:t>√(.90 × .10) = √(.10 × .90) = 30%</a:t>
            </a:r>
          </a:p>
        </p:txBody>
      </p:sp>
      <p:sp>
        <p:nvSpPr>
          <p:cNvPr id="2359" name="TextBox 34"/>
          <p:cNvSpPr txBox="1"/>
          <p:nvPr/>
        </p:nvSpPr>
        <p:spPr>
          <a:xfrm>
            <a:off x="7973568" y="4828032"/>
            <a:ext cx="3218690"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200">
                <a:solidFill>
                  <a:srgbClr val="D79A24"/>
                </a:solidFill>
                <a:latin typeface="Helvetica Neue"/>
                <a:ea typeface="Helvetica Neue"/>
                <a:cs typeface="Helvetica Neue"/>
                <a:sym typeface="Helvetica Neue"/>
              </a:defRPr>
            </a:pPr>
            <a:r>
              <a:t>• </a:t>
            </a:r>
            <a:r>
              <a:rPr>
                <a:solidFill>
                  <a:srgbClr val="73777F"/>
                </a:solidFill>
              </a:rPr>
              <a:t>Group size does not change the rule</a:t>
            </a:r>
          </a:p>
        </p:txBody>
      </p:sp>
      <p:sp>
        <p:nvSpPr>
          <p:cNvPr id="2360" name="TextBox 35"/>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Toy illustration—not the Community Notes scoring formula; authors’ CCA design</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2" name="TextBox 1"/>
          <p:cNvSpPr txBox="1"/>
          <p:nvPr/>
        </p:nvSpPr>
        <p:spPr>
          <a:xfrm>
            <a:off x="603502" y="420623"/>
            <a:ext cx="4389123"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IMPLEMENTATION</a:t>
            </a:r>
          </a:p>
        </p:txBody>
      </p:sp>
      <p:sp>
        <p:nvSpPr>
          <p:cNvPr id="2363" name="TextBox 2"/>
          <p:cNvSpPr txBox="1"/>
          <p:nvPr/>
        </p:nvSpPr>
        <p:spPr>
          <a:xfrm>
            <a:off x="603504" y="786383"/>
            <a:ext cx="10515601" cy="458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Principles become operations</a:t>
            </a:r>
          </a:p>
        </p:txBody>
      </p:sp>
      <p:sp>
        <p:nvSpPr>
          <p:cNvPr id="2364" name="TextBox 3"/>
          <p:cNvSpPr txBox="1"/>
          <p:nvPr/>
        </p:nvSpPr>
        <p:spPr>
          <a:xfrm>
            <a:off x="11082528" y="457198"/>
            <a:ext cx="438914"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12</a:t>
            </a:r>
          </a:p>
        </p:txBody>
      </p:sp>
      <p:sp>
        <p:nvSpPr>
          <p:cNvPr id="2365" name="Connector 4"/>
          <p:cNvSpPr/>
          <p:nvPr/>
        </p:nvSpPr>
        <p:spPr>
          <a:xfrm flipH="1">
            <a:off x="1298447" y="1664206"/>
            <a:ext cx="2" cy="3621026"/>
          </a:xfrm>
          <a:prstGeom prst="line">
            <a:avLst/>
          </a:prstGeom>
          <a:ln w="1778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366" name="Oval 5"/>
          <p:cNvSpPr/>
          <p:nvPr/>
        </p:nvSpPr>
        <p:spPr>
          <a:xfrm>
            <a:off x="1216149" y="1810511"/>
            <a:ext cx="164595" cy="164594"/>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67" name="TextBox 6"/>
          <p:cNvSpPr txBox="1"/>
          <p:nvPr/>
        </p:nvSpPr>
        <p:spPr>
          <a:xfrm>
            <a:off x="1700783" y="1810511"/>
            <a:ext cx="594362"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3977F6"/>
                </a:solidFill>
                <a:latin typeface="Helvetica Neue"/>
                <a:ea typeface="Helvetica Neue"/>
                <a:cs typeface="Helvetica Neue"/>
                <a:sym typeface="Helvetica Neue"/>
              </a:defRPr>
            </a:lvl1pPr>
          </a:lstStyle>
          <a:p>
            <a:pPr/>
            <a:r>
              <a:t>P1</a:t>
            </a:r>
          </a:p>
        </p:txBody>
      </p:sp>
      <p:sp>
        <p:nvSpPr>
          <p:cNvPr id="2368" name="TextBox 7"/>
          <p:cNvSpPr txBox="1"/>
          <p:nvPr/>
        </p:nvSpPr>
        <p:spPr>
          <a:xfrm>
            <a:off x="2313431" y="1755648"/>
            <a:ext cx="2697483"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111318"/>
                </a:solidFill>
                <a:latin typeface="Helvetica Neue"/>
                <a:ea typeface="Helvetica Neue"/>
                <a:cs typeface="Helvetica Neue"/>
                <a:sym typeface="Helvetica Neue"/>
              </a:defRPr>
            </a:lvl1pPr>
          </a:lstStyle>
          <a:p>
            <a:pPr/>
            <a:r>
              <a:t>≥3 ratings</a:t>
            </a:r>
          </a:p>
        </p:txBody>
      </p:sp>
      <p:sp>
        <p:nvSpPr>
          <p:cNvPr id="2369" name="TextBox 8"/>
          <p:cNvSpPr txBox="1"/>
          <p:nvPr/>
        </p:nvSpPr>
        <p:spPr>
          <a:xfrm>
            <a:off x="5074920" y="1783078"/>
            <a:ext cx="2331722"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3977F6"/>
                </a:solidFill>
                <a:latin typeface="Helvetica Neue"/>
                <a:ea typeface="Helvetica Neue"/>
                <a:cs typeface="Helvetica Neue"/>
                <a:sym typeface="Helvetica Neue"/>
              </a:defRPr>
            </a:pPr>
            <a:r>
              <a:t>• </a:t>
            </a:r>
            <a:r>
              <a:rPr b="0">
                <a:solidFill>
                  <a:srgbClr val="73777F"/>
                </a:solidFill>
              </a:rPr>
              <a:t>from every group</a:t>
            </a:r>
          </a:p>
        </p:txBody>
      </p:sp>
      <p:sp>
        <p:nvSpPr>
          <p:cNvPr id="2370" name="Oval 9"/>
          <p:cNvSpPr/>
          <p:nvPr/>
        </p:nvSpPr>
        <p:spPr>
          <a:xfrm>
            <a:off x="1216149" y="2798064"/>
            <a:ext cx="164595" cy="16459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71" name="TextBox 10"/>
          <p:cNvSpPr txBox="1"/>
          <p:nvPr/>
        </p:nvSpPr>
        <p:spPr>
          <a:xfrm>
            <a:off x="1700783" y="2798064"/>
            <a:ext cx="594362"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FF705B"/>
                </a:solidFill>
                <a:latin typeface="Helvetica Neue"/>
                <a:ea typeface="Helvetica Neue"/>
                <a:cs typeface="Helvetica Neue"/>
                <a:sym typeface="Helvetica Neue"/>
              </a:defRPr>
            </a:lvl1pPr>
          </a:lstStyle>
          <a:p>
            <a:pPr/>
            <a:r>
              <a:t>P2</a:t>
            </a:r>
          </a:p>
        </p:txBody>
      </p:sp>
      <p:sp>
        <p:nvSpPr>
          <p:cNvPr id="2372" name="TextBox 11"/>
          <p:cNvSpPr txBox="1"/>
          <p:nvPr/>
        </p:nvSpPr>
        <p:spPr>
          <a:xfrm>
            <a:off x="2313431" y="2743199"/>
            <a:ext cx="2697483" cy="2604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111318"/>
                </a:solidFill>
                <a:latin typeface="Helvetica Neue"/>
                <a:ea typeface="Helvetica Neue"/>
                <a:cs typeface="Helvetica Neue"/>
                <a:sym typeface="Helvetica Neue"/>
              </a:defRPr>
            </a:lvl1pPr>
          </a:lstStyle>
          <a:p>
            <a:pPr/>
            <a:r>
              <a:t>Geometric mean</a:t>
            </a:r>
          </a:p>
        </p:txBody>
      </p:sp>
      <p:sp>
        <p:nvSpPr>
          <p:cNvPr id="2373" name="TextBox 12"/>
          <p:cNvSpPr txBox="1"/>
          <p:nvPr/>
        </p:nvSpPr>
        <p:spPr>
          <a:xfrm>
            <a:off x="5074920" y="2770632"/>
            <a:ext cx="2331722" cy="1984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FF705B"/>
                </a:solidFill>
                <a:latin typeface="Helvetica Neue"/>
                <a:ea typeface="Helvetica Neue"/>
                <a:cs typeface="Helvetica Neue"/>
                <a:sym typeface="Helvetica Neue"/>
              </a:defRPr>
            </a:pPr>
            <a:r>
              <a:t>• </a:t>
            </a:r>
            <a:r>
              <a:rPr b="0">
                <a:solidFill>
                  <a:srgbClr val="73777F"/>
                </a:solidFill>
              </a:rPr>
              <a:t>a soft veto</a:t>
            </a:r>
          </a:p>
        </p:txBody>
      </p:sp>
      <p:sp>
        <p:nvSpPr>
          <p:cNvPr id="2374" name="Oval 13"/>
          <p:cNvSpPr/>
          <p:nvPr/>
        </p:nvSpPr>
        <p:spPr>
          <a:xfrm>
            <a:off x="1216149" y="3758183"/>
            <a:ext cx="164595" cy="164595"/>
          </a:xfrm>
          <a:prstGeom prst="ellipse">
            <a:avLst/>
          </a:prstGeom>
          <a:solidFill>
            <a:srgbClr val="D79A24"/>
          </a:solidFill>
          <a:ln w="10160">
            <a:solidFill>
              <a:srgbClr val="D79A24"/>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75" name="TextBox 14"/>
          <p:cNvSpPr txBox="1"/>
          <p:nvPr/>
        </p:nvSpPr>
        <p:spPr>
          <a:xfrm>
            <a:off x="1700783" y="3758183"/>
            <a:ext cx="594362"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D79A24"/>
                </a:solidFill>
                <a:latin typeface="Helvetica Neue"/>
                <a:ea typeface="Helvetica Neue"/>
                <a:cs typeface="Helvetica Neue"/>
                <a:sym typeface="Helvetica Neue"/>
              </a:defRPr>
            </a:lvl1pPr>
          </a:lstStyle>
          <a:p>
            <a:pPr/>
            <a:r>
              <a:t>P3</a:t>
            </a:r>
          </a:p>
        </p:txBody>
      </p:sp>
      <p:sp>
        <p:nvSpPr>
          <p:cNvPr id="2376" name="TextBox 15"/>
          <p:cNvSpPr txBox="1"/>
          <p:nvPr/>
        </p:nvSpPr>
        <p:spPr>
          <a:xfrm>
            <a:off x="2313431" y="3703320"/>
            <a:ext cx="2697483"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111318"/>
                </a:solidFill>
                <a:latin typeface="Helvetica Neue"/>
                <a:ea typeface="Helvetica Neue"/>
                <a:cs typeface="Helvetica Neue"/>
                <a:sym typeface="Helvetica Neue"/>
              </a:defRPr>
            </a:lvl1pPr>
          </a:lstStyle>
          <a:p>
            <a:pPr/>
            <a:r>
              <a:t>Same rule</a:t>
            </a:r>
          </a:p>
        </p:txBody>
      </p:sp>
      <p:sp>
        <p:nvSpPr>
          <p:cNvPr id="2377" name="TextBox 16"/>
          <p:cNvSpPr txBox="1"/>
          <p:nvPr/>
        </p:nvSpPr>
        <p:spPr>
          <a:xfrm>
            <a:off x="5074920" y="3730752"/>
            <a:ext cx="2331722"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D79A24"/>
                </a:solidFill>
                <a:latin typeface="Helvetica Neue"/>
                <a:ea typeface="Helvetica Neue"/>
                <a:cs typeface="Helvetica Neue"/>
                <a:sym typeface="Helvetica Neue"/>
              </a:defRPr>
            </a:pPr>
            <a:r>
              <a:t>• </a:t>
            </a:r>
            <a:r>
              <a:rPr b="0">
                <a:solidFill>
                  <a:srgbClr val="73777F"/>
                </a:solidFill>
              </a:rPr>
              <a:t>no size weighting</a:t>
            </a:r>
          </a:p>
        </p:txBody>
      </p:sp>
      <p:sp>
        <p:nvSpPr>
          <p:cNvPr id="2378" name="Oval 17"/>
          <p:cNvSpPr/>
          <p:nvPr/>
        </p:nvSpPr>
        <p:spPr>
          <a:xfrm>
            <a:off x="1216149" y="4736591"/>
            <a:ext cx="164595" cy="164595"/>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79" name="TextBox 18"/>
          <p:cNvSpPr txBox="1"/>
          <p:nvPr/>
        </p:nvSpPr>
        <p:spPr>
          <a:xfrm>
            <a:off x="1700783" y="4736591"/>
            <a:ext cx="594362"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FA873"/>
                </a:solidFill>
                <a:latin typeface="Helvetica Neue"/>
                <a:ea typeface="Helvetica Neue"/>
                <a:cs typeface="Helvetica Neue"/>
                <a:sym typeface="Helvetica Neue"/>
              </a:defRPr>
            </a:lvl1pPr>
          </a:lstStyle>
          <a:p>
            <a:pPr/>
            <a:r>
              <a:t>P4</a:t>
            </a:r>
          </a:p>
        </p:txBody>
      </p:sp>
      <p:sp>
        <p:nvSpPr>
          <p:cNvPr id="2380" name="TextBox 19"/>
          <p:cNvSpPr txBox="1"/>
          <p:nvPr/>
        </p:nvSpPr>
        <p:spPr>
          <a:xfrm>
            <a:off x="2313431" y="4681728"/>
            <a:ext cx="2697483" cy="260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111318"/>
                </a:solidFill>
                <a:latin typeface="Helvetica Neue"/>
                <a:ea typeface="Helvetica Neue"/>
                <a:cs typeface="Helvetica Neue"/>
                <a:sym typeface="Helvetica Neue"/>
              </a:defRPr>
            </a:lvl1pPr>
          </a:lstStyle>
          <a:p>
            <a:pPr/>
            <a:r>
              <a:t>200k raters</a:t>
            </a:r>
          </a:p>
        </p:txBody>
      </p:sp>
      <p:sp>
        <p:nvSpPr>
          <p:cNvPr id="2381" name="TextBox 20"/>
          <p:cNvSpPr txBox="1"/>
          <p:nvPr/>
        </p:nvSpPr>
        <p:spPr>
          <a:xfrm>
            <a:off x="5074920" y="4709159"/>
            <a:ext cx="2331722"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FA873"/>
                </a:solidFill>
                <a:latin typeface="Helvetica Neue"/>
                <a:ea typeface="Helvetica Neue"/>
                <a:cs typeface="Helvetica Neue"/>
                <a:sym typeface="Helvetica Neue"/>
              </a:defRPr>
            </a:pPr>
            <a:r>
              <a:t>• </a:t>
            </a:r>
            <a:r>
              <a:rPr b="0">
                <a:solidFill>
                  <a:srgbClr val="73777F"/>
                </a:solidFill>
              </a:rPr>
              <a:t>Method-B recovery</a:t>
            </a:r>
          </a:p>
        </p:txBody>
      </p:sp>
      <p:sp>
        <p:nvSpPr>
          <p:cNvPr id="2382" name="TextBox 21"/>
          <p:cNvSpPr txBox="1"/>
          <p:nvPr/>
        </p:nvSpPr>
        <p:spPr>
          <a:xfrm>
            <a:off x="7845552" y="1609344"/>
            <a:ext cx="3520442"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73777F"/>
                </a:solidFill>
                <a:latin typeface="Helvetica Neue"/>
                <a:ea typeface="Helvetica Neue"/>
                <a:cs typeface="Helvetica Neue"/>
                <a:sym typeface="Helvetica Neue"/>
              </a:defRPr>
            </a:lvl1pPr>
          </a:lstStyle>
          <a:p>
            <a:pPr/>
            <a:r>
              <a:t>CHECK 4 · BEHAVIORAL RECOVERY</a:t>
            </a:r>
          </a:p>
        </p:txBody>
      </p:sp>
      <p:sp>
        <p:nvSpPr>
          <p:cNvPr id="2383" name="Oval 22"/>
          <p:cNvSpPr/>
          <p:nvPr/>
        </p:nvSpPr>
        <p:spPr>
          <a:xfrm>
            <a:off x="7882125" y="2121406"/>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84" name="Oval 23"/>
          <p:cNvSpPr/>
          <p:nvPr/>
        </p:nvSpPr>
        <p:spPr>
          <a:xfrm>
            <a:off x="8092440" y="2121406"/>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85" name="Oval 24"/>
          <p:cNvSpPr/>
          <p:nvPr/>
        </p:nvSpPr>
        <p:spPr>
          <a:xfrm>
            <a:off x="8302752" y="2121406"/>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86" name="Oval 25"/>
          <p:cNvSpPr/>
          <p:nvPr/>
        </p:nvSpPr>
        <p:spPr>
          <a:xfrm>
            <a:off x="8513063" y="2121406"/>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87" name="Oval 26"/>
          <p:cNvSpPr/>
          <p:nvPr/>
        </p:nvSpPr>
        <p:spPr>
          <a:xfrm>
            <a:off x="8723376" y="2121406"/>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88" name="Oval 27"/>
          <p:cNvSpPr/>
          <p:nvPr/>
        </p:nvSpPr>
        <p:spPr>
          <a:xfrm>
            <a:off x="7882125" y="2377438"/>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89" name="Oval 28"/>
          <p:cNvSpPr/>
          <p:nvPr/>
        </p:nvSpPr>
        <p:spPr>
          <a:xfrm>
            <a:off x="8092440" y="2377438"/>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90" name="Oval 29"/>
          <p:cNvSpPr/>
          <p:nvPr/>
        </p:nvSpPr>
        <p:spPr>
          <a:xfrm>
            <a:off x="8302752" y="2377438"/>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91" name="Oval 30"/>
          <p:cNvSpPr/>
          <p:nvPr/>
        </p:nvSpPr>
        <p:spPr>
          <a:xfrm>
            <a:off x="8513063" y="2377438"/>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92" name="Oval 31"/>
          <p:cNvSpPr/>
          <p:nvPr/>
        </p:nvSpPr>
        <p:spPr>
          <a:xfrm>
            <a:off x="8723376" y="2377438"/>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93" name="Oval 32"/>
          <p:cNvSpPr/>
          <p:nvPr/>
        </p:nvSpPr>
        <p:spPr>
          <a:xfrm>
            <a:off x="7882125" y="2633472"/>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94" name="Oval 33"/>
          <p:cNvSpPr/>
          <p:nvPr/>
        </p:nvSpPr>
        <p:spPr>
          <a:xfrm>
            <a:off x="8092440" y="2633472"/>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95" name="Oval 34"/>
          <p:cNvSpPr/>
          <p:nvPr/>
        </p:nvSpPr>
        <p:spPr>
          <a:xfrm>
            <a:off x="8302752" y="2633472"/>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96" name="Oval 35"/>
          <p:cNvSpPr/>
          <p:nvPr/>
        </p:nvSpPr>
        <p:spPr>
          <a:xfrm>
            <a:off x="8513063" y="2633472"/>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97" name="Oval 36"/>
          <p:cNvSpPr/>
          <p:nvPr/>
        </p:nvSpPr>
        <p:spPr>
          <a:xfrm>
            <a:off x="8723376" y="2633472"/>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98" name="Oval 37"/>
          <p:cNvSpPr/>
          <p:nvPr/>
        </p:nvSpPr>
        <p:spPr>
          <a:xfrm>
            <a:off x="7882125" y="2889504"/>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399" name="Oval 38"/>
          <p:cNvSpPr/>
          <p:nvPr/>
        </p:nvSpPr>
        <p:spPr>
          <a:xfrm>
            <a:off x="8092440" y="2889504"/>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00" name="Oval 39"/>
          <p:cNvSpPr/>
          <p:nvPr/>
        </p:nvSpPr>
        <p:spPr>
          <a:xfrm>
            <a:off x="8302752" y="2889504"/>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01" name="Oval 40"/>
          <p:cNvSpPr/>
          <p:nvPr/>
        </p:nvSpPr>
        <p:spPr>
          <a:xfrm>
            <a:off x="8513063" y="2889504"/>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02" name="Oval 41"/>
          <p:cNvSpPr/>
          <p:nvPr/>
        </p:nvSpPr>
        <p:spPr>
          <a:xfrm>
            <a:off x="8723376" y="2889504"/>
            <a:ext cx="82299" cy="82299"/>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03" name="TextBox 42"/>
          <p:cNvSpPr txBox="1"/>
          <p:nvPr/>
        </p:nvSpPr>
        <p:spPr>
          <a:xfrm>
            <a:off x="7845552" y="3273552"/>
            <a:ext cx="11430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200k RATERS</a:t>
            </a:r>
          </a:p>
        </p:txBody>
      </p:sp>
      <p:sp>
        <p:nvSpPr>
          <p:cNvPr id="2404" name="TextBox 43"/>
          <p:cNvSpPr txBox="1"/>
          <p:nvPr/>
        </p:nvSpPr>
        <p:spPr>
          <a:xfrm>
            <a:off x="9034271" y="2496311"/>
            <a:ext cx="329186"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900">
                <a:solidFill>
                  <a:srgbClr val="73777F"/>
                </a:solidFill>
                <a:latin typeface="Helvetica Neue"/>
                <a:ea typeface="Helvetica Neue"/>
                <a:cs typeface="Helvetica Neue"/>
                <a:sym typeface="Helvetica Neue"/>
              </a:defRPr>
            </a:lvl1pPr>
          </a:lstStyle>
          <a:p>
            <a:pPr/>
            <a:r>
              <a:t>→</a:t>
            </a:r>
          </a:p>
        </p:txBody>
      </p:sp>
      <p:sp>
        <p:nvSpPr>
          <p:cNvPr id="2405" name="Connector 44"/>
          <p:cNvSpPr/>
          <p:nvPr/>
        </p:nvSpPr>
        <p:spPr>
          <a:xfrm flipV="1">
            <a:off x="9500616" y="2093976"/>
            <a:ext cx="374906" cy="100586"/>
          </a:xfrm>
          <a:prstGeom prst="line">
            <a:avLst/>
          </a:prstGeom>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06" name="Connector 45"/>
          <p:cNvSpPr/>
          <p:nvPr/>
        </p:nvSpPr>
        <p:spPr>
          <a:xfrm>
            <a:off x="9500616" y="2194560"/>
            <a:ext cx="128018" cy="521209"/>
          </a:xfrm>
          <a:prstGeom prst="line">
            <a:avLst/>
          </a:prstGeom>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07" name="Connector 46"/>
          <p:cNvSpPr/>
          <p:nvPr/>
        </p:nvSpPr>
        <p:spPr>
          <a:xfrm>
            <a:off x="9875518" y="2093976"/>
            <a:ext cx="256033" cy="347474"/>
          </a:xfrm>
          <a:prstGeom prst="line">
            <a:avLst/>
          </a:prstGeom>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08" name="Connector 47"/>
          <p:cNvSpPr/>
          <p:nvPr/>
        </p:nvSpPr>
        <p:spPr>
          <a:xfrm flipH="1">
            <a:off x="9628630" y="2093976"/>
            <a:ext cx="246890" cy="621794"/>
          </a:xfrm>
          <a:prstGeom prst="line">
            <a:avLst/>
          </a:prstGeom>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09" name="Connector 48"/>
          <p:cNvSpPr/>
          <p:nvPr/>
        </p:nvSpPr>
        <p:spPr>
          <a:xfrm flipH="1">
            <a:off x="9994392" y="2441448"/>
            <a:ext cx="137162" cy="438914"/>
          </a:xfrm>
          <a:prstGeom prst="line">
            <a:avLst/>
          </a:prstGeom>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10" name="Connector 49"/>
          <p:cNvSpPr/>
          <p:nvPr/>
        </p:nvSpPr>
        <p:spPr>
          <a:xfrm>
            <a:off x="9628630" y="2715766"/>
            <a:ext cx="365762" cy="164594"/>
          </a:xfrm>
          <a:prstGeom prst="line">
            <a:avLst/>
          </a:prstGeom>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11" name="Connector 50"/>
          <p:cNvSpPr/>
          <p:nvPr/>
        </p:nvSpPr>
        <p:spPr>
          <a:xfrm flipV="1">
            <a:off x="9994392" y="2734055"/>
            <a:ext cx="338330" cy="146306"/>
          </a:xfrm>
          <a:prstGeom prst="line">
            <a:avLst/>
          </a:prstGeom>
          <a:ln w="101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12" name="Oval 51"/>
          <p:cNvSpPr/>
          <p:nvPr/>
        </p:nvSpPr>
        <p:spPr>
          <a:xfrm>
            <a:off x="9454894" y="2148838"/>
            <a:ext cx="100587" cy="100587"/>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13" name="Oval 52"/>
          <p:cNvSpPr/>
          <p:nvPr/>
        </p:nvSpPr>
        <p:spPr>
          <a:xfrm>
            <a:off x="9829799" y="2048255"/>
            <a:ext cx="100587" cy="100587"/>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14" name="Oval 53"/>
          <p:cNvSpPr/>
          <p:nvPr/>
        </p:nvSpPr>
        <p:spPr>
          <a:xfrm>
            <a:off x="10085830" y="2395727"/>
            <a:ext cx="100587" cy="100587"/>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15" name="Oval 54"/>
          <p:cNvSpPr/>
          <p:nvPr/>
        </p:nvSpPr>
        <p:spPr>
          <a:xfrm>
            <a:off x="9582911" y="2670048"/>
            <a:ext cx="100587" cy="100587"/>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16" name="Oval 55"/>
          <p:cNvSpPr/>
          <p:nvPr/>
        </p:nvSpPr>
        <p:spPr>
          <a:xfrm>
            <a:off x="9948671" y="2834638"/>
            <a:ext cx="100587" cy="100587"/>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17" name="Oval 56"/>
          <p:cNvSpPr/>
          <p:nvPr/>
        </p:nvSpPr>
        <p:spPr>
          <a:xfrm>
            <a:off x="10286999" y="2688334"/>
            <a:ext cx="100587" cy="100587"/>
          </a:xfrm>
          <a:prstGeom prst="ellipse">
            <a:avLst/>
          </a:prstGeom>
          <a:solidFill>
            <a:srgbClr val="73777F"/>
          </a:solidFill>
          <a:ln w="10160">
            <a:solidFill>
              <a:srgbClr val="73777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18" name="TextBox 57"/>
          <p:cNvSpPr txBox="1"/>
          <p:nvPr/>
        </p:nvSpPr>
        <p:spPr>
          <a:xfrm>
            <a:off x="9445752" y="3273552"/>
            <a:ext cx="1005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73777F"/>
                </a:solidFill>
                <a:latin typeface="Helvetica Neue"/>
                <a:ea typeface="Helvetica Neue"/>
                <a:cs typeface="Helvetica Neue"/>
                <a:sym typeface="Helvetica Neue"/>
              </a:defRPr>
            </a:lvl1pPr>
          </a:lstStyle>
          <a:p>
            <a:pPr/>
            <a:r>
              <a:t>CO-RATING</a:t>
            </a:r>
          </a:p>
        </p:txBody>
      </p:sp>
      <p:sp>
        <p:nvSpPr>
          <p:cNvPr id="2419" name="TextBox 58"/>
          <p:cNvSpPr txBox="1"/>
          <p:nvPr/>
        </p:nvSpPr>
        <p:spPr>
          <a:xfrm>
            <a:off x="10451592" y="2496311"/>
            <a:ext cx="329186"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900">
                <a:solidFill>
                  <a:srgbClr val="73777F"/>
                </a:solidFill>
                <a:latin typeface="Helvetica Neue"/>
                <a:ea typeface="Helvetica Neue"/>
                <a:cs typeface="Helvetica Neue"/>
                <a:sym typeface="Helvetica Neue"/>
              </a:defRPr>
            </a:lvl1pPr>
          </a:lstStyle>
          <a:p>
            <a:pPr/>
            <a:r>
              <a:t>→</a:t>
            </a:r>
          </a:p>
        </p:txBody>
      </p:sp>
      <p:sp>
        <p:nvSpPr>
          <p:cNvPr id="2420" name="Oval 59"/>
          <p:cNvSpPr/>
          <p:nvPr/>
        </p:nvSpPr>
        <p:spPr>
          <a:xfrm>
            <a:off x="10908792" y="2148838"/>
            <a:ext cx="118875" cy="11887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21" name="Oval 60"/>
          <p:cNvSpPr/>
          <p:nvPr/>
        </p:nvSpPr>
        <p:spPr>
          <a:xfrm>
            <a:off x="11109959" y="2359150"/>
            <a:ext cx="118875" cy="11887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22" name="Oval 61"/>
          <p:cNvSpPr/>
          <p:nvPr/>
        </p:nvSpPr>
        <p:spPr>
          <a:xfrm>
            <a:off x="10863071" y="2596894"/>
            <a:ext cx="118875" cy="118875"/>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23" name="Oval 62"/>
          <p:cNvSpPr/>
          <p:nvPr/>
        </p:nvSpPr>
        <p:spPr>
          <a:xfrm>
            <a:off x="11247118" y="2770632"/>
            <a:ext cx="118875" cy="11887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24" name="Oval 63"/>
          <p:cNvSpPr/>
          <p:nvPr/>
        </p:nvSpPr>
        <p:spPr>
          <a:xfrm>
            <a:off x="11027664" y="2953510"/>
            <a:ext cx="118875" cy="118876"/>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25" name="Oval 64"/>
          <p:cNvSpPr/>
          <p:nvPr/>
        </p:nvSpPr>
        <p:spPr>
          <a:xfrm>
            <a:off x="11292840" y="3127248"/>
            <a:ext cx="118875" cy="118875"/>
          </a:xfrm>
          <a:prstGeom prst="ellipse">
            <a:avLst/>
          </a:prstGeom>
          <a:solidFill>
            <a:srgbClr val="FF705B"/>
          </a:solidFill>
          <a:ln w="10160">
            <a:solidFill>
              <a:srgbClr val="FF705B"/>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Calibri"/>
              </a:defRPr>
            </a:pPr>
          </a:p>
        </p:txBody>
      </p:sp>
      <p:sp>
        <p:nvSpPr>
          <p:cNvPr id="2426" name="TextBox 65"/>
          <p:cNvSpPr txBox="1"/>
          <p:nvPr/>
        </p:nvSpPr>
        <p:spPr>
          <a:xfrm>
            <a:off x="10863071" y="3401567"/>
            <a:ext cx="548642"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900">
                <a:solidFill>
                  <a:srgbClr val="1FA873"/>
                </a:solidFill>
                <a:latin typeface="Helvetica Neue"/>
                <a:ea typeface="Helvetica Neue"/>
                <a:cs typeface="Helvetica Neue"/>
                <a:sym typeface="Helvetica Neue"/>
              </a:defRPr>
            </a:lvl1pPr>
          </a:lstStyle>
          <a:p>
            <a:pPr/>
            <a:r>
              <a:t>A / B</a:t>
            </a:r>
          </a:p>
        </p:txBody>
      </p:sp>
      <p:sp>
        <p:nvSpPr>
          <p:cNvPr id="2427" name="TextBox 66"/>
          <p:cNvSpPr txBox="1"/>
          <p:nvPr/>
        </p:nvSpPr>
        <p:spPr>
          <a:xfrm>
            <a:off x="7845552" y="3977637"/>
            <a:ext cx="3456433" cy="22307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500">
                <a:solidFill>
                  <a:srgbClr val="1FA873"/>
                </a:solidFill>
                <a:latin typeface="Helvetica Neue"/>
                <a:ea typeface="Helvetica Neue"/>
                <a:cs typeface="Helvetica Neue"/>
                <a:sym typeface="Helvetica Neue"/>
              </a:defRPr>
            </a:lvl1pPr>
          </a:lstStyle>
          <a:p>
            <a:pPr/>
            <a:r>
              <a:t>METHOD B</a:t>
            </a:r>
          </a:p>
        </p:txBody>
      </p:sp>
      <p:sp>
        <p:nvSpPr>
          <p:cNvPr id="2428" name="TextBox 67"/>
          <p:cNvSpPr txBox="1"/>
          <p:nvPr/>
        </p:nvSpPr>
        <p:spPr>
          <a:xfrm>
            <a:off x="7882125" y="4526279"/>
            <a:ext cx="3383282"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300">
                <a:solidFill>
                  <a:srgbClr val="1FA873"/>
                </a:solidFill>
                <a:latin typeface="Helvetica Neue"/>
                <a:ea typeface="Helvetica Neue"/>
                <a:cs typeface="Helvetica Neue"/>
                <a:sym typeface="Helvetica Neue"/>
              </a:defRPr>
            </a:pPr>
            <a:r>
              <a:t>• </a:t>
            </a:r>
            <a:r>
              <a:rPr>
                <a:solidFill>
                  <a:srgbClr val="73777F"/>
                </a:solidFill>
              </a:rPr>
              <a:t>No party · country · ideology labels</a:t>
            </a:r>
          </a:p>
        </p:txBody>
      </p:sp>
      <p:sp>
        <p:nvSpPr>
          <p:cNvPr id="2429" name="TextBox 68"/>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Authors’ 200k Representative pipeline</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1" name="TextBox 1"/>
          <p:cNvSpPr txBox="1"/>
          <p:nvPr/>
        </p:nvSpPr>
        <p:spPr>
          <a:xfrm>
            <a:off x="603503" y="420623"/>
            <a:ext cx="4389122" cy="14871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RESULTS · REPRESENTATIVE</a:t>
            </a:r>
          </a:p>
        </p:txBody>
      </p:sp>
      <p:sp>
        <p:nvSpPr>
          <p:cNvPr id="2432" name="TextBox 2"/>
          <p:cNvSpPr txBox="1"/>
          <p:nvPr/>
        </p:nvSpPr>
        <p:spPr>
          <a:xfrm>
            <a:off x="603504" y="786383"/>
            <a:ext cx="10515601" cy="4588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What the platform shows—and hides</a:t>
            </a:r>
          </a:p>
        </p:txBody>
      </p:sp>
      <p:sp>
        <p:nvSpPr>
          <p:cNvPr id="2433" name="TextBox 3"/>
          <p:cNvSpPr txBox="1"/>
          <p:nvPr/>
        </p:nvSpPr>
        <p:spPr>
          <a:xfrm>
            <a:off x="11082528" y="457199"/>
            <a:ext cx="438913"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13</a:t>
            </a:r>
          </a:p>
        </p:txBody>
      </p:sp>
      <p:sp>
        <p:nvSpPr>
          <p:cNvPr id="2434" name="TextBox 4"/>
          <p:cNvSpPr txBox="1"/>
          <p:nvPr/>
        </p:nvSpPr>
        <p:spPr>
          <a:xfrm>
            <a:off x="749808" y="2304288"/>
            <a:ext cx="2148840" cy="4338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900">
                <a:solidFill>
                  <a:srgbClr val="111318"/>
                </a:solidFill>
                <a:latin typeface="Helvetica Neue"/>
                <a:ea typeface="Helvetica Neue"/>
                <a:cs typeface="Helvetica Neue"/>
                <a:sym typeface="Helvetica Neue"/>
              </a:defRPr>
            </a:lvl1pPr>
          </a:lstStyle>
          <a:p>
            <a:pPr/>
            <a:r>
              <a:t>44,722</a:t>
            </a:r>
          </a:p>
        </p:txBody>
      </p:sp>
      <p:sp>
        <p:nvSpPr>
          <p:cNvPr id="2435" name="TextBox 5"/>
          <p:cNvSpPr txBox="1"/>
          <p:nvPr/>
        </p:nvSpPr>
        <p:spPr>
          <a:xfrm>
            <a:off x="749808" y="2926079"/>
            <a:ext cx="2148840" cy="1860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200">
                <a:solidFill>
                  <a:srgbClr val="111318"/>
                </a:solidFill>
                <a:latin typeface="Helvetica Neue"/>
                <a:ea typeface="Helvetica Neue"/>
                <a:cs typeface="Helvetica Neue"/>
                <a:sym typeface="Helvetica Neue"/>
              </a:defRPr>
            </a:pPr>
            <a:r>
              <a:t>• </a:t>
            </a:r>
            <a:r>
              <a:rPr>
                <a:solidFill>
                  <a:srgbClr val="73777F"/>
                </a:solidFill>
              </a:rPr>
              <a:t>Representative picks</a:t>
            </a:r>
          </a:p>
        </p:txBody>
      </p:sp>
      <p:sp>
        <p:nvSpPr>
          <p:cNvPr id="2436" name="Connector 6"/>
          <p:cNvSpPr/>
          <p:nvPr/>
        </p:nvSpPr>
        <p:spPr>
          <a:xfrm>
            <a:off x="2944367" y="2761488"/>
            <a:ext cx="758953" cy="1"/>
          </a:xfrm>
          <a:prstGeom prst="line">
            <a:avLst/>
          </a:prstGeom>
          <a:ln w="1905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37" name="TextBox 7"/>
          <p:cNvSpPr txBox="1"/>
          <p:nvPr/>
        </p:nvSpPr>
        <p:spPr>
          <a:xfrm>
            <a:off x="3163823" y="2587751"/>
            <a:ext cx="32004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900">
                <a:solidFill>
                  <a:srgbClr val="73777F"/>
                </a:solidFill>
                <a:latin typeface="Helvetica Neue"/>
                <a:ea typeface="Helvetica Neue"/>
                <a:cs typeface="Helvetica Neue"/>
                <a:sym typeface="Helvetica Neue"/>
              </a:defRPr>
            </a:lvl1pPr>
          </a:lstStyle>
          <a:p>
            <a:pPr/>
            <a:r>
              <a:t>→</a:t>
            </a:r>
          </a:p>
        </p:txBody>
      </p:sp>
      <p:sp>
        <p:nvSpPr>
          <p:cNvPr id="2438" name="Connector 8"/>
          <p:cNvSpPr/>
          <p:nvPr/>
        </p:nvSpPr>
        <p:spPr>
          <a:xfrm flipV="1">
            <a:off x="3785615" y="2194560"/>
            <a:ext cx="548642" cy="566929"/>
          </a:xfrm>
          <a:prstGeom prst="line">
            <a:avLst/>
          </a:prstGeom>
          <a:ln w="15240">
            <a:solidFill>
              <a:srgbClr val="3977F6"/>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39" name="Connector 9"/>
          <p:cNvSpPr/>
          <p:nvPr/>
        </p:nvSpPr>
        <p:spPr>
          <a:xfrm>
            <a:off x="3785615" y="2761488"/>
            <a:ext cx="548642" cy="1060704"/>
          </a:xfrm>
          <a:prstGeom prst="line">
            <a:avLst/>
          </a:prstGeom>
          <a:ln w="1524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40" name="TextBox 10"/>
          <p:cNvSpPr txBox="1"/>
          <p:nvPr/>
        </p:nvSpPr>
        <p:spPr>
          <a:xfrm>
            <a:off x="4370832" y="1627632"/>
            <a:ext cx="1920241" cy="4338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900">
                <a:solidFill>
                  <a:srgbClr val="3977F6"/>
                </a:solidFill>
                <a:latin typeface="Helvetica Neue"/>
                <a:ea typeface="Helvetica Neue"/>
                <a:cs typeface="Helvetica Neue"/>
                <a:sym typeface="Helvetica Neue"/>
              </a:defRPr>
            </a:lvl1pPr>
          </a:lstStyle>
          <a:p>
            <a:pPr/>
            <a:r>
              <a:t>6,832</a:t>
            </a:r>
          </a:p>
        </p:txBody>
      </p:sp>
      <p:sp>
        <p:nvSpPr>
          <p:cNvPr id="2441" name="TextBox 11"/>
          <p:cNvSpPr txBox="1"/>
          <p:nvPr/>
        </p:nvSpPr>
        <p:spPr>
          <a:xfrm>
            <a:off x="4370832" y="2249423"/>
            <a:ext cx="1920241" cy="1860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200">
                <a:solidFill>
                  <a:srgbClr val="3977F6"/>
                </a:solidFill>
                <a:latin typeface="Helvetica Neue"/>
                <a:ea typeface="Helvetica Neue"/>
                <a:cs typeface="Helvetica Neue"/>
                <a:sym typeface="Helvetica Neue"/>
              </a:defRPr>
            </a:pPr>
            <a:r>
              <a:t>• </a:t>
            </a:r>
            <a:r>
              <a:rPr>
                <a:solidFill>
                  <a:srgbClr val="73777F"/>
                </a:solidFill>
              </a:rPr>
              <a:t>shown · 15%</a:t>
            </a:r>
          </a:p>
        </p:txBody>
      </p:sp>
      <p:sp>
        <p:nvSpPr>
          <p:cNvPr id="2442" name="TextBox 12"/>
          <p:cNvSpPr txBox="1"/>
          <p:nvPr/>
        </p:nvSpPr>
        <p:spPr>
          <a:xfrm>
            <a:off x="4370832" y="3401567"/>
            <a:ext cx="1920241" cy="43381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900">
                <a:solidFill>
                  <a:srgbClr val="FF705B"/>
                </a:solidFill>
                <a:latin typeface="Helvetica Neue"/>
                <a:ea typeface="Helvetica Neue"/>
                <a:cs typeface="Helvetica Neue"/>
                <a:sym typeface="Helvetica Neue"/>
              </a:defRPr>
            </a:lvl1pPr>
          </a:lstStyle>
          <a:p>
            <a:pPr/>
            <a:r>
              <a:t>37,890</a:t>
            </a:r>
          </a:p>
        </p:txBody>
      </p:sp>
      <p:sp>
        <p:nvSpPr>
          <p:cNvPr id="2443" name="TextBox 13"/>
          <p:cNvSpPr txBox="1"/>
          <p:nvPr/>
        </p:nvSpPr>
        <p:spPr>
          <a:xfrm>
            <a:off x="4370832" y="4023359"/>
            <a:ext cx="1920241" cy="1860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200">
                <a:solidFill>
                  <a:srgbClr val="FF705B"/>
                </a:solidFill>
                <a:latin typeface="Helvetica Neue"/>
                <a:ea typeface="Helvetica Neue"/>
                <a:cs typeface="Helvetica Neue"/>
                <a:sym typeface="Helvetica Neue"/>
              </a:defRPr>
            </a:pPr>
            <a:r>
              <a:t>• </a:t>
            </a:r>
            <a:r>
              <a:rPr>
                <a:solidFill>
                  <a:srgbClr val="73777F"/>
                </a:solidFill>
              </a:rPr>
              <a:t>not shown · 85%</a:t>
            </a:r>
          </a:p>
        </p:txBody>
      </p:sp>
      <p:sp>
        <p:nvSpPr>
          <p:cNvPr id="2444" name="Connector 14"/>
          <p:cNvSpPr/>
          <p:nvPr/>
        </p:nvSpPr>
        <p:spPr>
          <a:xfrm>
            <a:off x="6364223" y="3931920"/>
            <a:ext cx="1060704" cy="1"/>
          </a:xfrm>
          <a:prstGeom prst="line">
            <a:avLst/>
          </a:prstGeom>
          <a:ln w="1905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45" name="TextBox 15"/>
          <p:cNvSpPr txBox="1"/>
          <p:nvPr/>
        </p:nvSpPr>
        <p:spPr>
          <a:xfrm>
            <a:off x="6720840" y="3758184"/>
            <a:ext cx="32004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900">
                <a:solidFill>
                  <a:srgbClr val="73777F"/>
                </a:solidFill>
                <a:latin typeface="Helvetica Neue"/>
                <a:ea typeface="Helvetica Neue"/>
                <a:cs typeface="Helvetica Neue"/>
                <a:sym typeface="Helvetica Neue"/>
              </a:defRPr>
            </a:lvl1pPr>
          </a:lstStyle>
          <a:p>
            <a:pPr/>
            <a:r>
              <a:t>→</a:t>
            </a:r>
          </a:p>
        </p:txBody>
      </p:sp>
      <p:sp>
        <p:nvSpPr>
          <p:cNvPr id="2446" name="TextBox 16"/>
          <p:cNvSpPr txBox="1"/>
          <p:nvPr/>
        </p:nvSpPr>
        <p:spPr>
          <a:xfrm>
            <a:off x="7479792" y="3401567"/>
            <a:ext cx="2423161" cy="43381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900">
                <a:solidFill>
                  <a:srgbClr val="1FA873"/>
                </a:solidFill>
                <a:latin typeface="Helvetica Neue"/>
                <a:ea typeface="Helvetica Neue"/>
                <a:cs typeface="Helvetica Neue"/>
                <a:sym typeface="Helvetica Neue"/>
              </a:defRPr>
            </a:lvl1pPr>
          </a:lstStyle>
          <a:p>
            <a:pPr/>
            <a:r>
              <a:t>13,655</a:t>
            </a:r>
          </a:p>
        </p:txBody>
      </p:sp>
      <p:sp>
        <p:nvSpPr>
          <p:cNvPr id="2447" name="TextBox 17"/>
          <p:cNvSpPr txBox="1"/>
          <p:nvPr/>
        </p:nvSpPr>
        <p:spPr>
          <a:xfrm>
            <a:off x="7479792" y="4023359"/>
            <a:ext cx="2423161" cy="1860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200">
                <a:solidFill>
                  <a:srgbClr val="1FA873"/>
                </a:solidFill>
                <a:latin typeface="Helvetica Neue"/>
                <a:ea typeface="Helvetica Neue"/>
                <a:cs typeface="Helvetica Neue"/>
                <a:sym typeface="Helvetica Neue"/>
              </a:defRPr>
            </a:pPr>
            <a:r>
              <a:t>• </a:t>
            </a:r>
            <a:r>
              <a:rPr>
                <a:solidFill>
                  <a:srgbClr val="73777F"/>
                </a:solidFill>
              </a:rPr>
              <a:t>CCA rescue candidates</a:t>
            </a:r>
          </a:p>
        </p:txBody>
      </p:sp>
      <p:sp>
        <p:nvSpPr>
          <p:cNvPr id="2448" name="TextBox 18"/>
          <p:cNvSpPr txBox="1"/>
          <p:nvPr/>
        </p:nvSpPr>
        <p:spPr>
          <a:xfrm>
            <a:off x="7644382" y="4617720"/>
            <a:ext cx="2103122" cy="136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900">
                <a:solidFill>
                  <a:srgbClr val="1FA873"/>
                </a:solidFill>
                <a:latin typeface="Helvetica Neue"/>
                <a:ea typeface="Helvetica Neue"/>
                <a:cs typeface="Helvetica Neue"/>
                <a:sym typeface="Helvetica Neue"/>
              </a:defRPr>
            </a:lvl1pPr>
          </a:lstStyle>
          <a:p>
            <a:pPr/>
            <a:r>
              <a:t>INSIDE THE HIDDEN POOL</a:t>
            </a:r>
          </a:p>
        </p:txBody>
      </p:sp>
      <p:sp>
        <p:nvSpPr>
          <p:cNvPr id="2449" name="Connector 19"/>
          <p:cNvSpPr/>
          <p:nvPr/>
        </p:nvSpPr>
        <p:spPr>
          <a:xfrm>
            <a:off x="749807" y="5239511"/>
            <a:ext cx="10680194" cy="1"/>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50" name="TextBox 20"/>
          <p:cNvSpPr txBox="1"/>
          <p:nvPr/>
        </p:nvSpPr>
        <p:spPr>
          <a:xfrm>
            <a:off x="2834639" y="5541264"/>
            <a:ext cx="6446521" cy="23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600">
                <a:solidFill>
                  <a:srgbClr val="1FA873"/>
                </a:solidFill>
                <a:latin typeface="Helvetica Neue"/>
                <a:ea typeface="Helvetica Neue"/>
                <a:cs typeface="Helvetica Neue"/>
                <a:sym typeface="Helvetica Neue"/>
              </a:defRPr>
            </a:pPr>
            <a:r>
              <a:t>• </a:t>
            </a:r>
            <a:r>
              <a:rPr>
                <a:solidFill>
                  <a:srgbClr val="111318"/>
                </a:solidFill>
              </a:rPr>
              <a:t>CCA searches inside the hidden Representative pool</a:t>
            </a:r>
          </a:p>
        </p:txBody>
      </p:sp>
      <p:sp>
        <p:nvSpPr>
          <p:cNvPr id="2451" name="TextBox 21"/>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Authors’ 200k Representative pipeline</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53" name="TextBox 1"/>
          <p:cNvSpPr txBox="1"/>
          <p:nvPr/>
        </p:nvSpPr>
        <p:spPr>
          <a:xfrm>
            <a:off x="603503" y="420623"/>
            <a:ext cx="4389122" cy="14871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VALIDATION</a:t>
            </a:r>
          </a:p>
        </p:txBody>
      </p:sp>
      <p:sp>
        <p:nvSpPr>
          <p:cNvPr id="2454" name="TextBox 2"/>
          <p:cNvSpPr txBox="1"/>
          <p:nvPr/>
        </p:nvSpPr>
        <p:spPr>
          <a:xfrm>
            <a:off x="603504" y="786383"/>
            <a:ext cx="10515601" cy="4588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Gabriel Validation</a:t>
            </a:r>
          </a:p>
        </p:txBody>
      </p:sp>
      <p:sp>
        <p:nvSpPr>
          <p:cNvPr id="2455" name="TextBox 3"/>
          <p:cNvSpPr txBox="1"/>
          <p:nvPr/>
        </p:nvSpPr>
        <p:spPr>
          <a:xfrm>
            <a:off x="11082528" y="457199"/>
            <a:ext cx="438913"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13</a:t>
            </a:r>
          </a:p>
        </p:txBody>
      </p:sp>
      <p:sp>
        <p:nvSpPr>
          <p:cNvPr id="2456" name="TextBox 4"/>
          <p:cNvSpPr txBox="1"/>
          <p:nvPr/>
        </p:nvSpPr>
        <p:spPr>
          <a:xfrm>
            <a:off x="9528047" y="429767"/>
            <a:ext cx="13258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800">
                <a:solidFill>
                  <a:srgbClr val="FF705B"/>
                </a:solidFill>
                <a:latin typeface="Helvetica Neue"/>
                <a:ea typeface="Helvetica Neue"/>
                <a:cs typeface="Helvetica Neue"/>
                <a:sym typeface="Helvetica Neue"/>
              </a:defRPr>
            </a:lvl1pPr>
          </a:lstStyle>
          <a:p>
            <a:pPr/>
            <a:r>
              <a:t>WORK IN PROGRESS</a:t>
            </a:r>
          </a:p>
        </p:txBody>
      </p:sp>
      <p:sp>
        <p:nvSpPr>
          <p:cNvPr id="2457" name="Connector 5"/>
          <p:cNvSpPr/>
          <p:nvPr/>
        </p:nvSpPr>
        <p:spPr>
          <a:xfrm>
            <a:off x="9747504" y="658368"/>
            <a:ext cx="1097281" cy="1"/>
          </a:xfrm>
          <a:prstGeom prst="line">
            <a:avLst/>
          </a:prstGeom>
          <a:ln w="1270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58" name="Connector 6"/>
          <p:cNvSpPr/>
          <p:nvPr/>
        </p:nvSpPr>
        <p:spPr>
          <a:xfrm flipH="1">
            <a:off x="6089903" y="1600199"/>
            <a:ext cx="1" cy="3575305"/>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59" name="Oval 7"/>
          <p:cNvSpPr/>
          <p:nvPr/>
        </p:nvSpPr>
        <p:spPr>
          <a:xfrm>
            <a:off x="822960" y="1636776"/>
            <a:ext cx="201169" cy="201169"/>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460" name="TextBox 8"/>
          <p:cNvSpPr txBox="1"/>
          <p:nvPr/>
        </p:nvSpPr>
        <p:spPr>
          <a:xfrm>
            <a:off x="1133855" y="1627632"/>
            <a:ext cx="1417321"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3977F6"/>
                </a:solidFill>
                <a:latin typeface="Helvetica Neue"/>
                <a:ea typeface="Helvetica Neue"/>
                <a:cs typeface="Helvetica Neue"/>
                <a:sym typeface="Helvetica Neue"/>
              </a:defRPr>
            </a:lvl1pPr>
          </a:lstStyle>
          <a:p>
            <a:pPr/>
            <a:r>
              <a:t>STAGE 1</a:t>
            </a:r>
          </a:p>
        </p:txBody>
      </p:sp>
      <p:sp>
        <p:nvSpPr>
          <p:cNvPr id="2461" name="TextBox 9"/>
          <p:cNvSpPr txBox="1"/>
          <p:nvPr/>
        </p:nvSpPr>
        <p:spPr>
          <a:xfrm>
            <a:off x="822959" y="1993392"/>
            <a:ext cx="3291842" cy="29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111318"/>
                </a:solidFill>
                <a:latin typeface="Helvetica Neue"/>
                <a:ea typeface="Helvetica Neue"/>
                <a:cs typeface="Helvetica Neue"/>
                <a:sym typeface="Helvetica Neue"/>
              </a:defRPr>
            </a:lvl1pPr>
          </a:lstStyle>
          <a:p>
            <a:pPr/>
            <a:r>
              <a:t>Nature + sourcing</a:t>
            </a:r>
          </a:p>
        </p:txBody>
      </p:sp>
      <p:sp>
        <p:nvSpPr>
          <p:cNvPr id="2462" name="TextBox 10"/>
          <p:cNvSpPr txBox="1"/>
          <p:nvPr/>
        </p:nvSpPr>
        <p:spPr>
          <a:xfrm>
            <a:off x="841247" y="2578607"/>
            <a:ext cx="5486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1FA873"/>
                </a:solidFill>
                <a:latin typeface="Helvetica Neue"/>
                <a:ea typeface="Helvetica Neue"/>
                <a:cs typeface="Helvetica Neue"/>
                <a:sym typeface="Helvetica Neue"/>
              </a:defRPr>
            </a:lvl1pPr>
          </a:lstStyle>
          <a:p>
            <a:pPr/>
            <a:r>
              <a:t>PASS</a:t>
            </a:r>
          </a:p>
        </p:txBody>
      </p:sp>
      <p:sp>
        <p:nvSpPr>
          <p:cNvPr id="2463" name="TextBox 11"/>
          <p:cNvSpPr txBox="1"/>
          <p:nvPr/>
        </p:nvSpPr>
        <p:spPr>
          <a:xfrm>
            <a:off x="1417320" y="2532888"/>
            <a:ext cx="3383280" cy="1984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1FA873"/>
                </a:solidFill>
                <a:latin typeface="Helvetica Neue"/>
                <a:ea typeface="Helvetica Neue"/>
                <a:cs typeface="Helvetica Neue"/>
                <a:sym typeface="Helvetica Neue"/>
              </a:defRPr>
            </a:pPr>
            <a:r>
              <a:t>• </a:t>
            </a:r>
            <a:r>
              <a:rPr>
                <a:solidFill>
                  <a:srgbClr val="111318"/>
                </a:solidFill>
              </a:rPr>
              <a:t>sourced factual information</a:t>
            </a:r>
          </a:p>
        </p:txBody>
      </p:sp>
      <p:sp>
        <p:nvSpPr>
          <p:cNvPr id="2464" name="TextBox 12"/>
          <p:cNvSpPr txBox="1"/>
          <p:nvPr/>
        </p:nvSpPr>
        <p:spPr>
          <a:xfrm>
            <a:off x="841247" y="3017520"/>
            <a:ext cx="5486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800">
                <a:solidFill>
                  <a:srgbClr val="FF705B"/>
                </a:solidFill>
                <a:latin typeface="Helvetica Neue"/>
                <a:ea typeface="Helvetica Neue"/>
                <a:cs typeface="Helvetica Neue"/>
                <a:sym typeface="Helvetica Neue"/>
              </a:defRPr>
            </a:lvl1pPr>
          </a:lstStyle>
          <a:p>
            <a:pPr/>
            <a:r>
              <a:t>STOP</a:t>
            </a:r>
          </a:p>
        </p:txBody>
      </p:sp>
      <p:sp>
        <p:nvSpPr>
          <p:cNvPr id="2465" name="TextBox 13"/>
          <p:cNvSpPr txBox="1"/>
          <p:nvPr/>
        </p:nvSpPr>
        <p:spPr>
          <a:xfrm>
            <a:off x="1417320" y="2944367"/>
            <a:ext cx="3401568" cy="1610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FF705B"/>
                </a:solidFill>
                <a:latin typeface="Helvetica Neue"/>
                <a:ea typeface="Helvetica Neue"/>
                <a:cs typeface="Helvetica Neue"/>
                <a:sym typeface="Helvetica Neue"/>
              </a:defRPr>
            </a:pPr>
            <a:r>
              <a:t>• </a:t>
            </a:r>
            <a:r>
              <a:rPr b="0">
                <a:solidFill>
                  <a:srgbClr val="73777F"/>
                </a:solidFill>
              </a:rPr>
              <a:t>unsourced context / claim</a:t>
            </a:r>
          </a:p>
        </p:txBody>
      </p:sp>
      <p:sp>
        <p:nvSpPr>
          <p:cNvPr id="2466" name="TextBox 14"/>
          <p:cNvSpPr txBox="1"/>
          <p:nvPr/>
        </p:nvSpPr>
        <p:spPr>
          <a:xfrm>
            <a:off x="1417320" y="3328415"/>
            <a:ext cx="3401568" cy="1610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FF705B"/>
                </a:solidFill>
                <a:latin typeface="Helvetica Neue"/>
                <a:ea typeface="Helvetica Neue"/>
                <a:cs typeface="Helvetica Neue"/>
                <a:sym typeface="Helvetica Neue"/>
              </a:defRPr>
            </a:pPr>
            <a:r>
              <a:t>• </a:t>
            </a:r>
            <a:r>
              <a:rPr b="0">
                <a:solidFill>
                  <a:srgbClr val="73777F"/>
                </a:solidFill>
              </a:rPr>
              <a:t>opinion / speculation</a:t>
            </a:r>
          </a:p>
        </p:txBody>
      </p:sp>
      <p:sp>
        <p:nvSpPr>
          <p:cNvPr id="2467" name="TextBox 15"/>
          <p:cNvSpPr txBox="1"/>
          <p:nvPr/>
        </p:nvSpPr>
        <p:spPr>
          <a:xfrm>
            <a:off x="1417320" y="3712464"/>
            <a:ext cx="3401568" cy="16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FF705B"/>
                </a:solidFill>
                <a:latin typeface="Helvetica Neue"/>
                <a:ea typeface="Helvetica Neue"/>
                <a:cs typeface="Helvetica Neue"/>
                <a:sym typeface="Helvetica Neue"/>
              </a:defRPr>
            </a:pPr>
            <a:r>
              <a:t>• </a:t>
            </a:r>
            <a:r>
              <a:rPr b="0">
                <a:solidFill>
                  <a:srgbClr val="73777F"/>
                </a:solidFill>
              </a:rPr>
              <a:t>hostile / derogatory</a:t>
            </a:r>
          </a:p>
        </p:txBody>
      </p:sp>
      <p:sp>
        <p:nvSpPr>
          <p:cNvPr id="2468" name="TextBox 16"/>
          <p:cNvSpPr txBox="1"/>
          <p:nvPr/>
        </p:nvSpPr>
        <p:spPr>
          <a:xfrm>
            <a:off x="1417320" y="4096511"/>
            <a:ext cx="3401568" cy="1610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FF705B"/>
                </a:solidFill>
                <a:latin typeface="Helvetica Neue"/>
                <a:ea typeface="Helvetica Neue"/>
                <a:cs typeface="Helvetica Neue"/>
                <a:sym typeface="Helvetica Neue"/>
              </a:defRPr>
            </a:pPr>
            <a:r>
              <a:t>• </a:t>
            </a:r>
            <a:r>
              <a:rPr b="0">
                <a:solidFill>
                  <a:srgbClr val="73777F"/>
                </a:solidFill>
              </a:rPr>
              <a:t>irrelevant / spam</a:t>
            </a:r>
          </a:p>
        </p:txBody>
      </p:sp>
      <p:sp>
        <p:nvSpPr>
          <p:cNvPr id="2469" name="TextBox 17"/>
          <p:cNvSpPr txBox="1"/>
          <p:nvPr/>
        </p:nvSpPr>
        <p:spPr>
          <a:xfrm>
            <a:off x="841248" y="4645152"/>
            <a:ext cx="4526280"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3977F6"/>
                </a:solidFill>
                <a:latin typeface="Helvetica Neue"/>
                <a:ea typeface="Helvetica Neue"/>
                <a:cs typeface="Helvetica Neue"/>
                <a:sym typeface="Helvetica Neue"/>
              </a:defRPr>
            </a:lvl1pPr>
          </a:lstStyle>
          <a:p>
            <a:pPr/>
            <a:r>
              <a:t>VISIBLE EXTERNAL SOURCE POINTER REQUIRED</a:t>
            </a:r>
          </a:p>
        </p:txBody>
      </p:sp>
      <p:sp>
        <p:nvSpPr>
          <p:cNvPr id="2470" name="Oval 18"/>
          <p:cNvSpPr/>
          <p:nvPr/>
        </p:nvSpPr>
        <p:spPr>
          <a:xfrm>
            <a:off x="6446520" y="1636776"/>
            <a:ext cx="201169" cy="201169"/>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471" name="TextBox 19"/>
          <p:cNvSpPr txBox="1"/>
          <p:nvPr/>
        </p:nvSpPr>
        <p:spPr>
          <a:xfrm>
            <a:off x="6757416" y="1627632"/>
            <a:ext cx="1417321" cy="148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FA873"/>
                </a:solidFill>
                <a:latin typeface="Helvetica Neue"/>
                <a:ea typeface="Helvetica Neue"/>
                <a:cs typeface="Helvetica Neue"/>
                <a:sym typeface="Helvetica Neue"/>
              </a:defRPr>
            </a:lvl1pPr>
          </a:lstStyle>
          <a:p>
            <a:pPr/>
            <a:r>
              <a:t>STAGE 2</a:t>
            </a:r>
          </a:p>
        </p:txBody>
      </p:sp>
      <p:sp>
        <p:nvSpPr>
          <p:cNvPr id="2472" name="TextBox 20"/>
          <p:cNvSpPr txBox="1"/>
          <p:nvPr/>
        </p:nvSpPr>
        <p:spPr>
          <a:xfrm>
            <a:off x="6446520" y="1993392"/>
            <a:ext cx="2926081" cy="29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111318"/>
                </a:solidFill>
                <a:latin typeface="Helvetica Neue"/>
                <a:ea typeface="Helvetica Neue"/>
                <a:cs typeface="Helvetica Neue"/>
                <a:sym typeface="Helvetica Neue"/>
              </a:defRPr>
            </a:lvl1pPr>
          </a:lstStyle>
          <a:p>
            <a:pPr/>
            <a:r>
              <a:t>Rescue worthiness</a:t>
            </a:r>
          </a:p>
        </p:txBody>
      </p:sp>
      <p:sp>
        <p:nvSpPr>
          <p:cNvPr id="2473" name="TextBox 21"/>
          <p:cNvSpPr txBox="1"/>
          <p:nvPr/>
        </p:nvSpPr>
        <p:spPr>
          <a:xfrm>
            <a:off x="9893807" y="1892806"/>
            <a:ext cx="1234441" cy="4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2700">
                <a:solidFill>
                  <a:srgbClr val="1FA873"/>
                </a:solidFill>
                <a:latin typeface="Helvetica Neue"/>
                <a:ea typeface="Helvetica Neue"/>
                <a:cs typeface="Helvetica Neue"/>
                <a:sym typeface="Helvetica Neue"/>
              </a:defRPr>
            </a:lvl1pPr>
          </a:lstStyle>
          <a:p>
            <a:pPr/>
            <a:r>
              <a:t>0–100</a:t>
            </a:r>
          </a:p>
        </p:txBody>
      </p:sp>
      <p:sp>
        <p:nvSpPr>
          <p:cNvPr id="2474" name="TextBox 22"/>
          <p:cNvSpPr txBox="1"/>
          <p:nvPr/>
        </p:nvSpPr>
        <p:spPr>
          <a:xfrm>
            <a:off x="6473952" y="2633472"/>
            <a:ext cx="3246121"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1FA873"/>
                </a:solidFill>
                <a:latin typeface="Helvetica Neue"/>
                <a:ea typeface="Helvetica Neue"/>
                <a:cs typeface="Helvetica Neue"/>
                <a:sym typeface="Helvetica Neue"/>
              </a:defRPr>
            </a:pPr>
            <a:r>
              <a:t>• </a:t>
            </a:r>
            <a:r>
              <a:rPr b="0">
                <a:solidFill>
                  <a:srgbClr val="73777F"/>
                </a:solidFill>
              </a:rPr>
              <a:t>source traceability</a:t>
            </a:r>
          </a:p>
        </p:txBody>
      </p:sp>
      <p:sp>
        <p:nvSpPr>
          <p:cNvPr id="2475" name="TextBox 23"/>
          <p:cNvSpPr txBox="1"/>
          <p:nvPr/>
        </p:nvSpPr>
        <p:spPr>
          <a:xfrm>
            <a:off x="6473952" y="3072383"/>
            <a:ext cx="3246121" cy="1860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1FA873"/>
                </a:solidFill>
                <a:latin typeface="Helvetica Neue"/>
                <a:ea typeface="Helvetica Neue"/>
                <a:cs typeface="Helvetica Neue"/>
                <a:sym typeface="Helvetica Neue"/>
              </a:defRPr>
            </a:pPr>
            <a:r>
              <a:t>• </a:t>
            </a:r>
            <a:r>
              <a:rPr b="0">
                <a:solidFill>
                  <a:srgbClr val="73777F"/>
                </a:solidFill>
              </a:rPr>
              <a:t>claim–source connection</a:t>
            </a:r>
          </a:p>
        </p:txBody>
      </p:sp>
      <p:sp>
        <p:nvSpPr>
          <p:cNvPr id="2476" name="TextBox 24"/>
          <p:cNvSpPr txBox="1"/>
          <p:nvPr/>
        </p:nvSpPr>
        <p:spPr>
          <a:xfrm>
            <a:off x="6473952" y="3511296"/>
            <a:ext cx="3246121"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1FA873"/>
                </a:solidFill>
                <a:latin typeface="Helvetica Neue"/>
                <a:ea typeface="Helvetica Neue"/>
                <a:cs typeface="Helvetica Neue"/>
                <a:sym typeface="Helvetica Neue"/>
              </a:defRPr>
            </a:pPr>
            <a:r>
              <a:t>• </a:t>
            </a:r>
            <a:r>
              <a:rPr b="0">
                <a:solidFill>
                  <a:srgbClr val="73777F"/>
                </a:solidFill>
              </a:rPr>
              <a:t>clarity and neutrality</a:t>
            </a:r>
          </a:p>
        </p:txBody>
      </p:sp>
      <p:sp>
        <p:nvSpPr>
          <p:cNvPr id="2477" name="TextBox 25"/>
          <p:cNvSpPr txBox="1"/>
          <p:nvPr/>
        </p:nvSpPr>
        <p:spPr>
          <a:xfrm>
            <a:off x="6473952" y="3950208"/>
            <a:ext cx="3246121"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1FA873"/>
                </a:solidFill>
                <a:latin typeface="Helvetica Neue"/>
                <a:ea typeface="Helvetica Neue"/>
                <a:cs typeface="Helvetica Neue"/>
                <a:sym typeface="Helvetica Neue"/>
              </a:defRPr>
            </a:pPr>
            <a:r>
              <a:t>• </a:t>
            </a:r>
            <a:r>
              <a:rPr b="0">
                <a:solidFill>
                  <a:srgbClr val="73777F"/>
                </a:solidFill>
              </a:rPr>
              <a:t>constructive presentation</a:t>
            </a:r>
          </a:p>
        </p:txBody>
      </p:sp>
      <p:sp>
        <p:nvSpPr>
          <p:cNvPr id="2478" name="Connector 26"/>
          <p:cNvSpPr/>
          <p:nvPr/>
        </p:nvSpPr>
        <p:spPr>
          <a:xfrm>
            <a:off x="6455664" y="4526279"/>
            <a:ext cx="4654297" cy="1"/>
          </a:xfrm>
          <a:prstGeom prst="line">
            <a:avLst/>
          </a:prstGeom>
          <a:ln w="1143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79" name="TextBox 27"/>
          <p:cNvSpPr txBox="1"/>
          <p:nvPr/>
        </p:nvSpPr>
        <p:spPr>
          <a:xfrm>
            <a:off x="6473952" y="4727447"/>
            <a:ext cx="1024129" cy="3594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1FA873"/>
                </a:solidFill>
                <a:latin typeface="Helvetica Neue"/>
                <a:ea typeface="Helvetica Neue"/>
                <a:cs typeface="Helvetica Neue"/>
                <a:sym typeface="Helvetica Neue"/>
              </a:defRPr>
            </a:lvl1pPr>
          </a:lstStyle>
          <a:p>
            <a:pPr/>
            <a:r>
              <a:t>≥50</a:t>
            </a:r>
          </a:p>
        </p:txBody>
      </p:sp>
      <p:sp>
        <p:nvSpPr>
          <p:cNvPr id="2480" name="TextBox 28"/>
          <p:cNvSpPr txBox="1"/>
          <p:nvPr/>
        </p:nvSpPr>
        <p:spPr>
          <a:xfrm>
            <a:off x="7516368" y="4791455"/>
            <a:ext cx="2331721" cy="2354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11318"/>
                </a:solidFill>
                <a:latin typeface="Helvetica Neue"/>
                <a:ea typeface="Helvetica Neue"/>
                <a:cs typeface="Helvetica Neue"/>
                <a:sym typeface="Helvetica Neue"/>
              </a:defRPr>
            </a:lvl1pPr>
          </a:lstStyle>
          <a:p>
            <a:pPr/>
            <a:r>
              <a:t>→  VALIDATED</a:t>
            </a:r>
          </a:p>
        </p:txBody>
      </p:sp>
      <p:sp>
        <p:nvSpPr>
          <p:cNvPr id="2481" name="Connector 29"/>
          <p:cNvSpPr/>
          <p:nvPr/>
        </p:nvSpPr>
        <p:spPr>
          <a:xfrm>
            <a:off x="749807" y="5376671"/>
            <a:ext cx="10680194" cy="1"/>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82" name="TextBox 30"/>
          <p:cNvSpPr txBox="1"/>
          <p:nvPr/>
        </p:nvSpPr>
        <p:spPr>
          <a:xfrm>
            <a:off x="1371599" y="5669279"/>
            <a:ext cx="9464042" cy="2107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400">
                <a:solidFill>
                  <a:srgbClr val="FF705B"/>
                </a:solidFill>
                <a:latin typeface="Helvetica Neue"/>
                <a:ea typeface="Helvetica Neue"/>
                <a:cs typeface="Helvetica Neue"/>
                <a:sym typeface="Helvetica Neue"/>
              </a:defRPr>
            </a:pPr>
            <a:r>
              <a:t>• </a:t>
            </a:r>
            <a:r>
              <a:rPr>
                <a:solidFill>
                  <a:srgbClr val="111318"/>
                </a:solidFill>
              </a:rPr>
              <a:t>Missing sourcing is a validation failure—not proof that the claim is false</a:t>
            </a:r>
          </a:p>
        </p:txBody>
      </p:sp>
      <p:sp>
        <p:nvSpPr>
          <p:cNvPr id="2483" name="TextBox 31"/>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Historical Gabriel method · model-based validation</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5" name="TextBox 1"/>
          <p:cNvSpPr txBox="1"/>
          <p:nvPr/>
        </p:nvSpPr>
        <p:spPr>
          <a:xfrm>
            <a:off x="603503" y="420623"/>
            <a:ext cx="4389122" cy="14871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73777F"/>
                </a:solidFill>
                <a:latin typeface="Helvetica Neue"/>
                <a:ea typeface="Helvetica Neue"/>
                <a:cs typeface="Helvetica Neue"/>
                <a:sym typeface="Helvetica Neue"/>
              </a:defRPr>
            </a:lvl1pPr>
          </a:lstStyle>
          <a:p>
            <a:pPr/>
            <a:r>
              <a:t>RESULTS · VALIDATION</a:t>
            </a:r>
          </a:p>
        </p:txBody>
      </p:sp>
      <p:sp>
        <p:nvSpPr>
          <p:cNvPr id="2486" name="TextBox 2"/>
          <p:cNvSpPr txBox="1"/>
          <p:nvPr/>
        </p:nvSpPr>
        <p:spPr>
          <a:xfrm>
            <a:off x="603504" y="786383"/>
            <a:ext cx="10515601" cy="4588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111318"/>
                </a:solidFill>
                <a:latin typeface="Helvetica Neue"/>
                <a:ea typeface="Helvetica Neue"/>
                <a:cs typeface="Helvetica Neue"/>
                <a:sym typeface="Helvetica Neue"/>
              </a:defRPr>
            </a:lvl1pPr>
          </a:lstStyle>
          <a:p>
            <a:pPr/>
            <a:r>
              <a:t>From candidates to validated rescues</a:t>
            </a:r>
          </a:p>
        </p:txBody>
      </p:sp>
      <p:sp>
        <p:nvSpPr>
          <p:cNvPr id="2487" name="TextBox 3"/>
          <p:cNvSpPr txBox="1"/>
          <p:nvPr/>
        </p:nvSpPr>
        <p:spPr>
          <a:xfrm>
            <a:off x="11082528" y="457199"/>
            <a:ext cx="438913" cy="13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900">
                <a:solidFill>
                  <a:srgbClr val="73777F"/>
                </a:solidFill>
                <a:latin typeface="Helvetica Neue"/>
                <a:ea typeface="Helvetica Neue"/>
                <a:cs typeface="Helvetica Neue"/>
                <a:sym typeface="Helvetica Neue"/>
              </a:defRPr>
            </a:lvl1pPr>
          </a:lstStyle>
          <a:p>
            <a:pPr/>
            <a:r>
              <a:t>13</a:t>
            </a:r>
          </a:p>
        </p:txBody>
      </p:sp>
      <p:sp>
        <p:nvSpPr>
          <p:cNvPr id="2488" name="TextBox 4"/>
          <p:cNvSpPr txBox="1"/>
          <p:nvPr/>
        </p:nvSpPr>
        <p:spPr>
          <a:xfrm>
            <a:off x="9528047" y="429767"/>
            <a:ext cx="13258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800">
                <a:solidFill>
                  <a:srgbClr val="FF705B"/>
                </a:solidFill>
                <a:latin typeface="Helvetica Neue"/>
                <a:ea typeface="Helvetica Neue"/>
                <a:cs typeface="Helvetica Neue"/>
                <a:sym typeface="Helvetica Neue"/>
              </a:defRPr>
            </a:lvl1pPr>
          </a:lstStyle>
          <a:p>
            <a:pPr/>
            <a:r>
              <a:t>WORK IN PROGRESS</a:t>
            </a:r>
          </a:p>
        </p:txBody>
      </p:sp>
      <p:sp>
        <p:nvSpPr>
          <p:cNvPr id="2489" name="Connector 5"/>
          <p:cNvSpPr/>
          <p:nvPr/>
        </p:nvSpPr>
        <p:spPr>
          <a:xfrm>
            <a:off x="9747504" y="658368"/>
            <a:ext cx="1097281" cy="1"/>
          </a:xfrm>
          <a:prstGeom prst="line">
            <a:avLst/>
          </a:prstGeom>
          <a:ln w="1270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90" name="Connector 6"/>
          <p:cNvSpPr/>
          <p:nvPr/>
        </p:nvSpPr>
        <p:spPr>
          <a:xfrm>
            <a:off x="1426464" y="2340864"/>
            <a:ext cx="6821425" cy="1"/>
          </a:xfrm>
          <a:prstGeom prst="line">
            <a:avLst/>
          </a:prstGeom>
          <a:ln w="2286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491" name="TextBox 7"/>
          <p:cNvSpPr txBox="1"/>
          <p:nvPr/>
        </p:nvSpPr>
        <p:spPr>
          <a:xfrm>
            <a:off x="749807" y="1581911"/>
            <a:ext cx="1508762" cy="42148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800">
                <a:solidFill>
                  <a:srgbClr val="111318"/>
                </a:solidFill>
                <a:latin typeface="Helvetica Neue"/>
                <a:ea typeface="Helvetica Neue"/>
                <a:cs typeface="Helvetica Neue"/>
                <a:sym typeface="Helvetica Neue"/>
              </a:defRPr>
            </a:lvl1pPr>
          </a:lstStyle>
          <a:p>
            <a:pPr/>
            <a:r>
              <a:t>13,655</a:t>
            </a:r>
          </a:p>
        </p:txBody>
      </p:sp>
      <p:sp>
        <p:nvSpPr>
          <p:cNvPr id="2492" name="Oval 8"/>
          <p:cNvSpPr/>
          <p:nvPr/>
        </p:nvSpPr>
        <p:spPr>
          <a:xfrm>
            <a:off x="1408175" y="2249423"/>
            <a:ext cx="182881" cy="182881"/>
          </a:xfrm>
          <a:prstGeom prst="ellipse">
            <a:avLst/>
          </a:prstGeom>
          <a:solidFill>
            <a:srgbClr val="111318"/>
          </a:solidFill>
          <a:ln w="10160">
            <a:solidFill>
              <a:srgbClr val="11131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493" name="TextBox 9"/>
          <p:cNvSpPr txBox="1"/>
          <p:nvPr/>
        </p:nvSpPr>
        <p:spPr>
          <a:xfrm>
            <a:off x="585215" y="2615183"/>
            <a:ext cx="1874518" cy="1610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100">
                <a:solidFill>
                  <a:srgbClr val="111318"/>
                </a:solidFill>
                <a:latin typeface="Helvetica Neue"/>
                <a:ea typeface="Helvetica Neue"/>
                <a:cs typeface="Helvetica Neue"/>
                <a:sym typeface="Helvetica Neue"/>
              </a:defRPr>
            </a:pPr>
            <a:r>
              <a:t>• </a:t>
            </a:r>
            <a:r>
              <a:rPr>
                <a:solidFill>
                  <a:srgbClr val="73777F"/>
                </a:solidFill>
              </a:rPr>
              <a:t>CCA candidates</a:t>
            </a:r>
          </a:p>
        </p:txBody>
      </p:sp>
      <p:sp>
        <p:nvSpPr>
          <p:cNvPr id="2494" name="TextBox 10"/>
          <p:cNvSpPr txBox="1"/>
          <p:nvPr/>
        </p:nvSpPr>
        <p:spPr>
          <a:xfrm>
            <a:off x="3273552" y="2139695"/>
            <a:ext cx="329185"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a:solidFill>
                  <a:srgbClr val="73777F"/>
                </a:solidFill>
                <a:latin typeface="Helvetica Neue"/>
                <a:ea typeface="Helvetica Neue"/>
                <a:cs typeface="Helvetica Neue"/>
                <a:sym typeface="Helvetica Neue"/>
              </a:defRPr>
            </a:lvl1pPr>
          </a:lstStyle>
          <a:p>
            <a:pPr/>
            <a:r>
              <a:t>→</a:t>
            </a:r>
          </a:p>
        </p:txBody>
      </p:sp>
      <p:sp>
        <p:nvSpPr>
          <p:cNvPr id="2495" name="TextBox 11"/>
          <p:cNvSpPr txBox="1"/>
          <p:nvPr/>
        </p:nvSpPr>
        <p:spPr>
          <a:xfrm>
            <a:off x="3730752" y="1581911"/>
            <a:ext cx="1508761" cy="42148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800">
                <a:solidFill>
                  <a:srgbClr val="3977F6"/>
                </a:solidFill>
                <a:latin typeface="Helvetica Neue"/>
                <a:ea typeface="Helvetica Neue"/>
                <a:cs typeface="Helvetica Neue"/>
                <a:sym typeface="Helvetica Neue"/>
              </a:defRPr>
            </a:lvl1pPr>
          </a:lstStyle>
          <a:p>
            <a:pPr/>
            <a:r>
              <a:t>8,051</a:t>
            </a:r>
          </a:p>
        </p:txBody>
      </p:sp>
      <p:sp>
        <p:nvSpPr>
          <p:cNvPr id="2496" name="Oval 12"/>
          <p:cNvSpPr/>
          <p:nvPr/>
        </p:nvSpPr>
        <p:spPr>
          <a:xfrm>
            <a:off x="4389120" y="2249423"/>
            <a:ext cx="182881" cy="182881"/>
          </a:xfrm>
          <a:prstGeom prst="ellipse">
            <a:avLst/>
          </a:prstGeom>
          <a:solidFill>
            <a:srgbClr val="3977F6"/>
          </a:solidFill>
          <a:ln w="10160">
            <a:solidFill>
              <a:srgbClr val="3977F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497" name="TextBox 14"/>
          <p:cNvSpPr txBox="1"/>
          <p:nvPr/>
        </p:nvSpPr>
        <p:spPr>
          <a:xfrm>
            <a:off x="6236208" y="2139695"/>
            <a:ext cx="329185"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a:solidFill>
                  <a:srgbClr val="73777F"/>
                </a:solidFill>
                <a:latin typeface="Helvetica Neue"/>
                <a:ea typeface="Helvetica Neue"/>
                <a:cs typeface="Helvetica Neue"/>
                <a:sym typeface="Helvetica Neue"/>
              </a:defRPr>
            </a:lvl1pPr>
          </a:lstStyle>
          <a:p>
            <a:pPr/>
            <a:r>
              <a:t>→</a:t>
            </a:r>
          </a:p>
        </p:txBody>
      </p:sp>
      <p:sp>
        <p:nvSpPr>
          <p:cNvPr id="2498" name="TextBox 15"/>
          <p:cNvSpPr txBox="1"/>
          <p:nvPr/>
        </p:nvSpPr>
        <p:spPr>
          <a:xfrm>
            <a:off x="6711695" y="1581911"/>
            <a:ext cx="1508761" cy="42148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800">
                <a:solidFill>
                  <a:srgbClr val="1FA873"/>
                </a:solidFill>
                <a:latin typeface="Helvetica Neue"/>
                <a:ea typeface="Helvetica Neue"/>
                <a:cs typeface="Helvetica Neue"/>
                <a:sym typeface="Helvetica Neue"/>
              </a:defRPr>
            </a:lvl1pPr>
          </a:lstStyle>
          <a:p>
            <a:pPr/>
            <a:r>
              <a:t>3,896</a:t>
            </a:r>
          </a:p>
        </p:txBody>
      </p:sp>
      <p:sp>
        <p:nvSpPr>
          <p:cNvPr id="2499" name="Oval 16"/>
          <p:cNvSpPr/>
          <p:nvPr/>
        </p:nvSpPr>
        <p:spPr>
          <a:xfrm>
            <a:off x="7370064" y="2249423"/>
            <a:ext cx="182881" cy="182881"/>
          </a:xfrm>
          <a:prstGeom prst="ellipse">
            <a:avLst/>
          </a:prstGeom>
          <a:solidFill>
            <a:srgbClr val="1FA873"/>
          </a:solidFill>
          <a:ln w="10160">
            <a:solidFill>
              <a:srgbClr val="1FA873"/>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500" name="Connector 18"/>
          <p:cNvSpPr/>
          <p:nvPr/>
        </p:nvSpPr>
        <p:spPr>
          <a:xfrm>
            <a:off x="4572000" y="2432304"/>
            <a:ext cx="0" cy="594361"/>
          </a:xfrm>
          <a:prstGeom prst="line">
            <a:avLst/>
          </a:prstGeom>
          <a:ln w="1397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501" name="TextBox 19"/>
          <p:cNvSpPr txBox="1"/>
          <p:nvPr/>
        </p:nvSpPr>
        <p:spPr>
          <a:xfrm>
            <a:off x="3017520" y="3035807"/>
            <a:ext cx="3154681"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300">
                <a:solidFill>
                  <a:srgbClr val="FF705B"/>
                </a:solidFill>
                <a:latin typeface="Helvetica Neue"/>
                <a:ea typeface="Helvetica Neue"/>
                <a:cs typeface="Helvetica Neue"/>
                <a:sym typeface="Helvetica Neue"/>
              </a:defRPr>
            </a:lvl1pPr>
          </a:lstStyle>
          <a:p>
            <a:pPr/>
            <a:r>
              <a:t>5,604  STAGE 1 STOP</a:t>
            </a:r>
          </a:p>
        </p:txBody>
      </p:sp>
      <p:sp>
        <p:nvSpPr>
          <p:cNvPr id="2502" name="TextBox 20"/>
          <p:cNvSpPr txBox="1"/>
          <p:nvPr/>
        </p:nvSpPr>
        <p:spPr>
          <a:xfrm>
            <a:off x="3136392" y="3445764"/>
            <a:ext cx="1586612" cy="1493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p>
            <a:pPr>
              <a:defRPr b="1" sz="1000">
                <a:solidFill>
                  <a:srgbClr val="FF705B"/>
                </a:solidFill>
                <a:latin typeface="Helvetica Neue"/>
                <a:ea typeface="Helvetica Neue"/>
                <a:cs typeface="Helvetica Neue"/>
                <a:sym typeface="Helvetica Neue"/>
              </a:defRPr>
            </a:pPr>
            <a:r>
              <a:t>3,610  </a:t>
            </a:r>
            <a:r>
              <a:rPr b="0">
                <a:solidFill>
                  <a:srgbClr val="73777F"/>
                </a:solidFill>
              </a:rPr>
              <a:t>opinion / speculation</a:t>
            </a:r>
          </a:p>
        </p:txBody>
      </p:sp>
      <p:sp>
        <p:nvSpPr>
          <p:cNvPr id="2503" name="TextBox 21"/>
          <p:cNvSpPr txBox="1"/>
          <p:nvPr/>
        </p:nvSpPr>
        <p:spPr>
          <a:xfrm>
            <a:off x="3136392" y="3701796"/>
            <a:ext cx="1652271" cy="1493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p>
            <a:pPr>
              <a:defRPr b="1" sz="1000">
                <a:solidFill>
                  <a:srgbClr val="FF705B"/>
                </a:solidFill>
                <a:latin typeface="Helvetica Neue"/>
                <a:ea typeface="Helvetica Neue"/>
                <a:cs typeface="Helvetica Neue"/>
                <a:sym typeface="Helvetica Neue"/>
              </a:defRPr>
            </a:pPr>
            <a:r>
              <a:t>687  </a:t>
            </a:r>
            <a:r>
              <a:rPr b="0">
                <a:solidFill>
                  <a:srgbClr val="73777F"/>
                </a:solidFill>
              </a:rPr>
              <a:t>irrelevant / trivial / spam</a:t>
            </a:r>
          </a:p>
        </p:txBody>
      </p:sp>
      <p:sp>
        <p:nvSpPr>
          <p:cNvPr id="2504" name="TextBox 22"/>
          <p:cNvSpPr txBox="1"/>
          <p:nvPr/>
        </p:nvSpPr>
        <p:spPr>
          <a:xfrm>
            <a:off x="3136392" y="3957828"/>
            <a:ext cx="1718057" cy="1493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p>
            <a:pPr>
              <a:defRPr b="1" sz="1000">
                <a:solidFill>
                  <a:srgbClr val="FF705B"/>
                </a:solidFill>
                <a:latin typeface="Helvetica Neue"/>
                <a:ea typeface="Helvetica Neue"/>
                <a:cs typeface="Helvetica Neue"/>
                <a:sym typeface="Helvetica Neue"/>
              </a:defRPr>
            </a:pPr>
            <a:r>
              <a:t>616  </a:t>
            </a:r>
            <a:r>
              <a:rPr b="0">
                <a:solidFill>
                  <a:srgbClr val="73777F"/>
                </a:solidFill>
              </a:rPr>
              <a:t>hostile / troll / derogatory</a:t>
            </a:r>
          </a:p>
        </p:txBody>
      </p:sp>
      <p:sp>
        <p:nvSpPr>
          <p:cNvPr id="2505" name="TextBox 23"/>
          <p:cNvSpPr txBox="1"/>
          <p:nvPr/>
        </p:nvSpPr>
        <p:spPr>
          <a:xfrm>
            <a:off x="3136392" y="4213860"/>
            <a:ext cx="1770127" cy="1493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p>
            <a:pPr>
              <a:defRPr b="1" sz="1000">
                <a:solidFill>
                  <a:srgbClr val="FF705B"/>
                </a:solidFill>
                <a:latin typeface="Helvetica Neue"/>
                <a:ea typeface="Helvetica Neue"/>
                <a:cs typeface="Helvetica Neue"/>
                <a:sym typeface="Helvetica Neue"/>
              </a:defRPr>
            </a:pPr>
            <a:r>
              <a:t>474  </a:t>
            </a:r>
            <a:r>
              <a:rPr b="0">
                <a:solidFill>
                  <a:srgbClr val="73777F"/>
                </a:solidFill>
              </a:rPr>
              <a:t>unsourced context / claim</a:t>
            </a:r>
          </a:p>
        </p:txBody>
      </p:sp>
      <p:sp>
        <p:nvSpPr>
          <p:cNvPr id="2506" name="TextBox 24"/>
          <p:cNvSpPr txBox="1"/>
          <p:nvPr/>
        </p:nvSpPr>
        <p:spPr>
          <a:xfrm>
            <a:off x="3136392" y="4469892"/>
            <a:ext cx="1546480" cy="14935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p>
            <a:pPr>
              <a:defRPr b="1" sz="1000">
                <a:solidFill>
                  <a:srgbClr val="FF705B"/>
                </a:solidFill>
                <a:latin typeface="Helvetica Neue"/>
                <a:ea typeface="Helvetica Neue"/>
                <a:cs typeface="Helvetica Neue"/>
                <a:sym typeface="Helvetica Neue"/>
              </a:defRPr>
            </a:pPr>
            <a:r>
              <a:t>217  </a:t>
            </a:r>
            <a:r>
              <a:rPr b="0">
                <a:solidFill>
                  <a:srgbClr val="73777F"/>
                </a:solidFill>
              </a:rPr>
              <a:t>unresolved / strict ties</a:t>
            </a:r>
          </a:p>
        </p:txBody>
      </p:sp>
      <p:sp>
        <p:nvSpPr>
          <p:cNvPr id="2507" name="Connector 25"/>
          <p:cNvSpPr/>
          <p:nvPr/>
        </p:nvSpPr>
        <p:spPr>
          <a:xfrm>
            <a:off x="7534656" y="2432304"/>
            <a:ext cx="1" cy="594361"/>
          </a:xfrm>
          <a:prstGeom prst="line">
            <a:avLst/>
          </a:prstGeom>
          <a:ln w="13970">
            <a:solidFill>
              <a:srgbClr val="FF705B"/>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508" name="TextBox 26"/>
          <p:cNvSpPr txBox="1"/>
          <p:nvPr/>
        </p:nvSpPr>
        <p:spPr>
          <a:xfrm>
            <a:off x="6428232" y="3035807"/>
            <a:ext cx="2267713" cy="198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300">
                <a:solidFill>
                  <a:srgbClr val="FF705B"/>
                </a:solidFill>
                <a:latin typeface="Helvetica Neue"/>
                <a:ea typeface="Helvetica Neue"/>
                <a:cs typeface="Helvetica Neue"/>
                <a:sym typeface="Helvetica Neue"/>
              </a:defRPr>
            </a:lvl1pPr>
          </a:lstStyle>
          <a:p>
            <a:pPr/>
            <a:r>
              <a:t>4,155  STAGE 2 STOP</a:t>
            </a:r>
          </a:p>
        </p:txBody>
      </p:sp>
      <p:sp>
        <p:nvSpPr>
          <p:cNvPr id="2509" name="TextBox 27"/>
          <p:cNvSpPr txBox="1"/>
          <p:nvPr/>
        </p:nvSpPr>
        <p:spPr>
          <a:xfrm>
            <a:off x="6510528" y="3619500"/>
            <a:ext cx="1733297" cy="1493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p>
            <a:pPr>
              <a:defRPr b="1" sz="1000">
                <a:solidFill>
                  <a:srgbClr val="FF705B"/>
                </a:solidFill>
                <a:latin typeface="Helvetica Neue"/>
                <a:ea typeface="Helvetica Neue"/>
                <a:cs typeface="Helvetica Neue"/>
                <a:sym typeface="Helvetica Neue"/>
              </a:defRPr>
            </a:pPr>
            <a:r>
              <a:t>4,155  </a:t>
            </a:r>
            <a:r>
              <a:rPr b="0">
                <a:solidFill>
                  <a:srgbClr val="73777F"/>
                </a:solidFill>
              </a:rPr>
              <a:t>rescue-worthiness &lt; 50</a:t>
            </a:r>
          </a:p>
        </p:txBody>
      </p:sp>
      <p:sp>
        <p:nvSpPr>
          <p:cNvPr id="2510" name="Connector 28"/>
          <p:cNvSpPr/>
          <p:nvPr/>
        </p:nvSpPr>
        <p:spPr>
          <a:xfrm>
            <a:off x="749807" y="4956047"/>
            <a:ext cx="10680194" cy="1"/>
          </a:xfrm>
          <a:prstGeom prst="line">
            <a:avLst/>
          </a:prstGeom>
          <a:ln w="12700">
            <a:solidFill>
              <a:srgbClr val="DADDE2"/>
            </a:solidFill>
          </a:ln>
          <a:effectLst>
            <a:outerShdw sx="100000" sy="100000" kx="0" ky="0" algn="b" rotWithShape="0" blurRad="38100" dist="23000" dir="5400000">
              <a:srgbClr val="000000">
                <a:alpha val="35000"/>
              </a:srgbClr>
            </a:outerShdw>
          </a:effectLst>
        </p:spPr>
        <p:txBody>
          <a:bodyPr lIns="45718" tIns="45718" rIns="45718" bIns="45718"/>
          <a:lstStyle/>
          <a:p>
            <a:pPr/>
          </a:p>
        </p:txBody>
      </p:sp>
      <p:sp>
        <p:nvSpPr>
          <p:cNvPr id="2511" name="TextBox 29"/>
          <p:cNvSpPr txBox="1"/>
          <p:nvPr/>
        </p:nvSpPr>
        <p:spPr>
          <a:xfrm>
            <a:off x="859535" y="5212079"/>
            <a:ext cx="2103122" cy="1610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73777F"/>
                </a:solidFill>
                <a:latin typeface="Helvetica Neue"/>
                <a:ea typeface="Helvetica Neue"/>
                <a:cs typeface="Helvetica Neue"/>
                <a:sym typeface="Helvetica Neue"/>
              </a:defRPr>
            </a:lvl1pPr>
          </a:lstStyle>
          <a:p>
            <a:pPr/>
            <a:r>
              <a:t>GPT-4o-mini baseline</a:t>
            </a:r>
          </a:p>
        </p:txBody>
      </p:sp>
      <p:sp>
        <p:nvSpPr>
          <p:cNvPr id="2512" name="TextBox 30"/>
          <p:cNvSpPr txBox="1"/>
          <p:nvPr/>
        </p:nvSpPr>
        <p:spPr>
          <a:xfrm>
            <a:off x="2953511" y="5193791"/>
            <a:ext cx="329185"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600">
                <a:solidFill>
                  <a:srgbClr val="73777F"/>
                </a:solidFill>
                <a:latin typeface="Helvetica Neue"/>
                <a:ea typeface="Helvetica Neue"/>
                <a:cs typeface="Helvetica Neue"/>
                <a:sym typeface="Helvetica Neue"/>
              </a:defRPr>
            </a:lvl1pPr>
          </a:lstStyle>
          <a:p>
            <a:pPr/>
            <a:r>
              <a:t>→</a:t>
            </a:r>
          </a:p>
        </p:txBody>
      </p:sp>
      <p:sp>
        <p:nvSpPr>
          <p:cNvPr id="2513" name="TextBox 31"/>
          <p:cNvSpPr txBox="1"/>
          <p:nvPr/>
        </p:nvSpPr>
        <p:spPr>
          <a:xfrm>
            <a:off x="3383279" y="5212079"/>
            <a:ext cx="2240281" cy="1610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3977F6"/>
                </a:solidFill>
                <a:latin typeface="Helvetica Neue"/>
                <a:ea typeface="Helvetica Neue"/>
                <a:cs typeface="Helvetica Neue"/>
                <a:sym typeface="Helvetica Neue"/>
              </a:defRPr>
            </a:lvl1pPr>
          </a:lstStyle>
          <a:p>
            <a:pPr/>
            <a:r>
              <a:t>MiMo v2.5 Pro rerun</a:t>
            </a:r>
          </a:p>
        </p:txBody>
      </p:sp>
      <p:sp>
        <p:nvSpPr>
          <p:cNvPr id="2514" name="TextBox 32"/>
          <p:cNvSpPr txBox="1"/>
          <p:nvPr/>
        </p:nvSpPr>
        <p:spPr>
          <a:xfrm>
            <a:off x="5989320" y="5193791"/>
            <a:ext cx="2331721" cy="1610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3977F6"/>
                </a:solidFill>
                <a:latin typeface="Helvetica Neue"/>
                <a:ea typeface="Helvetica Neue"/>
                <a:cs typeface="Helvetica Neue"/>
                <a:sym typeface="Helvetica Neue"/>
              </a:defRPr>
            </a:pPr>
            <a:r>
              <a:t>• </a:t>
            </a:r>
            <a:r>
              <a:rPr b="0">
                <a:solidFill>
                  <a:srgbClr val="73777F"/>
                </a:solidFill>
              </a:rPr>
              <a:t>higher reasoning capacity</a:t>
            </a:r>
          </a:p>
        </p:txBody>
      </p:sp>
      <p:sp>
        <p:nvSpPr>
          <p:cNvPr id="2515" name="TextBox 33"/>
          <p:cNvSpPr txBox="1"/>
          <p:nvPr/>
        </p:nvSpPr>
        <p:spPr>
          <a:xfrm>
            <a:off x="8503919" y="5193791"/>
            <a:ext cx="2578609" cy="1610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1FA873"/>
                </a:solidFill>
                <a:latin typeface="Helvetica Neue"/>
                <a:ea typeface="Helvetica Neue"/>
                <a:cs typeface="Helvetica Neue"/>
                <a:sym typeface="Helvetica Neue"/>
              </a:defRPr>
            </a:pPr>
            <a:r>
              <a:t>• </a:t>
            </a:r>
            <a:r>
              <a:rPr b="0">
                <a:solidFill>
                  <a:srgbClr val="73777F"/>
                </a:solidFill>
              </a:rPr>
              <a:t>accuracy expected to improve</a:t>
            </a:r>
          </a:p>
        </p:txBody>
      </p:sp>
      <p:sp>
        <p:nvSpPr>
          <p:cNvPr id="2516" name="TextBox 34"/>
          <p:cNvSpPr txBox="1"/>
          <p:nvPr/>
        </p:nvSpPr>
        <p:spPr>
          <a:xfrm>
            <a:off x="4114800" y="5760720"/>
            <a:ext cx="3977639" cy="186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200">
                <a:solidFill>
                  <a:srgbClr val="FF705B"/>
                </a:solidFill>
                <a:latin typeface="Helvetica Neue"/>
                <a:ea typeface="Helvetica Neue"/>
                <a:cs typeface="Helvetica Neue"/>
                <a:sym typeface="Helvetica Neue"/>
              </a:defRPr>
            </a:lvl1pPr>
          </a:lstStyle>
          <a:p>
            <a:pPr/>
            <a:r>
              <a:t>FINAL COUNTS WILL CHANGE</a:t>
            </a:r>
          </a:p>
        </p:txBody>
      </p:sp>
      <p:sp>
        <p:nvSpPr>
          <p:cNvPr id="2517" name="TextBox 35"/>
          <p:cNvSpPr txBox="1"/>
          <p:nvPr/>
        </p:nvSpPr>
        <p:spPr>
          <a:xfrm>
            <a:off x="621792" y="6437376"/>
            <a:ext cx="10881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3777F"/>
                </a:solidFill>
                <a:latin typeface="Helvetica Neue"/>
                <a:ea typeface="Helvetica Neue"/>
                <a:cs typeface="Helvetica Neue"/>
                <a:sym typeface="Helvetica Neue"/>
              </a:defRPr>
            </a:lvl1pPr>
          </a:lstStyle>
          <a:p>
            <a:pPr/>
            <a:r>
              <a:t>• Historical Gabriel outputs · MiMo rerun underway</a:t>
            </a:r>
          </a:p>
        </p:txBody>
      </p:sp>
      <p:sp>
        <p:nvSpPr>
          <p:cNvPr id="2518" name="TextBox 13"/>
          <p:cNvSpPr txBox="1"/>
          <p:nvPr/>
        </p:nvSpPr>
        <p:spPr>
          <a:xfrm>
            <a:off x="3147059" y="2615183"/>
            <a:ext cx="1874519" cy="1610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100">
                <a:solidFill>
                  <a:srgbClr val="3977F6"/>
                </a:solidFill>
                <a:latin typeface="Helvetica Neue"/>
                <a:ea typeface="Helvetica Neue"/>
                <a:cs typeface="Helvetica Neue"/>
                <a:sym typeface="Helvetica Neue"/>
              </a:defRPr>
            </a:pPr>
            <a:r>
              <a:t>• </a:t>
            </a:r>
            <a:r>
              <a:rPr>
                <a:solidFill>
                  <a:srgbClr val="73777F"/>
                </a:solidFill>
              </a:rPr>
              <a:t>Stage 1 pass</a:t>
            </a:r>
          </a:p>
        </p:txBody>
      </p:sp>
      <p:sp>
        <p:nvSpPr>
          <p:cNvPr id="2519" name="TextBox 17"/>
          <p:cNvSpPr txBox="1"/>
          <p:nvPr/>
        </p:nvSpPr>
        <p:spPr>
          <a:xfrm>
            <a:off x="5912104" y="2615183"/>
            <a:ext cx="1874519" cy="1610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100">
                <a:solidFill>
                  <a:srgbClr val="1FA873"/>
                </a:solidFill>
                <a:latin typeface="Helvetica Neue"/>
                <a:ea typeface="Helvetica Neue"/>
                <a:cs typeface="Helvetica Neue"/>
                <a:sym typeface="Helvetica Neue"/>
              </a:defRPr>
            </a:pPr>
            <a:r>
              <a:t>• </a:t>
            </a:r>
            <a:r>
              <a:rPr>
                <a:solidFill>
                  <a:srgbClr val="73777F"/>
                </a:solidFill>
              </a:rPr>
              <a:t>Stage 2 pass · ≥50</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3504" y="420624"/>
            <a:ext cx="4389120" cy="228600"/>
          </a:xfrm>
          <a:prstGeom prst="rect">
            <a:avLst/>
          </a:prstGeom>
          <a:noFill/>
        </p:spPr>
        <p:txBody>
          <a:bodyPr wrap="square" lIns="0" rIns="0" tIns="0" bIns="0" anchor="t">
            <a:spAutoFit/>
          </a:bodyPr>
          <a:lstStyle/>
          <a:p>
            <a:pPr algn="l">
              <a:spcAft>
                <a:spcPts val="0"/>
              </a:spcAft>
            </a:pPr>
            <a:r>
              <a:rPr sz="1000" b="1">
                <a:solidFill>
                  <a:srgbClr val="73777F"/>
                </a:solidFill>
                <a:latin typeface="Helvetica Neue"/>
              </a:rPr>
              <a:t>VALIDATION · STAGE 2</a:t>
            </a:r>
          </a:p>
        </p:txBody>
      </p:sp>
      <p:sp>
        <p:nvSpPr>
          <p:cNvPr id="3" name="TextBox 2"/>
          <p:cNvSpPr txBox="1"/>
          <p:nvPr/>
        </p:nvSpPr>
        <p:spPr>
          <a:xfrm>
            <a:off x="603504" y="786384"/>
            <a:ext cx="10515600" cy="566928"/>
          </a:xfrm>
          <a:prstGeom prst="rect">
            <a:avLst/>
          </a:prstGeom>
          <a:noFill/>
        </p:spPr>
        <p:txBody>
          <a:bodyPr wrap="square" lIns="0" rIns="0" tIns="0" bIns="0" anchor="t">
            <a:spAutoFit/>
          </a:bodyPr>
          <a:lstStyle/>
          <a:p>
            <a:pPr algn="l">
              <a:spcAft>
                <a:spcPts val="0"/>
              </a:spcAft>
            </a:pPr>
            <a:r>
              <a:rPr sz="3000" b="1">
                <a:solidFill>
                  <a:srgbClr val="111318"/>
                </a:solidFill>
                <a:latin typeface="Helvetica Neue"/>
              </a:rPr>
              <a:t>What makes a note worth rescuing?</a:t>
            </a:r>
          </a:p>
        </p:txBody>
      </p:sp>
      <p:sp>
        <p:nvSpPr>
          <p:cNvPr id="4" name="TextBox 3"/>
          <p:cNvSpPr txBox="1"/>
          <p:nvPr/>
        </p:nvSpPr>
        <p:spPr>
          <a:xfrm>
            <a:off x="11082528" y="457200"/>
            <a:ext cx="438912" cy="182880"/>
          </a:xfrm>
          <a:prstGeom prst="rect">
            <a:avLst/>
          </a:prstGeom>
          <a:noFill/>
        </p:spPr>
        <p:txBody>
          <a:bodyPr wrap="square" lIns="0" rIns="0" tIns="0" bIns="0" anchor="t">
            <a:spAutoFit/>
          </a:bodyPr>
          <a:lstStyle/>
          <a:p>
            <a:pPr algn="r">
              <a:spcAft>
                <a:spcPts val="0"/>
              </a:spcAft>
            </a:pPr>
            <a:r>
              <a:rPr sz="900" b="1">
                <a:solidFill>
                  <a:srgbClr val="73777F"/>
                </a:solidFill>
                <a:latin typeface="Helvetica Neue"/>
              </a:rPr>
              <a:t>13</a:t>
            </a:r>
          </a:p>
        </p:txBody>
      </p:sp>
      <p:sp>
        <p:nvSpPr>
          <p:cNvPr id="5" name="TextBox 4"/>
          <p:cNvSpPr txBox="1"/>
          <p:nvPr/>
        </p:nvSpPr>
        <p:spPr>
          <a:xfrm>
            <a:off x="768096" y="1536192"/>
            <a:ext cx="1463040" cy="201168"/>
          </a:xfrm>
          <a:prstGeom prst="rect">
            <a:avLst/>
          </a:prstGeom>
          <a:noFill/>
        </p:spPr>
        <p:txBody>
          <a:bodyPr wrap="square" lIns="0" rIns="0" tIns="0" bIns="0" anchor="t">
            <a:spAutoFit/>
          </a:bodyPr>
          <a:lstStyle/>
          <a:p>
            <a:pPr algn="l">
              <a:spcAft>
                <a:spcPts val="0"/>
              </a:spcAft>
            </a:pPr>
            <a:r>
              <a:rPr sz="1000" b="1">
                <a:solidFill>
                  <a:srgbClr val="73777F"/>
                </a:solidFill>
                <a:latin typeface="Helvetica Neue"/>
              </a:rPr>
              <a:t>MODEL SEES</a:t>
            </a:r>
          </a:p>
        </p:txBody>
      </p:sp>
      <p:sp>
        <p:nvSpPr>
          <p:cNvPr id="6" name="Rounded Rectangle 5"/>
          <p:cNvSpPr/>
          <p:nvPr/>
        </p:nvSpPr>
        <p:spPr>
          <a:xfrm>
            <a:off x="841248" y="1874519"/>
            <a:ext cx="1993392" cy="2212848"/>
          </a:xfrm>
          <a:prstGeom prst="roundRect">
            <a:avLst/>
          </a:prstGeom>
          <a:noFill/>
          <a:ln w="14604">
            <a:solidFill>
              <a:srgbClr val="1113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1097280" y="2331720"/>
            <a:ext cx="1463040" cy="0"/>
          </a:xfrm>
          <a:prstGeom prst="line">
            <a:avLst/>
          </a:prstGeom>
          <a:ln w="15240">
            <a:solidFill>
              <a:srgbClr val="11131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97280" y="2688336"/>
            <a:ext cx="1261872" cy="0"/>
          </a:xfrm>
          <a:prstGeom prst="line">
            <a:avLst/>
          </a:prstGeom>
          <a:ln w="15240">
            <a:solidFill>
              <a:srgbClr val="11131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97280" y="3044952"/>
            <a:ext cx="1389888" cy="0"/>
          </a:xfrm>
          <a:prstGeom prst="line">
            <a:avLst/>
          </a:prstGeom>
          <a:ln w="15240">
            <a:solidFill>
              <a:srgbClr val="11131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97280" y="3529584"/>
            <a:ext cx="1133856" cy="0"/>
          </a:xfrm>
          <a:prstGeom prst="line">
            <a:avLst/>
          </a:prstGeom>
          <a:ln w="22860">
            <a:solidFill>
              <a:srgbClr val="3977F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97280" y="3675887"/>
            <a:ext cx="1170432" cy="164592"/>
          </a:xfrm>
          <a:prstGeom prst="rect">
            <a:avLst/>
          </a:prstGeom>
          <a:noFill/>
        </p:spPr>
        <p:txBody>
          <a:bodyPr wrap="square" lIns="0" rIns="0" tIns="0" bIns="0" anchor="t">
            <a:spAutoFit/>
          </a:bodyPr>
          <a:lstStyle/>
          <a:p>
            <a:pPr algn="l">
              <a:spcAft>
                <a:spcPts val="0"/>
              </a:spcAft>
            </a:pPr>
            <a:r>
              <a:rPr sz="819" b="1">
                <a:solidFill>
                  <a:srgbClr val="3977F6"/>
                </a:solidFill>
                <a:latin typeface="Helvetica Neue"/>
              </a:rPr>
              <a:t>SOURCE POINTER</a:t>
            </a:r>
          </a:p>
        </p:txBody>
      </p:sp>
      <p:sp>
        <p:nvSpPr>
          <p:cNvPr id="12" name="TextBox 11"/>
          <p:cNvSpPr txBox="1"/>
          <p:nvPr/>
        </p:nvSpPr>
        <p:spPr>
          <a:xfrm>
            <a:off x="941832" y="4370832"/>
            <a:ext cx="1389888" cy="365760"/>
          </a:xfrm>
          <a:prstGeom prst="rect">
            <a:avLst/>
          </a:prstGeom>
          <a:noFill/>
        </p:spPr>
        <p:txBody>
          <a:bodyPr wrap="square" lIns="0" rIns="0" tIns="0" bIns="0">
            <a:spAutoFit/>
          </a:bodyPr>
          <a:lstStyle/>
          <a:p>
            <a:pPr algn="l"/>
            <a:r>
              <a:rPr sz="1250" b="1">
                <a:solidFill>
                  <a:srgbClr val="111318"/>
                </a:solidFill>
                <a:latin typeface="Helvetica Neue"/>
              </a:rPr>
              <a:t>• </a:t>
            </a:r>
            <a:r>
              <a:rPr sz="1250" b="1">
                <a:solidFill>
                  <a:srgbClr val="73777F"/>
                </a:solidFill>
                <a:latin typeface="Helvetica Neue"/>
              </a:rPr>
              <a:t>note text</a:t>
            </a:r>
          </a:p>
        </p:txBody>
      </p:sp>
      <p:sp>
        <p:nvSpPr>
          <p:cNvPr id="13" name="TextBox 12"/>
          <p:cNvSpPr txBox="1"/>
          <p:nvPr/>
        </p:nvSpPr>
        <p:spPr>
          <a:xfrm>
            <a:off x="941832" y="4745736"/>
            <a:ext cx="1847088" cy="365760"/>
          </a:xfrm>
          <a:prstGeom prst="rect">
            <a:avLst/>
          </a:prstGeom>
          <a:noFill/>
        </p:spPr>
        <p:txBody>
          <a:bodyPr wrap="square" lIns="0" rIns="0" tIns="0" bIns="0">
            <a:spAutoFit/>
          </a:bodyPr>
          <a:lstStyle/>
          <a:p>
            <a:pPr algn="l"/>
            <a:r>
              <a:rPr sz="1250" b="1">
                <a:solidFill>
                  <a:srgbClr val="3977F6"/>
                </a:solidFill>
                <a:latin typeface="Helvetica Neue"/>
              </a:rPr>
              <a:t>• </a:t>
            </a:r>
            <a:r>
              <a:rPr sz="1250" b="1">
                <a:solidFill>
                  <a:srgbClr val="73777F"/>
                </a:solidFill>
                <a:latin typeface="Helvetica Neue"/>
              </a:rPr>
              <a:t>visible source pointer</a:t>
            </a:r>
          </a:p>
        </p:txBody>
      </p:sp>
      <p:sp>
        <p:nvSpPr>
          <p:cNvPr id="14" name="TextBox 13"/>
          <p:cNvSpPr txBox="1"/>
          <p:nvPr/>
        </p:nvSpPr>
        <p:spPr>
          <a:xfrm>
            <a:off x="3054096" y="2916936"/>
            <a:ext cx="347472" cy="310896"/>
          </a:xfrm>
          <a:prstGeom prst="rect">
            <a:avLst/>
          </a:prstGeom>
          <a:noFill/>
        </p:spPr>
        <p:txBody>
          <a:bodyPr wrap="square" lIns="0" rIns="0" tIns="0" bIns="0" anchor="t">
            <a:spAutoFit/>
          </a:bodyPr>
          <a:lstStyle/>
          <a:p>
            <a:pPr algn="ctr">
              <a:spcAft>
                <a:spcPts val="0"/>
              </a:spcAft>
            </a:pPr>
            <a:r>
              <a:rPr sz="2000" b="1">
                <a:solidFill>
                  <a:srgbClr val="73777F"/>
                </a:solidFill>
                <a:latin typeface="Helvetica Neue"/>
              </a:rPr>
              <a:t>→</a:t>
            </a:r>
          </a:p>
        </p:txBody>
      </p:sp>
      <p:sp>
        <p:nvSpPr>
          <p:cNvPr id="15" name="TextBox 14"/>
          <p:cNvSpPr txBox="1"/>
          <p:nvPr/>
        </p:nvSpPr>
        <p:spPr>
          <a:xfrm>
            <a:off x="3675887" y="1536192"/>
            <a:ext cx="2103120" cy="201168"/>
          </a:xfrm>
          <a:prstGeom prst="rect">
            <a:avLst/>
          </a:prstGeom>
          <a:noFill/>
        </p:spPr>
        <p:txBody>
          <a:bodyPr wrap="square" lIns="0" rIns="0" tIns="0" bIns="0" anchor="t">
            <a:spAutoFit/>
          </a:bodyPr>
          <a:lstStyle/>
          <a:p>
            <a:pPr algn="l">
              <a:spcAft>
                <a:spcPts val="0"/>
              </a:spcAft>
            </a:pPr>
            <a:r>
              <a:rPr sz="1000" b="1">
                <a:solidFill>
                  <a:srgbClr val="73777F"/>
                </a:solidFill>
                <a:latin typeface="Helvetica Neue"/>
              </a:rPr>
              <a:t>HOLISTIC JUDGMENT</a:t>
            </a:r>
          </a:p>
        </p:txBody>
      </p:sp>
      <p:cxnSp>
        <p:nvCxnSpPr>
          <p:cNvPr id="16" name="Connector 15"/>
          <p:cNvCxnSpPr/>
          <p:nvPr/>
        </p:nvCxnSpPr>
        <p:spPr>
          <a:xfrm>
            <a:off x="3808476" y="2057400"/>
            <a:ext cx="0" cy="2505456"/>
          </a:xfrm>
          <a:prstGeom prst="line">
            <a:avLst/>
          </a:prstGeom>
          <a:ln w="15240">
            <a:solidFill>
              <a:srgbClr val="DADDE2"/>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730752" y="2002536"/>
            <a:ext cx="155448" cy="155448"/>
          </a:xfrm>
          <a:prstGeom prst="ellipse">
            <a:avLst/>
          </a:prstGeom>
          <a:solidFill>
            <a:srgbClr val="1FA873"/>
          </a:solidFill>
          <a:ln w="10160">
            <a:solidFill>
              <a:srgbClr val="1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41648" y="1984248"/>
            <a:ext cx="3310128" cy="256032"/>
          </a:xfrm>
          <a:prstGeom prst="rect">
            <a:avLst/>
          </a:prstGeom>
          <a:noFill/>
        </p:spPr>
        <p:txBody>
          <a:bodyPr wrap="square" lIns="0" rIns="0" tIns="0" bIns="0" anchor="t">
            <a:spAutoFit/>
          </a:bodyPr>
          <a:lstStyle/>
          <a:p>
            <a:pPr algn="l">
              <a:spcAft>
                <a:spcPts val="0"/>
              </a:spcAft>
            </a:pPr>
            <a:r>
              <a:rPr sz="1320" b="1">
                <a:solidFill>
                  <a:srgbClr val="111318"/>
                </a:solidFill>
                <a:latin typeface="Helvetica Neue"/>
              </a:rPr>
              <a:t>specific + traceable source pointer</a:t>
            </a:r>
          </a:p>
        </p:txBody>
      </p:sp>
      <p:sp>
        <p:nvSpPr>
          <p:cNvPr id="19" name="Oval 18"/>
          <p:cNvSpPr/>
          <p:nvPr/>
        </p:nvSpPr>
        <p:spPr>
          <a:xfrm>
            <a:off x="3730752" y="2615184"/>
            <a:ext cx="155448" cy="155448"/>
          </a:xfrm>
          <a:prstGeom prst="ellipse">
            <a:avLst/>
          </a:prstGeom>
          <a:solidFill>
            <a:srgbClr val="1FA873"/>
          </a:solidFill>
          <a:ln w="10160">
            <a:solidFill>
              <a:srgbClr val="1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41648" y="2596896"/>
            <a:ext cx="3310128" cy="256032"/>
          </a:xfrm>
          <a:prstGeom prst="rect">
            <a:avLst/>
          </a:prstGeom>
          <a:noFill/>
        </p:spPr>
        <p:txBody>
          <a:bodyPr wrap="square" lIns="0" rIns="0" tIns="0" bIns="0" anchor="t">
            <a:spAutoFit/>
          </a:bodyPr>
          <a:lstStyle/>
          <a:p>
            <a:pPr algn="l">
              <a:spcAft>
                <a:spcPts val="0"/>
              </a:spcAft>
            </a:pPr>
            <a:r>
              <a:rPr sz="1320" b="1">
                <a:solidFill>
                  <a:srgbClr val="111318"/>
                </a:solidFill>
                <a:latin typeface="Helvetica Neue"/>
              </a:rPr>
              <a:t>clear claim ↔ source connection</a:t>
            </a:r>
          </a:p>
        </p:txBody>
      </p:sp>
      <p:sp>
        <p:nvSpPr>
          <p:cNvPr id="21" name="Oval 20"/>
          <p:cNvSpPr/>
          <p:nvPr/>
        </p:nvSpPr>
        <p:spPr>
          <a:xfrm>
            <a:off x="3730752" y="3227832"/>
            <a:ext cx="155448" cy="155448"/>
          </a:xfrm>
          <a:prstGeom prst="ellipse">
            <a:avLst/>
          </a:prstGeom>
          <a:solidFill>
            <a:srgbClr val="1FA873"/>
          </a:solidFill>
          <a:ln w="10160">
            <a:solidFill>
              <a:srgbClr val="1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41648" y="3209544"/>
            <a:ext cx="3310128" cy="256032"/>
          </a:xfrm>
          <a:prstGeom prst="rect">
            <a:avLst/>
          </a:prstGeom>
          <a:noFill/>
        </p:spPr>
        <p:txBody>
          <a:bodyPr wrap="square" lIns="0" rIns="0" tIns="0" bIns="0" anchor="t">
            <a:spAutoFit/>
          </a:bodyPr>
          <a:lstStyle/>
          <a:p>
            <a:pPr algn="l">
              <a:spcAft>
                <a:spcPts val="0"/>
              </a:spcAft>
            </a:pPr>
            <a:r>
              <a:rPr sz="1320" b="1">
                <a:solidFill>
                  <a:srgbClr val="111318"/>
                </a:solidFill>
                <a:latin typeface="Helvetica Neue"/>
              </a:rPr>
              <a:t>self-contained explanation</a:t>
            </a:r>
          </a:p>
        </p:txBody>
      </p:sp>
      <p:sp>
        <p:nvSpPr>
          <p:cNvPr id="23" name="Oval 22"/>
          <p:cNvSpPr/>
          <p:nvPr/>
        </p:nvSpPr>
        <p:spPr>
          <a:xfrm>
            <a:off x="3730752" y="3840479"/>
            <a:ext cx="155448" cy="155448"/>
          </a:xfrm>
          <a:prstGeom prst="ellipse">
            <a:avLst/>
          </a:prstGeom>
          <a:solidFill>
            <a:srgbClr val="1FA873"/>
          </a:solidFill>
          <a:ln w="10160">
            <a:solidFill>
              <a:srgbClr val="1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41648" y="3822191"/>
            <a:ext cx="3310128" cy="256032"/>
          </a:xfrm>
          <a:prstGeom prst="rect">
            <a:avLst/>
          </a:prstGeom>
          <a:noFill/>
        </p:spPr>
        <p:txBody>
          <a:bodyPr wrap="square" lIns="0" rIns="0" tIns="0" bIns="0" anchor="t">
            <a:spAutoFit/>
          </a:bodyPr>
          <a:lstStyle/>
          <a:p>
            <a:pPr algn="l">
              <a:spcAft>
                <a:spcPts val="0"/>
              </a:spcAft>
            </a:pPr>
            <a:r>
              <a:rPr sz="1320" b="1">
                <a:solidFill>
                  <a:srgbClr val="111318"/>
                </a:solidFill>
                <a:latin typeface="Helvetica Neue"/>
              </a:rPr>
              <a:t>factual + neutral wording</a:t>
            </a:r>
          </a:p>
        </p:txBody>
      </p:sp>
      <p:sp>
        <p:nvSpPr>
          <p:cNvPr id="25" name="Oval 24"/>
          <p:cNvSpPr/>
          <p:nvPr/>
        </p:nvSpPr>
        <p:spPr>
          <a:xfrm>
            <a:off x="3730752" y="4453127"/>
            <a:ext cx="155448" cy="155448"/>
          </a:xfrm>
          <a:prstGeom prst="ellipse">
            <a:avLst/>
          </a:prstGeom>
          <a:solidFill>
            <a:srgbClr val="1FA873"/>
          </a:solidFill>
          <a:ln w="10160">
            <a:solidFill>
              <a:srgbClr val="1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41648" y="4434840"/>
            <a:ext cx="3310128" cy="256032"/>
          </a:xfrm>
          <a:prstGeom prst="rect">
            <a:avLst/>
          </a:prstGeom>
          <a:noFill/>
        </p:spPr>
        <p:txBody>
          <a:bodyPr wrap="square" lIns="0" rIns="0" tIns="0" bIns="0" anchor="t">
            <a:spAutoFit/>
          </a:bodyPr>
          <a:lstStyle/>
          <a:p>
            <a:pPr algn="l">
              <a:spcAft>
                <a:spcPts val="0"/>
              </a:spcAft>
            </a:pPr>
            <a:r>
              <a:rPr sz="1320" b="1">
                <a:solidFill>
                  <a:srgbClr val="111318"/>
                </a:solidFill>
                <a:latin typeface="Helvetica Neue"/>
              </a:rPr>
              <a:t>concise + constructive presentation</a:t>
            </a:r>
          </a:p>
        </p:txBody>
      </p:sp>
      <p:sp>
        <p:nvSpPr>
          <p:cNvPr id="27" name="TextBox 26"/>
          <p:cNvSpPr txBox="1"/>
          <p:nvPr/>
        </p:nvSpPr>
        <p:spPr>
          <a:xfrm>
            <a:off x="7461504" y="2916936"/>
            <a:ext cx="347472" cy="310896"/>
          </a:xfrm>
          <a:prstGeom prst="rect">
            <a:avLst/>
          </a:prstGeom>
          <a:noFill/>
        </p:spPr>
        <p:txBody>
          <a:bodyPr wrap="square" lIns="0" rIns="0" tIns="0" bIns="0" anchor="t">
            <a:spAutoFit/>
          </a:bodyPr>
          <a:lstStyle/>
          <a:p>
            <a:pPr algn="ctr">
              <a:spcAft>
                <a:spcPts val="0"/>
              </a:spcAft>
            </a:pPr>
            <a:r>
              <a:rPr sz="2000" b="1">
                <a:solidFill>
                  <a:srgbClr val="73777F"/>
                </a:solidFill>
                <a:latin typeface="Helvetica Neue"/>
              </a:rPr>
              <a:t>→</a:t>
            </a:r>
          </a:p>
        </p:txBody>
      </p:sp>
      <p:sp>
        <p:nvSpPr>
          <p:cNvPr id="28" name="TextBox 27"/>
          <p:cNvSpPr txBox="1"/>
          <p:nvPr/>
        </p:nvSpPr>
        <p:spPr>
          <a:xfrm>
            <a:off x="7991856" y="1536192"/>
            <a:ext cx="1554480" cy="201168"/>
          </a:xfrm>
          <a:prstGeom prst="rect">
            <a:avLst/>
          </a:prstGeom>
          <a:noFill/>
        </p:spPr>
        <p:txBody>
          <a:bodyPr wrap="square" lIns="0" rIns="0" tIns="0" bIns="0" anchor="t">
            <a:spAutoFit/>
          </a:bodyPr>
          <a:lstStyle/>
          <a:p>
            <a:pPr algn="l">
              <a:spcAft>
                <a:spcPts val="0"/>
              </a:spcAft>
            </a:pPr>
            <a:r>
              <a:rPr sz="1000" b="1">
                <a:solidFill>
                  <a:srgbClr val="73777F"/>
                </a:solidFill>
                <a:latin typeface="Helvetica Neue"/>
              </a:rPr>
              <a:t>0–100 SCORE</a:t>
            </a:r>
          </a:p>
        </p:txBody>
      </p:sp>
      <p:cxnSp>
        <p:nvCxnSpPr>
          <p:cNvPr id="29" name="Connector 28"/>
          <p:cNvCxnSpPr/>
          <p:nvPr/>
        </p:nvCxnSpPr>
        <p:spPr>
          <a:xfrm>
            <a:off x="8247888" y="1947672"/>
            <a:ext cx="0" cy="1435608"/>
          </a:xfrm>
          <a:prstGeom prst="line">
            <a:avLst/>
          </a:prstGeom>
          <a:ln w="38100">
            <a:solidFill>
              <a:srgbClr val="1FA8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247888" y="3383280"/>
            <a:ext cx="0" cy="1408176"/>
          </a:xfrm>
          <a:prstGeom prst="line">
            <a:avLst/>
          </a:prstGeom>
          <a:ln w="38100">
            <a:solidFill>
              <a:srgbClr val="DADDE2"/>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8147304" y="3282696"/>
            <a:ext cx="201168" cy="201168"/>
          </a:xfrm>
          <a:prstGeom prst="ellipse">
            <a:avLst/>
          </a:prstGeom>
          <a:solidFill>
            <a:srgbClr val="FF705B"/>
          </a:solidFill>
          <a:ln w="10160">
            <a:solidFill>
              <a:srgbClr val="FF7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03920" y="1901952"/>
            <a:ext cx="713232" cy="219456"/>
          </a:xfrm>
          <a:prstGeom prst="rect">
            <a:avLst/>
          </a:prstGeom>
          <a:noFill/>
        </p:spPr>
        <p:txBody>
          <a:bodyPr wrap="square" lIns="0" rIns="0" tIns="0" bIns="0" anchor="t">
            <a:spAutoFit/>
          </a:bodyPr>
          <a:lstStyle/>
          <a:p>
            <a:pPr algn="r">
              <a:spcAft>
                <a:spcPts val="0"/>
              </a:spcAft>
            </a:pPr>
            <a:r>
              <a:rPr sz="1050" b="1">
                <a:solidFill>
                  <a:srgbClr val="1FA873"/>
                </a:solidFill>
                <a:latin typeface="Helvetica Neue"/>
              </a:rPr>
              <a:t>90–100</a:t>
            </a:r>
          </a:p>
        </p:txBody>
      </p:sp>
      <p:sp>
        <p:nvSpPr>
          <p:cNvPr id="33" name="TextBox 32"/>
          <p:cNvSpPr txBox="1"/>
          <p:nvPr/>
        </p:nvSpPr>
        <p:spPr>
          <a:xfrm>
            <a:off x="9372600" y="1901952"/>
            <a:ext cx="1572768" cy="219456"/>
          </a:xfrm>
          <a:prstGeom prst="rect">
            <a:avLst/>
          </a:prstGeom>
          <a:noFill/>
        </p:spPr>
        <p:txBody>
          <a:bodyPr wrap="square" lIns="0" rIns="0" tIns="0" bIns="0" anchor="t">
            <a:spAutoFit/>
          </a:bodyPr>
          <a:lstStyle/>
          <a:p>
            <a:pPr algn="l">
              <a:spcAft>
                <a:spcPts val="0"/>
              </a:spcAft>
            </a:pPr>
            <a:r>
              <a:rPr sz="1050" b="1">
                <a:solidFill>
                  <a:srgbClr val="73777F"/>
                </a:solidFill>
                <a:latin typeface="Helvetica Neue"/>
              </a:rPr>
              <a:t>outstanding</a:t>
            </a:r>
          </a:p>
        </p:txBody>
      </p:sp>
      <p:sp>
        <p:nvSpPr>
          <p:cNvPr id="34" name="TextBox 33"/>
          <p:cNvSpPr txBox="1"/>
          <p:nvPr/>
        </p:nvSpPr>
        <p:spPr>
          <a:xfrm>
            <a:off x="8503920" y="2432304"/>
            <a:ext cx="713232" cy="219456"/>
          </a:xfrm>
          <a:prstGeom prst="rect">
            <a:avLst/>
          </a:prstGeom>
          <a:noFill/>
        </p:spPr>
        <p:txBody>
          <a:bodyPr wrap="square" lIns="0" rIns="0" tIns="0" bIns="0" anchor="t">
            <a:spAutoFit/>
          </a:bodyPr>
          <a:lstStyle/>
          <a:p>
            <a:pPr algn="r">
              <a:spcAft>
                <a:spcPts val="0"/>
              </a:spcAft>
            </a:pPr>
            <a:r>
              <a:rPr sz="1050" b="1">
                <a:solidFill>
                  <a:srgbClr val="1FA873"/>
                </a:solidFill>
                <a:latin typeface="Helvetica Neue"/>
              </a:rPr>
              <a:t>70–89</a:t>
            </a:r>
          </a:p>
        </p:txBody>
      </p:sp>
      <p:sp>
        <p:nvSpPr>
          <p:cNvPr id="35" name="TextBox 34"/>
          <p:cNvSpPr txBox="1"/>
          <p:nvPr/>
        </p:nvSpPr>
        <p:spPr>
          <a:xfrm>
            <a:off x="9372600" y="2432304"/>
            <a:ext cx="1572768" cy="219456"/>
          </a:xfrm>
          <a:prstGeom prst="rect">
            <a:avLst/>
          </a:prstGeom>
          <a:noFill/>
        </p:spPr>
        <p:txBody>
          <a:bodyPr wrap="square" lIns="0" rIns="0" tIns="0" bIns="0" anchor="t">
            <a:spAutoFit/>
          </a:bodyPr>
          <a:lstStyle/>
          <a:p>
            <a:pPr algn="l">
              <a:spcAft>
                <a:spcPts val="0"/>
              </a:spcAft>
            </a:pPr>
            <a:r>
              <a:rPr sz="1050" b="1">
                <a:solidFill>
                  <a:srgbClr val="73777F"/>
                </a:solidFill>
                <a:latin typeface="Helvetica Neue"/>
              </a:rPr>
              <a:t>strong</a:t>
            </a:r>
          </a:p>
        </p:txBody>
      </p:sp>
      <p:sp>
        <p:nvSpPr>
          <p:cNvPr id="36" name="TextBox 35"/>
          <p:cNvSpPr txBox="1"/>
          <p:nvPr/>
        </p:nvSpPr>
        <p:spPr>
          <a:xfrm>
            <a:off x="8503920" y="2953512"/>
            <a:ext cx="713232" cy="219456"/>
          </a:xfrm>
          <a:prstGeom prst="rect">
            <a:avLst/>
          </a:prstGeom>
          <a:noFill/>
        </p:spPr>
        <p:txBody>
          <a:bodyPr wrap="square" lIns="0" rIns="0" tIns="0" bIns="0" anchor="t">
            <a:spAutoFit/>
          </a:bodyPr>
          <a:lstStyle/>
          <a:p>
            <a:pPr algn="r">
              <a:spcAft>
                <a:spcPts val="0"/>
              </a:spcAft>
            </a:pPr>
            <a:r>
              <a:rPr sz="1050" b="1">
                <a:solidFill>
                  <a:srgbClr val="73777F"/>
                </a:solidFill>
                <a:latin typeface="Helvetica Neue"/>
              </a:rPr>
              <a:t>40–69</a:t>
            </a:r>
          </a:p>
        </p:txBody>
      </p:sp>
      <p:sp>
        <p:nvSpPr>
          <p:cNvPr id="37" name="TextBox 36"/>
          <p:cNvSpPr txBox="1"/>
          <p:nvPr/>
        </p:nvSpPr>
        <p:spPr>
          <a:xfrm>
            <a:off x="9372600" y="2953512"/>
            <a:ext cx="1572768" cy="219456"/>
          </a:xfrm>
          <a:prstGeom prst="rect">
            <a:avLst/>
          </a:prstGeom>
          <a:noFill/>
        </p:spPr>
        <p:txBody>
          <a:bodyPr wrap="square" lIns="0" rIns="0" tIns="0" bIns="0" anchor="t">
            <a:spAutoFit/>
          </a:bodyPr>
          <a:lstStyle/>
          <a:p>
            <a:pPr algn="l">
              <a:spcAft>
                <a:spcPts val="0"/>
              </a:spcAft>
            </a:pPr>
            <a:r>
              <a:rPr sz="1050" b="1">
                <a:solidFill>
                  <a:srgbClr val="73777F"/>
                </a:solidFill>
                <a:latin typeface="Helvetica Neue"/>
              </a:rPr>
              <a:t>mixed</a:t>
            </a:r>
          </a:p>
        </p:txBody>
      </p:sp>
      <p:sp>
        <p:nvSpPr>
          <p:cNvPr id="38" name="TextBox 37"/>
          <p:cNvSpPr txBox="1"/>
          <p:nvPr/>
        </p:nvSpPr>
        <p:spPr>
          <a:xfrm>
            <a:off x="8503920" y="3968496"/>
            <a:ext cx="713232" cy="219456"/>
          </a:xfrm>
          <a:prstGeom prst="rect">
            <a:avLst/>
          </a:prstGeom>
          <a:noFill/>
        </p:spPr>
        <p:txBody>
          <a:bodyPr wrap="square" lIns="0" rIns="0" tIns="0" bIns="0" anchor="t">
            <a:spAutoFit/>
          </a:bodyPr>
          <a:lstStyle/>
          <a:p>
            <a:pPr algn="r">
              <a:spcAft>
                <a:spcPts val="0"/>
              </a:spcAft>
            </a:pPr>
            <a:r>
              <a:rPr sz="1050" b="1">
                <a:solidFill>
                  <a:srgbClr val="FF705B"/>
                </a:solidFill>
                <a:latin typeface="Helvetica Neue"/>
              </a:rPr>
              <a:t>10–39</a:t>
            </a:r>
          </a:p>
        </p:txBody>
      </p:sp>
      <p:sp>
        <p:nvSpPr>
          <p:cNvPr id="39" name="TextBox 38"/>
          <p:cNvSpPr txBox="1"/>
          <p:nvPr/>
        </p:nvSpPr>
        <p:spPr>
          <a:xfrm>
            <a:off x="9372600" y="3968496"/>
            <a:ext cx="1572768" cy="219456"/>
          </a:xfrm>
          <a:prstGeom prst="rect">
            <a:avLst/>
          </a:prstGeom>
          <a:noFill/>
        </p:spPr>
        <p:txBody>
          <a:bodyPr wrap="square" lIns="0" rIns="0" tIns="0" bIns="0" anchor="t">
            <a:spAutoFit/>
          </a:bodyPr>
          <a:lstStyle/>
          <a:p>
            <a:pPr algn="l">
              <a:spcAft>
                <a:spcPts val="0"/>
              </a:spcAft>
            </a:pPr>
            <a:r>
              <a:rPr sz="1050" b="1">
                <a:solidFill>
                  <a:srgbClr val="73777F"/>
                </a:solidFill>
                <a:latin typeface="Helvetica Neue"/>
              </a:rPr>
              <a:t>weak</a:t>
            </a:r>
          </a:p>
        </p:txBody>
      </p:sp>
      <p:sp>
        <p:nvSpPr>
          <p:cNvPr id="40" name="TextBox 39"/>
          <p:cNvSpPr txBox="1"/>
          <p:nvPr/>
        </p:nvSpPr>
        <p:spPr>
          <a:xfrm>
            <a:off x="8503920" y="4498848"/>
            <a:ext cx="713232" cy="219456"/>
          </a:xfrm>
          <a:prstGeom prst="rect">
            <a:avLst/>
          </a:prstGeom>
          <a:noFill/>
        </p:spPr>
        <p:txBody>
          <a:bodyPr wrap="square" lIns="0" rIns="0" tIns="0" bIns="0" anchor="t">
            <a:spAutoFit/>
          </a:bodyPr>
          <a:lstStyle/>
          <a:p>
            <a:pPr algn="r">
              <a:spcAft>
                <a:spcPts val="0"/>
              </a:spcAft>
            </a:pPr>
            <a:r>
              <a:rPr sz="1050" b="1">
                <a:solidFill>
                  <a:srgbClr val="FF705B"/>
                </a:solidFill>
                <a:latin typeface="Helvetica Neue"/>
              </a:rPr>
              <a:t>0–9</a:t>
            </a:r>
          </a:p>
        </p:txBody>
      </p:sp>
      <p:sp>
        <p:nvSpPr>
          <p:cNvPr id="41" name="TextBox 40"/>
          <p:cNvSpPr txBox="1"/>
          <p:nvPr/>
        </p:nvSpPr>
        <p:spPr>
          <a:xfrm>
            <a:off x="9372600" y="4498848"/>
            <a:ext cx="1572768" cy="219456"/>
          </a:xfrm>
          <a:prstGeom prst="rect">
            <a:avLst/>
          </a:prstGeom>
          <a:noFill/>
        </p:spPr>
        <p:txBody>
          <a:bodyPr wrap="square" lIns="0" rIns="0" tIns="0" bIns="0" anchor="t">
            <a:spAutoFit/>
          </a:bodyPr>
          <a:lstStyle/>
          <a:p>
            <a:pPr algn="l">
              <a:spcAft>
                <a:spcPts val="0"/>
              </a:spcAft>
            </a:pPr>
            <a:r>
              <a:rPr sz="1050" b="1">
                <a:solidFill>
                  <a:srgbClr val="73777F"/>
                </a:solidFill>
                <a:latin typeface="Helvetica Neue"/>
              </a:rPr>
              <a:t>minimal</a:t>
            </a:r>
          </a:p>
        </p:txBody>
      </p:sp>
      <p:cxnSp>
        <p:nvCxnSpPr>
          <p:cNvPr id="42" name="Connector 41"/>
          <p:cNvCxnSpPr/>
          <p:nvPr/>
        </p:nvCxnSpPr>
        <p:spPr>
          <a:xfrm>
            <a:off x="8119872" y="3383280"/>
            <a:ext cx="3035808" cy="0"/>
          </a:xfrm>
          <a:prstGeom prst="line">
            <a:avLst/>
          </a:prstGeom>
          <a:ln w="15240">
            <a:solidFill>
              <a:srgbClr val="FF705B"/>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799831" y="3264408"/>
            <a:ext cx="256032" cy="219456"/>
          </a:xfrm>
          <a:prstGeom prst="rect">
            <a:avLst/>
          </a:prstGeom>
          <a:noFill/>
        </p:spPr>
        <p:txBody>
          <a:bodyPr wrap="square" lIns="0" rIns="0" tIns="0" bIns="0" anchor="t">
            <a:spAutoFit/>
          </a:bodyPr>
          <a:lstStyle/>
          <a:p>
            <a:pPr algn="r">
              <a:spcAft>
                <a:spcPts val="0"/>
              </a:spcAft>
            </a:pPr>
            <a:r>
              <a:rPr sz="1050" b="1">
                <a:solidFill>
                  <a:srgbClr val="FF705B"/>
                </a:solidFill>
                <a:latin typeface="Helvetica Neue"/>
              </a:rPr>
              <a:t>50</a:t>
            </a:r>
          </a:p>
        </p:txBody>
      </p:sp>
      <p:sp>
        <p:nvSpPr>
          <p:cNvPr id="44" name="TextBox 43"/>
          <p:cNvSpPr txBox="1"/>
          <p:nvPr/>
        </p:nvSpPr>
        <p:spPr>
          <a:xfrm>
            <a:off x="9162288" y="3493008"/>
            <a:ext cx="1719072" cy="228600"/>
          </a:xfrm>
          <a:prstGeom prst="rect">
            <a:avLst/>
          </a:prstGeom>
          <a:noFill/>
        </p:spPr>
        <p:txBody>
          <a:bodyPr wrap="square" lIns="0" rIns="0" tIns="0" bIns="0" anchor="t">
            <a:spAutoFit/>
          </a:bodyPr>
          <a:lstStyle/>
          <a:p>
            <a:pPr algn="ctr">
              <a:spcAft>
                <a:spcPts val="0"/>
              </a:spcAft>
            </a:pPr>
            <a:r>
              <a:rPr sz="1350" b="1">
                <a:solidFill>
                  <a:srgbClr val="1FA873"/>
                </a:solidFill>
                <a:latin typeface="Helvetica Neue"/>
              </a:rPr>
              <a:t>≥50  VALIDATED</a:t>
            </a:r>
          </a:p>
        </p:txBody>
      </p:sp>
      <p:cxnSp>
        <p:nvCxnSpPr>
          <p:cNvPr id="45" name="Connector 44"/>
          <p:cNvCxnSpPr/>
          <p:nvPr/>
        </p:nvCxnSpPr>
        <p:spPr>
          <a:xfrm>
            <a:off x="749808" y="5266944"/>
            <a:ext cx="10680192" cy="0"/>
          </a:xfrm>
          <a:prstGeom prst="line">
            <a:avLst/>
          </a:prstGeom>
          <a:ln w="12700">
            <a:solidFill>
              <a:srgbClr val="DADDE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212848" y="5577840"/>
            <a:ext cx="7818120" cy="365760"/>
          </a:xfrm>
          <a:prstGeom prst="rect">
            <a:avLst/>
          </a:prstGeom>
          <a:noFill/>
        </p:spPr>
        <p:txBody>
          <a:bodyPr wrap="square" lIns="0" rIns="0" tIns="0" bIns="0">
            <a:spAutoFit/>
          </a:bodyPr>
          <a:lstStyle/>
          <a:p>
            <a:pPr algn="ctr"/>
            <a:r>
              <a:rPr sz="1550" b="1">
                <a:solidFill>
                  <a:srgbClr val="FF705B"/>
                </a:solidFill>
                <a:latin typeface="Helvetica Neue"/>
              </a:rPr>
              <a:t>• </a:t>
            </a:r>
            <a:r>
              <a:rPr sz="1550" b="1">
                <a:solidFill>
                  <a:srgbClr val="111318"/>
                </a:solidFill>
                <a:latin typeface="Helvetica Neue"/>
              </a:rPr>
              <a:t>No URL opening · No original post · Visible note quality only</a:t>
            </a:r>
          </a:p>
        </p:txBody>
      </p:sp>
      <p:sp>
        <p:nvSpPr>
          <p:cNvPr id="47" name="TextBox 46"/>
          <p:cNvSpPr txBox="1"/>
          <p:nvPr/>
        </p:nvSpPr>
        <p:spPr>
          <a:xfrm>
            <a:off x="621792" y="6437376"/>
            <a:ext cx="10881360" cy="164592"/>
          </a:xfrm>
          <a:prstGeom prst="rect">
            <a:avLst/>
          </a:prstGeom>
          <a:noFill/>
        </p:spPr>
        <p:txBody>
          <a:bodyPr wrap="square" lIns="0" rIns="0" tIns="0" bIns="0" anchor="t">
            <a:spAutoFit/>
          </a:bodyPr>
          <a:lstStyle/>
          <a:p>
            <a:pPr algn="l">
              <a:spcAft>
                <a:spcPts val="0"/>
              </a:spcAft>
            </a:pPr>
            <a:r>
              <a:rPr sz="819" b="0">
                <a:solidFill>
                  <a:srgbClr val="73777F"/>
                </a:solidFill>
                <a:latin typeface="Helvetica Neue"/>
              </a:rPr>
              <a:t>• Gabriel Stage-2 prompt · historical threshold ≥50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3504" y="420624"/>
            <a:ext cx="4389120" cy="228600"/>
          </a:xfrm>
          <a:prstGeom prst="rect">
            <a:avLst/>
          </a:prstGeom>
          <a:noFill/>
        </p:spPr>
        <p:txBody>
          <a:bodyPr wrap="square" lIns="0" rIns="0" tIns="0" bIns="0" anchor="t">
            <a:spAutoFit/>
          </a:bodyPr>
          <a:lstStyle/>
          <a:p>
            <a:pPr algn="l">
              <a:spcAft>
                <a:spcPts val="0"/>
              </a:spcAft>
            </a:pPr>
            <a:r>
              <a:rPr sz="1000" b="1">
                <a:solidFill>
                  <a:srgbClr val="73777F"/>
                </a:solidFill>
                <a:latin typeface="Helvetica Neue"/>
              </a:rPr>
              <a:t>CHERRY-PICKED CASE · BIDEN CLEMENCY</a:t>
            </a:r>
          </a:p>
        </p:txBody>
      </p:sp>
      <p:sp>
        <p:nvSpPr>
          <p:cNvPr id="3" name="TextBox 2"/>
          <p:cNvSpPr txBox="1"/>
          <p:nvPr/>
        </p:nvSpPr>
        <p:spPr>
          <a:xfrm>
            <a:off x="603504" y="786384"/>
            <a:ext cx="10515600" cy="566928"/>
          </a:xfrm>
          <a:prstGeom prst="rect">
            <a:avLst/>
          </a:prstGeom>
          <a:noFill/>
        </p:spPr>
        <p:txBody>
          <a:bodyPr wrap="square" lIns="0" rIns="0" tIns="0" bIns="0" anchor="t">
            <a:spAutoFit/>
          </a:bodyPr>
          <a:lstStyle/>
          <a:p>
            <a:pPr algn="l">
              <a:spcAft>
                <a:spcPts val="0"/>
              </a:spcAft>
            </a:pPr>
            <a:r>
              <a:rPr sz="3000" b="1">
                <a:solidFill>
                  <a:srgbClr val="111318"/>
                </a:solidFill>
                <a:latin typeface="Helvetica Neue"/>
              </a:rPr>
              <a:t>The winner changes with the rule</a:t>
            </a:r>
          </a:p>
        </p:txBody>
      </p:sp>
      <p:sp>
        <p:nvSpPr>
          <p:cNvPr id="4" name="TextBox 3"/>
          <p:cNvSpPr txBox="1"/>
          <p:nvPr/>
        </p:nvSpPr>
        <p:spPr>
          <a:xfrm>
            <a:off x="11082528" y="457200"/>
            <a:ext cx="438912" cy="182880"/>
          </a:xfrm>
          <a:prstGeom prst="rect">
            <a:avLst/>
          </a:prstGeom>
          <a:noFill/>
        </p:spPr>
        <p:txBody>
          <a:bodyPr wrap="square" lIns="0" rIns="0" tIns="0" bIns="0" anchor="t">
            <a:spAutoFit/>
          </a:bodyPr>
          <a:lstStyle/>
          <a:p>
            <a:pPr algn="r">
              <a:spcAft>
                <a:spcPts val="0"/>
              </a:spcAft>
            </a:pPr>
            <a:r>
              <a:rPr sz="900" b="1">
                <a:solidFill>
                  <a:srgbClr val="73777F"/>
                </a:solidFill>
                <a:latin typeface="Helvetica Neue"/>
              </a:rPr>
              <a:t>13</a:t>
            </a:r>
          </a:p>
        </p:txBody>
      </p:sp>
      <p:cxnSp>
        <p:nvCxnSpPr>
          <p:cNvPr id="5" name="Connector 4"/>
          <p:cNvCxnSpPr/>
          <p:nvPr/>
        </p:nvCxnSpPr>
        <p:spPr>
          <a:xfrm>
            <a:off x="6099048" y="1554480"/>
            <a:ext cx="0" cy="3694176"/>
          </a:xfrm>
          <a:prstGeom prst="line">
            <a:avLst/>
          </a:prstGeom>
          <a:ln w="12700">
            <a:solidFill>
              <a:srgbClr val="DADD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04672" y="1517904"/>
            <a:ext cx="2514600" cy="210312"/>
          </a:xfrm>
          <a:prstGeom prst="rect">
            <a:avLst/>
          </a:prstGeom>
          <a:noFill/>
        </p:spPr>
        <p:txBody>
          <a:bodyPr wrap="square" lIns="0" rIns="0" tIns="0" bIns="0" anchor="t">
            <a:spAutoFit/>
          </a:bodyPr>
          <a:lstStyle/>
          <a:p>
            <a:pPr algn="l">
              <a:spcAft>
                <a:spcPts val="0"/>
              </a:spcAft>
            </a:pPr>
            <a:r>
              <a:rPr sz="1050" b="1">
                <a:solidFill>
                  <a:srgbClr val="FF705B"/>
                </a:solidFill>
                <a:latin typeface="Helvetica Neue"/>
              </a:rPr>
              <a:t>SIMPLE MAJORITY PICK</a:t>
            </a:r>
          </a:p>
        </p:txBody>
      </p:sp>
      <p:sp>
        <p:nvSpPr>
          <p:cNvPr id="7" name="TextBox 6"/>
          <p:cNvSpPr txBox="1"/>
          <p:nvPr/>
        </p:nvSpPr>
        <p:spPr>
          <a:xfrm>
            <a:off x="3246120" y="1527048"/>
            <a:ext cx="2157984" cy="182880"/>
          </a:xfrm>
          <a:prstGeom prst="rect">
            <a:avLst/>
          </a:prstGeom>
          <a:noFill/>
        </p:spPr>
        <p:txBody>
          <a:bodyPr wrap="square" lIns="0" rIns="0" tIns="0" bIns="0" anchor="t">
            <a:spAutoFit/>
          </a:bodyPr>
          <a:lstStyle/>
          <a:p>
            <a:pPr algn="r">
              <a:spcAft>
                <a:spcPts val="0"/>
              </a:spcAft>
            </a:pPr>
            <a:r>
              <a:rPr sz="819" b="1">
                <a:solidFill>
                  <a:srgbClr val="73777F"/>
                </a:solidFill>
                <a:latin typeface="Helvetica Neue"/>
              </a:rPr>
              <a:t>NOTE 1971737848320758040</a:t>
            </a:r>
          </a:p>
        </p:txBody>
      </p:sp>
      <p:sp>
        <p:nvSpPr>
          <p:cNvPr id="8" name="TextBox 7"/>
          <p:cNvSpPr txBox="1"/>
          <p:nvPr/>
        </p:nvSpPr>
        <p:spPr>
          <a:xfrm>
            <a:off x="822960" y="1874519"/>
            <a:ext cx="1508760" cy="457200"/>
          </a:xfrm>
          <a:prstGeom prst="rect">
            <a:avLst/>
          </a:prstGeom>
          <a:noFill/>
        </p:spPr>
        <p:txBody>
          <a:bodyPr wrap="square" lIns="0" rIns="0" tIns="0" bIns="0" anchor="t">
            <a:spAutoFit/>
          </a:bodyPr>
          <a:lstStyle/>
          <a:p>
            <a:pPr algn="l">
              <a:spcAft>
                <a:spcPts val="0"/>
              </a:spcAft>
            </a:pPr>
            <a:r>
              <a:rPr sz="2800" b="1">
                <a:solidFill>
                  <a:srgbClr val="111318"/>
                </a:solidFill>
                <a:latin typeface="Helvetica Neue"/>
              </a:rPr>
              <a:t>77.6%</a:t>
            </a:r>
          </a:p>
        </p:txBody>
      </p:sp>
      <p:sp>
        <p:nvSpPr>
          <p:cNvPr id="9" name="TextBox 8"/>
          <p:cNvSpPr txBox="1"/>
          <p:nvPr/>
        </p:nvSpPr>
        <p:spPr>
          <a:xfrm>
            <a:off x="2194560" y="2048256"/>
            <a:ext cx="1508760" cy="210312"/>
          </a:xfrm>
          <a:prstGeom prst="rect">
            <a:avLst/>
          </a:prstGeom>
          <a:noFill/>
        </p:spPr>
        <p:txBody>
          <a:bodyPr wrap="square" lIns="0" rIns="0" tIns="0" bIns="0" anchor="t">
            <a:spAutoFit/>
          </a:bodyPr>
          <a:lstStyle/>
          <a:p>
            <a:pPr algn="l">
              <a:spcAft>
                <a:spcPts val="0"/>
              </a:spcAft>
            </a:pPr>
            <a:r>
              <a:rPr sz="1150" b="1">
                <a:solidFill>
                  <a:srgbClr val="73777F"/>
                </a:solidFill>
                <a:latin typeface="Helvetica Neue"/>
              </a:rPr>
              <a:t>overall approval</a:t>
            </a:r>
          </a:p>
        </p:txBody>
      </p:sp>
      <p:sp>
        <p:nvSpPr>
          <p:cNvPr id="10" name="TextBox 9"/>
          <p:cNvSpPr txBox="1"/>
          <p:nvPr/>
        </p:nvSpPr>
        <p:spPr>
          <a:xfrm>
            <a:off x="841248" y="2560320"/>
            <a:ext cx="1389888" cy="256032"/>
          </a:xfrm>
          <a:prstGeom prst="rect">
            <a:avLst/>
          </a:prstGeom>
          <a:noFill/>
        </p:spPr>
        <p:txBody>
          <a:bodyPr wrap="square" lIns="0" rIns="0" tIns="0" bIns="0" anchor="t">
            <a:spAutoFit/>
          </a:bodyPr>
          <a:lstStyle/>
          <a:p>
            <a:pPr algn="l">
              <a:spcAft>
                <a:spcPts val="0"/>
              </a:spcAft>
            </a:pPr>
            <a:r>
              <a:rPr sz="1300" b="1">
                <a:solidFill>
                  <a:srgbClr val="3977F6"/>
                </a:solidFill>
                <a:latin typeface="Helvetica Neue"/>
              </a:rPr>
              <a:t>C0  93.8%</a:t>
            </a:r>
          </a:p>
        </p:txBody>
      </p:sp>
      <p:sp>
        <p:nvSpPr>
          <p:cNvPr id="11" name="TextBox 10"/>
          <p:cNvSpPr txBox="1"/>
          <p:nvPr/>
        </p:nvSpPr>
        <p:spPr>
          <a:xfrm>
            <a:off x="2359152" y="2560320"/>
            <a:ext cx="1325880" cy="256032"/>
          </a:xfrm>
          <a:prstGeom prst="rect">
            <a:avLst/>
          </a:prstGeom>
          <a:noFill/>
        </p:spPr>
        <p:txBody>
          <a:bodyPr wrap="square" lIns="0" rIns="0" tIns="0" bIns="0" anchor="t">
            <a:spAutoFit/>
          </a:bodyPr>
          <a:lstStyle/>
          <a:p>
            <a:pPr algn="l">
              <a:spcAft>
                <a:spcPts val="0"/>
              </a:spcAft>
            </a:pPr>
            <a:r>
              <a:rPr sz="1300" b="1">
                <a:solidFill>
                  <a:srgbClr val="FF705B"/>
                </a:solidFill>
                <a:latin typeface="Helvetica Neue"/>
              </a:rPr>
              <a:t>C1  4.0%</a:t>
            </a:r>
          </a:p>
        </p:txBody>
      </p:sp>
      <p:sp>
        <p:nvSpPr>
          <p:cNvPr id="12" name="TextBox 11"/>
          <p:cNvSpPr txBox="1"/>
          <p:nvPr/>
        </p:nvSpPr>
        <p:spPr>
          <a:xfrm>
            <a:off x="4133087" y="2560320"/>
            <a:ext cx="1115568" cy="256032"/>
          </a:xfrm>
          <a:prstGeom prst="rect">
            <a:avLst/>
          </a:prstGeom>
          <a:noFill/>
        </p:spPr>
        <p:txBody>
          <a:bodyPr wrap="square" lIns="0" rIns="0" tIns="0" bIns="0" anchor="t">
            <a:spAutoFit/>
          </a:bodyPr>
          <a:lstStyle/>
          <a:p>
            <a:pPr algn="r">
              <a:spcAft>
                <a:spcPts val="0"/>
              </a:spcAft>
            </a:pPr>
            <a:r>
              <a:rPr sz="1050" b="1">
                <a:solidFill>
                  <a:srgbClr val="73777F"/>
                </a:solidFill>
                <a:latin typeface="Helvetica Neue"/>
              </a:rPr>
              <a:t>277 ratings</a:t>
            </a:r>
          </a:p>
        </p:txBody>
      </p:sp>
      <p:sp>
        <p:nvSpPr>
          <p:cNvPr id="13" name="TextBox 12"/>
          <p:cNvSpPr txBox="1"/>
          <p:nvPr/>
        </p:nvSpPr>
        <p:spPr>
          <a:xfrm>
            <a:off x="841248" y="2980944"/>
            <a:ext cx="2542032" cy="310896"/>
          </a:xfrm>
          <a:prstGeom prst="rect">
            <a:avLst/>
          </a:prstGeom>
          <a:noFill/>
        </p:spPr>
        <p:txBody>
          <a:bodyPr wrap="square" lIns="0" rIns="0" tIns="0" bIns="0" anchor="t">
            <a:spAutoFit/>
          </a:bodyPr>
          <a:lstStyle/>
          <a:p>
            <a:pPr algn="l">
              <a:spcAft>
                <a:spcPts val="0"/>
              </a:spcAft>
            </a:pPr>
            <a:r>
              <a:rPr sz="1850" b="1">
                <a:solidFill>
                  <a:srgbClr val="FF705B"/>
                </a:solidFill>
                <a:latin typeface="Helvetica Neue"/>
              </a:rPr>
              <a:t>√(.938 × .040) = 19.4%</a:t>
            </a:r>
          </a:p>
        </p:txBody>
      </p:sp>
      <p:sp>
        <p:nvSpPr>
          <p:cNvPr id="14" name="TextBox 13"/>
          <p:cNvSpPr txBox="1"/>
          <p:nvPr/>
        </p:nvSpPr>
        <p:spPr>
          <a:xfrm>
            <a:off x="3822191" y="3008376"/>
            <a:ext cx="1417320" cy="256032"/>
          </a:xfrm>
          <a:prstGeom prst="rect">
            <a:avLst/>
          </a:prstGeom>
          <a:noFill/>
        </p:spPr>
        <p:txBody>
          <a:bodyPr wrap="square" lIns="0" rIns="0" tIns="0" bIns="0" anchor="t">
            <a:spAutoFit/>
          </a:bodyPr>
          <a:lstStyle/>
          <a:p>
            <a:pPr algn="r">
              <a:spcAft>
                <a:spcPts val="0"/>
              </a:spcAft>
            </a:pPr>
            <a:r>
              <a:rPr sz="1350" b="1">
                <a:solidFill>
                  <a:srgbClr val="FF705B"/>
                </a:solidFill>
                <a:latin typeface="Helvetica Neue"/>
              </a:rPr>
              <a:t>BRIDGE FAIL</a:t>
            </a:r>
          </a:p>
        </p:txBody>
      </p:sp>
      <p:cxnSp>
        <p:nvCxnSpPr>
          <p:cNvPr id="15" name="Connector 14"/>
          <p:cNvCxnSpPr/>
          <p:nvPr/>
        </p:nvCxnSpPr>
        <p:spPr>
          <a:xfrm>
            <a:off x="822960" y="3465576"/>
            <a:ext cx="4462272" cy="0"/>
          </a:xfrm>
          <a:prstGeom prst="line">
            <a:avLst/>
          </a:prstGeom>
          <a:ln w="11430">
            <a:solidFill>
              <a:srgbClr val="DADD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41248" y="3703320"/>
            <a:ext cx="4553712" cy="1005840"/>
          </a:xfrm>
          <a:prstGeom prst="rect">
            <a:avLst/>
          </a:prstGeom>
          <a:noFill/>
        </p:spPr>
        <p:txBody>
          <a:bodyPr wrap="square" lIns="0" rIns="0" tIns="0" bIns="0" anchor="t">
            <a:spAutoFit/>
          </a:bodyPr>
          <a:lstStyle/>
          <a:p>
            <a:pPr algn="l">
              <a:spcAft>
                <a:spcPts val="0"/>
              </a:spcAft>
            </a:pPr>
            <a:r>
              <a:rPr sz="1170" b="0">
                <a:solidFill>
                  <a:srgbClr val="111318"/>
                </a:solidFill>
                <a:latin typeface="Helvetica Neue"/>
              </a:rPr>
              <a:t>NNN — While the individual pardons are 80 in total, this does not include Categorical pardons. Factoring in Categorical pardons issued by the Biden administration, the total number of pardons are the number reported in OP’s image.</a:t>
            </a:r>
          </a:p>
        </p:txBody>
      </p:sp>
      <p:sp>
        <p:nvSpPr>
          <p:cNvPr id="17" name="TextBox 16"/>
          <p:cNvSpPr txBox="1"/>
          <p:nvPr/>
        </p:nvSpPr>
        <p:spPr>
          <a:xfrm>
            <a:off x="841248" y="4855464"/>
            <a:ext cx="3474720" cy="182880"/>
          </a:xfrm>
          <a:prstGeom prst="rect">
            <a:avLst/>
          </a:prstGeom>
          <a:noFill/>
        </p:spPr>
        <p:txBody>
          <a:bodyPr wrap="square" lIns="0" rIns="0" tIns="0" bIns="0" anchor="t">
            <a:spAutoFit/>
          </a:bodyPr>
          <a:lstStyle/>
          <a:p>
            <a:pPr algn="l">
              <a:spcAft>
                <a:spcPts val="0"/>
              </a:spcAft>
            </a:pPr>
            <a:r>
              <a:rPr sz="869" b="1">
                <a:solidFill>
                  <a:srgbClr val="3977F6"/>
                </a:solidFill>
                <a:latin typeface="Helvetica Neue"/>
              </a:rPr>
              <a:t>SOURCES  Biden White House · DOJ</a:t>
            </a:r>
          </a:p>
        </p:txBody>
      </p:sp>
      <p:sp>
        <p:nvSpPr>
          <p:cNvPr id="18" name="TextBox 17"/>
          <p:cNvSpPr txBox="1"/>
          <p:nvPr/>
        </p:nvSpPr>
        <p:spPr>
          <a:xfrm>
            <a:off x="6419088" y="1517904"/>
            <a:ext cx="2907792" cy="210312"/>
          </a:xfrm>
          <a:prstGeom prst="rect">
            <a:avLst/>
          </a:prstGeom>
          <a:noFill/>
        </p:spPr>
        <p:txBody>
          <a:bodyPr wrap="square" lIns="0" rIns="0" tIns="0" bIns="0" anchor="t">
            <a:spAutoFit/>
          </a:bodyPr>
          <a:lstStyle/>
          <a:p>
            <a:pPr algn="l">
              <a:spcAft>
                <a:spcPts val="0"/>
              </a:spcAft>
            </a:pPr>
            <a:r>
              <a:rPr sz="1050" b="1">
                <a:solidFill>
                  <a:srgbClr val="1FA873"/>
                </a:solidFill>
                <a:latin typeface="Helvetica Neue"/>
              </a:rPr>
              <a:t>CCA / REPRESENTATIVE PICK</a:t>
            </a:r>
          </a:p>
        </p:txBody>
      </p:sp>
      <p:sp>
        <p:nvSpPr>
          <p:cNvPr id="19" name="TextBox 18"/>
          <p:cNvSpPr txBox="1"/>
          <p:nvPr/>
        </p:nvSpPr>
        <p:spPr>
          <a:xfrm>
            <a:off x="9473184" y="1527048"/>
            <a:ext cx="1883664" cy="182880"/>
          </a:xfrm>
          <a:prstGeom prst="rect">
            <a:avLst/>
          </a:prstGeom>
          <a:noFill/>
        </p:spPr>
        <p:txBody>
          <a:bodyPr wrap="square" lIns="0" rIns="0" tIns="0" bIns="0" anchor="t">
            <a:spAutoFit/>
          </a:bodyPr>
          <a:lstStyle/>
          <a:p>
            <a:pPr algn="r">
              <a:spcAft>
                <a:spcPts val="0"/>
              </a:spcAft>
            </a:pPr>
            <a:r>
              <a:rPr sz="819" b="1">
                <a:solidFill>
                  <a:srgbClr val="73777F"/>
                </a:solidFill>
                <a:latin typeface="Helvetica Neue"/>
              </a:rPr>
              <a:t>NOTE 1971775923088244749</a:t>
            </a:r>
          </a:p>
        </p:txBody>
      </p:sp>
      <p:sp>
        <p:nvSpPr>
          <p:cNvPr id="20" name="TextBox 19"/>
          <p:cNvSpPr txBox="1"/>
          <p:nvPr/>
        </p:nvSpPr>
        <p:spPr>
          <a:xfrm>
            <a:off x="6437376" y="1874519"/>
            <a:ext cx="1508760" cy="457200"/>
          </a:xfrm>
          <a:prstGeom prst="rect">
            <a:avLst/>
          </a:prstGeom>
          <a:noFill/>
        </p:spPr>
        <p:txBody>
          <a:bodyPr wrap="square" lIns="0" rIns="0" tIns="0" bIns="0" anchor="t">
            <a:spAutoFit/>
          </a:bodyPr>
          <a:lstStyle/>
          <a:p>
            <a:pPr algn="l">
              <a:spcAft>
                <a:spcPts val="0"/>
              </a:spcAft>
            </a:pPr>
            <a:r>
              <a:rPr sz="2800" b="1">
                <a:solidFill>
                  <a:srgbClr val="111318"/>
                </a:solidFill>
                <a:latin typeface="Helvetica Neue"/>
              </a:rPr>
              <a:t>57.9%</a:t>
            </a:r>
          </a:p>
        </p:txBody>
      </p:sp>
      <p:sp>
        <p:nvSpPr>
          <p:cNvPr id="21" name="TextBox 20"/>
          <p:cNvSpPr txBox="1"/>
          <p:nvPr/>
        </p:nvSpPr>
        <p:spPr>
          <a:xfrm>
            <a:off x="7808975" y="2048256"/>
            <a:ext cx="1508760" cy="210312"/>
          </a:xfrm>
          <a:prstGeom prst="rect">
            <a:avLst/>
          </a:prstGeom>
          <a:noFill/>
        </p:spPr>
        <p:txBody>
          <a:bodyPr wrap="square" lIns="0" rIns="0" tIns="0" bIns="0" anchor="t">
            <a:spAutoFit/>
          </a:bodyPr>
          <a:lstStyle/>
          <a:p>
            <a:pPr algn="l">
              <a:spcAft>
                <a:spcPts val="0"/>
              </a:spcAft>
            </a:pPr>
            <a:r>
              <a:rPr sz="1150" b="1">
                <a:solidFill>
                  <a:srgbClr val="73777F"/>
                </a:solidFill>
                <a:latin typeface="Helvetica Neue"/>
              </a:rPr>
              <a:t>overall approval</a:t>
            </a:r>
          </a:p>
        </p:txBody>
      </p:sp>
      <p:sp>
        <p:nvSpPr>
          <p:cNvPr id="22" name="TextBox 21"/>
          <p:cNvSpPr txBox="1"/>
          <p:nvPr/>
        </p:nvSpPr>
        <p:spPr>
          <a:xfrm>
            <a:off x="9619488" y="2002536"/>
            <a:ext cx="1737360" cy="228600"/>
          </a:xfrm>
          <a:prstGeom prst="rect">
            <a:avLst/>
          </a:prstGeom>
          <a:noFill/>
        </p:spPr>
        <p:txBody>
          <a:bodyPr wrap="square" lIns="0" rIns="0" tIns="0" bIns="0" anchor="t">
            <a:spAutoFit/>
          </a:bodyPr>
          <a:lstStyle/>
          <a:p>
            <a:pPr algn="r">
              <a:spcAft>
                <a:spcPts val="0"/>
              </a:spcAft>
            </a:pPr>
            <a:r>
              <a:rPr sz="1250" b="1">
                <a:solidFill>
                  <a:srgbClr val="1FA873"/>
                </a:solidFill>
                <a:latin typeface="Helvetica Neue"/>
              </a:rPr>
              <a:t>GABRIEL  82/100</a:t>
            </a:r>
          </a:p>
        </p:txBody>
      </p:sp>
      <p:sp>
        <p:nvSpPr>
          <p:cNvPr id="23" name="TextBox 22"/>
          <p:cNvSpPr txBox="1"/>
          <p:nvPr/>
        </p:nvSpPr>
        <p:spPr>
          <a:xfrm>
            <a:off x="6455664" y="2560320"/>
            <a:ext cx="1389888" cy="256032"/>
          </a:xfrm>
          <a:prstGeom prst="rect">
            <a:avLst/>
          </a:prstGeom>
          <a:noFill/>
        </p:spPr>
        <p:txBody>
          <a:bodyPr wrap="square" lIns="0" rIns="0" tIns="0" bIns="0" anchor="t">
            <a:spAutoFit/>
          </a:bodyPr>
          <a:lstStyle/>
          <a:p>
            <a:pPr algn="l">
              <a:spcAft>
                <a:spcPts val="0"/>
              </a:spcAft>
            </a:pPr>
            <a:r>
              <a:rPr sz="1300" b="1">
                <a:solidFill>
                  <a:srgbClr val="3977F6"/>
                </a:solidFill>
                <a:latin typeface="Helvetica Neue"/>
              </a:rPr>
              <a:t>C0  27.7%</a:t>
            </a:r>
          </a:p>
        </p:txBody>
      </p:sp>
      <p:sp>
        <p:nvSpPr>
          <p:cNvPr id="24" name="TextBox 23"/>
          <p:cNvSpPr txBox="1"/>
          <p:nvPr/>
        </p:nvSpPr>
        <p:spPr>
          <a:xfrm>
            <a:off x="7973568" y="2560320"/>
            <a:ext cx="1389888" cy="256032"/>
          </a:xfrm>
          <a:prstGeom prst="rect">
            <a:avLst/>
          </a:prstGeom>
          <a:noFill/>
        </p:spPr>
        <p:txBody>
          <a:bodyPr wrap="square" lIns="0" rIns="0" tIns="0" bIns="0" anchor="t">
            <a:spAutoFit/>
          </a:bodyPr>
          <a:lstStyle/>
          <a:p>
            <a:pPr algn="l">
              <a:spcAft>
                <a:spcPts val="0"/>
              </a:spcAft>
            </a:pPr>
            <a:r>
              <a:rPr sz="1300" b="1">
                <a:solidFill>
                  <a:srgbClr val="FF705B"/>
                </a:solidFill>
                <a:latin typeface="Helvetica Neue"/>
              </a:rPr>
              <a:t>C1  98.5%</a:t>
            </a:r>
          </a:p>
        </p:txBody>
      </p:sp>
      <p:sp>
        <p:nvSpPr>
          <p:cNvPr id="25" name="TextBox 24"/>
          <p:cNvSpPr txBox="1"/>
          <p:nvPr/>
        </p:nvSpPr>
        <p:spPr>
          <a:xfrm>
            <a:off x="10186416" y="2560320"/>
            <a:ext cx="1115568" cy="256032"/>
          </a:xfrm>
          <a:prstGeom prst="rect">
            <a:avLst/>
          </a:prstGeom>
          <a:noFill/>
        </p:spPr>
        <p:txBody>
          <a:bodyPr wrap="square" lIns="0" rIns="0" tIns="0" bIns="0" anchor="t">
            <a:spAutoFit/>
          </a:bodyPr>
          <a:lstStyle/>
          <a:p>
            <a:pPr algn="r">
              <a:spcAft>
                <a:spcPts val="0"/>
              </a:spcAft>
            </a:pPr>
            <a:r>
              <a:rPr sz="1050" b="1">
                <a:solidFill>
                  <a:srgbClr val="73777F"/>
                </a:solidFill>
                <a:latin typeface="Helvetica Neue"/>
              </a:rPr>
              <a:t>461 ratings</a:t>
            </a:r>
          </a:p>
        </p:txBody>
      </p:sp>
      <p:sp>
        <p:nvSpPr>
          <p:cNvPr id="26" name="TextBox 25"/>
          <p:cNvSpPr txBox="1"/>
          <p:nvPr/>
        </p:nvSpPr>
        <p:spPr>
          <a:xfrm>
            <a:off x="6455664" y="2980944"/>
            <a:ext cx="2670048" cy="310896"/>
          </a:xfrm>
          <a:prstGeom prst="rect">
            <a:avLst/>
          </a:prstGeom>
          <a:noFill/>
        </p:spPr>
        <p:txBody>
          <a:bodyPr wrap="square" lIns="0" rIns="0" tIns="0" bIns="0" anchor="t">
            <a:spAutoFit/>
          </a:bodyPr>
          <a:lstStyle/>
          <a:p>
            <a:pPr algn="l">
              <a:spcAft>
                <a:spcPts val="0"/>
              </a:spcAft>
            </a:pPr>
            <a:r>
              <a:rPr sz="1850" b="1">
                <a:solidFill>
                  <a:srgbClr val="1FA873"/>
                </a:solidFill>
                <a:latin typeface="Helvetica Neue"/>
              </a:rPr>
              <a:t>√(.277 × .985) = 52.2%</a:t>
            </a:r>
          </a:p>
        </p:txBody>
      </p:sp>
      <p:sp>
        <p:nvSpPr>
          <p:cNvPr id="27" name="TextBox 26"/>
          <p:cNvSpPr txBox="1"/>
          <p:nvPr/>
        </p:nvSpPr>
        <p:spPr>
          <a:xfrm>
            <a:off x="9838944" y="3008376"/>
            <a:ext cx="1463040" cy="256032"/>
          </a:xfrm>
          <a:prstGeom prst="rect">
            <a:avLst/>
          </a:prstGeom>
          <a:noFill/>
        </p:spPr>
        <p:txBody>
          <a:bodyPr wrap="square" lIns="0" rIns="0" tIns="0" bIns="0" anchor="t">
            <a:spAutoFit/>
          </a:bodyPr>
          <a:lstStyle/>
          <a:p>
            <a:pPr algn="r">
              <a:spcAft>
                <a:spcPts val="0"/>
              </a:spcAft>
            </a:pPr>
            <a:r>
              <a:rPr sz="1350" b="1">
                <a:solidFill>
                  <a:srgbClr val="1FA873"/>
                </a:solidFill>
                <a:latin typeface="Helvetica Neue"/>
              </a:rPr>
              <a:t>BRIDGE PASS</a:t>
            </a:r>
          </a:p>
        </p:txBody>
      </p:sp>
      <p:cxnSp>
        <p:nvCxnSpPr>
          <p:cNvPr id="28" name="Connector 27"/>
          <p:cNvCxnSpPr/>
          <p:nvPr/>
        </p:nvCxnSpPr>
        <p:spPr>
          <a:xfrm>
            <a:off x="6437376" y="3465576"/>
            <a:ext cx="4919472" cy="0"/>
          </a:xfrm>
          <a:prstGeom prst="line">
            <a:avLst/>
          </a:prstGeom>
          <a:ln w="11430">
            <a:solidFill>
              <a:srgbClr val="DADDE2"/>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55664" y="3703320"/>
            <a:ext cx="4800600" cy="1005840"/>
          </a:xfrm>
          <a:prstGeom prst="rect">
            <a:avLst/>
          </a:prstGeom>
          <a:noFill/>
        </p:spPr>
        <p:txBody>
          <a:bodyPr wrap="square" lIns="0" rIns="0" tIns="0" bIns="0" anchor="t">
            <a:spAutoFit/>
          </a:bodyPr>
          <a:lstStyle/>
          <a:p>
            <a:pPr algn="l">
              <a:spcAft>
                <a:spcPts val="0"/>
              </a:spcAft>
            </a:pPr>
            <a:r>
              <a:rPr sz="1170" b="0">
                <a:solidFill>
                  <a:srgbClr val="111318"/>
                </a:solidFill>
                <a:latin typeface="Helvetica Neue"/>
              </a:rPr>
              <a:t>The table mislabels clemency actions as “pardons.” Biden issued ~80 pardons and 4,165 commutations (total: 4,245), not 8,064 pardons. Bush: 189 pardons/11 commutations. Obama: 212/1,715. Trump: 143/94.</a:t>
            </a:r>
          </a:p>
        </p:txBody>
      </p:sp>
      <p:sp>
        <p:nvSpPr>
          <p:cNvPr id="30" name="TextBox 29"/>
          <p:cNvSpPr txBox="1"/>
          <p:nvPr/>
        </p:nvSpPr>
        <p:spPr>
          <a:xfrm>
            <a:off x="6455664" y="4855464"/>
            <a:ext cx="3200400" cy="182880"/>
          </a:xfrm>
          <a:prstGeom prst="rect">
            <a:avLst/>
          </a:prstGeom>
          <a:noFill/>
        </p:spPr>
        <p:txBody>
          <a:bodyPr wrap="square" lIns="0" rIns="0" tIns="0" bIns="0" anchor="t">
            <a:spAutoFit/>
          </a:bodyPr>
          <a:lstStyle/>
          <a:p>
            <a:pPr algn="l">
              <a:spcAft>
                <a:spcPts val="0"/>
              </a:spcAft>
            </a:pPr>
            <a:r>
              <a:rPr sz="869" b="1">
                <a:solidFill>
                  <a:srgbClr val="3977F6"/>
                </a:solidFill>
                <a:latin typeface="Helvetica Neue"/>
              </a:rPr>
              <a:t>SOURCES  DOJ · Pew Research</a:t>
            </a:r>
          </a:p>
        </p:txBody>
      </p:sp>
      <p:cxnSp>
        <p:nvCxnSpPr>
          <p:cNvPr id="31" name="Connector 30"/>
          <p:cNvCxnSpPr/>
          <p:nvPr/>
        </p:nvCxnSpPr>
        <p:spPr>
          <a:xfrm>
            <a:off x="749808" y="5404104"/>
            <a:ext cx="10680192" cy="0"/>
          </a:xfrm>
          <a:prstGeom prst="line">
            <a:avLst/>
          </a:prstGeom>
          <a:ln w="12700">
            <a:solidFill>
              <a:srgbClr val="DADDE2"/>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938528" y="5687568"/>
            <a:ext cx="8366760" cy="365760"/>
          </a:xfrm>
          <a:prstGeom prst="rect">
            <a:avLst/>
          </a:prstGeom>
          <a:noFill/>
        </p:spPr>
        <p:txBody>
          <a:bodyPr wrap="square" lIns="0" rIns="0" tIns="0" bIns="0">
            <a:spAutoFit/>
          </a:bodyPr>
          <a:lstStyle/>
          <a:p>
            <a:pPr algn="ctr"/>
            <a:r>
              <a:rPr sz="1550" b="1">
                <a:solidFill>
                  <a:srgbClr val="FF705B"/>
                </a:solidFill>
                <a:latin typeface="Helvetica Neue"/>
              </a:rPr>
              <a:t>• </a:t>
            </a:r>
            <a:r>
              <a:rPr sz="1550" b="1">
                <a:solidFill>
                  <a:srgbClr val="111318"/>
                </a:solidFill>
                <a:latin typeface="Helvetica Neue"/>
              </a:rPr>
              <a:t>Higher overall approval can hide near-zero support in one constituency</a:t>
            </a:r>
          </a:p>
        </p:txBody>
      </p:sp>
      <p:sp>
        <p:nvSpPr>
          <p:cNvPr id="33" name="TextBox 32"/>
          <p:cNvSpPr txBox="1"/>
          <p:nvPr/>
        </p:nvSpPr>
        <p:spPr>
          <a:xfrm>
            <a:off x="621792" y="6437376"/>
            <a:ext cx="10881360" cy="164592"/>
          </a:xfrm>
          <a:prstGeom prst="rect">
            <a:avLst/>
          </a:prstGeom>
          <a:noFill/>
        </p:spPr>
        <p:txBody>
          <a:bodyPr wrap="square" lIns="0" rIns="0" tIns="0" bIns="0" anchor="t">
            <a:spAutoFit/>
          </a:bodyPr>
          <a:lstStyle/>
          <a:p>
            <a:pPr algn="l">
              <a:spcAft>
                <a:spcPts val="0"/>
              </a:spcAft>
            </a:pPr>
            <a:r>
              <a:rPr sz="819" b="0">
                <a:solidFill>
                  <a:srgbClr val="73777F"/>
                </a:solidFill>
                <a:latin typeface="Helvetica Neue"/>
              </a:rPr>
              <a:t>• Authors’ Representative selection · historical Gabriel output</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