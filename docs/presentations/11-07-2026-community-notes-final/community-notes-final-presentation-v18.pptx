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90" r:id="rId42"/>
    <p:sldId id="286" r:id="rId38"/>
    <p:sldId id="287" r:id="rId39"/>
    <p:sldId id="288" r:id="rId40"/>
    <p:sldId id="289" r:id="rId4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70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3" y="3364991"/>
            <a:ext cx="438913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7" cy="1481335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9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1" cy="7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3" cy="7406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9" cy="151791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48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0"/>
            <a:ext cx="6103251" cy="46945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71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95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18" y="698305"/>
            <a:ext cx="635021" cy="635021"/>
            <a:chOff x="0" y="0"/>
            <a:chExt cx="635020" cy="635020"/>
          </a:xfrm>
        </p:grpSpPr>
        <p:sp>
          <p:nvSpPr>
            <p:cNvPr id="217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3" y="698301"/>
            <a:ext cx="635021" cy="635021"/>
            <a:chOff x="0" y="0"/>
            <a:chExt cx="635020" cy="635020"/>
          </a:xfrm>
        </p:grpSpPr>
        <p:sp>
          <p:nvSpPr>
            <p:cNvPr id="221" name="Oval 22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1" y="317504"/>
              <a:ext cx="381010" cy="7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1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390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2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4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4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11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2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7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8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0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2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4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5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6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7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9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0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2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4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6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8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9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0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1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3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4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6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7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8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0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2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3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5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6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7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8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0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2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3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4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5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9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0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1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2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3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4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5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6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7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8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0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1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3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4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5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6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7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8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9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0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1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2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4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5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6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7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8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9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0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1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2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3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4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5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6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7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8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9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0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1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2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3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4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5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6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7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8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9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0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1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2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3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4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5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6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8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9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0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1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2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4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5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6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7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8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9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0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1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2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3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4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6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7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8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9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0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1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2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3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564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565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566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567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8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8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8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8"/>
          <p:cNvSpPr/>
          <p:nvPr/>
        </p:nvSpPr>
        <p:spPr>
          <a:xfrm>
            <a:off x="1188719" y="2610611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Connector 10"/>
          <p:cNvSpPr/>
          <p:nvPr/>
        </p:nvSpPr>
        <p:spPr>
          <a:xfrm>
            <a:off x="1348738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13"/>
          <p:cNvSpPr/>
          <p:nvPr/>
        </p:nvSpPr>
        <p:spPr>
          <a:xfrm>
            <a:off x="3529584" y="2761488"/>
            <a:ext cx="786390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14"/>
          <p:cNvSpPr/>
          <p:nvPr/>
        </p:nvSpPr>
        <p:spPr>
          <a:xfrm>
            <a:off x="3529584" y="3072383"/>
            <a:ext cx="87782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Connector 16"/>
          <p:cNvSpPr/>
          <p:nvPr/>
        </p:nvSpPr>
        <p:spPr>
          <a:xfrm>
            <a:off x="237286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0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20"/>
          <p:cNvSpPr/>
          <p:nvPr/>
        </p:nvSpPr>
        <p:spPr>
          <a:xfrm>
            <a:off x="2578604" y="2688333"/>
            <a:ext cx="694951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05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06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09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Connector 29"/>
          <p:cNvSpPr/>
          <p:nvPr/>
        </p:nvSpPr>
        <p:spPr>
          <a:xfrm>
            <a:off x="7011619" y="2437788"/>
            <a:ext cx="6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30"/>
          <p:cNvSpPr/>
          <p:nvPr/>
        </p:nvSpPr>
        <p:spPr>
          <a:xfrm>
            <a:off x="6860560" y="2588847"/>
            <a:ext cx="302124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35"/>
          <p:cNvSpPr/>
          <p:nvPr/>
        </p:nvSpPr>
        <p:spPr>
          <a:xfrm>
            <a:off x="8539781" y="2758948"/>
            <a:ext cx="78639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36"/>
          <p:cNvSpPr/>
          <p:nvPr/>
        </p:nvSpPr>
        <p:spPr>
          <a:xfrm>
            <a:off x="8539781" y="3069843"/>
            <a:ext cx="87783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Connector 50"/>
          <p:cNvSpPr/>
          <p:nvPr/>
        </p:nvSpPr>
        <p:spPr>
          <a:xfrm>
            <a:off x="10042906" y="2679444"/>
            <a:ext cx="448062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32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33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34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3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3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39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4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4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4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5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6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6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66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5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89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90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91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9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9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96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98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99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0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03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0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18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2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2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2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26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2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3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7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750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751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752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755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75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75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759" name="Rectangle"/>
          <p:cNvSpPr/>
          <p:nvPr/>
        </p:nvSpPr>
        <p:spPr>
          <a:xfrm>
            <a:off x="5919536" y="1436428"/>
            <a:ext cx="5479663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6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6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6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7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82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83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84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87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88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5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0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09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10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13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15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16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17" name="Rectangle"/>
          <p:cNvSpPr/>
          <p:nvPr/>
        </p:nvSpPr>
        <p:spPr>
          <a:xfrm>
            <a:off x="5919536" y="3945001"/>
            <a:ext cx="5479663" cy="21613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8" name="Rectangle"/>
          <p:cNvSpPr/>
          <p:nvPr/>
        </p:nvSpPr>
        <p:spPr>
          <a:xfrm>
            <a:off x="5994177" y="1402529"/>
            <a:ext cx="2226838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9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0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82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82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82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84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3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845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846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847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850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851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6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8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7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72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73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76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78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79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80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87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88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Connector 10"/>
          <p:cNvSpPr/>
          <p:nvPr/>
        </p:nvSpPr>
        <p:spPr>
          <a:xfrm>
            <a:off x="93451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3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14"/>
          <p:cNvSpPr/>
          <p:nvPr/>
        </p:nvSpPr>
        <p:spPr>
          <a:xfrm flipH="1">
            <a:off x="147072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Connector 15"/>
          <p:cNvSpPr/>
          <p:nvPr/>
        </p:nvSpPr>
        <p:spPr>
          <a:xfrm>
            <a:off x="155630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8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9" name="Connector 17"/>
          <p:cNvSpPr/>
          <p:nvPr/>
        </p:nvSpPr>
        <p:spPr>
          <a:xfrm>
            <a:off x="2178099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3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4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8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9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30"/>
          <p:cNvSpPr/>
          <p:nvPr/>
        </p:nvSpPr>
        <p:spPr>
          <a:xfrm flipH="1">
            <a:off x="333609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3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4" name="Connector 37"/>
          <p:cNvSpPr/>
          <p:nvPr/>
        </p:nvSpPr>
        <p:spPr>
          <a:xfrm>
            <a:off x="404347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39"/>
          <p:cNvSpPr/>
          <p:nvPr/>
        </p:nvSpPr>
        <p:spPr>
          <a:xfrm flipH="1">
            <a:off x="395788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Connector 40"/>
          <p:cNvSpPr/>
          <p:nvPr/>
        </p:nvSpPr>
        <p:spPr>
          <a:xfrm>
            <a:off x="404347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8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3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4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48"/>
          <p:cNvSpPr/>
          <p:nvPr/>
        </p:nvSpPr>
        <p:spPr>
          <a:xfrm>
            <a:off x="100693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49"/>
          <p:cNvSpPr/>
          <p:nvPr/>
        </p:nvSpPr>
        <p:spPr>
          <a:xfrm flipH="1">
            <a:off x="101352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Connector 50"/>
          <p:cNvSpPr/>
          <p:nvPr/>
        </p:nvSpPr>
        <p:spPr>
          <a:xfrm>
            <a:off x="1099108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8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9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53"/>
          <p:cNvSpPr/>
          <p:nvPr/>
        </p:nvSpPr>
        <p:spPr>
          <a:xfrm>
            <a:off x="1628729" y="292132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55"/>
          <p:cNvSpPr/>
          <p:nvPr/>
        </p:nvSpPr>
        <p:spPr>
          <a:xfrm flipH="1">
            <a:off x="1635312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63"/>
          <p:cNvSpPr/>
          <p:nvPr/>
        </p:nvSpPr>
        <p:spPr>
          <a:xfrm>
            <a:off x="225051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Connector 67"/>
          <p:cNvSpPr/>
          <p:nvPr/>
        </p:nvSpPr>
        <p:spPr>
          <a:xfrm>
            <a:off x="2964483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68"/>
          <p:cNvSpPr/>
          <p:nvPr/>
        </p:nvSpPr>
        <p:spPr>
          <a:xfrm>
            <a:off x="2872313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Connector 72"/>
          <p:cNvSpPr/>
          <p:nvPr/>
        </p:nvSpPr>
        <p:spPr>
          <a:xfrm>
            <a:off x="3586276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73"/>
          <p:cNvSpPr/>
          <p:nvPr/>
        </p:nvSpPr>
        <p:spPr>
          <a:xfrm>
            <a:off x="3494104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74"/>
          <p:cNvSpPr/>
          <p:nvPr/>
        </p:nvSpPr>
        <p:spPr>
          <a:xfrm flipH="1">
            <a:off x="350068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Connector 75"/>
          <p:cNvSpPr/>
          <p:nvPr/>
        </p:nvSpPr>
        <p:spPr>
          <a:xfrm>
            <a:off x="3586276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78"/>
          <p:cNvSpPr/>
          <p:nvPr/>
        </p:nvSpPr>
        <p:spPr>
          <a:xfrm>
            <a:off x="411589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3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83"/>
          <p:cNvSpPr/>
          <p:nvPr/>
        </p:nvSpPr>
        <p:spPr>
          <a:xfrm>
            <a:off x="473768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84"/>
          <p:cNvSpPr/>
          <p:nvPr/>
        </p:nvSpPr>
        <p:spPr>
          <a:xfrm flipH="1">
            <a:off x="474427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Connector 85"/>
          <p:cNvSpPr/>
          <p:nvPr/>
        </p:nvSpPr>
        <p:spPr>
          <a:xfrm>
            <a:off x="482985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Connector 87"/>
          <p:cNvSpPr/>
          <p:nvPr/>
        </p:nvSpPr>
        <p:spPr>
          <a:xfrm>
            <a:off x="934516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Connector 90"/>
          <p:cNvSpPr/>
          <p:nvPr/>
        </p:nvSpPr>
        <p:spPr>
          <a:xfrm>
            <a:off x="934516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4" name="Connector 92"/>
          <p:cNvSpPr/>
          <p:nvPr/>
        </p:nvSpPr>
        <p:spPr>
          <a:xfrm>
            <a:off x="1556308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94"/>
          <p:cNvSpPr/>
          <p:nvPr/>
        </p:nvSpPr>
        <p:spPr>
          <a:xfrm flipH="1">
            <a:off x="147072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Connector 95"/>
          <p:cNvSpPr/>
          <p:nvPr/>
        </p:nvSpPr>
        <p:spPr>
          <a:xfrm>
            <a:off x="155630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8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9" name="Connector 97"/>
          <p:cNvSpPr/>
          <p:nvPr/>
        </p:nvSpPr>
        <p:spPr>
          <a:xfrm>
            <a:off x="2178099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3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4" name="Connector 102"/>
          <p:cNvSpPr/>
          <p:nvPr/>
        </p:nvSpPr>
        <p:spPr>
          <a:xfrm>
            <a:off x="2799892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8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9" name="Connector 107"/>
          <p:cNvSpPr/>
          <p:nvPr/>
        </p:nvSpPr>
        <p:spPr>
          <a:xfrm>
            <a:off x="3421684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09"/>
          <p:cNvSpPr/>
          <p:nvPr/>
        </p:nvSpPr>
        <p:spPr>
          <a:xfrm flipH="1">
            <a:off x="333609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4" name="Connector 112"/>
          <p:cNvSpPr/>
          <p:nvPr/>
        </p:nvSpPr>
        <p:spPr>
          <a:xfrm>
            <a:off x="4043476" y="3560671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5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6" name="Connector 115"/>
          <p:cNvSpPr/>
          <p:nvPr/>
        </p:nvSpPr>
        <p:spPr>
          <a:xfrm flipH="1">
            <a:off x="3957887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Connector 116"/>
          <p:cNvSpPr/>
          <p:nvPr/>
        </p:nvSpPr>
        <p:spPr>
          <a:xfrm>
            <a:off x="4043476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8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Connector 122"/>
          <p:cNvSpPr/>
          <p:nvPr/>
        </p:nvSpPr>
        <p:spPr>
          <a:xfrm>
            <a:off x="4665267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0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4" name="Connector 127"/>
          <p:cNvSpPr/>
          <p:nvPr/>
        </p:nvSpPr>
        <p:spPr>
          <a:xfrm>
            <a:off x="1099108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Connector 129"/>
          <p:cNvSpPr/>
          <p:nvPr/>
        </p:nvSpPr>
        <p:spPr>
          <a:xfrm flipH="1">
            <a:off x="101352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7" name="Connector 130"/>
          <p:cNvSpPr/>
          <p:nvPr/>
        </p:nvSpPr>
        <p:spPr>
          <a:xfrm>
            <a:off x="1099108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9" name="Connector 132"/>
          <p:cNvSpPr/>
          <p:nvPr/>
        </p:nvSpPr>
        <p:spPr>
          <a:xfrm>
            <a:off x="172089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Connector 134"/>
          <p:cNvSpPr/>
          <p:nvPr/>
        </p:nvSpPr>
        <p:spPr>
          <a:xfrm flipH="1">
            <a:off x="163531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4" name="Connector 137"/>
          <p:cNvSpPr/>
          <p:nvPr/>
        </p:nvSpPr>
        <p:spPr>
          <a:xfrm>
            <a:off x="2342692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9" name="Connector 142"/>
          <p:cNvSpPr/>
          <p:nvPr/>
        </p:nvSpPr>
        <p:spPr>
          <a:xfrm>
            <a:off x="2964483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2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4" name="Connector 147"/>
          <p:cNvSpPr/>
          <p:nvPr/>
        </p:nvSpPr>
        <p:spPr>
          <a:xfrm>
            <a:off x="3586276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149"/>
          <p:cNvSpPr/>
          <p:nvPr/>
        </p:nvSpPr>
        <p:spPr>
          <a:xfrm flipH="1">
            <a:off x="350068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150"/>
          <p:cNvSpPr/>
          <p:nvPr/>
        </p:nvSpPr>
        <p:spPr>
          <a:xfrm>
            <a:off x="3586276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9" name="Connector 152"/>
          <p:cNvSpPr/>
          <p:nvPr/>
        </p:nvSpPr>
        <p:spPr>
          <a:xfrm>
            <a:off x="4208067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4" name="Connector 157"/>
          <p:cNvSpPr/>
          <p:nvPr/>
        </p:nvSpPr>
        <p:spPr>
          <a:xfrm>
            <a:off x="482985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Connector 159"/>
          <p:cNvSpPr/>
          <p:nvPr/>
        </p:nvSpPr>
        <p:spPr>
          <a:xfrm flipH="1">
            <a:off x="474427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Connector 160"/>
          <p:cNvSpPr/>
          <p:nvPr/>
        </p:nvSpPr>
        <p:spPr>
          <a:xfrm>
            <a:off x="482985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184"/>
          <p:cNvSpPr/>
          <p:nvPr/>
        </p:nvSpPr>
        <p:spPr>
          <a:xfrm>
            <a:off x="749803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030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031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034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35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036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2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2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7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7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2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7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2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7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2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2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2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7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2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1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3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5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6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7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1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2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6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7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7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8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83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8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85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6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1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6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1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6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1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6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6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1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1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6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1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6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1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1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6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1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6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1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1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6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1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6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0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1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2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4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5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6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8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9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0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1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2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5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6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0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1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42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43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4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347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348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349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0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5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4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5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7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1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2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3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5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6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7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8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9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0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3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4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6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8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9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1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2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4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5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6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8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0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2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3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5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6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7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0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1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2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4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5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8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9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0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4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5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0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5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8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9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0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2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3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4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6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8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9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2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3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4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6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8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9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0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1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2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3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4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5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6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8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9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0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1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4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5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8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9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4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5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9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0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3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5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8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0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3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61"/>
          <p:cNvSpPr/>
          <p:nvPr/>
        </p:nvSpPr>
        <p:spPr>
          <a:xfrm>
            <a:off x="6492240" y="3246116"/>
            <a:ext cx="4681734" cy="7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162"/>
          <p:cNvSpPr/>
          <p:nvPr/>
        </p:nvSpPr>
        <p:spPr>
          <a:xfrm>
            <a:off x="3767328" y="2185416"/>
            <a:ext cx="2724917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Connector 163"/>
          <p:cNvSpPr/>
          <p:nvPr/>
        </p:nvSpPr>
        <p:spPr>
          <a:xfrm>
            <a:off x="3803903" y="2249421"/>
            <a:ext cx="2688340" cy="105156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7" name="Connector 164"/>
          <p:cNvSpPr/>
          <p:nvPr/>
        </p:nvSpPr>
        <p:spPr>
          <a:xfrm>
            <a:off x="2066542" y="2916932"/>
            <a:ext cx="4425704" cy="329190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165"/>
          <p:cNvSpPr/>
          <p:nvPr/>
        </p:nvSpPr>
        <p:spPr>
          <a:xfrm>
            <a:off x="2103120" y="2980943"/>
            <a:ext cx="4389121" cy="320047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166"/>
          <p:cNvSpPr/>
          <p:nvPr/>
        </p:nvSpPr>
        <p:spPr>
          <a:xfrm flipV="1">
            <a:off x="4389120" y="3246120"/>
            <a:ext cx="2103125" cy="402342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Connector 167"/>
          <p:cNvSpPr/>
          <p:nvPr/>
        </p:nvSpPr>
        <p:spPr>
          <a:xfrm flipV="1">
            <a:off x="4425696" y="3300984"/>
            <a:ext cx="2066547" cy="41148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1" name="Connector 168"/>
          <p:cNvSpPr/>
          <p:nvPr/>
        </p:nvSpPr>
        <p:spPr>
          <a:xfrm flipV="1">
            <a:off x="4352542" y="3374136"/>
            <a:ext cx="2139702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2" name="Connector 169"/>
          <p:cNvSpPr/>
          <p:nvPr/>
        </p:nvSpPr>
        <p:spPr>
          <a:xfrm>
            <a:off x="1810510" y="2834637"/>
            <a:ext cx="4681733" cy="30175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3" name="Oval 170"/>
          <p:cNvSpPr/>
          <p:nvPr/>
        </p:nvSpPr>
        <p:spPr>
          <a:xfrm>
            <a:off x="678484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4" name="Oval 171"/>
          <p:cNvSpPr/>
          <p:nvPr/>
        </p:nvSpPr>
        <p:spPr>
          <a:xfrm>
            <a:off x="7205471" y="3456432"/>
            <a:ext cx="82307" cy="8230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172"/>
          <p:cNvSpPr/>
          <p:nvPr/>
        </p:nvSpPr>
        <p:spPr>
          <a:xfrm>
            <a:off x="7626094" y="3017520"/>
            <a:ext cx="100595" cy="100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173"/>
          <p:cNvSpPr/>
          <p:nvPr/>
        </p:nvSpPr>
        <p:spPr>
          <a:xfrm>
            <a:off x="8247888" y="3364991"/>
            <a:ext cx="73163" cy="7316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174"/>
          <p:cNvSpPr/>
          <p:nvPr/>
        </p:nvSpPr>
        <p:spPr>
          <a:xfrm>
            <a:off x="8887968" y="2926077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176"/>
          <p:cNvSpPr/>
          <p:nvPr/>
        </p:nvSpPr>
        <p:spPr>
          <a:xfrm>
            <a:off x="9765792" y="2889504"/>
            <a:ext cx="146315" cy="1463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177"/>
          <p:cNvSpPr/>
          <p:nvPr/>
        </p:nvSpPr>
        <p:spPr>
          <a:xfrm>
            <a:off x="10241280" y="3310128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178"/>
          <p:cNvSpPr/>
          <p:nvPr/>
        </p:nvSpPr>
        <p:spPr>
          <a:xfrm>
            <a:off x="10735056" y="2980944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523" name="TextBox 180"/>
          <p:cNvSpPr txBox="1"/>
          <p:nvPr/>
        </p:nvSpPr>
        <p:spPr>
          <a:xfrm>
            <a:off x="7424925" y="4315967"/>
            <a:ext cx="914406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524" name="TextBox 181"/>
          <p:cNvSpPr txBox="1"/>
          <p:nvPr/>
        </p:nvSpPr>
        <p:spPr>
          <a:xfrm>
            <a:off x="8016306" y="4477013"/>
            <a:ext cx="15087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525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526" name="TextBox 183"/>
          <p:cNvSpPr txBox="1"/>
          <p:nvPr/>
        </p:nvSpPr>
        <p:spPr>
          <a:xfrm>
            <a:off x="10634471" y="4489703"/>
            <a:ext cx="10515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527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8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529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530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531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3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35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36" name="Connector 4"/>
          <p:cNvSpPr/>
          <p:nvPr/>
        </p:nvSpPr>
        <p:spPr>
          <a:xfrm flipH="1">
            <a:off x="4005071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7" name="Connector 5"/>
          <p:cNvSpPr/>
          <p:nvPr/>
        </p:nvSpPr>
        <p:spPr>
          <a:xfrm>
            <a:off x="8010142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3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0" name="Connector 8"/>
          <p:cNvSpPr/>
          <p:nvPr/>
        </p:nvSpPr>
        <p:spPr>
          <a:xfrm>
            <a:off x="1042416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5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5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6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6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7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7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7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8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8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8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8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89" name="TextBox 62"/>
          <p:cNvSpPr txBox="1"/>
          <p:nvPr/>
        </p:nvSpPr>
        <p:spPr>
          <a:xfrm>
            <a:off x="8229599" y="2395727"/>
            <a:ext cx="1097284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9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9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92" name="Connector 65"/>
          <p:cNvSpPr/>
          <p:nvPr/>
        </p:nvSpPr>
        <p:spPr>
          <a:xfrm>
            <a:off x="8229599" y="3328415"/>
            <a:ext cx="3035811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94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9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9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9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9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0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4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08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09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0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1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12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3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4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5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6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7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8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1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2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3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5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6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0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63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632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63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634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5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6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7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8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9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0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1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2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3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4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645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64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47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8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9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0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1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2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3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4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5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6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7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58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59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60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61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6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63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64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65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6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67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68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6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70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1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7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73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4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5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6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7" name="Rectangle"/>
          <p:cNvSpPr/>
          <p:nvPr/>
        </p:nvSpPr>
        <p:spPr>
          <a:xfrm>
            <a:off x="6594474" y="1460622"/>
            <a:ext cx="5153309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8" name="Rectangle"/>
          <p:cNvSpPr/>
          <p:nvPr/>
        </p:nvSpPr>
        <p:spPr>
          <a:xfrm>
            <a:off x="4145505" y="3414910"/>
            <a:ext cx="7729275" cy="16916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8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82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83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5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86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7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8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9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1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2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4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7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8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9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0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1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2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3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4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05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06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07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08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9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0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1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2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3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4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5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6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7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8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19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20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21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2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3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4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5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6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7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8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9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0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1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732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733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734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735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736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737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738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739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0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741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742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743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744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5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746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747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8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1" name="Rectangle"/>
          <p:cNvSpPr/>
          <p:nvPr/>
        </p:nvSpPr>
        <p:spPr>
          <a:xfrm>
            <a:off x="6594475" y="1460622"/>
            <a:ext cx="5153306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75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755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756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7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75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0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7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7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8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8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9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9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9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80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80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80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80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809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81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81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812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814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81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81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81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81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82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82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827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828" name="Connector 4"/>
          <p:cNvSpPr/>
          <p:nvPr/>
        </p:nvSpPr>
        <p:spPr>
          <a:xfrm flipH="1">
            <a:off x="4160520" y="1627631"/>
            <a:ext cx="5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830" name="TextBox 6"/>
          <p:cNvSpPr txBox="1"/>
          <p:nvPr/>
        </p:nvSpPr>
        <p:spPr>
          <a:xfrm>
            <a:off x="877824" y="2212848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831" name="Oval 7"/>
          <p:cNvSpPr/>
          <p:nvPr/>
        </p:nvSpPr>
        <p:spPr>
          <a:xfrm>
            <a:off x="932688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2" name="Oval 8"/>
          <p:cNvSpPr/>
          <p:nvPr/>
        </p:nvSpPr>
        <p:spPr>
          <a:xfrm>
            <a:off x="1243583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3" name="Oval 9"/>
          <p:cNvSpPr/>
          <p:nvPr/>
        </p:nvSpPr>
        <p:spPr>
          <a:xfrm>
            <a:off x="1554480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4" name="Oval 10"/>
          <p:cNvSpPr/>
          <p:nvPr/>
        </p:nvSpPr>
        <p:spPr>
          <a:xfrm>
            <a:off x="1865376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5" name="Oval 11"/>
          <p:cNvSpPr/>
          <p:nvPr/>
        </p:nvSpPr>
        <p:spPr>
          <a:xfrm>
            <a:off x="932688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6" name="Oval 12"/>
          <p:cNvSpPr/>
          <p:nvPr/>
        </p:nvSpPr>
        <p:spPr>
          <a:xfrm>
            <a:off x="1243583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7" name="Oval 13"/>
          <p:cNvSpPr/>
          <p:nvPr/>
        </p:nvSpPr>
        <p:spPr>
          <a:xfrm>
            <a:off x="1554480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8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39" name="TextBox 15"/>
          <p:cNvSpPr txBox="1"/>
          <p:nvPr/>
        </p:nvSpPr>
        <p:spPr>
          <a:xfrm>
            <a:off x="877824" y="3319271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840" name="Oval 16"/>
          <p:cNvSpPr/>
          <p:nvPr/>
        </p:nvSpPr>
        <p:spPr>
          <a:xfrm>
            <a:off x="932688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1" name="Oval 17"/>
          <p:cNvSpPr/>
          <p:nvPr/>
        </p:nvSpPr>
        <p:spPr>
          <a:xfrm>
            <a:off x="1243583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2" name="Oval 18"/>
          <p:cNvSpPr/>
          <p:nvPr/>
        </p:nvSpPr>
        <p:spPr>
          <a:xfrm>
            <a:off x="1554480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3" name="Oval 19"/>
          <p:cNvSpPr/>
          <p:nvPr/>
        </p:nvSpPr>
        <p:spPr>
          <a:xfrm>
            <a:off x="1865376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4" name="Oval 20"/>
          <p:cNvSpPr/>
          <p:nvPr/>
        </p:nvSpPr>
        <p:spPr>
          <a:xfrm>
            <a:off x="932688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5" name="Oval 21"/>
          <p:cNvSpPr/>
          <p:nvPr/>
        </p:nvSpPr>
        <p:spPr>
          <a:xfrm>
            <a:off x="1243583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6" name="Oval 22"/>
          <p:cNvSpPr/>
          <p:nvPr/>
        </p:nvSpPr>
        <p:spPr>
          <a:xfrm>
            <a:off x="1554480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7" name="Connector 23"/>
          <p:cNvSpPr/>
          <p:nvPr/>
        </p:nvSpPr>
        <p:spPr>
          <a:xfrm>
            <a:off x="2660904" y="2752344"/>
            <a:ext cx="521209" cy="301757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8" name="Connector 24"/>
          <p:cNvSpPr/>
          <p:nvPr/>
        </p:nvSpPr>
        <p:spPr>
          <a:xfrm flipV="1">
            <a:off x="2660904" y="3246120"/>
            <a:ext cx="521209" cy="57607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9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850" name="TextBox 29"/>
          <p:cNvSpPr txBox="1"/>
          <p:nvPr/>
        </p:nvSpPr>
        <p:spPr>
          <a:xfrm>
            <a:off x="4663440" y="2048255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851" name="Oval 30"/>
          <p:cNvSpPr/>
          <p:nvPr/>
        </p:nvSpPr>
        <p:spPr>
          <a:xfrm>
            <a:off x="6437376" y="2020821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2" name="TextBox 31"/>
          <p:cNvSpPr txBox="1"/>
          <p:nvPr/>
        </p:nvSpPr>
        <p:spPr>
          <a:xfrm>
            <a:off x="6437376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853" name="TextBox 32"/>
          <p:cNvSpPr txBox="1"/>
          <p:nvPr/>
        </p:nvSpPr>
        <p:spPr>
          <a:xfrm>
            <a:off x="6720840" y="2057399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4" name="Oval 33"/>
          <p:cNvSpPr/>
          <p:nvPr/>
        </p:nvSpPr>
        <p:spPr>
          <a:xfrm>
            <a:off x="6931152" y="2020821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5" name="TextBox 34"/>
          <p:cNvSpPr txBox="1"/>
          <p:nvPr/>
        </p:nvSpPr>
        <p:spPr>
          <a:xfrm>
            <a:off x="6931152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856" name="TextBox 35"/>
          <p:cNvSpPr txBox="1"/>
          <p:nvPr/>
        </p:nvSpPr>
        <p:spPr>
          <a:xfrm>
            <a:off x="7443216" y="2029966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60" name="Group"/>
          <p:cNvGrpSpPr/>
          <p:nvPr/>
        </p:nvGrpSpPr>
        <p:grpSpPr>
          <a:xfrm>
            <a:off x="7827263" y="2020820"/>
            <a:ext cx="246897" cy="246897"/>
            <a:chOff x="0" y="0"/>
            <a:chExt cx="246896" cy="246896"/>
          </a:xfrm>
        </p:grpSpPr>
        <p:sp>
          <p:nvSpPr>
            <p:cNvPr id="1857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8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59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861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862" name="Connector 40"/>
          <p:cNvSpPr/>
          <p:nvPr/>
        </p:nvSpPr>
        <p:spPr>
          <a:xfrm>
            <a:off x="4663440" y="2679192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3" name="TextBox 41"/>
          <p:cNvSpPr txBox="1"/>
          <p:nvPr/>
        </p:nvSpPr>
        <p:spPr>
          <a:xfrm>
            <a:off x="4663440" y="3172966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864" name="Oval 42"/>
          <p:cNvSpPr/>
          <p:nvPr/>
        </p:nvSpPr>
        <p:spPr>
          <a:xfrm>
            <a:off x="6437376" y="3145532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5" name="TextBox 43"/>
          <p:cNvSpPr txBox="1"/>
          <p:nvPr/>
        </p:nvSpPr>
        <p:spPr>
          <a:xfrm>
            <a:off x="6437376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66" name="TextBox 44"/>
          <p:cNvSpPr txBox="1"/>
          <p:nvPr/>
        </p:nvSpPr>
        <p:spPr>
          <a:xfrm>
            <a:off x="6720840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7" name="Oval 45"/>
          <p:cNvSpPr/>
          <p:nvPr/>
        </p:nvSpPr>
        <p:spPr>
          <a:xfrm>
            <a:off x="6931152" y="3145532"/>
            <a:ext cx="246897" cy="24689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8" name="TextBox 46"/>
          <p:cNvSpPr txBox="1"/>
          <p:nvPr/>
        </p:nvSpPr>
        <p:spPr>
          <a:xfrm>
            <a:off x="6931152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69" name="TextBox 47"/>
          <p:cNvSpPr txBox="1"/>
          <p:nvPr/>
        </p:nvSpPr>
        <p:spPr>
          <a:xfrm>
            <a:off x="7214616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70" name="Oval 48"/>
          <p:cNvSpPr/>
          <p:nvPr/>
        </p:nvSpPr>
        <p:spPr>
          <a:xfrm>
            <a:off x="7424928" y="3145532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1" name="TextBox 49"/>
          <p:cNvSpPr txBox="1"/>
          <p:nvPr/>
        </p:nvSpPr>
        <p:spPr>
          <a:xfrm>
            <a:off x="7424928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872" name="TextBox 50"/>
          <p:cNvSpPr txBox="1"/>
          <p:nvPr/>
        </p:nvSpPr>
        <p:spPr>
          <a:xfrm>
            <a:off x="7936992" y="3154677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3" name="Oval 51"/>
          <p:cNvSpPr/>
          <p:nvPr/>
        </p:nvSpPr>
        <p:spPr>
          <a:xfrm>
            <a:off x="8321040" y="3145532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4" name="TextBox 52"/>
          <p:cNvSpPr txBox="1"/>
          <p:nvPr/>
        </p:nvSpPr>
        <p:spPr>
          <a:xfrm>
            <a:off x="8321040" y="3214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875" name="TextBox 53"/>
          <p:cNvSpPr txBox="1"/>
          <p:nvPr/>
        </p:nvSpPr>
        <p:spPr>
          <a:xfrm>
            <a:off x="9326880" y="3163821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876" name="Connector 54"/>
          <p:cNvSpPr/>
          <p:nvPr/>
        </p:nvSpPr>
        <p:spPr>
          <a:xfrm>
            <a:off x="4663440" y="3803903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7" name="TextBox 55"/>
          <p:cNvSpPr txBox="1"/>
          <p:nvPr/>
        </p:nvSpPr>
        <p:spPr>
          <a:xfrm>
            <a:off x="4663440" y="4297679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878" name="Oval 56"/>
          <p:cNvSpPr/>
          <p:nvPr/>
        </p:nvSpPr>
        <p:spPr>
          <a:xfrm>
            <a:off x="6437376" y="4270247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9" name="TextBox 57"/>
          <p:cNvSpPr txBox="1"/>
          <p:nvPr/>
        </p:nvSpPr>
        <p:spPr>
          <a:xfrm>
            <a:off x="6437376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880" name="TextBox 58"/>
          <p:cNvSpPr txBox="1"/>
          <p:nvPr/>
        </p:nvSpPr>
        <p:spPr>
          <a:xfrm>
            <a:off x="6720840" y="4306823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81" name="Oval 59"/>
          <p:cNvSpPr/>
          <p:nvPr/>
        </p:nvSpPr>
        <p:spPr>
          <a:xfrm>
            <a:off x="6931152" y="4270247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2" name="TextBox 60"/>
          <p:cNvSpPr txBox="1"/>
          <p:nvPr/>
        </p:nvSpPr>
        <p:spPr>
          <a:xfrm>
            <a:off x="6931152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883" name="TextBox 61"/>
          <p:cNvSpPr txBox="1"/>
          <p:nvPr/>
        </p:nvSpPr>
        <p:spPr>
          <a:xfrm>
            <a:off x="7443216" y="4279391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84" name="Oval 62"/>
          <p:cNvSpPr/>
          <p:nvPr/>
        </p:nvSpPr>
        <p:spPr>
          <a:xfrm>
            <a:off x="7827264" y="4270247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5" name="Connector 63"/>
          <p:cNvSpPr/>
          <p:nvPr/>
        </p:nvSpPr>
        <p:spPr>
          <a:xfrm>
            <a:off x="7872983" y="4389120"/>
            <a:ext cx="45725" cy="45725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4"/>
          <p:cNvSpPr/>
          <p:nvPr/>
        </p:nvSpPr>
        <p:spPr>
          <a:xfrm flipV="1">
            <a:off x="7918704" y="4325111"/>
            <a:ext cx="91445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888" name="Connector 66"/>
          <p:cNvSpPr/>
          <p:nvPr/>
        </p:nvSpPr>
        <p:spPr>
          <a:xfrm>
            <a:off x="749804" y="5230367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TextBox 67"/>
          <p:cNvSpPr txBox="1"/>
          <p:nvPr/>
        </p:nvSpPr>
        <p:spPr>
          <a:xfrm>
            <a:off x="841245" y="5532120"/>
            <a:ext cx="315468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890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891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895" name="Group"/>
          <p:cNvGrpSpPr/>
          <p:nvPr/>
        </p:nvGrpSpPr>
        <p:grpSpPr>
          <a:xfrm>
            <a:off x="3260341" y="3017770"/>
            <a:ext cx="246897" cy="246897"/>
            <a:chOff x="0" y="0"/>
            <a:chExt cx="246896" cy="246896"/>
          </a:xfrm>
        </p:grpSpPr>
        <p:sp>
          <p:nvSpPr>
            <p:cNvPr id="1892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93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94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9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9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900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901" name="TextBox 5"/>
          <p:cNvSpPr txBox="1"/>
          <p:nvPr/>
        </p:nvSpPr>
        <p:spPr>
          <a:xfrm>
            <a:off x="4462269" y="1609344"/>
            <a:ext cx="274320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902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903" name="Connector 7"/>
          <p:cNvSpPr/>
          <p:nvPr/>
        </p:nvSpPr>
        <p:spPr>
          <a:xfrm flipH="1">
            <a:off x="122529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4" name="Connector 8"/>
          <p:cNvSpPr/>
          <p:nvPr/>
        </p:nvSpPr>
        <p:spPr>
          <a:xfrm flipH="1">
            <a:off x="158191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5" name="Connector 9"/>
          <p:cNvSpPr/>
          <p:nvPr/>
        </p:nvSpPr>
        <p:spPr>
          <a:xfrm flipH="1">
            <a:off x="1938527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6" name="Connector 10"/>
          <p:cNvSpPr/>
          <p:nvPr/>
        </p:nvSpPr>
        <p:spPr>
          <a:xfrm flipH="1">
            <a:off x="229514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7" name="Connector 11"/>
          <p:cNvSpPr/>
          <p:nvPr/>
        </p:nvSpPr>
        <p:spPr>
          <a:xfrm flipH="1">
            <a:off x="2651760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8" name="Connector 12"/>
          <p:cNvSpPr/>
          <p:nvPr/>
        </p:nvSpPr>
        <p:spPr>
          <a:xfrm flipH="1">
            <a:off x="3008376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9" name="Connector 13"/>
          <p:cNvSpPr/>
          <p:nvPr/>
        </p:nvSpPr>
        <p:spPr>
          <a:xfrm flipH="1">
            <a:off x="336499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0" name="Connector 14"/>
          <p:cNvSpPr/>
          <p:nvPr/>
        </p:nvSpPr>
        <p:spPr>
          <a:xfrm flipH="1">
            <a:off x="3721608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1" name="Connector 15"/>
          <p:cNvSpPr/>
          <p:nvPr/>
        </p:nvSpPr>
        <p:spPr>
          <a:xfrm>
            <a:off x="1225294" y="214883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2" name="Connector 16"/>
          <p:cNvSpPr/>
          <p:nvPr/>
        </p:nvSpPr>
        <p:spPr>
          <a:xfrm>
            <a:off x="1225294" y="254203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3" name="Connector 17"/>
          <p:cNvSpPr/>
          <p:nvPr/>
        </p:nvSpPr>
        <p:spPr>
          <a:xfrm>
            <a:off x="1225294" y="293522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4" name="Connector 18"/>
          <p:cNvSpPr/>
          <p:nvPr/>
        </p:nvSpPr>
        <p:spPr>
          <a:xfrm>
            <a:off x="1225294" y="3328415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5" name="Connector 19"/>
          <p:cNvSpPr/>
          <p:nvPr/>
        </p:nvSpPr>
        <p:spPr>
          <a:xfrm>
            <a:off x="1225294" y="372160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6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7" name="Connector 21"/>
          <p:cNvSpPr/>
          <p:nvPr/>
        </p:nvSpPr>
        <p:spPr>
          <a:xfrm>
            <a:off x="1225294" y="450799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8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9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0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1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2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3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4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5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6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7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8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9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0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1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2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3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4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5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6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8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9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0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1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2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4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5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6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7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8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0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1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2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3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4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955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956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57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8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9" name="Connector 63"/>
          <p:cNvSpPr/>
          <p:nvPr/>
        </p:nvSpPr>
        <p:spPr>
          <a:xfrm>
            <a:off x="5202935" y="2212848"/>
            <a:ext cx="484637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0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1" name="Connector 65"/>
          <p:cNvSpPr/>
          <p:nvPr/>
        </p:nvSpPr>
        <p:spPr>
          <a:xfrm flipH="1">
            <a:off x="5440679" y="2532888"/>
            <a:ext cx="246893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2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3" name="Connector 67"/>
          <p:cNvSpPr/>
          <p:nvPr/>
        </p:nvSpPr>
        <p:spPr>
          <a:xfrm flipV="1">
            <a:off x="4864608" y="2971799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4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5" name="Connector 69"/>
          <p:cNvSpPr/>
          <p:nvPr/>
        </p:nvSpPr>
        <p:spPr>
          <a:xfrm>
            <a:off x="5943598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6" name="Connector 70"/>
          <p:cNvSpPr/>
          <p:nvPr/>
        </p:nvSpPr>
        <p:spPr>
          <a:xfrm flipV="1">
            <a:off x="6355079" y="2953511"/>
            <a:ext cx="365765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7" name="Connector 71"/>
          <p:cNvSpPr/>
          <p:nvPr/>
        </p:nvSpPr>
        <p:spPr>
          <a:xfrm flipV="1">
            <a:off x="6720840" y="2514599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8" name="Connector 72"/>
          <p:cNvSpPr/>
          <p:nvPr/>
        </p:nvSpPr>
        <p:spPr>
          <a:xfrm flipV="1">
            <a:off x="6720840" y="2743200"/>
            <a:ext cx="877829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9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0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1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2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3" name="Connector 77"/>
          <p:cNvSpPr/>
          <p:nvPr/>
        </p:nvSpPr>
        <p:spPr>
          <a:xfrm>
            <a:off x="6940294" y="3538727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4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5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9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94"/>
          <p:cNvSpPr/>
          <p:nvPr/>
        </p:nvSpPr>
        <p:spPr>
          <a:xfrm>
            <a:off x="9272016" y="213969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105"/>
          <p:cNvSpPr/>
          <p:nvPr/>
        </p:nvSpPr>
        <p:spPr>
          <a:xfrm>
            <a:off x="10844783" y="3675886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06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07" name="Connector 111"/>
          <p:cNvSpPr/>
          <p:nvPr/>
        </p:nvSpPr>
        <p:spPr>
          <a:xfrm>
            <a:off x="749804" y="5248654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8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009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2010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20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2014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15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2016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2017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2018" name="Connector 7"/>
          <p:cNvSpPr/>
          <p:nvPr/>
        </p:nvSpPr>
        <p:spPr>
          <a:xfrm flipH="1">
            <a:off x="122529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9" name="Connector 8"/>
          <p:cNvSpPr/>
          <p:nvPr/>
        </p:nvSpPr>
        <p:spPr>
          <a:xfrm flipH="1">
            <a:off x="1581910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0" name="Connector 9"/>
          <p:cNvSpPr/>
          <p:nvPr/>
        </p:nvSpPr>
        <p:spPr>
          <a:xfrm flipH="1">
            <a:off x="193852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1" name="Connector 10"/>
          <p:cNvSpPr/>
          <p:nvPr/>
        </p:nvSpPr>
        <p:spPr>
          <a:xfrm flipH="1">
            <a:off x="229514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2" name="Connector 11"/>
          <p:cNvSpPr/>
          <p:nvPr/>
        </p:nvSpPr>
        <p:spPr>
          <a:xfrm flipH="1">
            <a:off x="265175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3" name="Connector 12"/>
          <p:cNvSpPr/>
          <p:nvPr/>
        </p:nvSpPr>
        <p:spPr>
          <a:xfrm flipH="1">
            <a:off x="3008375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4" name="Connector 13"/>
          <p:cNvSpPr/>
          <p:nvPr/>
        </p:nvSpPr>
        <p:spPr>
          <a:xfrm flipH="1">
            <a:off x="336498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5" name="Connector 14"/>
          <p:cNvSpPr/>
          <p:nvPr/>
        </p:nvSpPr>
        <p:spPr>
          <a:xfrm flipH="1">
            <a:off x="372160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6" name="Connector 15"/>
          <p:cNvSpPr/>
          <p:nvPr/>
        </p:nvSpPr>
        <p:spPr>
          <a:xfrm>
            <a:off x="1225294" y="2148837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7" name="Connector 16"/>
          <p:cNvSpPr/>
          <p:nvPr/>
        </p:nvSpPr>
        <p:spPr>
          <a:xfrm>
            <a:off x="1225294" y="254203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8" name="Connector 17"/>
          <p:cNvSpPr/>
          <p:nvPr/>
        </p:nvSpPr>
        <p:spPr>
          <a:xfrm>
            <a:off x="1225294" y="293522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9" name="Connector 18"/>
          <p:cNvSpPr/>
          <p:nvPr/>
        </p:nvSpPr>
        <p:spPr>
          <a:xfrm>
            <a:off x="1225294" y="3328413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0" name="Connector 19"/>
          <p:cNvSpPr/>
          <p:nvPr/>
        </p:nvSpPr>
        <p:spPr>
          <a:xfrm>
            <a:off x="1225294" y="3721606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1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2" name="Connector 21"/>
          <p:cNvSpPr/>
          <p:nvPr/>
        </p:nvSpPr>
        <p:spPr>
          <a:xfrm>
            <a:off x="1225294" y="4507989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3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5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6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7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8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9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0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1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2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3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4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5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6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7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8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9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0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1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2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3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4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5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6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7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9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0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1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2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3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4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5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6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7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8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9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070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2071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72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3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4" name="Connector 63"/>
          <p:cNvSpPr/>
          <p:nvPr/>
        </p:nvSpPr>
        <p:spPr>
          <a:xfrm>
            <a:off x="5202935" y="2212848"/>
            <a:ext cx="484636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5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6" name="Connector 65"/>
          <p:cNvSpPr/>
          <p:nvPr/>
        </p:nvSpPr>
        <p:spPr>
          <a:xfrm flipH="1">
            <a:off x="5440679" y="2532887"/>
            <a:ext cx="246893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7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8" name="Connector 67"/>
          <p:cNvSpPr/>
          <p:nvPr/>
        </p:nvSpPr>
        <p:spPr>
          <a:xfrm flipV="1">
            <a:off x="4864608" y="2971798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9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69"/>
          <p:cNvSpPr/>
          <p:nvPr/>
        </p:nvSpPr>
        <p:spPr>
          <a:xfrm>
            <a:off x="5943596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70"/>
          <p:cNvSpPr/>
          <p:nvPr/>
        </p:nvSpPr>
        <p:spPr>
          <a:xfrm flipV="1">
            <a:off x="6355079" y="2953510"/>
            <a:ext cx="365765" cy="53950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Connector 71"/>
          <p:cNvSpPr/>
          <p:nvPr/>
        </p:nvSpPr>
        <p:spPr>
          <a:xfrm flipV="1">
            <a:off x="6720840" y="2514598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3" name="Connector 72"/>
          <p:cNvSpPr/>
          <p:nvPr/>
        </p:nvSpPr>
        <p:spPr>
          <a:xfrm flipV="1">
            <a:off x="6720840" y="2743199"/>
            <a:ext cx="877829" cy="2103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4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5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8" name="Connector 77"/>
          <p:cNvSpPr/>
          <p:nvPr/>
        </p:nvSpPr>
        <p:spPr>
          <a:xfrm>
            <a:off x="6940294" y="3538725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9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0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1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2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3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4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5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7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8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9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1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2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3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04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5" name="Oval 94"/>
          <p:cNvSpPr/>
          <p:nvPr/>
        </p:nvSpPr>
        <p:spPr>
          <a:xfrm>
            <a:off x="9272016" y="2139694"/>
            <a:ext cx="137169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6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7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8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9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0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1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2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3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4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5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6" name="Oval 105"/>
          <p:cNvSpPr/>
          <p:nvPr/>
        </p:nvSpPr>
        <p:spPr>
          <a:xfrm>
            <a:off x="10844783" y="3675886"/>
            <a:ext cx="137167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7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8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9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0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121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122" name="Connector 111"/>
          <p:cNvSpPr/>
          <p:nvPr/>
        </p:nvSpPr>
        <p:spPr>
          <a:xfrm>
            <a:off x="749805" y="5248654"/>
            <a:ext cx="10680199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3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124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212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212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129" name="Oval 4"/>
          <p:cNvSpPr/>
          <p:nvPr/>
        </p:nvSpPr>
        <p:spPr>
          <a:xfrm>
            <a:off x="960119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0" name="Oval 5"/>
          <p:cNvSpPr/>
          <p:nvPr/>
        </p:nvSpPr>
        <p:spPr>
          <a:xfrm>
            <a:off x="134416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1" name="Oval 6"/>
          <p:cNvSpPr/>
          <p:nvPr/>
        </p:nvSpPr>
        <p:spPr>
          <a:xfrm>
            <a:off x="172821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2" name="Oval 7"/>
          <p:cNvSpPr/>
          <p:nvPr/>
        </p:nvSpPr>
        <p:spPr>
          <a:xfrm>
            <a:off x="2112264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3" name="Oval 8"/>
          <p:cNvSpPr/>
          <p:nvPr/>
        </p:nvSpPr>
        <p:spPr>
          <a:xfrm>
            <a:off x="249631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4" name="Oval 9"/>
          <p:cNvSpPr/>
          <p:nvPr/>
        </p:nvSpPr>
        <p:spPr>
          <a:xfrm>
            <a:off x="288036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5" name="Oval 10"/>
          <p:cNvSpPr/>
          <p:nvPr/>
        </p:nvSpPr>
        <p:spPr>
          <a:xfrm>
            <a:off x="3264408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6" name="Oval 11"/>
          <p:cNvSpPr/>
          <p:nvPr/>
        </p:nvSpPr>
        <p:spPr>
          <a:xfrm>
            <a:off x="108813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7" name="Oval 12"/>
          <p:cNvSpPr/>
          <p:nvPr/>
        </p:nvSpPr>
        <p:spPr>
          <a:xfrm>
            <a:off x="147218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8" name="Oval 13"/>
          <p:cNvSpPr/>
          <p:nvPr/>
        </p:nvSpPr>
        <p:spPr>
          <a:xfrm>
            <a:off x="1856232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9" name="Oval 14"/>
          <p:cNvSpPr/>
          <p:nvPr/>
        </p:nvSpPr>
        <p:spPr>
          <a:xfrm>
            <a:off x="224027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0" name="Oval 15"/>
          <p:cNvSpPr/>
          <p:nvPr/>
        </p:nvSpPr>
        <p:spPr>
          <a:xfrm>
            <a:off x="262432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1" name="Oval 16"/>
          <p:cNvSpPr/>
          <p:nvPr/>
        </p:nvSpPr>
        <p:spPr>
          <a:xfrm>
            <a:off x="300837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2" name="Oval 17"/>
          <p:cNvSpPr/>
          <p:nvPr/>
        </p:nvSpPr>
        <p:spPr>
          <a:xfrm>
            <a:off x="339242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3" name="Oval 18"/>
          <p:cNvSpPr/>
          <p:nvPr/>
        </p:nvSpPr>
        <p:spPr>
          <a:xfrm>
            <a:off x="960119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4" name="Oval 19"/>
          <p:cNvSpPr/>
          <p:nvPr/>
        </p:nvSpPr>
        <p:spPr>
          <a:xfrm>
            <a:off x="134416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5" name="Oval 20"/>
          <p:cNvSpPr/>
          <p:nvPr/>
        </p:nvSpPr>
        <p:spPr>
          <a:xfrm>
            <a:off x="172821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6" name="Oval 21"/>
          <p:cNvSpPr/>
          <p:nvPr/>
        </p:nvSpPr>
        <p:spPr>
          <a:xfrm>
            <a:off x="2112264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7" name="Oval 22"/>
          <p:cNvSpPr/>
          <p:nvPr/>
        </p:nvSpPr>
        <p:spPr>
          <a:xfrm>
            <a:off x="249631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8" name="Oval 23"/>
          <p:cNvSpPr/>
          <p:nvPr/>
        </p:nvSpPr>
        <p:spPr>
          <a:xfrm>
            <a:off x="288036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9" name="Oval 24"/>
          <p:cNvSpPr/>
          <p:nvPr/>
        </p:nvSpPr>
        <p:spPr>
          <a:xfrm>
            <a:off x="3264408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0" name="Oval 25"/>
          <p:cNvSpPr/>
          <p:nvPr/>
        </p:nvSpPr>
        <p:spPr>
          <a:xfrm>
            <a:off x="108813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1" name="Oval 26"/>
          <p:cNvSpPr/>
          <p:nvPr/>
        </p:nvSpPr>
        <p:spPr>
          <a:xfrm>
            <a:off x="147218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2" name="Oval 27"/>
          <p:cNvSpPr/>
          <p:nvPr/>
        </p:nvSpPr>
        <p:spPr>
          <a:xfrm>
            <a:off x="1856232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3" name="Oval 28"/>
          <p:cNvSpPr/>
          <p:nvPr/>
        </p:nvSpPr>
        <p:spPr>
          <a:xfrm>
            <a:off x="224027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4" name="Oval 29"/>
          <p:cNvSpPr/>
          <p:nvPr/>
        </p:nvSpPr>
        <p:spPr>
          <a:xfrm>
            <a:off x="262432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5" name="Oval 30"/>
          <p:cNvSpPr/>
          <p:nvPr/>
        </p:nvSpPr>
        <p:spPr>
          <a:xfrm>
            <a:off x="300837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6" name="Oval 31"/>
          <p:cNvSpPr/>
          <p:nvPr/>
        </p:nvSpPr>
        <p:spPr>
          <a:xfrm>
            <a:off x="339242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7" name="Oval 32"/>
          <p:cNvSpPr/>
          <p:nvPr/>
        </p:nvSpPr>
        <p:spPr>
          <a:xfrm>
            <a:off x="960119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8" name="Oval 33"/>
          <p:cNvSpPr/>
          <p:nvPr/>
        </p:nvSpPr>
        <p:spPr>
          <a:xfrm>
            <a:off x="134416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9" name="Oval 34"/>
          <p:cNvSpPr/>
          <p:nvPr/>
        </p:nvSpPr>
        <p:spPr>
          <a:xfrm>
            <a:off x="172821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0" name="Oval 35"/>
          <p:cNvSpPr/>
          <p:nvPr/>
        </p:nvSpPr>
        <p:spPr>
          <a:xfrm>
            <a:off x="2112264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1" name="Oval 36"/>
          <p:cNvSpPr/>
          <p:nvPr/>
        </p:nvSpPr>
        <p:spPr>
          <a:xfrm>
            <a:off x="249631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2" name="Oval 37"/>
          <p:cNvSpPr/>
          <p:nvPr/>
        </p:nvSpPr>
        <p:spPr>
          <a:xfrm>
            <a:off x="288036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3" name="Oval 38"/>
          <p:cNvSpPr/>
          <p:nvPr/>
        </p:nvSpPr>
        <p:spPr>
          <a:xfrm>
            <a:off x="3264408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4" name="Oval 39"/>
          <p:cNvSpPr/>
          <p:nvPr/>
        </p:nvSpPr>
        <p:spPr>
          <a:xfrm>
            <a:off x="108813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5" name="Oval 40"/>
          <p:cNvSpPr/>
          <p:nvPr/>
        </p:nvSpPr>
        <p:spPr>
          <a:xfrm>
            <a:off x="147218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6" name="Oval 41"/>
          <p:cNvSpPr/>
          <p:nvPr/>
        </p:nvSpPr>
        <p:spPr>
          <a:xfrm>
            <a:off x="1856232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7" name="Oval 42"/>
          <p:cNvSpPr/>
          <p:nvPr/>
        </p:nvSpPr>
        <p:spPr>
          <a:xfrm>
            <a:off x="224027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8" name="Oval 43"/>
          <p:cNvSpPr/>
          <p:nvPr/>
        </p:nvSpPr>
        <p:spPr>
          <a:xfrm>
            <a:off x="262432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9" name="Oval 44"/>
          <p:cNvSpPr/>
          <p:nvPr/>
        </p:nvSpPr>
        <p:spPr>
          <a:xfrm>
            <a:off x="300837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0" name="Oval 45"/>
          <p:cNvSpPr/>
          <p:nvPr/>
        </p:nvSpPr>
        <p:spPr>
          <a:xfrm>
            <a:off x="339242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1" name="Oval 46"/>
          <p:cNvSpPr/>
          <p:nvPr/>
        </p:nvSpPr>
        <p:spPr>
          <a:xfrm>
            <a:off x="960119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2" name="Oval 47"/>
          <p:cNvSpPr/>
          <p:nvPr/>
        </p:nvSpPr>
        <p:spPr>
          <a:xfrm>
            <a:off x="134416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3" name="Oval 48"/>
          <p:cNvSpPr/>
          <p:nvPr/>
        </p:nvSpPr>
        <p:spPr>
          <a:xfrm>
            <a:off x="172821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4" name="Oval 49"/>
          <p:cNvSpPr/>
          <p:nvPr/>
        </p:nvSpPr>
        <p:spPr>
          <a:xfrm>
            <a:off x="2112264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5" name="Oval 50"/>
          <p:cNvSpPr/>
          <p:nvPr/>
        </p:nvSpPr>
        <p:spPr>
          <a:xfrm>
            <a:off x="249631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6" name="Oval 51"/>
          <p:cNvSpPr/>
          <p:nvPr/>
        </p:nvSpPr>
        <p:spPr>
          <a:xfrm>
            <a:off x="288036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7" name="Oval 52"/>
          <p:cNvSpPr/>
          <p:nvPr/>
        </p:nvSpPr>
        <p:spPr>
          <a:xfrm>
            <a:off x="3264408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8" name="Oval 53"/>
          <p:cNvSpPr/>
          <p:nvPr/>
        </p:nvSpPr>
        <p:spPr>
          <a:xfrm>
            <a:off x="790955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9" name="Oval 54"/>
          <p:cNvSpPr/>
          <p:nvPr/>
        </p:nvSpPr>
        <p:spPr>
          <a:xfrm>
            <a:off x="829360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0" name="Oval 55"/>
          <p:cNvSpPr/>
          <p:nvPr/>
        </p:nvSpPr>
        <p:spPr>
          <a:xfrm>
            <a:off x="867765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1" name="Oval 56"/>
          <p:cNvSpPr/>
          <p:nvPr/>
        </p:nvSpPr>
        <p:spPr>
          <a:xfrm>
            <a:off x="9061704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2" name="Oval 57"/>
          <p:cNvSpPr/>
          <p:nvPr/>
        </p:nvSpPr>
        <p:spPr>
          <a:xfrm>
            <a:off x="9445752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3" name="Oval 58"/>
          <p:cNvSpPr/>
          <p:nvPr/>
        </p:nvSpPr>
        <p:spPr>
          <a:xfrm>
            <a:off x="982979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4" name="Oval 59"/>
          <p:cNvSpPr/>
          <p:nvPr/>
        </p:nvSpPr>
        <p:spPr>
          <a:xfrm>
            <a:off x="10213847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5" name="Oval 60"/>
          <p:cNvSpPr/>
          <p:nvPr/>
        </p:nvSpPr>
        <p:spPr>
          <a:xfrm>
            <a:off x="803757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6" name="Oval 61"/>
          <p:cNvSpPr/>
          <p:nvPr/>
        </p:nvSpPr>
        <p:spPr>
          <a:xfrm>
            <a:off x="8421623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7" name="Oval 62"/>
          <p:cNvSpPr/>
          <p:nvPr/>
        </p:nvSpPr>
        <p:spPr>
          <a:xfrm>
            <a:off x="8805671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8" name="Oval 63"/>
          <p:cNvSpPr/>
          <p:nvPr/>
        </p:nvSpPr>
        <p:spPr>
          <a:xfrm>
            <a:off x="918971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9" name="Oval 64"/>
          <p:cNvSpPr/>
          <p:nvPr/>
        </p:nvSpPr>
        <p:spPr>
          <a:xfrm>
            <a:off x="957376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0" name="Oval 65"/>
          <p:cNvSpPr/>
          <p:nvPr/>
        </p:nvSpPr>
        <p:spPr>
          <a:xfrm>
            <a:off x="995781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1" name="Oval 66"/>
          <p:cNvSpPr/>
          <p:nvPr/>
        </p:nvSpPr>
        <p:spPr>
          <a:xfrm>
            <a:off x="10341864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2" name="Oval 67"/>
          <p:cNvSpPr/>
          <p:nvPr/>
        </p:nvSpPr>
        <p:spPr>
          <a:xfrm>
            <a:off x="790955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3" name="Oval 68"/>
          <p:cNvSpPr/>
          <p:nvPr/>
        </p:nvSpPr>
        <p:spPr>
          <a:xfrm>
            <a:off x="829360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4" name="Oval 69"/>
          <p:cNvSpPr/>
          <p:nvPr/>
        </p:nvSpPr>
        <p:spPr>
          <a:xfrm>
            <a:off x="867765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5" name="Oval 70"/>
          <p:cNvSpPr/>
          <p:nvPr/>
        </p:nvSpPr>
        <p:spPr>
          <a:xfrm>
            <a:off x="9061704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6" name="Oval 71"/>
          <p:cNvSpPr/>
          <p:nvPr/>
        </p:nvSpPr>
        <p:spPr>
          <a:xfrm>
            <a:off x="9445752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7" name="Oval 72"/>
          <p:cNvSpPr/>
          <p:nvPr/>
        </p:nvSpPr>
        <p:spPr>
          <a:xfrm>
            <a:off x="982979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8" name="Oval 73"/>
          <p:cNvSpPr/>
          <p:nvPr/>
        </p:nvSpPr>
        <p:spPr>
          <a:xfrm>
            <a:off x="10213847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9" name="Oval 74"/>
          <p:cNvSpPr/>
          <p:nvPr/>
        </p:nvSpPr>
        <p:spPr>
          <a:xfrm>
            <a:off x="803757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0" name="Oval 75"/>
          <p:cNvSpPr/>
          <p:nvPr/>
        </p:nvSpPr>
        <p:spPr>
          <a:xfrm>
            <a:off x="8421623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1" name="Oval 76"/>
          <p:cNvSpPr/>
          <p:nvPr/>
        </p:nvSpPr>
        <p:spPr>
          <a:xfrm>
            <a:off x="8805671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2" name="Oval 77"/>
          <p:cNvSpPr/>
          <p:nvPr/>
        </p:nvSpPr>
        <p:spPr>
          <a:xfrm>
            <a:off x="918971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3" name="Oval 78"/>
          <p:cNvSpPr/>
          <p:nvPr/>
        </p:nvSpPr>
        <p:spPr>
          <a:xfrm>
            <a:off x="957376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4" name="Oval 79"/>
          <p:cNvSpPr/>
          <p:nvPr/>
        </p:nvSpPr>
        <p:spPr>
          <a:xfrm>
            <a:off x="995781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5" name="Oval 80"/>
          <p:cNvSpPr/>
          <p:nvPr/>
        </p:nvSpPr>
        <p:spPr>
          <a:xfrm>
            <a:off x="10341864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6" name="Oval 81"/>
          <p:cNvSpPr/>
          <p:nvPr/>
        </p:nvSpPr>
        <p:spPr>
          <a:xfrm>
            <a:off x="790955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7" name="Oval 82"/>
          <p:cNvSpPr/>
          <p:nvPr/>
        </p:nvSpPr>
        <p:spPr>
          <a:xfrm>
            <a:off x="829360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8" name="Oval 83"/>
          <p:cNvSpPr/>
          <p:nvPr/>
        </p:nvSpPr>
        <p:spPr>
          <a:xfrm>
            <a:off x="867765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9" name="Oval 84"/>
          <p:cNvSpPr/>
          <p:nvPr/>
        </p:nvSpPr>
        <p:spPr>
          <a:xfrm>
            <a:off x="9061704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0" name="Oval 85"/>
          <p:cNvSpPr/>
          <p:nvPr/>
        </p:nvSpPr>
        <p:spPr>
          <a:xfrm>
            <a:off x="9445752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1" name="Oval 86"/>
          <p:cNvSpPr/>
          <p:nvPr/>
        </p:nvSpPr>
        <p:spPr>
          <a:xfrm>
            <a:off x="982979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2" name="Oval 87"/>
          <p:cNvSpPr/>
          <p:nvPr/>
        </p:nvSpPr>
        <p:spPr>
          <a:xfrm>
            <a:off x="10213847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3" name="Oval 88"/>
          <p:cNvSpPr/>
          <p:nvPr/>
        </p:nvSpPr>
        <p:spPr>
          <a:xfrm>
            <a:off x="803757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4" name="Oval 89"/>
          <p:cNvSpPr/>
          <p:nvPr/>
        </p:nvSpPr>
        <p:spPr>
          <a:xfrm>
            <a:off x="8421623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5" name="Oval 90"/>
          <p:cNvSpPr/>
          <p:nvPr/>
        </p:nvSpPr>
        <p:spPr>
          <a:xfrm>
            <a:off x="8805671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6" name="Oval 91"/>
          <p:cNvSpPr/>
          <p:nvPr/>
        </p:nvSpPr>
        <p:spPr>
          <a:xfrm>
            <a:off x="918971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7" name="Oval 92"/>
          <p:cNvSpPr/>
          <p:nvPr/>
        </p:nvSpPr>
        <p:spPr>
          <a:xfrm>
            <a:off x="957376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8" name="Oval 93"/>
          <p:cNvSpPr/>
          <p:nvPr/>
        </p:nvSpPr>
        <p:spPr>
          <a:xfrm>
            <a:off x="995781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9" name="Oval 94"/>
          <p:cNvSpPr/>
          <p:nvPr/>
        </p:nvSpPr>
        <p:spPr>
          <a:xfrm>
            <a:off x="10341864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0" name="Oval 95"/>
          <p:cNvSpPr/>
          <p:nvPr/>
        </p:nvSpPr>
        <p:spPr>
          <a:xfrm>
            <a:off x="790955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1" name="Oval 96"/>
          <p:cNvSpPr/>
          <p:nvPr/>
        </p:nvSpPr>
        <p:spPr>
          <a:xfrm>
            <a:off x="829360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2" name="Oval 97"/>
          <p:cNvSpPr/>
          <p:nvPr/>
        </p:nvSpPr>
        <p:spPr>
          <a:xfrm>
            <a:off x="867765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3" name="Oval 98"/>
          <p:cNvSpPr/>
          <p:nvPr/>
        </p:nvSpPr>
        <p:spPr>
          <a:xfrm>
            <a:off x="9061704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4" name="Oval 99"/>
          <p:cNvSpPr/>
          <p:nvPr/>
        </p:nvSpPr>
        <p:spPr>
          <a:xfrm>
            <a:off x="9445752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5" name="Oval 100"/>
          <p:cNvSpPr/>
          <p:nvPr/>
        </p:nvSpPr>
        <p:spPr>
          <a:xfrm>
            <a:off x="982979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6" name="Oval 101"/>
          <p:cNvSpPr/>
          <p:nvPr/>
        </p:nvSpPr>
        <p:spPr>
          <a:xfrm>
            <a:off x="10213847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7" name="Rounded Rectangle 102"/>
          <p:cNvSpPr/>
          <p:nvPr/>
        </p:nvSpPr>
        <p:spPr>
          <a:xfrm>
            <a:off x="5413247" y="2304288"/>
            <a:ext cx="1371607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8" name="Connector 103"/>
          <p:cNvSpPr/>
          <p:nvPr/>
        </p:nvSpPr>
        <p:spPr>
          <a:xfrm>
            <a:off x="5669279" y="2788920"/>
            <a:ext cx="868682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9" name="Connector 104"/>
          <p:cNvSpPr/>
          <p:nvPr/>
        </p:nvSpPr>
        <p:spPr>
          <a:xfrm>
            <a:off x="5669279" y="3108960"/>
            <a:ext cx="731527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0" name="Connector 105"/>
          <p:cNvSpPr/>
          <p:nvPr/>
        </p:nvSpPr>
        <p:spPr>
          <a:xfrm>
            <a:off x="5669279" y="3429000"/>
            <a:ext cx="822967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1" name="Connector 106"/>
          <p:cNvSpPr/>
          <p:nvPr/>
        </p:nvSpPr>
        <p:spPr>
          <a:xfrm flipV="1">
            <a:off x="3310128" y="2907792"/>
            <a:ext cx="2103127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2" name="Connector 107"/>
          <p:cNvSpPr/>
          <p:nvPr/>
        </p:nvSpPr>
        <p:spPr>
          <a:xfrm flipH="1">
            <a:off x="6784847" y="1874515"/>
            <a:ext cx="1170439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3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234" name="TextBox 109"/>
          <p:cNvSpPr txBox="1"/>
          <p:nvPr/>
        </p:nvSpPr>
        <p:spPr>
          <a:xfrm>
            <a:off x="4700013" y="5193791"/>
            <a:ext cx="2377448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235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236" name="TextBox 111"/>
          <p:cNvSpPr txBox="1"/>
          <p:nvPr/>
        </p:nvSpPr>
        <p:spPr>
          <a:xfrm>
            <a:off x="3035802" y="5806440"/>
            <a:ext cx="6217932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237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TOPIC MODELING</a:t>
            </a:r>
          </a:p>
        </p:txBody>
      </p:sp>
      <p:sp>
        <p:nvSpPr>
          <p:cNvPr id="224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Disagreement changes by topic</a:t>
            </a:r>
          </a:p>
        </p:txBody>
      </p:sp>
      <p:sp>
        <p:nvSpPr>
          <p:cNvPr id="2241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1" y="1426463"/>
            <a:ext cx="6565394" cy="4860711"/>
          </a:xfrm>
          <a:prstGeom prst="rect">
            <a:avLst/>
          </a:prstGeom>
          <a:ln w="12700">
            <a:miter lim="400000"/>
          </a:ln>
        </p:spPr>
      </p:pic>
      <p:sp>
        <p:nvSpPr>
          <p:cNvPr id="2243" name="TextBox 5"/>
          <p:cNvSpPr txBox="1"/>
          <p:nvPr/>
        </p:nvSpPr>
        <p:spPr>
          <a:xfrm>
            <a:off x="7571230" y="1490472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TO READ</a:t>
            </a:r>
          </a:p>
        </p:txBody>
      </p:sp>
      <p:sp>
        <p:nvSpPr>
          <p:cNvPr id="2244" name="TextBox 6"/>
          <p:cNvSpPr txBox="1"/>
          <p:nvPr/>
        </p:nvSpPr>
        <p:spPr>
          <a:xfrm>
            <a:off x="7571230" y="1874518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x-position = approval rate</a:t>
            </a:r>
          </a:p>
        </p:txBody>
      </p:sp>
      <p:sp>
        <p:nvSpPr>
          <p:cNvPr id="2245" name="TextBox 7"/>
          <p:cNvSpPr txBox="1"/>
          <p:nvPr/>
        </p:nvSpPr>
        <p:spPr>
          <a:xfrm>
            <a:off x="7571230" y="2285999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bubble size = note count</a:t>
            </a:r>
          </a:p>
        </p:txBody>
      </p:sp>
      <p:sp>
        <p:nvSpPr>
          <p:cNvPr id="2246" name="TextBox 8"/>
          <p:cNvSpPr txBox="1"/>
          <p:nvPr/>
        </p:nvSpPr>
        <p:spPr>
          <a:xfrm>
            <a:off x="7571230" y="2697479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color = recovered constituency</a:t>
            </a:r>
          </a:p>
        </p:txBody>
      </p:sp>
      <p:sp>
        <p:nvSpPr>
          <p:cNvPr id="2247" name="Connector 9"/>
          <p:cNvSpPr/>
          <p:nvPr/>
        </p:nvSpPr>
        <p:spPr>
          <a:xfrm>
            <a:off x="7571230" y="3236976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8" name="TextBox 10"/>
          <p:cNvSpPr txBox="1"/>
          <p:nvPr/>
        </p:nvSpPr>
        <p:spPr>
          <a:xfrm>
            <a:off x="7571230" y="3538728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KEY RESULT</a:t>
            </a:r>
          </a:p>
        </p:txBody>
      </p:sp>
      <p:sp>
        <p:nvSpPr>
          <p:cNvPr id="2249" name="TextBox 11"/>
          <p:cNvSpPr txBox="1"/>
          <p:nvPr/>
        </p:nvSpPr>
        <p:spPr>
          <a:xfrm>
            <a:off x="7571230" y="392277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Approval leadership flips across topics</a:t>
            </a:r>
          </a:p>
        </p:txBody>
      </p:sp>
      <p:sp>
        <p:nvSpPr>
          <p:cNvPr id="2250" name="TextBox 12"/>
          <p:cNvSpPr txBox="1"/>
          <p:nvPr/>
        </p:nvSpPr>
        <p:spPr>
          <a:xfrm>
            <a:off x="7571230" y="442569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Constituencies are content-dependent</a:t>
            </a:r>
          </a:p>
        </p:txBody>
      </p:sp>
      <p:sp>
        <p:nvSpPr>
          <p:cNvPr id="2251" name="Connector 13"/>
          <p:cNvSpPr/>
          <p:nvPr/>
        </p:nvSpPr>
        <p:spPr>
          <a:xfrm>
            <a:off x="7571230" y="5047488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2" name="TextBox 14"/>
          <p:cNvSpPr txBox="1"/>
          <p:nvPr/>
        </p:nvSpPr>
        <p:spPr>
          <a:xfrm>
            <a:off x="7571230" y="5321808"/>
            <a:ext cx="363931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clusters are not simply ‘strict’ versus ‘lenient’</a:t>
            </a:r>
          </a:p>
        </p:txBody>
      </p:sp>
      <p:sp>
        <p:nvSpPr>
          <p:cNvPr id="2253" name="TextBox 1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BERTopic analysis · Method-B clusters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25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25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58" name="Connector 4"/>
          <p:cNvSpPr/>
          <p:nvPr/>
        </p:nvSpPr>
        <p:spPr>
          <a:xfrm flipH="1">
            <a:off x="1298447" y="1709925"/>
            <a:ext cx="7" cy="4023367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9" name="Oval 5"/>
          <p:cNvSpPr/>
          <p:nvPr/>
        </p:nvSpPr>
        <p:spPr>
          <a:xfrm>
            <a:off x="1216149" y="1901949"/>
            <a:ext cx="164605" cy="1646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6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26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263" name="Oval 9"/>
          <p:cNvSpPr/>
          <p:nvPr/>
        </p:nvSpPr>
        <p:spPr>
          <a:xfrm>
            <a:off x="1216149" y="2871216"/>
            <a:ext cx="164605" cy="164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26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26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267" name="Oval 13"/>
          <p:cNvSpPr/>
          <p:nvPr/>
        </p:nvSpPr>
        <p:spPr>
          <a:xfrm>
            <a:off x="1216149" y="3840479"/>
            <a:ext cx="164605" cy="16460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26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27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271" name="Oval 17"/>
          <p:cNvSpPr/>
          <p:nvPr/>
        </p:nvSpPr>
        <p:spPr>
          <a:xfrm>
            <a:off x="1216149" y="4809744"/>
            <a:ext cx="164605" cy="16460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27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27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27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27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7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8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28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284" name="TextBox 9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285" name="TextBox 10"/>
          <p:cNvSpPr txBox="1"/>
          <p:nvPr/>
        </p:nvSpPr>
        <p:spPr>
          <a:xfrm>
            <a:off x="7845552" y="1993392"/>
            <a:ext cx="1188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286" name="TextBox 11"/>
          <p:cNvSpPr txBox="1"/>
          <p:nvPr/>
        </p:nvSpPr>
        <p:spPr>
          <a:xfrm>
            <a:off x="7845552" y="2468878"/>
            <a:ext cx="155448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287" name="TextBox 12"/>
          <p:cNvSpPr txBox="1"/>
          <p:nvPr/>
        </p:nvSpPr>
        <p:spPr>
          <a:xfrm>
            <a:off x="9464040" y="2395727"/>
            <a:ext cx="10972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288" name="Oval 13"/>
          <p:cNvSpPr/>
          <p:nvPr/>
        </p:nvSpPr>
        <p:spPr>
          <a:xfrm>
            <a:off x="10899647" y="2414016"/>
            <a:ext cx="237747" cy="23774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9" name="Connector 14"/>
          <p:cNvSpPr/>
          <p:nvPr/>
        </p:nvSpPr>
        <p:spPr>
          <a:xfrm>
            <a:off x="10945368" y="2532888"/>
            <a:ext cx="45722" cy="45722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0" name="Connector 15"/>
          <p:cNvSpPr/>
          <p:nvPr/>
        </p:nvSpPr>
        <p:spPr>
          <a:xfrm flipV="1">
            <a:off x="10991088" y="2468878"/>
            <a:ext cx="91442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1" name="Connector 16"/>
          <p:cNvSpPr/>
          <p:nvPr/>
        </p:nvSpPr>
        <p:spPr>
          <a:xfrm>
            <a:off x="7845552" y="2907792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2" name="TextBox 17"/>
          <p:cNvSpPr txBox="1"/>
          <p:nvPr/>
        </p:nvSpPr>
        <p:spPr>
          <a:xfrm>
            <a:off x="7845552" y="3246120"/>
            <a:ext cx="155448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293" name="TextBox 18"/>
          <p:cNvSpPr txBox="1"/>
          <p:nvPr/>
        </p:nvSpPr>
        <p:spPr>
          <a:xfrm>
            <a:off x="9464040" y="3172966"/>
            <a:ext cx="10972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294" name="Oval 19"/>
          <p:cNvSpPr/>
          <p:nvPr/>
        </p:nvSpPr>
        <p:spPr>
          <a:xfrm>
            <a:off x="10899647" y="3191255"/>
            <a:ext cx="237747" cy="2377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5" name="Connector 20"/>
          <p:cNvSpPr/>
          <p:nvPr/>
        </p:nvSpPr>
        <p:spPr>
          <a:xfrm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6" name="Connector 21"/>
          <p:cNvSpPr/>
          <p:nvPr/>
        </p:nvSpPr>
        <p:spPr>
          <a:xfrm flipH="1"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7" name="TextBox 22"/>
          <p:cNvSpPr txBox="1"/>
          <p:nvPr/>
        </p:nvSpPr>
        <p:spPr>
          <a:xfrm>
            <a:off x="7845552" y="3931920"/>
            <a:ext cx="3493010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298" name="TextBox 23"/>
          <p:cNvSpPr txBox="1"/>
          <p:nvPr/>
        </p:nvSpPr>
        <p:spPr>
          <a:xfrm>
            <a:off x="8339325" y="4590288"/>
            <a:ext cx="251460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29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0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03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04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5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6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07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08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09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0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11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12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13" name="TextBox 13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314" name="TextBox 14"/>
          <p:cNvSpPr txBox="1"/>
          <p:nvPr/>
        </p:nvSpPr>
        <p:spPr>
          <a:xfrm>
            <a:off x="7845552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315" name="TextBox 15"/>
          <p:cNvSpPr txBox="1"/>
          <p:nvPr/>
        </p:nvSpPr>
        <p:spPr>
          <a:xfrm>
            <a:off x="9710928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316" name="TextBox 16"/>
          <p:cNvSpPr txBox="1"/>
          <p:nvPr/>
        </p:nvSpPr>
        <p:spPr>
          <a:xfrm>
            <a:off x="7845552" y="2468878"/>
            <a:ext cx="1417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317" name="TextBox 17"/>
          <p:cNvSpPr txBox="1"/>
          <p:nvPr/>
        </p:nvSpPr>
        <p:spPr>
          <a:xfrm>
            <a:off x="7845552" y="2761488"/>
            <a:ext cx="3429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318" name="TextBox 18"/>
          <p:cNvSpPr txBox="1"/>
          <p:nvPr/>
        </p:nvSpPr>
        <p:spPr>
          <a:xfrm>
            <a:off x="10442447" y="3127248"/>
            <a:ext cx="8229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319" name="Connector 19"/>
          <p:cNvSpPr/>
          <p:nvPr/>
        </p:nvSpPr>
        <p:spPr>
          <a:xfrm>
            <a:off x="7845552" y="3493008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0" name="TextBox 20"/>
          <p:cNvSpPr txBox="1"/>
          <p:nvPr/>
        </p:nvSpPr>
        <p:spPr>
          <a:xfrm>
            <a:off x="7845552" y="3794759"/>
            <a:ext cx="822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321" name="TextBox 21"/>
          <p:cNvSpPr txBox="1"/>
          <p:nvPr/>
        </p:nvSpPr>
        <p:spPr>
          <a:xfrm>
            <a:off x="7845552" y="4069079"/>
            <a:ext cx="342900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322" name="TextBox 22"/>
          <p:cNvSpPr txBox="1"/>
          <p:nvPr/>
        </p:nvSpPr>
        <p:spPr>
          <a:xfrm>
            <a:off x="9509759" y="4507991"/>
            <a:ext cx="17556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32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32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2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2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2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3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3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34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5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36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37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38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9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40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41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42" name="TextBox 17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343" name="TextBox 18"/>
          <p:cNvSpPr txBox="1"/>
          <p:nvPr/>
        </p:nvSpPr>
        <p:spPr>
          <a:xfrm>
            <a:off x="7845552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344" name="Oval 19"/>
          <p:cNvSpPr/>
          <p:nvPr/>
        </p:nvSpPr>
        <p:spPr>
          <a:xfrm>
            <a:off x="78455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5" name="Oval 20"/>
          <p:cNvSpPr/>
          <p:nvPr/>
        </p:nvSpPr>
        <p:spPr>
          <a:xfrm>
            <a:off x="80284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6" name="Oval 21"/>
          <p:cNvSpPr/>
          <p:nvPr/>
        </p:nvSpPr>
        <p:spPr>
          <a:xfrm>
            <a:off x="82113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7" name="Oval 22"/>
          <p:cNvSpPr/>
          <p:nvPr/>
        </p:nvSpPr>
        <p:spPr>
          <a:xfrm>
            <a:off x="83941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8" name="Oval 23"/>
          <p:cNvSpPr/>
          <p:nvPr/>
        </p:nvSpPr>
        <p:spPr>
          <a:xfrm>
            <a:off x="857707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9" name="Oval 24"/>
          <p:cNvSpPr/>
          <p:nvPr/>
        </p:nvSpPr>
        <p:spPr>
          <a:xfrm>
            <a:off x="87599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0" name="Oval 25"/>
          <p:cNvSpPr/>
          <p:nvPr/>
        </p:nvSpPr>
        <p:spPr>
          <a:xfrm>
            <a:off x="89428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1" name="Oval 26"/>
          <p:cNvSpPr/>
          <p:nvPr/>
        </p:nvSpPr>
        <p:spPr>
          <a:xfrm>
            <a:off x="91257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2" name="Oval 27"/>
          <p:cNvSpPr/>
          <p:nvPr/>
        </p:nvSpPr>
        <p:spPr>
          <a:xfrm>
            <a:off x="93085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3" name="TextBox 28"/>
          <p:cNvSpPr txBox="1"/>
          <p:nvPr/>
        </p:nvSpPr>
        <p:spPr>
          <a:xfrm>
            <a:off x="9912094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354" name="Oval 29"/>
          <p:cNvSpPr/>
          <p:nvPr/>
        </p:nvSpPr>
        <p:spPr>
          <a:xfrm>
            <a:off x="9912094" y="2377438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356" name="Connector 31"/>
          <p:cNvSpPr/>
          <p:nvPr/>
        </p:nvSpPr>
        <p:spPr>
          <a:xfrm>
            <a:off x="7845552" y="3401567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35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359" name="TextBox 34"/>
          <p:cNvSpPr txBox="1"/>
          <p:nvPr/>
        </p:nvSpPr>
        <p:spPr>
          <a:xfrm>
            <a:off x="7973568" y="4828032"/>
            <a:ext cx="321869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36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6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64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65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6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7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68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69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70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1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72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73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74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5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76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77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78" name="Oval 17"/>
          <p:cNvSpPr/>
          <p:nvPr/>
        </p:nvSpPr>
        <p:spPr>
          <a:xfrm>
            <a:off x="1216149" y="47365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9" name="TextBox 18"/>
          <p:cNvSpPr txBox="1"/>
          <p:nvPr/>
        </p:nvSpPr>
        <p:spPr>
          <a:xfrm>
            <a:off x="1700783" y="473659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380" name="TextBox 19"/>
          <p:cNvSpPr txBox="1"/>
          <p:nvPr/>
        </p:nvSpPr>
        <p:spPr>
          <a:xfrm>
            <a:off x="2313431" y="468172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381" name="TextBox 20"/>
          <p:cNvSpPr txBox="1"/>
          <p:nvPr/>
        </p:nvSpPr>
        <p:spPr>
          <a:xfrm>
            <a:off x="5074920" y="4709159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382" name="TextBox 21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383" name="Oval 22"/>
          <p:cNvSpPr/>
          <p:nvPr/>
        </p:nvSpPr>
        <p:spPr>
          <a:xfrm>
            <a:off x="7882125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4" name="Oval 23"/>
          <p:cNvSpPr/>
          <p:nvPr/>
        </p:nvSpPr>
        <p:spPr>
          <a:xfrm>
            <a:off x="8092440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5" name="Oval 24"/>
          <p:cNvSpPr/>
          <p:nvPr/>
        </p:nvSpPr>
        <p:spPr>
          <a:xfrm>
            <a:off x="8302752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6" name="Oval 25"/>
          <p:cNvSpPr/>
          <p:nvPr/>
        </p:nvSpPr>
        <p:spPr>
          <a:xfrm>
            <a:off x="8513063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7" name="Oval 26"/>
          <p:cNvSpPr/>
          <p:nvPr/>
        </p:nvSpPr>
        <p:spPr>
          <a:xfrm>
            <a:off x="8723376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8" name="Oval 27"/>
          <p:cNvSpPr/>
          <p:nvPr/>
        </p:nvSpPr>
        <p:spPr>
          <a:xfrm>
            <a:off x="7882125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9" name="Oval 28"/>
          <p:cNvSpPr/>
          <p:nvPr/>
        </p:nvSpPr>
        <p:spPr>
          <a:xfrm>
            <a:off x="8092440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0" name="Oval 29"/>
          <p:cNvSpPr/>
          <p:nvPr/>
        </p:nvSpPr>
        <p:spPr>
          <a:xfrm>
            <a:off x="8302752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1" name="Oval 30"/>
          <p:cNvSpPr/>
          <p:nvPr/>
        </p:nvSpPr>
        <p:spPr>
          <a:xfrm>
            <a:off x="8513063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2" name="Oval 31"/>
          <p:cNvSpPr/>
          <p:nvPr/>
        </p:nvSpPr>
        <p:spPr>
          <a:xfrm>
            <a:off x="8723376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3" name="Oval 32"/>
          <p:cNvSpPr/>
          <p:nvPr/>
        </p:nvSpPr>
        <p:spPr>
          <a:xfrm>
            <a:off x="7882125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4" name="Oval 33"/>
          <p:cNvSpPr/>
          <p:nvPr/>
        </p:nvSpPr>
        <p:spPr>
          <a:xfrm>
            <a:off x="8092440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5" name="Oval 34"/>
          <p:cNvSpPr/>
          <p:nvPr/>
        </p:nvSpPr>
        <p:spPr>
          <a:xfrm>
            <a:off x="8302752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6" name="Oval 35"/>
          <p:cNvSpPr/>
          <p:nvPr/>
        </p:nvSpPr>
        <p:spPr>
          <a:xfrm>
            <a:off x="8513063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7" name="Oval 36"/>
          <p:cNvSpPr/>
          <p:nvPr/>
        </p:nvSpPr>
        <p:spPr>
          <a:xfrm>
            <a:off x="8723376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8" name="Oval 37"/>
          <p:cNvSpPr/>
          <p:nvPr/>
        </p:nvSpPr>
        <p:spPr>
          <a:xfrm>
            <a:off x="7882125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9" name="Oval 38"/>
          <p:cNvSpPr/>
          <p:nvPr/>
        </p:nvSpPr>
        <p:spPr>
          <a:xfrm>
            <a:off x="8092440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0" name="Oval 39"/>
          <p:cNvSpPr/>
          <p:nvPr/>
        </p:nvSpPr>
        <p:spPr>
          <a:xfrm>
            <a:off x="8302752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1" name="Oval 40"/>
          <p:cNvSpPr/>
          <p:nvPr/>
        </p:nvSpPr>
        <p:spPr>
          <a:xfrm>
            <a:off x="8513063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2" name="Oval 41"/>
          <p:cNvSpPr/>
          <p:nvPr/>
        </p:nvSpPr>
        <p:spPr>
          <a:xfrm>
            <a:off x="8723376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3" name="TextBox 42"/>
          <p:cNvSpPr txBox="1"/>
          <p:nvPr/>
        </p:nvSpPr>
        <p:spPr>
          <a:xfrm>
            <a:off x="7845552" y="3273552"/>
            <a:ext cx="1143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404" name="TextBox 43"/>
          <p:cNvSpPr txBox="1"/>
          <p:nvPr/>
        </p:nvSpPr>
        <p:spPr>
          <a:xfrm>
            <a:off x="9034271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5" name="Connector 44"/>
          <p:cNvSpPr/>
          <p:nvPr/>
        </p:nvSpPr>
        <p:spPr>
          <a:xfrm flipV="1">
            <a:off x="9500616" y="2093976"/>
            <a:ext cx="374906" cy="10058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6" name="Connector 45"/>
          <p:cNvSpPr/>
          <p:nvPr/>
        </p:nvSpPr>
        <p:spPr>
          <a:xfrm>
            <a:off x="9500616" y="2194560"/>
            <a:ext cx="128018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7" name="Connector 46"/>
          <p:cNvSpPr/>
          <p:nvPr/>
        </p:nvSpPr>
        <p:spPr>
          <a:xfrm>
            <a:off x="9875518" y="2093976"/>
            <a:ext cx="256033" cy="34747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8" name="Connector 47"/>
          <p:cNvSpPr/>
          <p:nvPr/>
        </p:nvSpPr>
        <p:spPr>
          <a:xfrm flipH="1">
            <a:off x="9628630" y="2093976"/>
            <a:ext cx="246890" cy="6217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9" name="Connector 48"/>
          <p:cNvSpPr/>
          <p:nvPr/>
        </p:nvSpPr>
        <p:spPr>
          <a:xfrm flipH="1">
            <a:off x="9994392" y="2441448"/>
            <a:ext cx="137162" cy="43891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0" name="Connector 49"/>
          <p:cNvSpPr/>
          <p:nvPr/>
        </p:nvSpPr>
        <p:spPr>
          <a:xfrm>
            <a:off x="9628630" y="2715766"/>
            <a:ext cx="365762" cy="1645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1" name="Connector 50"/>
          <p:cNvSpPr/>
          <p:nvPr/>
        </p:nvSpPr>
        <p:spPr>
          <a:xfrm flipV="1">
            <a:off x="9994392" y="2734055"/>
            <a:ext cx="338330" cy="14630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2" name="Oval 51"/>
          <p:cNvSpPr/>
          <p:nvPr/>
        </p:nvSpPr>
        <p:spPr>
          <a:xfrm>
            <a:off x="9454894" y="21488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3" name="Oval 52"/>
          <p:cNvSpPr/>
          <p:nvPr/>
        </p:nvSpPr>
        <p:spPr>
          <a:xfrm>
            <a:off x="9829799" y="2048255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4" name="Oval 53"/>
          <p:cNvSpPr/>
          <p:nvPr/>
        </p:nvSpPr>
        <p:spPr>
          <a:xfrm>
            <a:off x="10085830" y="2395727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5" name="Oval 54"/>
          <p:cNvSpPr/>
          <p:nvPr/>
        </p:nvSpPr>
        <p:spPr>
          <a:xfrm>
            <a:off x="9582911" y="267004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6" name="Oval 55"/>
          <p:cNvSpPr/>
          <p:nvPr/>
        </p:nvSpPr>
        <p:spPr>
          <a:xfrm>
            <a:off x="9948671" y="28346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7" name="Oval 56"/>
          <p:cNvSpPr/>
          <p:nvPr/>
        </p:nvSpPr>
        <p:spPr>
          <a:xfrm>
            <a:off x="10286999" y="2688334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419" name="TextBox 58"/>
          <p:cNvSpPr txBox="1"/>
          <p:nvPr/>
        </p:nvSpPr>
        <p:spPr>
          <a:xfrm>
            <a:off x="10451592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20" name="Oval 59"/>
          <p:cNvSpPr/>
          <p:nvPr/>
        </p:nvSpPr>
        <p:spPr>
          <a:xfrm>
            <a:off x="10908792" y="2148838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1" name="Oval 60"/>
          <p:cNvSpPr/>
          <p:nvPr/>
        </p:nvSpPr>
        <p:spPr>
          <a:xfrm>
            <a:off x="11109959" y="2359150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2" name="Oval 61"/>
          <p:cNvSpPr/>
          <p:nvPr/>
        </p:nvSpPr>
        <p:spPr>
          <a:xfrm>
            <a:off x="10863071" y="2596894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3" name="Oval 62"/>
          <p:cNvSpPr/>
          <p:nvPr/>
        </p:nvSpPr>
        <p:spPr>
          <a:xfrm>
            <a:off x="11247118" y="2770632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4" name="Oval 63"/>
          <p:cNvSpPr/>
          <p:nvPr/>
        </p:nvSpPr>
        <p:spPr>
          <a:xfrm>
            <a:off x="11027664" y="2953510"/>
            <a:ext cx="118875" cy="11887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5" name="Oval 64"/>
          <p:cNvSpPr/>
          <p:nvPr/>
        </p:nvSpPr>
        <p:spPr>
          <a:xfrm>
            <a:off x="11292840" y="3127248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6" name="TextBox 65"/>
          <p:cNvSpPr txBox="1"/>
          <p:nvPr/>
        </p:nvSpPr>
        <p:spPr>
          <a:xfrm>
            <a:off x="10863071" y="3401567"/>
            <a:ext cx="5486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427" name="TextBox 66"/>
          <p:cNvSpPr txBox="1"/>
          <p:nvPr/>
        </p:nvSpPr>
        <p:spPr>
          <a:xfrm>
            <a:off x="7845552" y="3977637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428" name="TextBox 67"/>
          <p:cNvSpPr txBox="1"/>
          <p:nvPr/>
        </p:nvSpPr>
        <p:spPr>
          <a:xfrm>
            <a:off x="7882125" y="4526279"/>
            <a:ext cx="33832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42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REPRESENTATIVE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the platform shows—and hides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2257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11318"/>
                </a:solidFill>
                <a:latin typeface="Helvetica Neue"/>
              </a:rPr>
              <a:t>44,722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260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Representative picks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33472" y="2761488"/>
            <a:ext cx="612648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88920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121408"/>
            <a:ext cx="1627632" cy="1243584"/>
          </a:xfrm>
          <a:prstGeom prst="roundRect">
            <a:avLst/>
          </a:prstGeom>
          <a:noFill/>
          <a:ln w="1778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2331720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FA873"/>
                </a:solidFill>
                <a:latin typeface="Helvetica Neue"/>
              </a:rPr>
              <a:t>CCA BRIDGE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615184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11318"/>
                </a:solidFill>
                <a:latin typeface="Helvetica Neue"/>
              </a:rPr>
              <a:t>≥ 50%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19472" y="2761488"/>
            <a:ext cx="594360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84064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322576"/>
            <a:ext cx="2057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FA873"/>
                </a:solidFill>
                <a:latin typeface="Helvetica Neue"/>
              </a:rPr>
              <a:t>20,405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26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CCA-qualified · 46%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0" y="2761488"/>
            <a:ext cx="438911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28431" y="2103120"/>
            <a:ext cx="475489" cy="658368"/>
          </a:xfrm>
          <a:prstGeom prst="line">
            <a:avLst/>
          </a:prstGeom>
          <a:ln w="1524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28431" y="2761488"/>
            <a:ext cx="475489" cy="1005840"/>
          </a:xfrm>
          <a:prstGeom prst="line">
            <a:avLst/>
          </a:prstGeom>
          <a:ln w="1524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58200" y="157276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6,750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7627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already shown · 33%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4612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13,655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hidden rescue candidates · 67%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87368" y="3383280"/>
            <a:ext cx="0" cy="640080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10128" y="411480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705B"/>
                </a:solidFill>
                <a:latin typeface="Helvetica Neue"/>
              </a:rPr>
              <a:t>24,317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60857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019" b="1">
                <a:solidFill>
                  <a:srgbClr val="73777F"/>
                </a:solidFill>
                <a:latin typeface="Helvetica Neue"/>
              </a:rPr>
              <a:t>below threshold · 54%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5257800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84248" y="555955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600" b="1">
                <a:solidFill>
                  <a:srgbClr val="111318"/>
                </a:solidFill>
                <a:latin typeface="Helvetica Neue"/>
              </a:rPr>
              <a:t>CCA identifies one qualified pool—some already shown, others hidden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200k Representative pipeline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VALIDATION</a:t>
            </a:r>
          </a:p>
        </p:txBody>
      </p:sp>
      <p:sp>
        <p:nvSpPr>
          <p:cNvPr id="2454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Gabriel Validation</a:t>
            </a:r>
          </a:p>
        </p:txBody>
      </p:sp>
      <p:sp>
        <p:nvSpPr>
          <p:cNvPr id="2455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56" name="TextBox 4"/>
          <p:cNvSpPr txBox="1"/>
          <p:nvPr/>
        </p:nvSpPr>
        <p:spPr>
          <a:xfrm>
            <a:off x="9528047" y="429767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IN PROGRESS</a:t>
            </a:r>
          </a:p>
        </p:txBody>
      </p:sp>
      <p:sp>
        <p:nvSpPr>
          <p:cNvPr id="2457" name="Connector 5"/>
          <p:cNvSpPr/>
          <p:nvPr/>
        </p:nvSpPr>
        <p:spPr>
          <a:xfrm>
            <a:off x="9747504" y="658368"/>
            <a:ext cx="1097281" cy="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8" name="Connector 6"/>
          <p:cNvSpPr/>
          <p:nvPr/>
        </p:nvSpPr>
        <p:spPr>
          <a:xfrm flipH="1">
            <a:off x="6089903" y="1600199"/>
            <a:ext cx="1" cy="357530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9" name="Oval 7"/>
          <p:cNvSpPr/>
          <p:nvPr/>
        </p:nvSpPr>
        <p:spPr>
          <a:xfrm>
            <a:off x="822960" y="1636776"/>
            <a:ext cx="201169" cy="201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0" name="TextBox 8"/>
          <p:cNvSpPr txBox="1"/>
          <p:nvPr/>
        </p:nvSpPr>
        <p:spPr>
          <a:xfrm>
            <a:off x="1133855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1</a:t>
            </a:r>
          </a:p>
        </p:txBody>
      </p:sp>
      <p:sp>
        <p:nvSpPr>
          <p:cNvPr id="2461" name="TextBox 9"/>
          <p:cNvSpPr txBox="1"/>
          <p:nvPr/>
        </p:nvSpPr>
        <p:spPr>
          <a:xfrm>
            <a:off x="822959" y="1993392"/>
            <a:ext cx="329184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Nature + sourcing</a:t>
            </a:r>
          </a:p>
        </p:txBody>
      </p:sp>
      <p:sp>
        <p:nvSpPr>
          <p:cNvPr id="2462" name="TextBox 10"/>
          <p:cNvSpPr txBox="1"/>
          <p:nvPr/>
        </p:nvSpPr>
        <p:spPr>
          <a:xfrm>
            <a:off x="841247" y="2578607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463" name="TextBox 11"/>
          <p:cNvSpPr txBox="1"/>
          <p:nvPr/>
        </p:nvSpPr>
        <p:spPr>
          <a:xfrm>
            <a:off x="1417320" y="2532888"/>
            <a:ext cx="3383280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sourced factual information</a:t>
            </a:r>
          </a:p>
        </p:txBody>
      </p:sp>
      <p:sp>
        <p:nvSpPr>
          <p:cNvPr id="2464" name="TextBox 12"/>
          <p:cNvSpPr txBox="1"/>
          <p:nvPr/>
        </p:nvSpPr>
        <p:spPr>
          <a:xfrm>
            <a:off x="841247" y="301752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STOP</a:t>
            </a:r>
          </a:p>
        </p:txBody>
      </p:sp>
      <p:sp>
        <p:nvSpPr>
          <p:cNvPr id="2465" name="TextBox 13"/>
          <p:cNvSpPr txBox="1"/>
          <p:nvPr/>
        </p:nvSpPr>
        <p:spPr>
          <a:xfrm>
            <a:off x="1417320" y="2944367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466" name="TextBox 14"/>
          <p:cNvSpPr txBox="1"/>
          <p:nvPr/>
        </p:nvSpPr>
        <p:spPr>
          <a:xfrm>
            <a:off x="1417320" y="3328415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opinion / speculation</a:t>
            </a:r>
          </a:p>
        </p:txBody>
      </p:sp>
      <p:sp>
        <p:nvSpPr>
          <p:cNvPr id="2467" name="TextBox 15"/>
          <p:cNvSpPr txBox="1"/>
          <p:nvPr/>
        </p:nvSpPr>
        <p:spPr>
          <a:xfrm>
            <a:off x="1417320" y="3712464"/>
            <a:ext cx="3401568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hostile / derogatory</a:t>
            </a:r>
          </a:p>
        </p:txBody>
      </p:sp>
      <p:sp>
        <p:nvSpPr>
          <p:cNvPr id="2468" name="TextBox 16"/>
          <p:cNvSpPr txBox="1"/>
          <p:nvPr/>
        </p:nvSpPr>
        <p:spPr>
          <a:xfrm>
            <a:off x="1417320" y="4096511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irrelevant / spam</a:t>
            </a:r>
          </a:p>
        </p:txBody>
      </p:sp>
      <p:sp>
        <p:nvSpPr>
          <p:cNvPr id="2469" name="TextBox 17"/>
          <p:cNvSpPr txBox="1"/>
          <p:nvPr/>
        </p:nvSpPr>
        <p:spPr>
          <a:xfrm>
            <a:off x="841248" y="4645152"/>
            <a:ext cx="45262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VISIBLE EXTERNAL SOURCE POINTER REQUIRED</a:t>
            </a:r>
          </a:p>
        </p:txBody>
      </p:sp>
      <p:sp>
        <p:nvSpPr>
          <p:cNvPr id="2470" name="Oval 18"/>
          <p:cNvSpPr/>
          <p:nvPr/>
        </p:nvSpPr>
        <p:spPr>
          <a:xfrm>
            <a:off x="6446520" y="1636776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1" name="TextBox 19"/>
          <p:cNvSpPr txBox="1"/>
          <p:nvPr/>
        </p:nvSpPr>
        <p:spPr>
          <a:xfrm>
            <a:off x="6757416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2</a:t>
            </a:r>
          </a:p>
        </p:txBody>
      </p:sp>
      <p:sp>
        <p:nvSpPr>
          <p:cNvPr id="2472" name="TextBox 20"/>
          <p:cNvSpPr txBox="1"/>
          <p:nvPr/>
        </p:nvSpPr>
        <p:spPr>
          <a:xfrm>
            <a:off x="6446520" y="1993392"/>
            <a:ext cx="2926081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Rescue worthiness</a:t>
            </a:r>
          </a:p>
        </p:txBody>
      </p:sp>
      <p:sp>
        <p:nvSpPr>
          <p:cNvPr id="2473" name="TextBox 21"/>
          <p:cNvSpPr txBox="1"/>
          <p:nvPr/>
        </p:nvSpPr>
        <p:spPr>
          <a:xfrm>
            <a:off x="9893807" y="1892806"/>
            <a:ext cx="1234441" cy="4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0–100</a:t>
            </a:r>
          </a:p>
        </p:txBody>
      </p:sp>
      <p:sp>
        <p:nvSpPr>
          <p:cNvPr id="2474" name="TextBox 22"/>
          <p:cNvSpPr txBox="1"/>
          <p:nvPr/>
        </p:nvSpPr>
        <p:spPr>
          <a:xfrm>
            <a:off x="6473952" y="2633472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source traceability</a:t>
            </a:r>
          </a:p>
        </p:txBody>
      </p:sp>
      <p:sp>
        <p:nvSpPr>
          <p:cNvPr id="2475" name="TextBox 23"/>
          <p:cNvSpPr txBox="1"/>
          <p:nvPr/>
        </p:nvSpPr>
        <p:spPr>
          <a:xfrm>
            <a:off x="6473952" y="3072383"/>
            <a:ext cx="324612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claim–source connection</a:t>
            </a:r>
          </a:p>
        </p:txBody>
      </p:sp>
      <p:sp>
        <p:nvSpPr>
          <p:cNvPr id="2476" name="TextBox 24"/>
          <p:cNvSpPr txBox="1"/>
          <p:nvPr/>
        </p:nvSpPr>
        <p:spPr>
          <a:xfrm>
            <a:off x="6473952" y="3511296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clarity and neutrality</a:t>
            </a:r>
          </a:p>
        </p:txBody>
      </p:sp>
      <p:sp>
        <p:nvSpPr>
          <p:cNvPr id="2477" name="TextBox 25"/>
          <p:cNvSpPr txBox="1"/>
          <p:nvPr/>
        </p:nvSpPr>
        <p:spPr>
          <a:xfrm>
            <a:off x="6473952" y="3950208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constructive presentation</a:t>
            </a:r>
          </a:p>
        </p:txBody>
      </p:sp>
      <p:sp>
        <p:nvSpPr>
          <p:cNvPr id="2478" name="Connector 26"/>
          <p:cNvSpPr/>
          <p:nvPr/>
        </p:nvSpPr>
        <p:spPr>
          <a:xfrm>
            <a:off x="6455664" y="4526279"/>
            <a:ext cx="4654297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9" name="TextBox 27"/>
          <p:cNvSpPr txBox="1"/>
          <p:nvPr/>
        </p:nvSpPr>
        <p:spPr>
          <a:xfrm>
            <a:off x="6473952" y="4727447"/>
            <a:ext cx="1024129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≥50</a:t>
            </a:r>
          </a:p>
        </p:txBody>
      </p:sp>
      <p:sp>
        <p:nvSpPr>
          <p:cNvPr id="2480" name="TextBox 28"/>
          <p:cNvSpPr txBox="1"/>
          <p:nvPr/>
        </p:nvSpPr>
        <p:spPr>
          <a:xfrm>
            <a:off x="7516368" y="4791455"/>
            <a:ext cx="233172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  VALIDATED</a:t>
            </a:r>
          </a:p>
        </p:txBody>
      </p:sp>
      <p:sp>
        <p:nvSpPr>
          <p:cNvPr id="2481" name="Connector 29"/>
          <p:cNvSpPr/>
          <p:nvPr/>
        </p:nvSpPr>
        <p:spPr>
          <a:xfrm>
            <a:off x="749807" y="5376671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82" name="TextBox 30"/>
          <p:cNvSpPr txBox="1"/>
          <p:nvPr/>
        </p:nvSpPr>
        <p:spPr>
          <a:xfrm>
            <a:off x="1371599" y="5669279"/>
            <a:ext cx="946404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Missing sourcing is a validation failure—not proof that the claim is false</a:t>
            </a:r>
          </a:p>
        </p:txBody>
      </p:sp>
      <p:sp>
        <p:nvSpPr>
          <p:cNvPr id="2483" name="TextBox 31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Historical Gabriel method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From candidates to validated rescues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26464" y="2340864"/>
            <a:ext cx="6821424" cy="0"/>
          </a:xfrm>
          <a:prstGeom prst="line">
            <a:avLst/>
          </a:prstGeom>
          <a:ln w="228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13,655</a:t>
            </a:r>
          </a:p>
        </p:txBody>
      </p:sp>
      <p:sp>
        <p:nvSpPr>
          <p:cNvPr id="7" name="Oval 6"/>
          <p:cNvSpPr/>
          <p:nvPr/>
        </p:nvSpPr>
        <p:spPr>
          <a:xfrm>
            <a:off x="1408176" y="2249424"/>
            <a:ext cx="182880" cy="182880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5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CCA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318"/>
                </a:solidFill>
                <a:latin typeface="Helvetica Neue"/>
              </a:rPr>
              <a:t>frozen universe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2139696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10,376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249424"/>
            <a:ext cx="182880" cy="18288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Stage 2 judgments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3977F6"/>
                </a:solidFill>
                <a:latin typeface="Helvetica Neue"/>
              </a:rPr>
              <a:t>10,096 strict + 280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139696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8,558</a:t>
            </a:r>
          </a:p>
        </p:txBody>
      </p:sp>
      <p:sp>
        <p:nvSpPr>
          <p:cNvPr id="17" name="Oval 16"/>
          <p:cNvSpPr/>
          <p:nvPr/>
        </p:nvSpPr>
        <p:spPr>
          <a:xfrm>
            <a:off x="7370064" y="2249424"/>
            <a:ext cx="182880" cy="182880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Final rescues · ≥50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A873"/>
                </a:solidFill>
                <a:latin typeface="Helvetica Neue"/>
              </a:rPr>
              <a:t>8,527 strict + 31 recall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32304" y="2432304"/>
            <a:ext cx="0" cy="722376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8992" y="321868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3,279  CONTENT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5753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1,423  </a:t>
            </a:r>
            <a:r>
              <a:rPr sz="1019">
                <a:solidFill>
                  <a:srgbClr val="73777F"/>
                </a:solidFill>
                <a:latin typeface="Helvetica Neue"/>
              </a:rPr>
              <a:t>opinion / factual core absent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8039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1,340  </a:t>
            </a:r>
            <a:r>
              <a:rPr sz="1019">
                <a:solidFill>
                  <a:srgbClr val="73777F"/>
                </a:solidFill>
                <a:latin typeface="Helvetica Neue"/>
              </a:rPr>
              <a:t>irrelevant / trivial / spam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0325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373  </a:t>
            </a:r>
            <a:r>
              <a:rPr sz="1019">
                <a:solidFill>
                  <a:srgbClr val="73777F"/>
                </a:solidFill>
                <a:latin typeface="Helvetica Neue"/>
              </a:rPr>
              <a:t>unsourced context /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2611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142  </a:t>
            </a:r>
            <a:r>
              <a:rPr sz="1019">
                <a:solidFill>
                  <a:srgbClr val="73777F"/>
                </a:solidFill>
                <a:latin typeface="Helvetica Neue"/>
              </a:rPr>
              <a:t>hostile / derogatory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4897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  </a:t>
            </a:r>
            <a:r>
              <a:rPr sz="1019">
                <a:solidFill>
                  <a:srgbClr val="73777F"/>
                </a:solidFill>
                <a:latin typeface="Helvetica Neue"/>
              </a:rPr>
              <a:t>unresolved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22976" y="2432304"/>
            <a:ext cx="0" cy="722376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0" y="3218688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1,818  BELOW 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3749039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1,818  </a:t>
            </a:r>
            <a:r>
              <a:rPr sz="1019">
                <a:solidFill>
                  <a:srgbClr val="73777F"/>
                </a:solidFill>
                <a:latin typeface="Helvetica Neue"/>
              </a:rPr>
              <a:t>rescue-worthiness &lt; 50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4956048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9536" y="521208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A873"/>
                </a:solidFill>
                <a:latin typeface="Helvetica Neue"/>
              </a:rPr>
              <a:t>GEMMA 4 31B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21208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318"/>
                </a:solidFill>
                <a:latin typeface="Helvetica Neue"/>
              </a:rPr>
              <a:t>COMPLETED CANONICAL RUN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19379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30" b="1">
                <a:solidFill>
                  <a:srgbClr val="73777F"/>
                </a:solidFill>
                <a:latin typeface="Helvetica Neue"/>
              </a:rPr>
              <a:t>8,527 strict 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1937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30" b="1">
                <a:solidFill>
                  <a:srgbClr val="73777F"/>
                </a:solidFill>
                <a:latin typeface="Helvetica Neue"/>
              </a:rPr>
              <a:t>31 recall route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742432"/>
            <a:ext cx="6355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A873"/>
                </a:solidFill>
                <a:latin typeface="Helvetica Neue"/>
              </a:rPr>
              <a:t>10,376 / 10,376 complete · zero unresolved Stage 2 judgments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4 31B IT run · SCCKN · BF16 · threshold ≥50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 ·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makes a note worth rescuing?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53619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MODEL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1993392" cy="2212848"/>
          </a:xfrm>
          <a:prstGeom prst="roundRect">
            <a:avLst/>
          </a:prstGeom>
          <a:noFill/>
          <a:ln w="14604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331720"/>
            <a:ext cx="1463040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2688336"/>
            <a:ext cx="1261872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3044952"/>
            <a:ext cx="1389888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3529584"/>
            <a:ext cx="1133856" cy="0"/>
          </a:xfrm>
          <a:prstGeom prst="line">
            <a:avLst/>
          </a:prstGeom>
          <a:ln w="2286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3675887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3977F6"/>
                </a:solidFill>
                <a:latin typeface="Helvetica Neue"/>
              </a:rPr>
              <a:t>SOURCE POINTER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70832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note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745736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visible source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5361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HOLISTIC JUDGMENT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08476" y="2057400"/>
            <a:ext cx="0" cy="2505456"/>
          </a:xfrm>
          <a:prstGeom prst="line">
            <a:avLst/>
          </a:prstGeom>
          <a:ln w="1524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30752" y="2002536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984248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specific + traceable source pointer</a:t>
            </a:r>
          </a:p>
        </p:txBody>
      </p:sp>
      <p:sp>
        <p:nvSpPr>
          <p:cNvPr id="19" name="Oval 18"/>
          <p:cNvSpPr/>
          <p:nvPr/>
        </p:nvSpPr>
        <p:spPr>
          <a:xfrm>
            <a:off x="3730752" y="2615184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2596896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clear claim ↔ source connection</a:t>
            </a:r>
          </a:p>
        </p:txBody>
      </p:sp>
      <p:sp>
        <p:nvSpPr>
          <p:cNvPr id="21" name="Oval 20"/>
          <p:cNvSpPr/>
          <p:nvPr/>
        </p:nvSpPr>
        <p:spPr>
          <a:xfrm>
            <a:off x="3730752" y="3227832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3209544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self-contained explanation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3730752" y="3840479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3822191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factual + neutral wording</a:t>
            </a:r>
          </a:p>
        </p:txBody>
      </p:sp>
      <p:sp>
        <p:nvSpPr>
          <p:cNvPr id="25" name="Oval 24"/>
          <p:cNvSpPr/>
          <p:nvPr/>
        </p:nvSpPr>
        <p:spPr>
          <a:xfrm>
            <a:off x="3730752" y="4453127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4434840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concise + constructive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15361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0–100 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47888" y="1947672"/>
            <a:ext cx="0" cy="1435608"/>
          </a:xfrm>
          <a:prstGeom prst="line">
            <a:avLst/>
          </a:prstGeom>
          <a:ln w="3810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47888" y="3383280"/>
            <a:ext cx="0" cy="1408176"/>
          </a:xfrm>
          <a:prstGeom prst="line">
            <a:avLst/>
          </a:prstGeom>
          <a:ln w="381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147304" y="3282696"/>
            <a:ext cx="201168" cy="201168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90195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90–100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90195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outstanding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323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70–89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43230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strong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9535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40–69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95351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96849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10–39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96849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weak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49884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0–9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4988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minimal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19872" y="3383280"/>
            <a:ext cx="3035808" cy="0"/>
          </a:xfrm>
          <a:prstGeom prst="line">
            <a:avLst/>
          </a:prstGeom>
          <a:ln w="152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99831" y="3264408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349300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≥50  VALIDATED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9808" y="526694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12848" y="5577840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No URL opening · No original post · Visible note quality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Gabriel Stage-2 prompt · historical threshold ≥50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CHERRY-PICKED CASE · RUSSIA / UKRAINE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Same claim. Different standard.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554480"/>
            <a:ext cx="0" cy="3694176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04672" y="1517904"/>
            <a:ext cx="2578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PLATFORM-SHOWN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527048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1741061371389743362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174650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FF705B"/>
                </a:solidFill>
                <a:latin typeface="Helvetica Neue"/>
              </a:rPr>
              <a:t>CURRENTLY_RATED_HELPFUL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57.5%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824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98094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FF705B"/>
                </a:solidFill>
                <a:latin typeface="Helvetica Neue"/>
              </a:rPr>
              <a:t>√(.575 × .938) = 73.4%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08376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PLATFORM SHOWS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465576"/>
            <a:ext cx="44622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703320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Russian state-controlled television regularly promotes shooting people who don’t want to live under Russian occupation, advocating for raping Ukrainian grannies and drowning Ukrainian children, and nuking the UK &amp; invading further west.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55464"/>
            <a:ext cx="4041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YouTube · Newsweek · Business Insider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517904"/>
            <a:ext cx="29077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CCA / REPRESENTATIVE PICK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527048"/>
            <a:ext cx="18836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1741110453764239596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746504"/>
            <a:ext cx="1938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NEEDS_MORE_RATINGS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86.9%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00253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GABRIEL  70/100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66.5%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6416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890 ratings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980944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FA873"/>
                </a:solidFill>
                <a:latin typeface="Helvetica Neue"/>
              </a:rPr>
              <a:t>√(.665 × .952) = 79.6%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008376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CCA PICKS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37376" y="3465576"/>
            <a:ext cx="49194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55664" y="370332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 does in fact consider western countries to be its enemies (a practice which actually predates the illegal full-scale Russian invasion of Ukraine) and regularly threatens them with nuclear and other strikes. Labelling Russia as enemy state is fully accurate.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855464"/>
            <a:ext cx="4334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Euractiv · Reuters · Brookings · Expats.cz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08" y="540410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11680" y="5687568"/>
            <a:ext cx="8183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Cross-constituency selection favors the more neutral formulation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Representative selection · historical Gabriel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