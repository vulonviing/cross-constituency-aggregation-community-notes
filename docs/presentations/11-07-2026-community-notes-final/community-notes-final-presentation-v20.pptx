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90" r:id="rId42"/>
    <p:sldId id="286" r:id="rId38"/>
    <p:sldId id="287" r:id="rId39"/>
    <p:sldId id="288" r:id="rId40"/>
    <p:sldId id="289" r:id="rId41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94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70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6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4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4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4" cy="80486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658368" y="749808"/>
            <a:ext cx="5669280" cy="115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WHO SPEAKS</a:t>
            </a:r>
          </a:p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FOR THE CROWD?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704082" y="2926077"/>
            <a:ext cx="512065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Cross-Constituency Aggregation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04083" y="3364991"/>
            <a:ext cx="438913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for Community Notes</a:t>
            </a:r>
          </a:p>
        </p:txBody>
      </p:sp>
      <p:sp>
        <p:nvSpPr>
          <p:cNvPr id="97" name="Oval 4"/>
          <p:cNvSpPr/>
          <p:nvPr/>
        </p:nvSpPr>
        <p:spPr>
          <a:xfrm>
            <a:off x="7543799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8" name="Oval 5"/>
          <p:cNvSpPr/>
          <p:nvPr/>
        </p:nvSpPr>
        <p:spPr>
          <a:xfrm>
            <a:off x="7891271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9" name="Oval 6"/>
          <p:cNvSpPr/>
          <p:nvPr/>
        </p:nvSpPr>
        <p:spPr>
          <a:xfrm>
            <a:off x="8238742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0" name="Oval 7"/>
          <p:cNvSpPr/>
          <p:nvPr/>
        </p:nvSpPr>
        <p:spPr>
          <a:xfrm>
            <a:off x="8586216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1" name="Oval 8"/>
          <p:cNvSpPr/>
          <p:nvPr/>
        </p:nvSpPr>
        <p:spPr>
          <a:xfrm>
            <a:off x="8933688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2" name="Oval 9"/>
          <p:cNvSpPr/>
          <p:nvPr/>
        </p:nvSpPr>
        <p:spPr>
          <a:xfrm>
            <a:off x="7671816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3" name="Oval 10"/>
          <p:cNvSpPr/>
          <p:nvPr/>
        </p:nvSpPr>
        <p:spPr>
          <a:xfrm>
            <a:off x="8019288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4" name="Oval 11"/>
          <p:cNvSpPr/>
          <p:nvPr/>
        </p:nvSpPr>
        <p:spPr>
          <a:xfrm>
            <a:off x="8366759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5" name="Oval 12"/>
          <p:cNvSpPr/>
          <p:nvPr/>
        </p:nvSpPr>
        <p:spPr>
          <a:xfrm>
            <a:off x="8714230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6" name="Oval 13"/>
          <p:cNvSpPr/>
          <p:nvPr/>
        </p:nvSpPr>
        <p:spPr>
          <a:xfrm>
            <a:off x="9061704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7" name="Oval 14"/>
          <p:cNvSpPr/>
          <p:nvPr/>
        </p:nvSpPr>
        <p:spPr>
          <a:xfrm>
            <a:off x="7543799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8" name="Oval 15"/>
          <p:cNvSpPr/>
          <p:nvPr/>
        </p:nvSpPr>
        <p:spPr>
          <a:xfrm>
            <a:off x="7891271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9" name="Oval 16"/>
          <p:cNvSpPr/>
          <p:nvPr/>
        </p:nvSpPr>
        <p:spPr>
          <a:xfrm>
            <a:off x="8238742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0" name="Oval 17"/>
          <p:cNvSpPr/>
          <p:nvPr/>
        </p:nvSpPr>
        <p:spPr>
          <a:xfrm>
            <a:off x="8586216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1" name="Oval 18"/>
          <p:cNvSpPr/>
          <p:nvPr/>
        </p:nvSpPr>
        <p:spPr>
          <a:xfrm>
            <a:off x="8933688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2" name="Oval 19"/>
          <p:cNvSpPr/>
          <p:nvPr/>
        </p:nvSpPr>
        <p:spPr>
          <a:xfrm>
            <a:off x="7671816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3" name="Oval 20"/>
          <p:cNvSpPr/>
          <p:nvPr/>
        </p:nvSpPr>
        <p:spPr>
          <a:xfrm>
            <a:off x="8019288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4" name="Oval 21"/>
          <p:cNvSpPr/>
          <p:nvPr/>
        </p:nvSpPr>
        <p:spPr>
          <a:xfrm>
            <a:off x="8366759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5" name="Oval 22"/>
          <p:cNvSpPr/>
          <p:nvPr/>
        </p:nvSpPr>
        <p:spPr>
          <a:xfrm>
            <a:off x="8714230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6" name="Oval 23"/>
          <p:cNvSpPr/>
          <p:nvPr/>
        </p:nvSpPr>
        <p:spPr>
          <a:xfrm>
            <a:off x="9061704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7" name="Oval 24"/>
          <p:cNvSpPr/>
          <p:nvPr/>
        </p:nvSpPr>
        <p:spPr>
          <a:xfrm>
            <a:off x="7543799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8" name="Oval 25"/>
          <p:cNvSpPr/>
          <p:nvPr/>
        </p:nvSpPr>
        <p:spPr>
          <a:xfrm>
            <a:off x="7891271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9" name="Oval 26"/>
          <p:cNvSpPr/>
          <p:nvPr/>
        </p:nvSpPr>
        <p:spPr>
          <a:xfrm>
            <a:off x="8238742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0" name="Oval 27"/>
          <p:cNvSpPr/>
          <p:nvPr/>
        </p:nvSpPr>
        <p:spPr>
          <a:xfrm>
            <a:off x="8586216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1" name="Oval 28"/>
          <p:cNvSpPr/>
          <p:nvPr/>
        </p:nvSpPr>
        <p:spPr>
          <a:xfrm>
            <a:off x="8933688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2" name="Oval 29"/>
          <p:cNvSpPr/>
          <p:nvPr/>
        </p:nvSpPr>
        <p:spPr>
          <a:xfrm>
            <a:off x="7671816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3" name="Oval 30"/>
          <p:cNvSpPr/>
          <p:nvPr/>
        </p:nvSpPr>
        <p:spPr>
          <a:xfrm>
            <a:off x="8019288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4" name="Oval 31"/>
          <p:cNvSpPr/>
          <p:nvPr/>
        </p:nvSpPr>
        <p:spPr>
          <a:xfrm>
            <a:off x="8366759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5" name="Oval 32"/>
          <p:cNvSpPr/>
          <p:nvPr/>
        </p:nvSpPr>
        <p:spPr>
          <a:xfrm>
            <a:off x="8714230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6" name="Oval 33"/>
          <p:cNvSpPr/>
          <p:nvPr/>
        </p:nvSpPr>
        <p:spPr>
          <a:xfrm>
            <a:off x="9061704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7" name="Oval 34"/>
          <p:cNvSpPr/>
          <p:nvPr/>
        </p:nvSpPr>
        <p:spPr>
          <a:xfrm>
            <a:off x="7543799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8" name="Oval 35"/>
          <p:cNvSpPr/>
          <p:nvPr/>
        </p:nvSpPr>
        <p:spPr>
          <a:xfrm>
            <a:off x="7891271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9" name="Oval 36"/>
          <p:cNvSpPr/>
          <p:nvPr/>
        </p:nvSpPr>
        <p:spPr>
          <a:xfrm>
            <a:off x="8238742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0" name="Oval 37"/>
          <p:cNvSpPr/>
          <p:nvPr/>
        </p:nvSpPr>
        <p:spPr>
          <a:xfrm>
            <a:off x="8586216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1" name="Oval 38"/>
          <p:cNvSpPr/>
          <p:nvPr/>
        </p:nvSpPr>
        <p:spPr>
          <a:xfrm>
            <a:off x="8933688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2" name="Rounded Rectangle 39"/>
          <p:cNvSpPr/>
          <p:nvPr/>
        </p:nvSpPr>
        <p:spPr>
          <a:xfrm>
            <a:off x="10195559" y="2542032"/>
            <a:ext cx="1234447" cy="1481335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3" name="Connector 40"/>
          <p:cNvSpPr/>
          <p:nvPr/>
        </p:nvSpPr>
        <p:spPr>
          <a:xfrm>
            <a:off x="10442447" y="2971800"/>
            <a:ext cx="713239" cy="0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" name="Connector 41"/>
          <p:cNvSpPr/>
          <p:nvPr/>
        </p:nvSpPr>
        <p:spPr>
          <a:xfrm>
            <a:off x="10442447" y="3273552"/>
            <a:ext cx="557791" cy="7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" name="Connector 42"/>
          <p:cNvSpPr/>
          <p:nvPr/>
        </p:nvSpPr>
        <p:spPr>
          <a:xfrm>
            <a:off x="9107423" y="2203704"/>
            <a:ext cx="1088143" cy="74067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" name="Connector 43"/>
          <p:cNvSpPr/>
          <p:nvPr/>
        </p:nvSpPr>
        <p:spPr>
          <a:xfrm flipV="1">
            <a:off x="8979406" y="3611879"/>
            <a:ext cx="1216159" cy="151791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" name="TextBox 45"/>
          <p:cNvSpPr txBox="1"/>
          <p:nvPr/>
        </p:nvSpPr>
        <p:spPr>
          <a:xfrm>
            <a:off x="11082528" y="6181344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40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41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42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43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4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51" name="Group"/>
          <p:cNvGrpSpPr/>
          <p:nvPr/>
        </p:nvGrpSpPr>
        <p:grpSpPr>
          <a:xfrm>
            <a:off x="8060533" y="3550469"/>
            <a:ext cx="635021" cy="635021"/>
            <a:chOff x="0" y="0"/>
            <a:chExt cx="635020" cy="635020"/>
          </a:xfrm>
        </p:grpSpPr>
        <p:sp>
          <p:nvSpPr>
            <p:cNvPr id="148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49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50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52" name="Oval 22"/>
          <p:cNvSpPr/>
          <p:nvPr/>
        </p:nvSpPr>
        <p:spPr>
          <a:xfrm>
            <a:off x="8865872" y="3550472"/>
            <a:ext cx="635011" cy="63501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3" name="Connector 23"/>
          <p:cNvSpPr/>
          <p:nvPr/>
        </p:nvSpPr>
        <p:spPr>
          <a:xfrm>
            <a:off x="8992871" y="3867972"/>
            <a:ext cx="381007" cy="7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56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57" name="TextBox 29"/>
          <p:cNvSpPr txBox="1"/>
          <p:nvPr/>
        </p:nvSpPr>
        <p:spPr>
          <a:xfrm>
            <a:off x="5009839" y="5630290"/>
            <a:ext cx="292608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58" name="TextBox 30"/>
          <p:cNvSpPr txBox="1"/>
          <p:nvPr/>
        </p:nvSpPr>
        <p:spPr>
          <a:xfrm>
            <a:off x="8578742" y="4413015"/>
            <a:ext cx="283464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5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7" cy="3968502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Rectangle"/>
          <p:cNvSpPr/>
          <p:nvPr/>
        </p:nvSpPr>
        <p:spPr>
          <a:xfrm>
            <a:off x="4623363" y="1454860"/>
            <a:ext cx="6103251" cy="469457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63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64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65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66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74" name="Group"/>
          <p:cNvGrpSpPr/>
          <p:nvPr/>
        </p:nvGrpSpPr>
        <p:grpSpPr>
          <a:xfrm>
            <a:off x="8060533" y="3550469"/>
            <a:ext cx="635021" cy="635021"/>
            <a:chOff x="0" y="0"/>
            <a:chExt cx="635020" cy="635020"/>
          </a:xfrm>
        </p:grpSpPr>
        <p:sp>
          <p:nvSpPr>
            <p:cNvPr id="171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72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3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75" name="Oval 22"/>
          <p:cNvSpPr/>
          <p:nvPr/>
        </p:nvSpPr>
        <p:spPr>
          <a:xfrm>
            <a:off x="8865872" y="3550472"/>
            <a:ext cx="635011" cy="63501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" name="Connector 23"/>
          <p:cNvSpPr/>
          <p:nvPr/>
        </p:nvSpPr>
        <p:spPr>
          <a:xfrm>
            <a:off x="8992871" y="3867972"/>
            <a:ext cx="381007" cy="7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9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80" name="TextBox 29"/>
          <p:cNvSpPr txBox="1"/>
          <p:nvPr/>
        </p:nvSpPr>
        <p:spPr>
          <a:xfrm>
            <a:off x="5009839" y="5630290"/>
            <a:ext cx="292608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81" name="TextBox 30"/>
          <p:cNvSpPr txBox="1"/>
          <p:nvPr/>
        </p:nvSpPr>
        <p:spPr>
          <a:xfrm>
            <a:off x="8578742" y="4413015"/>
            <a:ext cx="283464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8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7" cy="3968502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Rectangle"/>
          <p:cNvSpPr/>
          <p:nvPr/>
        </p:nvSpPr>
        <p:spPr>
          <a:xfrm>
            <a:off x="4623363" y="3673616"/>
            <a:ext cx="3417921" cy="18965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4" name="Rectangle"/>
          <p:cNvSpPr/>
          <p:nvPr/>
        </p:nvSpPr>
        <p:spPr>
          <a:xfrm>
            <a:off x="7959513" y="3046658"/>
            <a:ext cx="3417921" cy="18965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87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88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89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90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1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2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3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4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98" name="Group"/>
          <p:cNvGrpSpPr/>
          <p:nvPr/>
        </p:nvGrpSpPr>
        <p:grpSpPr>
          <a:xfrm>
            <a:off x="8060533" y="3550469"/>
            <a:ext cx="635021" cy="635021"/>
            <a:chOff x="0" y="0"/>
            <a:chExt cx="635020" cy="635020"/>
          </a:xfrm>
        </p:grpSpPr>
        <p:sp>
          <p:nvSpPr>
            <p:cNvPr id="195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96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7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99" name="Oval 22"/>
          <p:cNvSpPr/>
          <p:nvPr/>
        </p:nvSpPr>
        <p:spPr>
          <a:xfrm>
            <a:off x="8865872" y="3550472"/>
            <a:ext cx="635011" cy="63501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0" name="Connector 23"/>
          <p:cNvSpPr/>
          <p:nvPr/>
        </p:nvSpPr>
        <p:spPr>
          <a:xfrm>
            <a:off x="8992871" y="3867972"/>
            <a:ext cx="381007" cy="7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3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04" name="TextBox 29"/>
          <p:cNvSpPr txBox="1"/>
          <p:nvPr/>
        </p:nvSpPr>
        <p:spPr>
          <a:xfrm>
            <a:off x="5009839" y="5630290"/>
            <a:ext cx="292608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205" name="TextBox 30"/>
          <p:cNvSpPr txBox="1"/>
          <p:nvPr/>
        </p:nvSpPr>
        <p:spPr>
          <a:xfrm>
            <a:off x="8578742" y="4413015"/>
            <a:ext cx="283464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0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7" cy="39685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209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210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11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212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4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5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6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220" name="Group"/>
          <p:cNvGrpSpPr/>
          <p:nvPr/>
        </p:nvGrpSpPr>
        <p:grpSpPr>
          <a:xfrm>
            <a:off x="5383018" y="698305"/>
            <a:ext cx="635021" cy="635021"/>
            <a:chOff x="0" y="0"/>
            <a:chExt cx="635020" cy="635020"/>
          </a:xfrm>
        </p:grpSpPr>
        <p:sp>
          <p:nvSpPr>
            <p:cNvPr id="217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18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9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223" name="Group"/>
          <p:cNvGrpSpPr/>
          <p:nvPr/>
        </p:nvGrpSpPr>
        <p:grpSpPr>
          <a:xfrm>
            <a:off x="8575883" y="698301"/>
            <a:ext cx="635021" cy="635021"/>
            <a:chOff x="0" y="0"/>
            <a:chExt cx="635020" cy="635020"/>
          </a:xfrm>
        </p:grpSpPr>
        <p:sp>
          <p:nvSpPr>
            <p:cNvPr id="221" name="Oval 22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chemeClr val="accent2">
                <a:satOff val="-4966"/>
                <a:lumOff val="-10549"/>
              </a:schemeClr>
            </a:solidFill>
            <a:ln w="25400" cap="flat">
              <a:solidFill>
                <a:srgbClr val="8C3A3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22" name="Connector 23"/>
            <p:cNvSpPr/>
            <p:nvPr/>
          </p:nvSpPr>
          <p:spPr>
            <a:xfrm>
              <a:off x="127001" y="317504"/>
              <a:ext cx="381010" cy="7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224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26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27" name="TextBox 30"/>
          <p:cNvSpPr txBox="1"/>
          <p:nvPr/>
        </p:nvSpPr>
        <p:spPr>
          <a:xfrm>
            <a:off x="6800177" y="5824268"/>
            <a:ext cx="283464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2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05815" y="1680123"/>
            <a:ext cx="2560324" cy="379733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17102" y="1781142"/>
            <a:ext cx="2568091" cy="35953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CROWD</a:t>
            </a:r>
          </a:p>
        </p:txBody>
      </p:sp>
      <p:sp>
        <p:nvSpPr>
          <p:cNvPr id="232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Now multiply that by thousands</a:t>
            </a:r>
          </a:p>
        </p:txBody>
      </p:sp>
      <p:sp>
        <p:nvSpPr>
          <p:cNvPr id="23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34" name="Oval 4"/>
          <p:cNvSpPr/>
          <p:nvPr/>
        </p:nvSpPr>
        <p:spPr>
          <a:xfrm>
            <a:off x="868680" y="2578605"/>
            <a:ext cx="192037" cy="1920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" name="Connector 5"/>
          <p:cNvSpPr/>
          <p:nvPr/>
        </p:nvSpPr>
        <p:spPr>
          <a:xfrm>
            <a:off x="964691" y="2770632"/>
            <a:ext cx="7" cy="31684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" name="Connector 6"/>
          <p:cNvSpPr/>
          <p:nvPr/>
        </p:nvSpPr>
        <p:spPr>
          <a:xfrm>
            <a:off x="830274" y="2905048"/>
            <a:ext cx="26884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7" name="Connector 7"/>
          <p:cNvSpPr/>
          <p:nvPr/>
        </p:nvSpPr>
        <p:spPr>
          <a:xfrm flipH="1">
            <a:off x="839875" y="3087470"/>
            <a:ext cx="124822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8" name="Connector 8"/>
          <p:cNvSpPr/>
          <p:nvPr/>
        </p:nvSpPr>
        <p:spPr>
          <a:xfrm>
            <a:off x="964691" y="3087470"/>
            <a:ext cx="124815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9" name="TextBox 9"/>
          <p:cNvSpPr txBox="1"/>
          <p:nvPr/>
        </p:nvSpPr>
        <p:spPr>
          <a:xfrm>
            <a:off x="1965960" y="2761488"/>
            <a:ext cx="3657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0" name="Oval 10"/>
          <p:cNvSpPr/>
          <p:nvPr/>
        </p:nvSpPr>
        <p:spPr>
          <a:xfrm>
            <a:off x="283463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" name="Oval 11"/>
          <p:cNvSpPr/>
          <p:nvPr/>
        </p:nvSpPr>
        <p:spPr>
          <a:xfrm>
            <a:off x="321868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" name="Oval 12"/>
          <p:cNvSpPr/>
          <p:nvPr/>
        </p:nvSpPr>
        <p:spPr>
          <a:xfrm>
            <a:off x="3602735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3" name="Oval 13"/>
          <p:cNvSpPr/>
          <p:nvPr/>
        </p:nvSpPr>
        <p:spPr>
          <a:xfrm>
            <a:off x="398678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4" name="Oval 14"/>
          <p:cNvSpPr/>
          <p:nvPr/>
        </p:nvSpPr>
        <p:spPr>
          <a:xfrm>
            <a:off x="4370832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5" name="Oval 15"/>
          <p:cNvSpPr/>
          <p:nvPr/>
        </p:nvSpPr>
        <p:spPr>
          <a:xfrm>
            <a:off x="4754879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6" name="Oval 16"/>
          <p:cNvSpPr/>
          <p:nvPr/>
        </p:nvSpPr>
        <p:spPr>
          <a:xfrm>
            <a:off x="513892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7" name="Oval 17"/>
          <p:cNvSpPr/>
          <p:nvPr/>
        </p:nvSpPr>
        <p:spPr>
          <a:xfrm>
            <a:off x="552297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8" name="Oval 18"/>
          <p:cNvSpPr/>
          <p:nvPr/>
        </p:nvSpPr>
        <p:spPr>
          <a:xfrm>
            <a:off x="5907023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9" name="Oval 19"/>
          <p:cNvSpPr/>
          <p:nvPr/>
        </p:nvSpPr>
        <p:spPr>
          <a:xfrm>
            <a:off x="629107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0" name="Oval 20"/>
          <p:cNvSpPr/>
          <p:nvPr/>
        </p:nvSpPr>
        <p:spPr>
          <a:xfrm>
            <a:off x="667511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1" name="Oval 21"/>
          <p:cNvSpPr/>
          <p:nvPr/>
        </p:nvSpPr>
        <p:spPr>
          <a:xfrm>
            <a:off x="705916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2" name="Oval 22"/>
          <p:cNvSpPr/>
          <p:nvPr/>
        </p:nvSpPr>
        <p:spPr>
          <a:xfrm>
            <a:off x="744321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3" name="Oval 23"/>
          <p:cNvSpPr/>
          <p:nvPr/>
        </p:nvSpPr>
        <p:spPr>
          <a:xfrm>
            <a:off x="782726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4" name="Oval 24"/>
          <p:cNvSpPr/>
          <p:nvPr/>
        </p:nvSpPr>
        <p:spPr>
          <a:xfrm>
            <a:off x="821131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5" name="Oval 25"/>
          <p:cNvSpPr/>
          <p:nvPr/>
        </p:nvSpPr>
        <p:spPr>
          <a:xfrm>
            <a:off x="296265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6" name="Oval 26"/>
          <p:cNvSpPr/>
          <p:nvPr/>
        </p:nvSpPr>
        <p:spPr>
          <a:xfrm>
            <a:off x="334670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7" name="Oval 27"/>
          <p:cNvSpPr/>
          <p:nvPr/>
        </p:nvSpPr>
        <p:spPr>
          <a:xfrm>
            <a:off x="3730752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8" name="Oval 28"/>
          <p:cNvSpPr/>
          <p:nvPr/>
        </p:nvSpPr>
        <p:spPr>
          <a:xfrm>
            <a:off x="4114800" y="2176272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9" name="Oval 29"/>
          <p:cNvSpPr/>
          <p:nvPr/>
        </p:nvSpPr>
        <p:spPr>
          <a:xfrm>
            <a:off x="4498847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0" name="Oval 30"/>
          <p:cNvSpPr/>
          <p:nvPr/>
        </p:nvSpPr>
        <p:spPr>
          <a:xfrm>
            <a:off x="4882896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1" name="Oval 31"/>
          <p:cNvSpPr/>
          <p:nvPr/>
        </p:nvSpPr>
        <p:spPr>
          <a:xfrm>
            <a:off x="5266944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2" name="Oval 32"/>
          <p:cNvSpPr/>
          <p:nvPr/>
        </p:nvSpPr>
        <p:spPr>
          <a:xfrm>
            <a:off x="5650991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3" name="Oval 33"/>
          <p:cNvSpPr/>
          <p:nvPr/>
        </p:nvSpPr>
        <p:spPr>
          <a:xfrm>
            <a:off x="603504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4" name="Oval 34"/>
          <p:cNvSpPr/>
          <p:nvPr/>
        </p:nvSpPr>
        <p:spPr>
          <a:xfrm>
            <a:off x="641908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5" name="Oval 35"/>
          <p:cNvSpPr/>
          <p:nvPr/>
        </p:nvSpPr>
        <p:spPr>
          <a:xfrm>
            <a:off x="680313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6" name="Oval 36"/>
          <p:cNvSpPr/>
          <p:nvPr/>
        </p:nvSpPr>
        <p:spPr>
          <a:xfrm>
            <a:off x="718718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7" name="Oval 37"/>
          <p:cNvSpPr/>
          <p:nvPr/>
        </p:nvSpPr>
        <p:spPr>
          <a:xfrm>
            <a:off x="757123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8" name="Oval 38"/>
          <p:cNvSpPr/>
          <p:nvPr/>
        </p:nvSpPr>
        <p:spPr>
          <a:xfrm>
            <a:off x="795528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9" name="Oval 39"/>
          <p:cNvSpPr/>
          <p:nvPr/>
        </p:nvSpPr>
        <p:spPr>
          <a:xfrm>
            <a:off x="833932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0" name="Oval 40"/>
          <p:cNvSpPr/>
          <p:nvPr/>
        </p:nvSpPr>
        <p:spPr>
          <a:xfrm>
            <a:off x="283463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1" name="Oval 41"/>
          <p:cNvSpPr/>
          <p:nvPr/>
        </p:nvSpPr>
        <p:spPr>
          <a:xfrm>
            <a:off x="321868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2" name="Oval 42"/>
          <p:cNvSpPr/>
          <p:nvPr/>
        </p:nvSpPr>
        <p:spPr>
          <a:xfrm>
            <a:off x="3602735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3" name="Oval 43"/>
          <p:cNvSpPr/>
          <p:nvPr/>
        </p:nvSpPr>
        <p:spPr>
          <a:xfrm>
            <a:off x="398678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4" name="Oval 44"/>
          <p:cNvSpPr/>
          <p:nvPr/>
        </p:nvSpPr>
        <p:spPr>
          <a:xfrm>
            <a:off x="4370832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5" name="Oval 45"/>
          <p:cNvSpPr/>
          <p:nvPr/>
        </p:nvSpPr>
        <p:spPr>
          <a:xfrm>
            <a:off x="4754879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6" name="Oval 46"/>
          <p:cNvSpPr/>
          <p:nvPr/>
        </p:nvSpPr>
        <p:spPr>
          <a:xfrm>
            <a:off x="513892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7" name="Oval 47"/>
          <p:cNvSpPr/>
          <p:nvPr/>
        </p:nvSpPr>
        <p:spPr>
          <a:xfrm>
            <a:off x="552297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8" name="Oval 48"/>
          <p:cNvSpPr/>
          <p:nvPr/>
        </p:nvSpPr>
        <p:spPr>
          <a:xfrm>
            <a:off x="5907023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9" name="Oval 49"/>
          <p:cNvSpPr/>
          <p:nvPr/>
        </p:nvSpPr>
        <p:spPr>
          <a:xfrm>
            <a:off x="629107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0" name="Oval 50"/>
          <p:cNvSpPr/>
          <p:nvPr/>
        </p:nvSpPr>
        <p:spPr>
          <a:xfrm>
            <a:off x="667511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1" name="Oval 51"/>
          <p:cNvSpPr/>
          <p:nvPr/>
        </p:nvSpPr>
        <p:spPr>
          <a:xfrm>
            <a:off x="705916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2" name="Oval 52"/>
          <p:cNvSpPr/>
          <p:nvPr/>
        </p:nvSpPr>
        <p:spPr>
          <a:xfrm>
            <a:off x="744321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3" name="Oval 53"/>
          <p:cNvSpPr/>
          <p:nvPr/>
        </p:nvSpPr>
        <p:spPr>
          <a:xfrm>
            <a:off x="782726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4" name="Oval 54"/>
          <p:cNvSpPr/>
          <p:nvPr/>
        </p:nvSpPr>
        <p:spPr>
          <a:xfrm>
            <a:off x="821131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5" name="Oval 55"/>
          <p:cNvSpPr/>
          <p:nvPr/>
        </p:nvSpPr>
        <p:spPr>
          <a:xfrm>
            <a:off x="296265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6" name="Oval 56"/>
          <p:cNvSpPr/>
          <p:nvPr/>
        </p:nvSpPr>
        <p:spPr>
          <a:xfrm>
            <a:off x="334670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7" name="Oval 57"/>
          <p:cNvSpPr/>
          <p:nvPr/>
        </p:nvSpPr>
        <p:spPr>
          <a:xfrm>
            <a:off x="3730752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8" name="Oval 58"/>
          <p:cNvSpPr/>
          <p:nvPr/>
        </p:nvSpPr>
        <p:spPr>
          <a:xfrm>
            <a:off x="4114800" y="2962655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9" name="Oval 59"/>
          <p:cNvSpPr/>
          <p:nvPr/>
        </p:nvSpPr>
        <p:spPr>
          <a:xfrm>
            <a:off x="4498847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0" name="Oval 60"/>
          <p:cNvSpPr/>
          <p:nvPr/>
        </p:nvSpPr>
        <p:spPr>
          <a:xfrm>
            <a:off x="4882896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1" name="Oval 61"/>
          <p:cNvSpPr/>
          <p:nvPr/>
        </p:nvSpPr>
        <p:spPr>
          <a:xfrm>
            <a:off x="5266944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2" name="Oval 62"/>
          <p:cNvSpPr/>
          <p:nvPr/>
        </p:nvSpPr>
        <p:spPr>
          <a:xfrm>
            <a:off x="5650991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3" name="Oval 63"/>
          <p:cNvSpPr/>
          <p:nvPr/>
        </p:nvSpPr>
        <p:spPr>
          <a:xfrm>
            <a:off x="603504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4" name="Oval 64"/>
          <p:cNvSpPr/>
          <p:nvPr/>
        </p:nvSpPr>
        <p:spPr>
          <a:xfrm>
            <a:off x="641908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5" name="Oval 65"/>
          <p:cNvSpPr/>
          <p:nvPr/>
        </p:nvSpPr>
        <p:spPr>
          <a:xfrm>
            <a:off x="680313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6" name="Oval 66"/>
          <p:cNvSpPr/>
          <p:nvPr/>
        </p:nvSpPr>
        <p:spPr>
          <a:xfrm>
            <a:off x="718718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7" name="Oval 67"/>
          <p:cNvSpPr/>
          <p:nvPr/>
        </p:nvSpPr>
        <p:spPr>
          <a:xfrm>
            <a:off x="757123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8" name="Oval 68"/>
          <p:cNvSpPr/>
          <p:nvPr/>
        </p:nvSpPr>
        <p:spPr>
          <a:xfrm>
            <a:off x="795528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9" name="Oval 69"/>
          <p:cNvSpPr/>
          <p:nvPr/>
        </p:nvSpPr>
        <p:spPr>
          <a:xfrm>
            <a:off x="833932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0" name="Oval 70"/>
          <p:cNvSpPr/>
          <p:nvPr/>
        </p:nvSpPr>
        <p:spPr>
          <a:xfrm>
            <a:off x="283463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1" name="Oval 71"/>
          <p:cNvSpPr/>
          <p:nvPr/>
        </p:nvSpPr>
        <p:spPr>
          <a:xfrm>
            <a:off x="321868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2" name="Oval 72"/>
          <p:cNvSpPr/>
          <p:nvPr/>
        </p:nvSpPr>
        <p:spPr>
          <a:xfrm>
            <a:off x="3602735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3" name="Oval 73"/>
          <p:cNvSpPr/>
          <p:nvPr/>
        </p:nvSpPr>
        <p:spPr>
          <a:xfrm>
            <a:off x="398678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4" name="Oval 74"/>
          <p:cNvSpPr/>
          <p:nvPr/>
        </p:nvSpPr>
        <p:spPr>
          <a:xfrm>
            <a:off x="4370832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5" name="Oval 75"/>
          <p:cNvSpPr/>
          <p:nvPr/>
        </p:nvSpPr>
        <p:spPr>
          <a:xfrm>
            <a:off x="4754879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6" name="Oval 76"/>
          <p:cNvSpPr/>
          <p:nvPr/>
        </p:nvSpPr>
        <p:spPr>
          <a:xfrm>
            <a:off x="513892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7" name="Oval 77"/>
          <p:cNvSpPr/>
          <p:nvPr/>
        </p:nvSpPr>
        <p:spPr>
          <a:xfrm>
            <a:off x="552297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8" name="Oval 78"/>
          <p:cNvSpPr/>
          <p:nvPr/>
        </p:nvSpPr>
        <p:spPr>
          <a:xfrm>
            <a:off x="5907023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9" name="Oval 79"/>
          <p:cNvSpPr/>
          <p:nvPr/>
        </p:nvSpPr>
        <p:spPr>
          <a:xfrm>
            <a:off x="629107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0" name="Oval 80"/>
          <p:cNvSpPr/>
          <p:nvPr/>
        </p:nvSpPr>
        <p:spPr>
          <a:xfrm>
            <a:off x="667511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1" name="Oval 81"/>
          <p:cNvSpPr/>
          <p:nvPr/>
        </p:nvSpPr>
        <p:spPr>
          <a:xfrm>
            <a:off x="705916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2" name="Oval 82"/>
          <p:cNvSpPr/>
          <p:nvPr/>
        </p:nvSpPr>
        <p:spPr>
          <a:xfrm>
            <a:off x="744321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3" name="Oval 83"/>
          <p:cNvSpPr/>
          <p:nvPr/>
        </p:nvSpPr>
        <p:spPr>
          <a:xfrm>
            <a:off x="782726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4" name="Oval 84"/>
          <p:cNvSpPr/>
          <p:nvPr/>
        </p:nvSpPr>
        <p:spPr>
          <a:xfrm>
            <a:off x="821131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5" name="Oval 85"/>
          <p:cNvSpPr/>
          <p:nvPr/>
        </p:nvSpPr>
        <p:spPr>
          <a:xfrm>
            <a:off x="296265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6" name="Oval 86"/>
          <p:cNvSpPr/>
          <p:nvPr/>
        </p:nvSpPr>
        <p:spPr>
          <a:xfrm>
            <a:off x="334670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7" name="Oval 87"/>
          <p:cNvSpPr/>
          <p:nvPr/>
        </p:nvSpPr>
        <p:spPr>
          <a:xfrm>
            <a:off x="3730752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8" name="Oval 88"/>
          <p:cNvSpPr/>
          <p:nvPr/>
        </p:nvSpPr>
        <p:spPr>
          <a:xfrm>
            <a:off x="4114800" y="3749037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9" name="Oval 89"/>
          <p:cNvSpPr/>
          <p:nvPr/>
        </p:nvSpPr>
        <p:spPr>
          <a:xfrm>
            <a:off x="4498847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0" name="Oval 90"/>
          <p:cNvSpPr/>
          <p:nvPr/>
        </p:nvSpPr>
        <p:spPr>
          <a:xfrm>
            <a:off x="4882896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1" name="Oval 91"/>
          <p:cNvSpPr/>
          <p:nvPr/>
        </p:nvSpPr>
        <p:spPr>
          <a:xfrm>
            <a:off x="5266944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2" name="Oval 92"/>
          <p:cNvSpPr/>
          <p:nvPr/>
        </p:nvSpPr>
        <p:spPr>
          <a:xfrm>
            <a:off x="5650991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3" name="Oval 93"/>
          <p:cNvSpPr/>
          <p:nvPr/>
        </p:nvSpPr>
        <p:spPr>
          <a:xfrm>
            <a:off x="603504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4" name="Oval 94"/>
          <p:cNvSpPr/>
          <p:nvPr/>
        </p:nvSpPr>
        <p:spPr>
          <a:xfrm>
            <a:off x="641908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5" name="Oval 95"/>
          <p:cNvSpPr/>
          <p:nvPr/>
        </p:nvSpPr>
        <p:spPr>
          <a:xfrm>
            <a:off x="680313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6" name="Oval 96"/>
          <p:cNvSpPr/>
          <p:nvPr/>
        </p:nvSpPr>
        <p:spPr>
          <a:xfrm>
            <a:off x="718718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7" name="Oval 97"/>
          <p:cNvSpPr/>
          <p:nvPr/>
        </p:nvSpPr>
        <p:spPr>
          <a:xfrm>
            <a:off x="757123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8" name="Oval 98"/>
          <p:cNvSpPr/>
          <p:nvPr/>
        </p:nvSpPr>
        <p:spPr>
          <a:xfrm>
            <a:off x="795528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9" name="Oval 99"/>
          <p:cNvSpPr/>
          <p:nvPr/>
        </p:nvSpPr>
        <p:spPr>
          <a:xfrm>
            <a:off x="833932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0" name="Oval 100"/>
          <p:cNvSpPr/>
          <p:nvPr/>
        </p:nvSpPr>
        <p:spPr>
          <a:xfrm>
            <a:off x="283463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1" name="Oval 101"/>
          <p:cNvSpPr/>
          <p:nvPr/>
        </p:nvSpPr>
        <p:spPr>
          <a:xfrm>
            <a:off x="321868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2" name="Oval 102"/>
          <p:cNvSpPr/>
          <p:nvPr/>
        </p:nvSpPr>
        <p:spPr>
          <a:xfrm>
            <a:off x="3602735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3" name="Oval 103"/>
          <p:cNvSpPr/>
          <p:nvPr/>
        </p:nvSpPr>
        <p:spPr>
          <a:xfrm>
            <a:off x="398678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4" name="Oval 104"/>
          <p:cNvSpPr/>
          <p:nvPr/>
        </p:nvSpPr>
        <p:spPr>
          <a:xfrm>
            <a:off x="4370832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5" name="Oval 105"/>
          <p:cNvSpPr/>
          <p:nvPr/>
        </p:nvSpPr>
        <p:spPr>
          <a:xfrm>
            <a:off x="4754879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6" name="Oval 106"/>
          <p:cNvSpPr/>
          <p:nvPr/>
        </p:nvSpPr>
        <p:spPr>
          <a:xfrm>
            <a:off x="513892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7" name="Oval 107"/>
          <p:cNvSpPr/>
          <p:nvPr/>
        </p:nvSpPr>
        <p:spPr>
          <a:xfrm>
            <a:off x="552297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8" name="Oval 108"/>
          <p:cNvSpPr/>
          <p:nvPr/>
        </p:nvSpPr>
        <p:spPr>
          <a:xfrm>
            <a:off x="5907023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9" name="Oval 109"/>
          <p:cNvSpPr/>
          <p:nvPr/>
        </p:nvSpPr>
        <p:spPr>
          <a:xfrm>
            <a:off x="629107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0" name="Oval 110"/>
          <p:cNvSpPr/>
          <p:nvPr/>
        </p:nvSpPr>
        <p:spPr>
          <a:xfrm>
            <a:off x="667511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1" name="Oval 111"/>
          <p:cNvSpPr/>
          <p:nvPr/>
        </p:nvSpPr>
        <p:spPr>
          <a:xfrm>
            <a:off x="705916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2" name="Oval 112"/>
          <p:cNvSpPr/>
          <p:nvPr/>
        </p:nvSpPr>
        <p:spPr>
          <a:xfrm>
            <a:off x="744321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3" name="Oval 113"/>
          <p:cNvSpPr/>
          <p:nvPr/>
        </p:nvSpPr>
        <p:spPr>
          <a:xfrm>
            <a:off x="782726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4" name="Oval 114"/>
          <p:cNvSpPr/>
          <p:nvPr/>
        </p:nvSpPr>
        <p:spPr>
          <a:xfrm>
            <a:off x="821131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5" name="Oval 115"/>
          <p:cNvSpPr/>
          <p:nvPr/>
        </p:nvSpPr>
        <p:spPr>
          <a:xfrm>
            <a:off x="296265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6" name="Oval 116"/>
          <p:cNvSpPr/>
          <p:nvPr/>
        </p:nvSpPr>
        <p:spPr>
          <a:xfrm>
            <a:off x="334670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7" name="Oval 117"/>
          <p:cNvSpPr/>
          <p:nvPr/>
        </p:nvSpPr>
        <p:spPr>
          <a:xfrm>
            <a:off x="3730752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8" name="Oval 118"/>
          <p:cNvSpPr/>
          <p:nvPr/>
        </p:nvSpPr>
        <p:spPr>
          <a:xfrm>
            <a:off x="4114800" y="4535423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9" name="Oval 119"/>
          <p:cNvSpPr/>
          <p:nvPr/>
        </p:nvSpPr>
        <p:spPr>
          <a:xfrm>
            <a:off x="4498847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0" name="Oval 120"/>
          <p:cNvSpPr/>
          <p:nvPr/>
        </p:nvSpPr>
        <p:spPr>
          <a:xfrm>
            <a:off x="4882896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1" name="Oval 121"/>
          <p:cNvSpPr/>
          <p:nvPr/>
        </p:nvSpPr>
        <p:spPr>
          <a:xfrm>
            <a:off x="5266944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2" name="Oval 122"/>
          <p:cNvSpPr/>
          <p:nvPr/>
        </p:nvSpPr>
        <p:spPr>
          <a:xfrm>
            <a:off x="5650991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3" name="Oval 123"/>
          <p:cNvSpPr/>
          <p:nvPr/>
        </p:nvSpPr>
        <p:spPr>
          <a:xfrm>
            <a:off x="603504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4" name="Oval 124"/>
          <p:cNvSpPr/>
          <p:nvPr/>
        </p:nvSpPr>
        <p:spPr>
          <a:xfrm>
            <a:off x="641908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5" name="Oval 125"/>
          <p:cNvSpPr/>
          <p:nvPr/>
        </p:nvSpPr>
        <p:spPr>
          <a:xfrm>
            <a:off x="680313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6" name="Oval 126"/>
          <p:cNvSpPr/>
          <p:nvPr/>
        </p:nvSpPr>
        <p:spPr>
          <a:xfrm>
            <a:off x="718718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7" name="Oval 127"/>
          <p:cNvSpPr/>
          <p:nvPr/>
        </p:nvSpPr>
        <p:spPr>
          <a:xfrm>
            <a:off x="757123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8" name="Oval 128"/>
          <p:cNvSpPr/>
          <p:nvPr/>
        </p:nvSpPr>
        <p:spPr>
          <a:xfrm>
            <a:off x="795528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9" name="Oval 129"/>
          <p:cNvSpPr/>
          <p:nvPr/>
        </p:nvSpPr>
        <p:spPr>
          <a:xfrm>
            <a:off x="833932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0" name="Oval 130"/>
          <p:cNvSpPr/>
          <p:nvPr/>
        </p:nvSpPr>
        <p:spPr>
          <a:xfrm>
            <a:off x="283463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1" name="Oval 131"/>
          <p:cNvSpPr/>
          <p:nvPr/>
        </p:nvSpPr>
        <p:spPr>
          <a:xfrm>
            <a:off x="321868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2" name="Oval 132"/>
          <p:cNvSpPr/>
          <p:nvPr/>
        </p:nvSpPr>
        <p:spPr>
          <a:xfrm>
            <a:off x="3602735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3" name="Oval 133"/>
          <p:cNvSpPr/>
          <p:nvPr/>
        </p:nvSpPr>
        <p:spPr>
          <a:xfrm>
            <a:off x="398678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4" name="Oval 134"/>
          <p:cNvSpPr/>
          <p:nvPr/>
        </p:nvSpPr>
        <p:spPr>
          <a:xfrm>
            <a:off x="4370832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5" name="Oval 135"/>
          <p:cNvSpPr/>
          <p:nvPr/>
        </p:nvSpPr>
        <p:spPr>
          <a:xfrm>
            <a:off x="4754879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6" name="Oval 136"/>
          <p:cNvSpPr/>
          <p:nvPr/>
        </p:nvSpPr>
        <p:spPr>
          <a:xfrm>
            <a:off x="513892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7" name="Oval 137"/>
          <p:cNvSpPr/>
          <p:nvPr/>
        </p:nvSpPr>
        <p:spPr>
          <a:xfrm>
            <a:off x="552297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8" name="Oval 138"/>
          <p:cNvSpPr/>
          <p:nvPr/>
        </p:nvSpPr>
        <p:spPr>
          <a:xfrm>
            <a:off x="5907023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9" name="Oval 139"/>
          <p:cNvSpPr/>
          <p:nvPr/>
        </p:nvSpPr>
        <p:spPr>
          <a:xfrm>
            <a:off x="629107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0" name="Oval 140"/>
          <p:cNvSpPr/>
          <p:nvPr/>
        </p:nvSpPr>
        <p:spPr>
          <a:xfrm>
            <a:off x="667511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1" name="Oval 141"/>
          <p:cNvSpPr/>
          <p:nvPr/>
        </p:nvSpPr>
        <p:spPr>
          <a:xfrm>
            <a:off x="705916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2" name="Oval 142"/>
          <p:cNvSpPr/>
          <p:nvPr/>
        </p:nvSpPr>
        <p:spPr>
          <a:xfrm>
            <a:off x="744321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3" name="Oval 143"/>
          <p:cNvSpPr/>
          <p:nvPr/>
        </p:nvSpPr>
        <p:spPr>
          <a:xfrm>
            <a:off x="782726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4" name="Oval 144"/>
          <p:cNvSpPr/>
          <p:nvPr/>
        </p:nvSpPr>
        <p:spPr>
          <a:xfrm>
            <a:off x="821131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5" name="Rounded Rectangle 145"/>
          <p:cNvSpPr/>
          <p:nvPr/>
        </p:nvSpPr>
        <p:spPr>
          <a:xfrm>
            <a:off x="9528047" y="2167127"/>
            <a:ext cx="1417327" cy="184709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6" name="Connector 146"/>
          <p:cNvSpPr/>
          <p:nvPr/>
        </p:nvSpPr>
        <p:spPr>
          <a:xfrm>
            <a:off x="9802368" y="2670048"/>
            <a:ext cx="850393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7" name="Connector 147"/>
          <p:cNvSpPr/>
          <p:nvPr/>
        </p:nvSpPr>
        <p:spPr>
          <a:xfrm>
            <a:off x="9802368" y="2990088"/>
            <a:ext cx="694951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8" name="Connector 148"/>
          <p:cNvSpPr/>
          <p:nvPr/>
        </p:nvSpPr>
        <p:spPr>
          <a:xfrm>
            <a:off x="9802368" y="3310128"/>
            <a:ext cx="786391" cy="7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9" name="Connector 149"/>
          <p:cNvSpPr/>
          <p:nvPr/>
        </p:nvSpPr>
        <p:spPr>
          <a:xfrm>
            <a:off x="7098030" y="1821937"/>
            <a:ext cx="2430025" cy="12687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0" name="Connector 150"/>
          <p:cNvSpPr/>
          <p:nvPr/>
        </p:nvSpPr>
        <p:spPr>
          <a:xfrm>
            <a:off x="7994139" y="2215133"/>
            <a:ext cx="1533913" cy="8755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1" name="Connector 151"/>
          <p:cNvSpPr/>
          <p:nvPr/>
        </p:nvSpPr>
        <p:spPr>
          <a:xfrm>
            <a:off x="3769612" y="3001516"/>
            <a:ext cx="5758442" cy="8916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2" name="Connector 152"/>
          <p:cNvSpPr/>
          <p:nvPr/>
        </p:nvSpPr>
        <p:spPr>
          <a:xfrm flipV="1">
            <a:off x="4793739" y="3090671"/>
            <a:ext cx="4734315" cy="30404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3" name="Connector 153"/>
          <p:cNvSpPr/>
          <p:nvPr/>
        </p:nvSpPr>
        <p:spPr>
          <a:xfrm flipV="1">
            <a:off x="5689851" y="3090671"/>
            <a:ext cx="3838200" cy="697237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4" name="Connector 154"/>
          <p:cNvSpPr/>
          <p:nvPr/>
        </p:nvSpPr>
        <p:spPr>
          <a:xfrm flipV="1">
            <a:off x="7866126" y="3090670"/>
            <a:ext cx="1661924" cy="109043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5" name="Connector 155"/>
          <p:cNvSpPr/>
          <p:nvPr/>
        </p:nvSpPr>
        <p:spPr>
          <a:xfrm flipV="1">
            <a:off x="3641596" y="3090670"/>
            <a:ext cx="5886456" cy="187680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6" name="TextBox 156"/>
          <p:cNvSpPr txBox="1"/>
          <p:nvPr/>
        </p:nvSpPr>
        <p:spPr>
          <a:xfrm>
            <a:off x="822960" y="5614415"/>
            <a:ext cx="22860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Same action</a:t>
            </a:r>
          </a:p>
        </p:txBody>
      </p:sp>
      <p:sp>
        <p:nvSpPr>
          <p:cNvPr id="387" name="TextBox 157"/>
          <p:cNvSpPr txBox="1"/>
          <p:nvPr/>
        </p:nvSpPr>
        <p:spPr>
          <a:xfrm>
            <a:off x="3840479" y="5614415"/>
            <a:ext cx="310896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Thousands of raters</a:t>
            </a:r>
          </a:p>
        </p:txBody>
      </p:sp>
      <p:sp>
        <p:nvSpPr>
          <p:cNvPr id="388" name="TextBox 158"/>
          <p:cNvSpPr txBox="1"/>
          <p:nvPr/>
        </p:nvSpPr>
        <p:spPr>
          <a:xfrm>
            <a:off x="8000999" y="5614415"/>
            <a:ext cx="347472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One visibility decision</a:t>
            </a:r>
          </a:p>
        </p:txBody>
      </p:sp>
      <p:sp>
        <p:nvSpPr>
          <p:cNvPr id="389" name="TextBox 15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390" name="VoteLine r1c3"/>
          <p:cNvSpPr/>
          <p:nvPr/>
        </p:nvSpPr>
        <p:spPr>
          <a:xfrm>
            <a:off x="3641602" y="1821944"/>
            <a:ext cx="5886447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1" name="VoteLine r1c8"/>
          <p:cNvSpPr/>
          <p:nvPr/>
        </p:nvSpPr>
        <p:spPr>
          <a:xfrm>
            <a:off x="5561843" y="1821944"/>
            <a:ext cx="3966205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2" name="VoteLine r1c12"/>
          <p:cNvSpPr/>
          <p:nvPr/>
        </p:nvSpPr>
        <p:spPr>
          <a:xfrm>
            <a:off x="7098035" y="1821944"/>
            <a:ext cx="2430013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3" name="VoteLine r2c5"/>
          <p:cNvSpPr/>
          <p:nvPr/>
        </p:nvSpPr>
        <p:spPr>
          <a:xfrm>
            <a:off x="4537714" y="2215139"/>
            <a:ext cx="4990335" cy="87553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4" name="VoteLine r2c11"/>
          <p:cNvSpPr/>
          <p:nvPr/>
        </p:nvSpPr>
        <p:spPr>
          <a:xfrm>
            <a:off x="6842001" y="2215139"/>
            <a:ext cx="2686047" cy="87553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5" name="VoteLine r3c2"/>
          <p:cNvSpPr/>
          <p:nvPr/>
        </p:nvSpPr>
        <p:spPr>
          <a:xfrm>
            <a:off x="3257554" y="2608330"/>
            <a:ext cx="6270495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6" name="VoteLine r3c14"/>
          <p:cNvSpPr/>
          <p:nvPr/>
        </p:nvSpPr>
        <p:spPr>
          <a:xfrm>
            <a:off x="7866130" y="2608330"/>
            <a:ext cx="1661918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7" name="VoteLine r4c4"/>
          <p:cNvSpPr/>
          <p:nvPr/>
        </p:nvSpPr>
        <p:spPr>
          <a:xfrm>
            <a:off x="4153662" y="3001522"/>
            <a:ext cx="5374387" cy="8915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8" name="VoteLine r4c9"/>
          <p:cNvSpPr/>
          <p:nvPr/>
        </p:nvSpPr>
        <p:spPr>
          <a:xfrm>
            <a:off x="6073907" y="3001522"/>
            <a:ext cx="3454142" cy="8915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9" name="VoteLine r5c1"/>
          <p:cNvSpPr/>
          <p:nvPr/>
        </p:nvSpPr>
        <p:spPr>
          <a:xfrm flipV="1">
            <a:off x="2873505" y="3090672"/>
            <a:ext cx="6654543" cy="30404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0" name="VoteLine r5c11"/>
          <p:cNvSpPr/>
          <p:nvPr/>
        </p:nvSpPr>
        <p:spPr>
          <a:xfrm flipV="1">
            <a:off x="6713984" y="3090672"/>
            <a:ext cx="2814064" cy="30404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1" name="VoteLine r6c6"/>
          <p:cNvSpPr/>
          <p:nvPr/>
        </p:nvSpPr>
        <p:spPr>
          <a:xfrm flipV="1">
            <a:off x="4921763" y="3090672"/>
            <a:ext cx="4606286" cy="6972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2" name="VoteLine r6c15"/>
          <p:cNvSpPr/>
          <p:nvPr/>
        </p:nvSpPr>
        <p:spPr>
          <a:xfrm flipV="1">
            <a:off x="8378194" y="3090672"/>
            <a:ext cx="1149854" cy="6972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3" name="VoteLine r7c3"/>
          <p:cNvSpPr/>
          <p:nvPr/>
        </p:nvSpPr>
        <p:spPr>
          <a:xfrm flipV="1">
            <a:off x="3641602" y="3090672"/>
            <a:ext cx="5886447" cy="109042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4" name="VoteLine r7c9"/>
          <p:cNvSpPr/>
          <p:nvPr/>
        </p:nvSpPr>
        <p:spPr>
          <a:xfrm flipV="1">
            <a:off x="5945890" y="3090672"/>
            <a:ext cx="3582159" cy="109042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5" name="VoteLine r8c13"/>
          <p:cNvSpPr/>
          <p:nvPr/>
        </p:nvSpPr>
        <p:spPr>
          <a:xfrm flipV="1">
            <a:off x="7610096" y="3090671"/>
            <a:ext cx="1917952" cy="148362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6" name="VoteLine r9c5"/>
          <p:cNvSpPr/>
          <p:nvPr/>
        </p:nvSpPr>
        <p:spPr>
          <a:xfrm flipV="1">
            <a:off x="4409699" y="3090672"/>
            <a:ext cx="5118349" cy="187681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CROWD</a:t>
            </a:r>
          </a:p>
        </p:txBody>
      </p:sp>
      <p:sp>
        <p:nvSpPr>
          <p:cNvPr id="409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Now multiply that by thousands</a:t>
            </a:r>
          </a:p>
        </p:txBody>
      </p:sp>
      <p:sp>
        <p:nvSpPr>
          <p:cNvPr id="410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11" name="Oval 4"/>
          <p:cNvSpPr/>
          <p:nvPr/>
        </p:nvSpPr>
        <p:spPr>
          <a:xfrm>
            <a:off x="868680" y="2578605"/>
            <a:ext cx="192037" cy="1920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2" name="Connector 5"/>
          <p:cNvSpPr/>
          <p:nvPr/>
        </p:nvSpPr>
        <p:spPr>
          <a:xfrm>
            <a:off x="964691" y="2770632"/>
            <a:ext cx="7" cy="31684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3" name="Connector 6"/>
          <p:cNvSpPr/>
          <p:nvPr/>
        </p:nvSpPr>
        <p:spPr>
          <a:xfrm>
            <a:off x="830274" y="2905048"/>
            <a:ext cx="26884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4" name="Connector 7"/>
          <p:cNvSpPr/>
          <p:nvPr/>
        </p:nvSpPr>
        <p:spPr>
          <a:xfrm flipH="1">
            <a:off x="839875" y="3087470"/>
            <a:ext cx="124822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5" name="Connector 8"/>
          <p:cNvSpPr/>
          <p:nvPr/>
        </p:nvSpPr>
        <p:spPr>
          <a:xfrm>
            <a:off x="964691" y="3087470"/>
            <a:ext cx="124815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6" name="TextBox 9"/>
          <p:cNvSpPr txBox="1"/>
          <p:nvPr/>
        </p:nvSpPr>
        <p:spPr>
          <a:xfrm>
            <a:off x="1965960" y="2761488"/>
            <a:ext cx="3657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417" name="Oval 10"/>
          <p:cNvSpPr/>
          <p:nvPr/>
        </p:nvSpPr>
        <p:spPr>
          <a:xfrm>
            <a:off x="283463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8" name="Oval 11"/>
          <p:cNvSpPr/>
          <p:nvPr/>
        </p:nvSpPr>
        <p:spPr>
          <a:xfrm>
            <a:off x="321868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9" name="Oval 12"/>
          <p:cNvSpPr/>
          <p:nvPr/>
        </p:nvSpPr>
        <p:spPr>
          <a:xfrm>
            <a:off x="3602735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0" name="Oval 13"/>
          <p:cNvSpPr/>
          <p:nvPr/>
        </p:nvSpPr>
        <p:spPr>
          <a:xfrm>
            <a:off x="398678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1" name="Oval 14"/>
          <p:cNvSpPr/>
          <p:nvPr/>
        </p:nvSpPr>
        <p:spPr>
          <a:xfrm>
            <a:off x="4370832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2" name="Oval 15"/>
          <p:cNvSpPr/>
          <p:nvPr/>
        </p:nvSpPr>
        <p:spPr>
          <a:xfrm>
            <a:off x="4754879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3" name="Oval 16"/>
          <p:cNvSpPr/>
          <p:nvPr/>
        </p:nvSpPr>
        <p:spPr>
          <a:xfrm>
            <a:off x="513892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4" name="Oval 17"/>
          <p:cNvSpPr/>
          <p:nvPr/>
        </p:nvSpPr>
        <p:spPr>
          <a:xfrm>
            <a:off x="552297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5" name="Oval 18"/>
          <p:cNvSpPr/>
          <p:nvPr/>
        </p:nvSpPr>
        <p:spPr>
          <a:xfrm>
            <a:off x="5907023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6" name="Oval 19"/>
          <p:cNvSpPr/>
          <p:nvPr/>
        </p:nvSpPr>
        <p:spPr>
          <a:xfrm>
            <a:off x="629107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7" name="Oval 20"/>
          <p:cNvSpPr/>
          <p:nvPr/>
        </p:nvSpPr>
        <p:spPr>
          <a:xfrm>
            <a:off x="667511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8" name="Oval 21"/>
          <p:cNvSpPr/>
          <p:nvPr/>
        </p:nvSpPr>
        <p:spPr>
          <a:xfrm>
            <a:off x="7059168" y="1783077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9" name="Oval 22"/>
          <p:cNvSpPr/>
          <p:nvPr/>
        </p:nvSpPr>
        <p:spPr>
          <a:xfrm>
            <a:off x="744321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0" name="Oval 23"/>
          <p:cNvSpPr/>
          <p:nvPr/>
        </p:nvSpPr>
        <p:spPr>
          <a:xfrm>
            <a:off x="782726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1" name="Oval 24"/>
          <p:cNvSpPr/>
          <p:nvPr/>
        </p:nvSpPr>
        <p:spPr>
          <a:xfrm>
            <a:off x="821131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2" name="Oval 25"/>
          <p:cNvSpPr/>
          <p:nvPr/>
        </p:nvSpPr>
        <p:spPr>
          <a:xfrm>
            <a:off x="296265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3" name="Oval 26"/>
          <p:cNvSpPr/>
          <p:nvPr/>
        </p:nvSpPr>
        <p:spPr>
          <a:xfrm>
            <a:off x="334670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4" name="Oval 27"/>
          <p:cNvSpPr/>
          <p:nvPr/>
        </p:nvSpPr>
        <p:spPr>
          <a:xfrm>
            <a:off x="3730752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5" name="Oval 28"/>
          <p:cNvSpPr/>
          <p:nvPr/>
        </p:nvSpPr>
        <p:spPr>
          <a:xfrm>
            <a:off x="4114800" y="2176272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6" name="Oval 29"/>
          <p:cNvSpPr/>
          <p:nvPr/>
        </p:nvSpPr>
        <p:spPr>
          <a:xfrm>
            <a:off x="4498847" y="2176272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7" name="Oval 30"/>
          <p:cNvSpPr/>
          <p:nvPr/>
        </p:nvSpPr>
        <p:spPr>
          <a:xfrm>
            <a:off x="4882896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8" name="Oval 31"/>
          <p:cNvSpPr/>
          <p:nvPr/>
        </p:nvSpPr>
        <p:spPr>
          <a:xfrm>
            <a:off x="5266944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9" name="Oval 32"/>
          <p:cNvSpPr/>
          <p:nvPr/>
        </p:nvSpPr>
        <p:spPr>
          <a:xfrm>
            <a:off x="5650991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0" name="Oval 33"/>
          <p:cNvSpPr/>
          <p:nvPr/>
        </p:nvSpPr>
        <p:spPr>
          <a:xfrm>
            <a:off x="603504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1" name="Oval 34"/>
          <p:cNvSpPr/>
          <p:nvPr/>
        </p:nvSpPr>
        <p:spPr>
          <a:xfrm>
            <a:off x="641908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2" name="Oval 35"/>
          <p:cNvSpPr/>
          <p:nvPr/>
        </p:nvSpPr>
        <p:spPr>
          <a:xfrm>
            <a:off x="680313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3" name="Oval 36"/>
          <p:cNvSpPr/>
          <p:nvPr/>
        </p:nvSpPr>
        <p:spPr>
          <a:xfrm>
            <a:off x="718718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4" name="Oval 37"/>
          <p:cNvSpPr/>
          <p:nvPr/>
        </p:nvSpPr>
        <p:spPr>
          <a:xfrm>
            <a:off x="757123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5" name="Oval 38"/>
          <p:cNvSpPr/>
          <p:nvPr/>
        </p:nvSpPr>
        <p:spPr>
          <a:xfrm>
            <a:off x="795528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6" name="Oval 39"/>
          <p:cNvSpPr/>
          <p:nvPr/>
        </p:nvSpPr>
        <p:spPr>
          <a:xfrm>
            <a:off x="833932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7" name="Oval 40"/>
          <p:cNvSpPr/>
          <p:nvPr/>
        </p:nvSpPr>
        <p:spPr>
          <a:xfrm>
            <a:off x="283463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8" name="Oval 41"/>
          <p:cNvSpPr/>
          <p:nvPr/>
        </p:nvSpPr>
        <p:spPr>
          <a:xfrm>
            <a:off x="321868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9" name="Oval 42"/>
          <p:cNvSpPr/>
          <p:nvPr/>
        </p:nvSpPr>
        <p:spPr>
          <a:xfrm>
            <a:off x="3602735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0" name="Oval 43"/>
          <p:cNvSpPr/>
          <p:nvPr/>
        </p:nvSpPr>
        <p:spPr>
          <a:xfrm>
            <a:off x="398678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1" name="Oval 44"/>
          <p:cNvSpPr/>
          <p:nvPr/>
        </p:nvSpPr>
        <p:spPr>
          <a:xfrm>
            <a:off x="4370832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2" name="Oval 45"/>
          <p:cNvSpPr/>
          <p:nvPr/>
        </p:nvSpPr>
        <p:spPr>
          <a:xfrm>
            <a:off x="4754879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3" name="Oval 46"/>
          <p:cNvSpPr/>
          <p:nvPr/>
        </p:nvSpPr>
        <p:spPr>
          <a:xfrm>
            <a:off x="513892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4" name="Oval 47"/>
          <p:cNvSpPr/>
          <p:nvPr/>
        </p:nvSpPr>
        <p:spPr>
          <a:xfrm>
            <a:off x="552297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5" name="Oval 48"/>
          <p:cNvSpPr/>
          <p:nvPr/>
        </p:nvSpPr>
        <p:spPr>
          <a:xfrm>
            <a:off x="5907023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6" name="Oval 49"/>
          <p:cNvSpPr/>
          <p:nvPr/>
        </p:nvSpPr>
        <p:spPr>
          <a:xfrm>
            <a:off x="629107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7" name="Oval 50"/>
          <p:cNvSpPr/>
          <p:nvPr/>
        </p:nvSpPr>
        <p:spPr>
          <a:xfrm>
            <a:off x="667511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8" name="Oval 51"/>
          <p:cNvSpPr/>
          <p:nvPr/>
        </p:nvSpPr>
        <p:spPr>
          <a:xfrm>
            <a:off x="705916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9" name="Oval 52"/>
          <p:cNvSpPr/>
          <p:nvPr/>
        </p:nvSpPr>
        <p:spPr>
          <a:xfrm>
            <a:off x="744321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0" name="Oval 53"/>
          <p:cNvSpPr/>
          <p:nvPr/>
        </p:nvSpPr>
        <p:spPr>
          <a:xfrm>
            <a:off x="782726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1" name="Oval 54"/>
          <p:cNvSpPr/>
          <p:nvPr/>
        </p:nvSpPr>
        <p:spPr>
          <a:xfrm>
            <a:off x="821131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2" name="Oval 55"/>
          <p:cNvSpPr/>
          <p:nvPr/>
        </p:nvSpPr>
        <p:spPr>
          <a:xfrm>
            <a:off x="296265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3" name="Oval 56"/>
          <p:cNvSpPr/>
          <p:nvPr/>
        </p:nvSpPr>
        <p:spPr>
          <a:xfrm>
            <a:off x="334670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4" name="Oval 57"/>
          <p:cNvSpPr/>
          <p:nvPr/>
        </p:nvSpPr>
        <p:spPr>
          <a:xfrm>
            <a:off x="3730752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5" name="Oval 58"/>
          <p:cNvSpPr/>
          <p:nvPr/>
        </p:nvSpPr>
        <p:spPr>
          <a:xfrm>
            <a:off x="4114800" y="2962655"/>
            <a:ext cx="77724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6" name="Oval 59"/>
          <p:cNvSpPr/>
          <p:nvPr/>
        </p:nvSpPr>
        <p:spPr>
          <a:xfrm>
            <a:off x="4498847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7" name="Oval 60"/>
          <p:cNvSpPr/>
          <p:nvPr/>
        </p:nvSpPr>
        <p:spPr>
          <a:xfrm>
            <a:off x="4882896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8" name="Oval 61"/>
          <p:cNvSpPr/>
          <p:nvPr/>
        </p:nvSpPr>
        <p:spPr>
          <a:xfrm>
            <a:off x="5266944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9" name="Oval 62"/>
          <p:cNvSpPr/>
          <p:nvPr/>
        </p:nvSpPr>
        <p:spPr>
          <a:xfrm>
            <a:off x="5650991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0" name="Oval 63"/>
          <p:cNvSpPr/>
          <p:nvPr/>
        </p:nvSpPr>
        <p:spPr>
          <a:xfrm>
            <a:off x="603504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1" name="Oval 64"/>
          <p:cNvSpPr/>
          <p:nvPr/>
        </p:nvSpPr>
        <p:spPr>
          <a:xfrm>
            <a:off x="641908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2" name="Oval 65"/>
          <p:cNvSpPr/>
          <p:nvPr/>
        </p:nvSpPr>
        <p:spPr>
          <a:xfrm>
            <a:off x="680313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3" name="Oval 66"/>
          <p:cNvSpPr/>
          <p:nvPr/>
        </p:nvSpPr>
        <p:spPr>
          <a:xfrm>
            <a:off x="718718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4" name="Oval 67"/>
          <p:cNvSpPr/>
          <p:nvPr/>
        </p:nvSpPr>
        <p:spPr>
          <a:xfrm>
            <a:off x="757123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5" name="Oval 68"/>
          <p:cNvSpPr/>
          <p:nvPr/>
        </p:nvSpPr>
        <p:spPr>
          <a:xfrm>
            <a:off x="795528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6" name="Oval 69"/>
          <p:cNvSpPr/>
          <p:nvPr/>
        </p:nvSpPr>
        <p:spPr>
          <a:xfrm>
            <a:off x="833932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7" name="Oval 70"/>
          <p:cNvSpPr/>
          <p:nvPr/>
        </p:nvSpPr>
        <p:spPr>
          <a:xfrm>
            <a:off x="283463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8" name="Oval 71"/>
          <p:cNvSpPr/>
          <p:nvPr/>
        </p:nvSpPr>
        <p:spPr>
          <a:xfrm>
            <a:off x="321868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9" name="Oval 72"/>
          <p:cNvSpPr/>
          <p:nvPr/>
        </p:nvSpPr>
        <p:spPr>
          <a:xfrm>
            <a:off x="3602735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0" name="Oval 73"/>
          <p:cNvSpPr/>
          <p:nvPr/>
        </p:nvSpPr>
        <p:spPr>
          <a:xfrm>
            <a:off x="398678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1" name="Oval 74"/>
          <p:cNvSpPr/>
          <p:nvPr/>
        </p:nvSpPr>
        <p:spPr>
          <a:xfrm>
            <a:off x="4370832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2" name="Oval 75"/>
          <p:cNvSpPr/>
          <p:nvPr/>
        </p:nvSpPr>
        <p:spPr>
          <a:xfrm>
            <a:off x="4754879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3" name="Oval 76"/>
          <p:cNvSpPr/>
          <p:nvPr/>
        </p:nvSpPr>
        <p:spPr>
          <a:xfrm>
            <a:off x="513892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4" name="Oval 77"/>
          <p:cNvSpPr/>
          <p:nvPr/>
        </p:nvSpPr>
        <p:spPr>
          <a:xfrm>
            <a:off x="552297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5" name="Oval 78"/>
          <p:cNvSpPr/>
          <p:nvPr/>
        </p:nvSpPr>
        <p:spPr>
          <a:xfrm>
            <a:off x="5907023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6" name="Oval 79"/>
          <p:cNvSpPr/>
          <p:nvPr/>
        </p:nvSpPr>
        <p:spPr>
          <a:xfrm>
            <a:off x="629107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7" name="Oval 80"/>
          <p:cNvSpPr/>
          <p:nvPr/>
        </p:nvSpPr>
        <p:spPr>
          <a:xfrm>
            <a:off x="6675118" y="3355847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8" name="Oval 81"/>
          <p:cNvSpPr/>
          <p:nvPr/>
        </p:nvSpPr>
        <p:spPr>
          <a:xfrm>
            <a:off x="705916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9" name="Oval 82"/>
          <p:cNvSpPr/>
          <p:nvPr/>
        </p:nvSpPr>
        <p:spPr>
          <a:xfrm>
            <a:off x="744321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0" name="Oval 83"/>
          <p:cNvSpPr/>
          <p:nvPr/>
        </p:nvSpPr>
        <p:spPr>
          <a:xfrm>
            <a:off x="782726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1" name="Oval 84"/>
          <p:cNvSpPr/>
          <p:nvPr/>
        </p:nvSpPr>
        <p:spPr>
          <a:xfrm>
            <a:off x="821131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2" name="Oval 85"/>
          <p:cNvSpPr/>
          <p:nvPr/>
        </p:nvSpPr>
        <p:spPr>
          <a:xfrm>
            <a:off x="296265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3" name="Oval 86"/>
          <p:cNvSpPr/>
          <p:nvPr/>
        </p:nvSpPr>
        <p:spPr>
          <a:xfrm>
            <a:off x="334670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4" name="Oval 87"/>
          <p:cNvSpPr/>
          <p:nvPr/>
        </p:nvSpPr>
        <p:spPr>
          <a:xfrm>
            <a:off x="3730752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5" name="Oval 88"/>
          <p:cNvSpPr/>
          <p:nvPr/>
        </p:nvSpPr>
        <p:spPr>
          <a:xfrm>
            <a:off x="4114800" y="3749037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6" name="Oval 89"/>
          <p:cNvSpPr/>
          <p:nvPr/>
        </p:nvSpPr>
        <p:spPr>
          <a:xfrm>
            <a:off x="4498847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7" name="Oval 90"/>
          <p:cNvSpPr/>
          <p:nvPr/>
        </p:nvSpPr>
        <p:spPr>
          <a:xfrm>
            <a:off x="4882896" y="3749037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8" name="Oval 91"/>
          <p:cNvSpPr/>
          <p:nvPr/>
        </p:nvSpPr>
        <p:spPr>
          <a:xfrm>
            <a:off x="5266944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9" name="Oval 92"/>
          <p:cNvSpPr/>
          <p:nvPr/>
        </p:nvSpPr>
        <p:spPr>
          <a:xfrm>
            <a:off x="5650991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0" name="Oval 93"/>
          <p:cNvSpPr/>
          <p:nvPr/>
        </p:nvSpPr>
        <p:spPr>
          <a:xfrm>
            <a:off x="603504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1" name="Oval 94"/>
          <p:cNvSpPr/>
          <p:nvPr/>
        </p:nvSpPr>
        <p:spPr>
          <a:xfrm>
            <a:off x="641908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2" name="Oval 95"/>
          <p:cNvSpPr/>
          <p:nvPr/>
        </p:nvSpPr>
        <p:spPr>
          <a:xfrm>
            <a:off x="680313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3" name="Oval 96"/>
          <p:cNvSpPr/>
          <p:nvPr/>
        </p:nvSpPr>
        <p:spPr>
          <a:xfrm>
            <a:off x="718718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4" name="Oval 97"/>
          <p:cNvSpPr/>
          <p:nvPr/>
        </p:nvSpPr>
        <p:spPr>
          <a:xfrm>
            <a:off x="757123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5" name="Oval 98"/>
          <p:cNvSpPr/>
          <p:nvPr/>
        </p:nvSpPr>
        <p:spPr>
          <a:xfrm>
            <a:off x="795528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6" name="Oval 99"/>
          <p:cNvSpPr/>
          <p:nvPr/>
        </p:nvSpPr>
        <p:spPr>
          <a:xfrm>
            <a:off x="833932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7" name="Oval 100"/>
          <p:cNvSpPr/>
          <p:nvPr/>
        </p:nvSpPr>
        <p:spPr>
          <a:xfrm>
            <a:off x="283463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8" name="Oval 101"/>
          <p:cNvSpPr/>
          <p:nvPr/>
        </p:nvSpPr>
        <p:spPr>
          <a:xfrm>
            <a:off x="321868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9" name="Oval 102"/>
          <p:cNvSpPr/>
          <p:nvPr/>
        </p:nvSpPr>
        <p:spPr>
          <a:xfrm>
            <a:off x="3602735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0" name="Oval 103"/>
          <p:cNvSpPr/>
          <p:nvPr/>
        </p:nvSpPr>
        <p:spPr>
          <a:xfrm>
            <a:off x="398678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1" name="Oval 104"/>
          <p:cNvSpPr/>
          <p:nvPr/>
        </p:nvSpPr>
        <p:spPr>
          <a:xfrm>
            <a:off x="4370832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2" name="Oval 105"/>
          <p:cNvSpPr/>
          <p:nvPr/>
        </p:nvSpPr>
        <p:spPr>
          <a:xfrm>
            <a:off x="4754879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3" name="Oval 106"/>
          <p:cNvSpPr/>
          <p:nvPr/>
        </p:nvSpPr>
        <p:spPr>
          <a:xfrm>
            <a:off x="513892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4" name="Oval 107"/>
          <p:cNvSpPr/>
          <p:nvPr/>
        </p:nvSpPr>
        <p:spPr>
          <a:xfrm>
            <a:off x="552297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5" name="Oval 108"/>
          <p:cNvSpPr/>
          <p:nvPr/>
        </p:nvSpPr>
        <p:spPr>
          <a:xfrm>
            <a:off x="5907023" y="4142232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6" name="Oval 109"/>
          <p:cNvSpPr/>
          <p:nvPr/>
        </p:nvSpPr>
        <p:spPr>
          <a:xfrm>
            <a:off x="629107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7" name="Oval 110"/>
          <p:cNvSpPr/>
          <p:nvPr/>
        </p:nvSpPr>
        <p:spPr>
          <a:xfrm>
            <a:off x="667511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8" name="Oval 111"/>
          <p:cNvSpPr/>
          <p:nvPr/>
        </p:nvSpPr>
        <p:spPr>
          <a:xfrm>
            <a:off x="705916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9" name="Oval 112"/>
          <p:cNvSpPr/>
          <p:nvPr/>
        </p:nvSpPr>
        <p:spPr>
          <a:xfrm>
            <a:off x="744321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0" name="Oval 113"/>
          <p:cNvSpPr/>
          <p:nvPr/>
        </p:nvSpPr>
        <p:spPr>
          <a:xfrm>
            <a:off x="782726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1" name="Oval 114"/>
          <p:cNvSpPr/>
          <p:nvPr/>
        </p:nvSpPr>
        <p:spPr>
          <a:xfrm>
            <a:off x="821131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2" name="Oval 115"/>
          <p:cNvSpPr/>
          <p:nvPr/>
        </p:nvSpPr>
        <p:spPr>
          <a:xfrm>
            <a:off x="296265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3" name="Oval 116"/>
          <p:cNvSpPr/>
          <p:nvPr/>
        </p:nvSpPr>
        <p:spPr>
          <a:xfrm>
            <a:off x="334670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4" name="Oval 117"/>
          <p:cNvSpPr/>
          <p:nvPr/>
        </p:nvSpPr>
        <p:spPr>
          <a:xfrm>
            <a:off x="3730752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5" name="Oval 118"/>
          <p:cNvSpPr/>
          <p:nvPr/>
        </p:nvSpPr>
        <p:spPr>
          <a:xfrm>
            <a:off x="4114800" y="4535423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6" name="Oval 119"/>
          <p:cNvSpPr/>
          <p:nvPr/>
        </p:nvSpPr>
        <p:spPr>
          <a:xfrm>
            <a:off x="4498847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7" name="Oval 120"/>
          <p:cNvSpPr/>
          <p:nvPr/>
        </p:nvSpPr>
        <p:spPr>
          <a:xfrm>
            <a:off x="4882896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8" name="Oval 121"/>
          <p:cNvSpPr/>
          <p:nvPr/>
        </p:nvSpPr>
        <p:spPr>
          <a:xfrm>
            <a:off x="5266944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9" name="Oval 122"/>
          <p:cNvSpPr/>
          <p:nvPr/>
        </p:nvSpPr>
        <p:spPr>
          <a:xfrm>
            <a:off x="5650991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0" name="Oval 123"/>
          <p:cNvSpPr/>
          <p:nvPr/>
        </p:nvSpPr>
        <p:spPr>
          <a:xfrm>
            <a:off x="603504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1" name="Oval 124"/>
          <p:cNvSpPr/>
          <p:nvPr/>
        </p:nvSpPr>
        <p:spPr>
          <a:xfrm>
            <a:off x="641908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2" name="Oval 125"/>
          <p:cNvSpPr/>
          <p:nvPr/>
        </p:nvSpPr>
        <p:spPr>
          <a:xfrm>
            <a:off x="680313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3" name="Oval 126"/>
          <p:cNvSpPr/>
          <p:nvPr/>
        </p:nvSpPr>
        <p:spPr>
          <a:xfrm>
            <a:off x="718718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4" name="Oval 127"/>
          <p:cNvSpPr/>
          <p:nvPr/>
        </p:nvSpPr>
        <p:spPr>
          <a:xfrm>
            <a:off x="757123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5" name="Oval 128"/>
          <p:cNvSpPr/>
          <p:nvPr/>
        </p:nvSpPr>
        <p:spPr>
          <a:xfrm>
            <a:off x="795528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6" name="Oval 129"/>
          <p:cNvSpPr/>
          <p:nvPr/>
        </p:nvSpPr>
        <p:spPr>
          <a:xfrm>
            <a:off x="833932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7" name="Oval 130"/>
          <p:cNvSpPr/>
          <p:nvPr/>
        </p:nvSpPr>
        <p:spPr>
          <a:xfrm>
            <a:off x="283463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8" name="Oval 131"/>
          <p:cNvSpPr/>
          <p:nvPr/>
        </p:nvSpPr>
        <p:spPr>
          <a:xfrm>
            <a:off x="321868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9" name="Oval 132"/>
          <p:cNvSpPr/>
          <p:nvPr/>
        </p:nvSpPr>
        <p:spPr>
          <a:xfrm>
            <a:off x="3602735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0" name="Oval 133"/>
          <p:cNvSpPr/>
          <p:nvPr/>
        </p:nvSpPr>
        <p:spPr>
          <a:xfrm>
            <a:off x="398678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1" name="Oval 134"/>
          <p:cNvSpPr/>
          <p:nvPr/>
        </p:nvSpPr>
        <p:spPr>
          <a:xfrm>
            <a:off x="4370832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2" name="Oval 135"/>
          <p:cNvSpPr/>
          <p:nvPr/>
        </p:nvSpPr>
        <p:spPr>
          <a:xfrm>
            <a:off x="4754879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3" name="Oval 136"/>
          <p:cNvSpPr/>
          <p:nvPr/>
        </p:nvSpPr>
        <p:spPr>
          <a:xfrm>
            <a:off x="513892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4" name="Oval 137"/>
          <p:cNvSpPr/>
          <p:nvPr/>
        </p:nvSpPr>
        <p:spPr>
          <a:xfrm>
            <a:off x="552297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5" name="Oval 138"/>
          <p:cNvSpPr/>
          <p:nvPr/>
        </p:nvSpPr>
        <p:spPr>
          <a:xfrm>
            <a:off x="5907023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6" name="Oval 139"/>
          <p:cNvSpPr/>
          <p:nvPr/>
        </p:nvSpPr>
        <p:spPr>
          <a:xfrm>
            <a:off x="629107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7" name="Oval 140"/>
          <p:cNvSpPr/>
          <p:nvPr/>
        </p:nvSpPr>
        <p:spPr>
          <a:xfrm>
            <a:off x="667511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8" name="Oval 141"/>
          <p:cNvSpPr/>
          <p:nvPr/>
        </p:nvSpPr>
        <p:spPr>
          <a:xfrm>
            <a:off x="705916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9" name="Oval 142"/>
          <p:cNvSpPr/>
          <p:nvPr/>
        </p:nvSpPr>
        <p:spPr>
          <a:xfrm>
            <a:off x="744321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0" name="Oval 143"/>
          <p:cNvSpPr/>
          <p:nvPr/>
        </p:nvSpPr>
        <p:spPr>
          <a:xfrm>
            <a:off x="782726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1" name="Oval 144"/>
          <p:cNvSpPr/>
          <p:nvPr/>
        </p:nvSpPr>
        <p:spPr>
          <a:xfrm>
            <a:off x="821131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2" name="Rounded Rectangle 145"/>
          <p:cNvSpPr/>
          <p:nvPr/>
        </p:nvSpPr>
        <p:spPr>
          <a:xfrm>
            <a:off x="9528047" y="2167127"/>
            <a:ext cx="1417327" cy="184709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3" name="Connector 146"/>
          <p:cNvSpPr/>
          <p:nvPr/>
        </p:nvSpPr>
        <p:spPr>
          <a:xfrm>
            <a:off x="9802368" y="2670048"/>
            <a:ext cx="850393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4" name="Connector 147"/>
          <p:cNvSpPr/>
          <p:nvPr/>
        </p:nvSpPr>
        <p:spPr>
          <a:xfrm>
            <a:off x="9802368" y="2990088"/>
            <a:ext cx="694951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5" name="Connector 148"/>
          <p:cNvSpPr/>
          <p:nvPr/>
        </p:nvSpPr>
        <p:spPr>
          <a:xfrm>
            <a:off x="9802368" y="3310128"/>
            <a:ext cx="786391" cy="7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6" name="Connector 149"/>
          <p:cNvSpPr/>
          <p:nvPr/>
        </p:nvSpPr>
        <p:spPr>
          <a:xfrm>
            <a:off x="7098030" y="1821937"/>
            <a:ext cx="2430025" cy="12687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7" name="Connector 150"/>
          <p:cNvSpPr/>
          <p:nvPr/>
        </p:nvSpPr>
        <p:spPr>
          <a:xfrm>
            <a:off x="7994139" y="2215133"/>
            <a:ext cx="1533913" cy="8755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8" name="Connector 151"/>
          <p:cNvSpPr/>
          <p:nvPr/>
        </p:nvSpPr>
        <p:spPr>
          <a:xfrm>
            <a:off x="3769612" y="3001516"/>
            <a:ext cx="5758442" cy="8916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9" name="Connector 152"/>
          <p:cNvSpPr/>
          <p:nvPr/>
        </p:nvSpPr>
        <p:spPr>
          <a:xfrm flipV="1">
            <a:off x="4793739" y="3090671"/>
            <a:ext cx="4734315" cy="30404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0" name="Connector 153"/>
          <p:cNvSpPr/>
          <p:nvPr/>
        </p:nvSpPr>
        <p:spPr>
          <a:xfrm flipV="1">
            <a:off x="5689851" y="3090671"/>
            <a:ext cx="3838200" cy="697237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1" name="Connector 154"/>
          <p:cNvSpPr/>
          <p:nvPr/>
        </p:nvSpPr>
        <p:spPr>
          <a:xfrm flipV="1">
            <a:off x="7866126" y="3090670"/>
            <a:ext cx="1661924" cy="109043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2" name="Connector 155"/>
          <p:cNvSpPr/>
          <p:nvPr/>
        </p:nvSpPr>
        <p:spPr>
          <a:xfrm flipV="1">
            <a:off x="3641596" y="3090670"/>
            <a:ext cx="5886456" cy="187680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3" name="TextBox 156"/>
          <p:cNvSpPr txBox="1"/>
          <p:nvPr/>
        </p:nvSpPr>
        <p:spPr>
          <a:xfrm>
            <a:off x="822960" y="5614415"/>
            <a:ext cx="22860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Same action</a:t>
            </a:r>
          </a:p>
        </p:txBody>
      </p:sp>
      <p:sp>
        <p:nvSpPr>
          <p:cNvPr id="564" name="TextBox 157"/>
          <p:cNvSpPr txBox="1"/>
          <p:nvPr/>
        </p:nvSpPr>
        <p:spPr>
          <a:xfrm>
            <a:off x="3840479" y="5614415"/>
            <a:ext cx="310896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Thousands of raters</a:t>
            </a:r>
          </a:p>
        </p:txBody>
      </p:sp>
      <p:sp>
        <p:nvSpPr>
          <p:cNvPr id="565" name="TextBox 158"/>
          <p:cNvSpPr txBox="1"/>
          <p:nvPr/>
        </p:nvSpPr>
        <p:spPr>
          <a:xfrm>
            <a:off x="8000999" y="5614415"/>
            <a:ext cx="347472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One visibility decision</a:t>
            </a:r>
          </a:p>
        </p:txBody>
      </p:sp>
      <p:sp>
        <p:nvSpPr>
          <p:cNvPr id="566" name="TextBox 15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567" name="VoteLine r1c3"/>
          <p:cNvSpPr/>
          <p:nvPr/>
        </p:nvSpPr>
        <p:spPr>
          <a:xfrm>
            <a:off x="3641602" y="1821944"/>
            <a:ext cx="5886447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8" name="VoteLine r1c8"/>
          <p:cNvSpPr/>
          <p:nvPr/>
        </p:nvSpPr>
        <p:spPr>
          <a:xfrm>
            <a:off x="5561843" y="1821944"/>
            <a:ext cx="3966205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9" name="VoteLine r1c12"/>
          <p:cNvSpPr/>
          <p:nvPr/>
        </p:nvSpPr>
        <p:spPr>
          <a:xfrm>
            <a:off x="7098035" y="1821944"/>
            <a:ext cx="2430013" cy="1268729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0" name="VoteLine r2c5"/>
          <p:cNvSpPr/>
          <p:nvPr/>
        </p:nvSpPr>
        <p:spPr>
          <a:xfrm>
            <a:off x="4537714" y="2215139"/>
            <a:ext cx="4990335" cy="875534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1" name="VoteLine r2c11"/>
          <p:cNvSpPr/>
          <p:nvPr/>
        </p:nvSpPr>
        <p:spPr>
          <a:xfrm>
            <a:off x="6842001" y="2215139"/>
            <a:ext cx="2686047" cy="87553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2" name="VoteLine r3c2"/>
          <p:cNvSpPr/>
          <p:nvPr/>
        </p:nvSpPr>
        <p:spPr>
          <a:xfrm>
            <a:off x="3257554" y="2608330"/>
            <a:ext cx="6270495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3" name="VoteLine r3c14"/>
          <p:cNvSpPr/>
          <p:nvPr/>
        </p:nvSpPr>
        <p:spPr>
          <a:xfrm>
            <a:off x="7866130" y="2608330"/>
            <a:ext cx="1661918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4" name="VoteLine r4c4"/>
          <p:cNvSpPr/>
          <p:nvPr/>
        </p:nvSpPr>
        <p:spPr>
          <a:xfrm>
            <a:off x="4153662" y="3001522"/>
            <a:ext cx="5374387" cy="89151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5" name="VoteLine r4c9"/>
          <p:cNvSpPr/>
          <p:nvPr/>
        </p:nvSpPr>
        <p:spPr>
          <a:xfrm>
            <a:off x="6073907" y="3001522"/>
            <a:ext cx="3454142" cy="8915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6" name="VoteLine r5c1"/>
          <p:cNvSpPr/>
          <p:nvPr/>
        </p:nvSpPr>
        <p:spPr>
          <a:xfrm flipV="1">
            <a:off x="2873505" y="3090672"/>
            <a:ext cx="6654543" cy="30404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7" name="VoteLine r5c11"/>
          <p:cNvSpPr/>
          <p:nvPr/>
        </p:nvSpPr>
        <p:spPr>
          <a:xfrm flipV="1">
            <a:off x="6713984" y="3090672"/>
            <a:ext cx="2814064" cy="304043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8" name="VoteLine r6c6"/>
          <p:cNvSpPr/>
          <p:nvPr/>
        </p:nvSpPr>
        <p:spPr>
          <a:xfrm flipV="1">
            <a:off x="4921763" y="3090672"/>
            <a:ext cx="4606286" cy="697233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9" name="VoteLine r6c15"/>
          <p:cNvSpPr/>
          <p:nvPr/>
        </p:nvSpPr>
        <p:spPr>
          <a:xfrm flipV="1">
            <a:off x="8378194" y="3090672"/>
            <a:ext cx="1149854" cy="6972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0" name="VoteLine r7c3"/>
          <p:cNvSpPr/>
          <p:nvPr/>
        </p:nvSpPr>
        <p:spPr>
          <a:xfrm flipV="1">
            <a:off x="3641602" y="3090672"/>
            <a:ext cx="5886447" cy="109042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1" name="VoteLine r7c9"/>
          <p:cNvSpPr/>
          <p:nvPr/>
        </p:nvSpPr>
        <p:spPr>
          <a:xfrm flipV="1">
            <a:off x="5945890" y="3090672"/>
            <a:ext cx="3582159" cy="1090428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2" name="VoteLine r8c13"/>
          <p:cNvSpPr/>
          <p:nvPr/>
        </p:nvSpPr>
        <p:spPr>
          <a:xfrm flipV="1">
            <a:off x="7610096" y="3090671"/>
            <a:ext cx="1917952" cy="148362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3" name="VoteLine r9c5"/>
          <p:cNvSpPr/>
          <p:nvPr/>
        </p:nvSpPr>
        <p:spPr>
          <a:xfrm flipV="1">
            <a:off x="4409699" y="3090672"/>
            <a:ext cx="5118349" cy="187681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586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587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8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589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0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1" name="Connector 8"/>
          <p:cNvSpPr/>
          <p:nvPr/>
        </p:nvSpPr>
        <p:spPr>
          <a:xfrm>
            <a:off x="1188719" y="2610611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2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3" name="Connector 10"/>
          <p:cNvSpPr/>
          <p:nvPr/>
        </p:nvSpPr>
        <p:spPr>
          <a:xfrm>
            <a:off x="1348738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4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5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6" name="Connector 13"/>
          <p:cNvSpPr/>
          <p:nvPr/>
        </p:nvSpPr>
        <p:spPr>
          <a:xfrm>
            <a:off x="3529584" y="2761488"/>
            <a:ext cx="786390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7" name="Connector 14"/>
          <p:cNvSpPr/>
          <p:nvPr/>
        </p:nvSpPr>
        <p:spPr>
          <a:xfrm>
            <a:off x="3529584" y="3072383"/>
            <a:ext cx="877829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8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9" name="Connector 16"/>
          <p:cNvSpPr/>
          <p:nvPr/>
        </p:nvSpPr>
        <p:spPr>
          <a:xfrm>
            <a:off x="237286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0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1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602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3" name="Connector 20"/>
          <p:cNvSpPr/>
          <p:nvPr/>
        </p:nvSpPr>
        <p:spPr>
          <a:xfrm>
            <a:off x="2578604" y="2688333"/>
            <a:ext cx="694951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4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605" name="TextBox 23"/>
          <p:cNvSpPr txBox="1"/>
          <p:nvPr/>
        </p:nvSpPr>
        <p:spPr>
          <a:xfrm>
            <a:off x="3977639" y="3950208"/>
            <a:ext cx="1115568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606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7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8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609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0" name="Connector 29"/>
          <p:cNvSpPr/>
          <p:nvPr/>
        </p:nvSpPr>
        <p:spPr>
          <a:xfrm>
            <a:off x="7011619" y="2437788"/>
            <a:ext cx="6" cy="35607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1" name="Connector 30"/>
          <p:cNvSpPr/>
          <p:nvPr/>
        </p:nvSpPr>
        <p:spPr>
          <a:xfrm>
            <a:off x="6860560" y="2588847"/>
            <a:ext cx="302124" cy="6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2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3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4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5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6" name="Connector 35"/>
          <p:cNvSpPr/>
          <p:nvPr/>
        </p:nvSpPr>
        <p:spPr>
          <a:xfrm>
            <a:off x="8539781" y="2758948"/>
            <a:ext cx="786390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7" name="Connector 36"/>
          <p:cNvSpPr/>
          <p:nvPr/>
        </p:nvSpPr>
        <p:spPr>
          <a:xfrm>
            <a:off x="8539781" y="3069843"/>
            <a:ext cx="877830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8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9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0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1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2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3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4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5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6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7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8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9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0" name="Connector 50"/>
          <p:cNvSpPr/>
          <p:nvPr/>
        </p:nvSpPr>
        <p:spPr>
          <a:xfrm>
            <a:off x="10042906" y="2679444"/>
            <a:ext cx="448062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1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632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633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634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5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6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637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638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639" name="Rectangle"/>
          <p:cNvSpPr/>
          <p:nvPr/>
        </p:nvSpPr>
        <p:spPr>
          <a:xfrm>
            <a:off x="1630323" y="1436428"/>
            <a:ext cx="9768876" cy="4669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40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64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644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5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646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7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8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9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0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1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2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3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4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5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6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7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8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659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0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1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662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663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4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5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666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7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8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9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0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1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2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3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4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5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6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7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8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9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0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1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2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3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4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5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6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7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8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689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690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691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2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3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694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695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696" name="Rectangle"/>
          <p:cNvSpPr/>
          <p:nvPr/>
        </p:nvSpPr>
        <p:spPr>
          <a:xfrm>
            <a:off x="1630323" y="1436428"/>
            <a:ext cx="9768876" cy="4669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7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698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699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702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703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4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705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6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7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8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9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0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1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2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3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4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5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6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7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718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9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0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721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722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723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4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5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726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727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8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9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0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1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2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3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4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5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6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7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8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9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0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1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2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3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4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5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6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7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8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9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750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751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752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3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4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755" name="Connector 57"/>
          <p:cNvSpPr/>
          <p:nvPr/>
        </p:nvSpPr>
        <p:spPr>
          <a:xfrm>
            <a:off x="749804" y="5413247"/>
            <a:ext cx="10680201" cy="4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6" name="TextBox 58"/>
          <p:cNvSpPr txBox="1"/>
          <p:nvPr/>
        </p:nvSpPr>
        <p:spPr>
          <a:xfrm>
            <a:off x="841243" y="5669279"/>
            <a:ext cx="411480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757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758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759" name="Rectangle"/>
          <p:cNvSpPr/>
          <p:nvPr/>
        </p:nvSpPr>
        <p:spPr>
          <a:xfrm>
            <a:off x="5919536" y="1436428"/>
            <a:ext cx="5479663" cy="4669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60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76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764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5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766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7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8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9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0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1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2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3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4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5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6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7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8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779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0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1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782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783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784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5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6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787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788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9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0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1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2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3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4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5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6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7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8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9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0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1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2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3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4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5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6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7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808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809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810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1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2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813" name="Connector 57"/>
          <p:cNvSpPr/>
          <p:nvPr/>
        </p:nvSpPr>
        <p:spPr>
          <a:xfrm>
            <a:off x="749804" y="5413247"/>
            <a:ext cx="10680201" cy="4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4" name="TextBox 58"/>
          <p:cNvSpPr txBox="1"/>
          <p:nvPr/>
        </p:nvSpPr>
        <p:spPr>
          <a:xfrm>
            <a:off x="841243" y="5669279"/>
            <a:ext cx="411480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815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816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817" name="Rectangle"/>
          <p:cNvSpPr/>
          <p:nvPr/>
        </p:nvSpPr>
        <p:spPr>
          <a:xfrm>
            <a:off x="5919536" y="3945001"/>
            <a:ext cx="5479663" cy="216134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18" name="Rectangle"/>
          <p:cNvSpPr/>
          <p:nvPr/>
        </p:nvSpPr>
        <p:spPr>
          <a:xfrm>
            <a:off x="5994177" y="1402529"/>
            <a:ext cx="2226838" cy="2717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19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0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1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2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  <p:sp>
        <p:nvSpPr>
          <p:cNvPr id="825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826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827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8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829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0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1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2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3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4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5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6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7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8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9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0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1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842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3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4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845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846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847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8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9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850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851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2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3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4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5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6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7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8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9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0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1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2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3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4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5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6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7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8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9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0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871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872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873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4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5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876" name="Connector 57"/>
          <p:cNvSpPr/>
          <p:nvPr/>
        </p:nvSpPr>
        <p:spPr>
          <a:xfrm>
            <a:off x="749804" y="5413247"/>
            <a:ext cx="10680201" cy="4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7" name="TextBox 58"/>
          <p:cNvSpPr txBox="1"/>
          <p:nvPr/>
        </p:nvSpPr>
        <p:spPr>
          <a:xfrm>
            <a:off x="841243" y="5669279"/>
            <a:ext cx="411480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878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879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880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1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2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  <p:sp>
        <p:nvSpPr>
          <p:cNvPr id="885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886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887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888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9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0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1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2" name="Connector 10"/>
          <p:cNvSpPr/>
          <p:nvPr/>
        </p:nvSpPr>
        <p:spPr>
          <a:xfrm>
            <a:off x="934516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3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4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5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6" name="Connector 14"/>
          <p:cNvSpPr/>
          <p:nvPr/>
        </p:nvSpPr>
        <p:spPr>
          <a:xfrm flipH="1">
            <a:off x="147072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7" name="Connector 15"/>
          <p:cNvSpPr/>
          <p:nvPr/>
        </p:nvSpPr>
        <p:spPr>
          <a:xfrm>
            <a:off x="155630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8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9" name="Connector 17"/>
          <p:cNvSpPr/>
          <p:nvPr/>
        </p:nvSpPr>
        <p:spPr>
          <a:xfrm>
            <a:off x="2178099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0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1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2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3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4" name="Connector 22"/>
          <p:cNvSpPr/>
          <p:nvPr/>
        </p:nvSpPr>
        <p:spPr>
          <a:xfrm>
            <a:off x="2799892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5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6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7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8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9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0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1" name="Connector 30"/>
          <p:cNvSpPr/>
          <p:nvPr/>
        </p:nvSpPr>
        <p:spPr>
          <a:xfrm flipH="1">
            <a:off x="3336094" y="2314892"/>
            <a:ext cx="85594" cy="138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2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3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4" name="Connector 37"/>
          <p:cNvSpPr/>
          <p:nvPr/>
        </p:nvSpPr>
        <p:spPr>
          <a:xfrm>
            <a:off x="404347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5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6" name="Connector 39"/>
          <p:cNvSpPr/>
          <p:nvPr/>
        </p:nvSpPr>
        <p:spPr>
          <a:xfrm flipH="1">
            <a:off x="395788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7" name="Connector 40"/>
          <p:cNvSpPr/>
          <p:nvPr/>
        </p:nvSpPr>
        <p:spPr>
          <a:xfrm>
            <a:off x="4043476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8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9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0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1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2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3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4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5" name="Connector 48"/>
          <p:cNvSpPr/>
          <p:nvPr/>
        </p:nvSpPr>
        <p:spPr>
          <a:xfrm>
            <a:off x="1006936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6" name="Connector 49"/>
          <p:cNvSpPr/>
          <p:nvPr/>
        </p:nvSpPr>
        <p:spPr>
          <a:xfrm flipH="1">
            <a:off x="101352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7" name="Connector 50"/>
          <p:cNvSpPr/>
          <p:nvPr/>
        </p:nvSpPr>
        <p:spPr>
          <a:xfrm>
            <a:off x="1099108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8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9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0" name="Connector 53"/>
          <p:cNvSpPr/>
          <p:nvPr/>
        </p:nvSpPr>
        <p:spPr>
          <a:xfrm>
            <a:off x="1628729" y="2921324"/>
            <a:ext cx="184349" cy="6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1" name="Connector 55"/>
          <p:cNvSpPr/>
          <p:nvPr/>
        </p:nvSpPr>
        <p:spPr>
          <a:xfrm flipH="1">
            <a:off x="1635312" y="3046415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2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3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4" name="Connector 62"/>
          <p:cNvSpPr/>
          <p:nvPr/>
        </p:nvSpPr>
        <p:spPr>
          <a:xfrm>
            <a:off x="234269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5" name="Connector 63"/>
          <p:cNvSpPr/>
          <p:nvPr/>
        </p:nvSpPr>
        <p:spPr>
          <a:xfrm>
            <a:off x="2250519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6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7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8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9" name="Connector 67"/>
          <p:cNvSpPr/>
          <p:nvPr/>
        </p:nvSpPr>
        <p:spPr>
          <a:xfrm>
            <a:off x="2964483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0" name="Connector 68"/>
          <p:cNvSpPr/>
          <p:nvPr/>
        </p:nvSpPr>
        <p:spPr>
          <a:xfrm>
            <a:off x="2872313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1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2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3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4" name="Connector 72"/>
          <p:cNvSpPr/>
          <p:nvPr/>
        </p:nvSpPr>
        <p:spPr>
          <a:xfrm>
            <a:off x="3586276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5" name="Connector 73"/>
          <p:cNvSpPr/>
          <p:nvPr/>
        </p:nvSpPr>
        <p:spPr>
          <a:xfrm>
            <a:off x="3494104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6" name="Connector 74"/>
          <p:cNvSpPr/>
          <p:nvPr/>
        </p:nvSpPr>
        <p:spPr>
          <a:xfrm flipH="1">
            <a:off x="350068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7" name="Connector 75"/>
          <p:cNvSpPr/>
          <p:nvPr/>
        </p:nvSpPr>
        <p:spPr>
          <a:xfrm>
            <a:off x="3586276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8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9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0" name="Connector 78"/>
          <p:cNvSpPr/>
          <p:nvPr/>
        </p:nvSpPr>
        <p:spPr>
          <a:xfrm>
            <a:off x="4115896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1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2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3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4" name="Connector 82"/>
          <p:cNvSpPr/>
          <p:nvPr/>
        </p:nvSpPr>
        <p:spPr>
          <a:xfrm>
            <a:off x="4829859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5" name="Connector 83"/>
          <p:cNvSpPr/>
          <p:nvPr/>
        </p:nvSpPr>
        <p:spPr>
          <a:xfrm>
            <a:off x="4737689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6" name="Connector 84"/>
          <p:cNvSpPr/>
          <p:nvPr/>
        </p:nvSpPr>
        <p:spPr>
          <a:xfrm flipH="1">
            <a:off x="474427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7" name="Connector 85"/>
          <p:cNvSpPr/>
          <p:nvPr/>
        </p:nvSpPr>
        <p:spPr>
          <a:xfrm>
            <a:off x="482985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8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9" name="Connector 87"/>
          <p:cNvSpPr/>
          <p:nvPr/>
        </p:nvSpPr>
        <p:spPr>
          <a:xfrm>
            <a:off x="934516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0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1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2" name="Connector 90"/>
          <p:cNvSpPr/>
          <p:nvPr/>
        </p:nvSpPr>
        <p:spPr>
          <a:xfrm>
            <a:off x="934516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3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4" name="Connector 92"/>
          <p:cNvSpPr/>
          <p:nvPr/>
        </p:nvSpPr>
        <p:spPr>
          <a:xfrm>
            <a:off x="1556308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5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6" name="Connector 94"/>
          <p:cNvSpPr/>
          <p:nvPr/>
        </p:nvSpPr>
        <p:spPr>
          <a:xfrm flipH="1">
            <a:off x="147072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7" name="Connector 95"/>
          <p:cNvSpPr/>
          <p:nvPr/>
        </p:nvSpPr>
        <p:spPr>
          <a:xfrm>
            <a:off x="155630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8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9" name="Connector 97"/>
          <p:cNvSpPr/>
          <p:nvPr/>
        </p:nvSpPr>
        <p:spPr>
          <a:xfrm>
            <a:off x="2178099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0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1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2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3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4" name="Connector 102"/>
          <p:cNvSpPr/>
          <p:nvPr/>
        </p:nvSpPr>
        <p:spPr>
          <a:xfrm>
            <a:off x="2799892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5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6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7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8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9" name="Connector 107"/>
          <p:cNvSpPr/>
          <p:nvPr/>
        </p:nvSpPr>
        <p:spPr>
          <a:xfrm>
            <a:off x="3421684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0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1" name="Connector 109"/>
          <p:cNvSpPr/>
          <p:nvPr/>
        </p:nvSpPr>
        <p:spPr>
          <a:xfrm flipH="1">
            <a:off x="333609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2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3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4" name="Connector 112"/>
          <p:cNvSpPr/>
          <p:nvPr/>
        </p:nvSpPr>
        <p:spPr>
          <a:xfrm>
            <a:off x="4043476" y="3560671"/>
            <a:ext cx="6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5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6" name="Connector 115"/>
          <p:cNvSpPr/>
          <p:nvPr/>
        </p:nvSpPr>
        <p:spPr>
          <a:xfrm flipH="1">
            <a:off x="3957887" y="3777934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7" name="Connector 116"/>
          <p:cNvSpPr/>
          <p:nvPr/>
        </p:nvSpPr>
        <p:spPr>
          <a:xfrm>
            <a:off x="4043476" y="3777934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8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9" name="Connector 122"/>
          <p:cNvSpPr/>
          <p:nvPr/>
        </p:nvSpPr>
        <p:spPr>
          <a:xfrm>
            <a:off x="4665267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0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1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2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3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4" name="Connector 127"/>
          <p:cNvSpPr/>
          <p:nvPr/>
        </p:nvSpPr>
        <p:spPr>
          <a:xfrm>
            <a:off x="1099108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5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6" name="Connector 129"/>
          <p:cNvSpPr/>
          <p:nvPr/>
        </p:nvSpPr>
        <p:spPr>
          <a:xfrm flipH="1">
            <a:off x="101352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7" name="Connector 130"/>
          <p:cNvSpPr/>
          <p:nvPr/>
        </p:nvSpPr>
        <p:spPr>
          <a:xfrm>
            <a:off x="1099108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8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9" name="Connector 132"/>
          <p:cNvSpPr/>
          <p:nvPr/>
        </p:nvSpPr>
        <p:spPr>
          <a:xfrm>
            <a:off x="1720899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0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1" name="Connector 134"/>
          <p:cNvSpPr/>
          <p:nvPr/>
        </p:nvSpPr>
        <p:spPr>
          <a:xfrm flipH="1">
            <a:off x="163531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2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3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4" name="Connector 137"/>
          <p:cNvSpPr/>
          <p:nvPr/>
        </p:nvSpPr>
        <p:spPr>
          <a:xfrm>
            <a:off x="2342692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5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6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7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8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9" name="Connector 142"/>
          <p:cNvSpPr/>
          <p:nvPr/>
        </p:nvSpPr>
        <p:spPr>
          <a:xfrm>
            <a:off x="2964483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0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1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2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3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4" name="Connector 147"/>
          <p:cNvSpPr/>
          <p:nvPr/>
        </p:nvSpPr>
        <p:spPr>
          <a:xfrm>
            <a:off x="3586276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5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6" name="Connector 149"/>
          <p:cNvSpPr/>
          <p:nvPr/>
        </p:nvSpPr>
        <p:spPr>
          <a:xfrm flipH="1">
            <a:off x="350068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7" name="Connector 150"/>
          <p:cNvSpPr/>
          <p:nvPr/>
        </p:nvSpPr>
        <p:spPr>
          <a:xfrm>
            <a:off x="3586276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8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9" name="Connector 152"/>
          <p:cNvSpPr/>
          <p:nvPr/>
        </p:nvSpPr>
        <p:spPr>
          <a:xfrm>
            <a:off x="4208067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0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1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2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3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4" name="Connector 157"/>
          <p:cNvSpPr/>
          <p:nvPr/>
        </p:nvSpPr>
        <p:spPr>
          <a:xfrm>
            <a:off x="4829859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5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6" name="Connector 159"/>
          <p:cNvSpPr/>
          <p:nvPr/>
        </p:nvSpPr>
        <p:spPr>
          <a:xfrm flipH="1">
            <a:off x="474427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7" name="Connector 160"/>
          <p:cNvSpPr/>
          <p:nvPr/>
        </p:nvSpPr>
        <p:spPr>
          <a:xfrm>
            <a:off x="482985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8" name="Connector 184"/>
          <p:cNvSpPr/>
          <p:nvPr/>
        </p:nvSpPr>
        <p:spPr>
          <a:xfrm>
            <a:off x="749803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9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030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031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034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035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036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7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8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9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0" name="Connector 10"/>
          <p:cNvSpPr/>
          <p:nvPr/>
        </p:nvSpPr>
        <p:spPr>
          <a:xfrm>
            <a:off x="934513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1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2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3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4" name="Connector 14"/>
          <p:cNvSpPr/>
          <p:nvPr/>
        </p:nvSpPr>
        <p:spPr>
          <a:xfrm flipH="1">
            <a:off x="147071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5" name="Connector 15"/>
          <p:cNvSpPr/>
          <p:nvPr/>
        </p:nvSpPr>
        <p:spPr>
          <a:xfrm>
            <a:off x="155630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6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7" name="Connector 17"/>
          <p:cNvSpPr/>
          <p:nvPr/>
        </p:nvSpPr>
        <p:spPr>
          <a:xfrm>
            <a:off x="217809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8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9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0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1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2" name="Connector 22"/>
          <p:cNvSpPr/>
          <p:nvPr/>
        </p:nvSpPr>
        <p:spPr>
          <a:xfrm>
            <a:off x="2799892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3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4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5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6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7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8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9" name="Connector 30"/>
          <p:cNvSpPr/>
          <p:nvPr/>
        </p:nvSpPr>
        <p:spPr>
          <a:xfrm flipH="1">
            <a:off x="3336092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0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1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2" name="Connector 37"/>
          <p:cNvSpPr/>
          <p:nvPr/>
        </p:nvSpPr>
        <p:spPr>
          <a:xfrm>
            <a:off x="4043474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3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4" name="Connector 39"/>
          <p:cNvSpPr/>
          <p:nvPr/>
        </p:nvSpPr>
        <p:spPr>
          <a:xfrm flipH="1">
            <a:off x="3957885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5" name="Connector 40"/>
          <p:cNvSpPr/>
          <p:nvPr/>
        </p:nvSpPr>
        <p:spPr>
          <a:xfrm>
            <a:off x="404347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6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7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8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9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0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1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2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3" name="Connector 48"/>
          <p:cNvSpPr/>
          <p:nvPr/>
        </p:nvSpPr>
        <p:spPr>
          <a:xfrm>
            <a:off x="100693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4" name="Connector 49"/>
          <p:cNvSpPr/>
          <p:nvPr/>
        </p:nvSpPr>
        <p:spPr>
          <a:xfrm flipH="1">
            <a:off x="101351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5" name="Connector 50"/>
          <p:cNvSpPr/>
          <p:nvPr/>
        </p:nvSpPr>
        <p:spPr>
          <a:xfrm>
            <a:off x="109910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6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7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8" name="Connector 53"/>
          <p:cNvSpPr/>
          <p:nvPr/>
        </p:nvSpPr>
        <p:spPr>
          <a:xfrm>
            <a:off x="1628729" y="2921323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9" name="Connector 55"/>
          <p:cNvSpPr/>
          <p:nvPr/>
        </p:nvSpPr>
        <p:spPr>
          <a:xfrm flipH="1">
            <a:off x="1635311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0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1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2" name="Connector 62"/>
          <p:cNvSpPr/>
          <p:nvPr/>
        </p:nvSpPr>
        <p:spPr>
          <a:xfrm>
            <a:off x="234269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3" name="Connector 63"/>
          <p:cNvSpPr/>
          <p:nvPr/>
        </p:nvSpPr>
        <p:spPr>
          <a:xfrm>
            <a:off x="225051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4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5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6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7" name="Connector 67"/>
          <p:cNvSpPr/>
          <p:nvPr/>
        </p:nvSpPr>
        <p:spPr>
          <a:xfrm>
            <a:off x="296448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8" name="Connector 68"/>
          <p:cNvSpPr/>
          <p:nvPr/>
        </p:nvSpPr>
        <p:spPr>
          <a:xfrm>
            <a:off x="2872313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9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0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1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2" name="Connector 72"/>
          <p:cNvSpPr/>
          <p:nvPr/>
        </p:nvSpPr>
        <p:spPr>
          <a:xfrm>
            <a:off x="3586274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3" name="Connector 73"/>
          <p:cNvSpPr/>
          <p:nvPr/>
        </p:nvSpPr>
        <p:spPr>
          <a:xfrm>
            <a:off x="3494104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4" name="Connector 74"/>
          <p:cNvSpPr/>
          <p:nvPr/>
        </p:nvSpPr>
        <p:spPr>
          <a:xfrm flipH="1">
            <a:off x="350068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5" name="Connector 75"/>
          <p:cNvSpPr/>
          <p:nvPr/>
        </p:nvSpPr>
        <p:spPr>
          <a:xfrm>
            <a:off x="358627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6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7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8" name="Connector 78"/>
          <p:cNvSpPr/>
          <p:nvPr/>
        </p:nvSpPr>
        <p:spPr>
          <a:xfrm>
            <a:off x="411589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9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0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1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2" name="Connector 82"/>
          <p:cNvSpPr/>
          <p:nvPr/>
        </p:nvSpPr>
        <p:spPr>
          <a:xfrm>
            <a:off x="4829859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3" name="Connector 83"/>
          <p:cNvSpPr/>
          <p:nvPr/>
        </p:nvSpPr>
        <p:spPr>
          <a:xfrm>
            <a:off x="473768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4" name="Connector 84"/>
          <p:cNvSpPr/>
          <p:nvPr/>
        </p:nvSpPr>
        <p:spPr>
          <a:xfrm flipH="1">
            <a:off x="474427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5" name="Connector 85"/>
          <p:cNvSpPr/>
          <p:nvPr/>
        </p:nvSpPr>
        <p:spPr>
          <a:xfrm>
            <a:off x="482985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6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7" name="Connector 87"/>
          <p:cNvSpPr/>
          <p:nvPr/>
        </p:nvSpPr>
        <p:spPr>
          <a:xfrm>
            <a:off x="934516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8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9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0" name="Connector 90"/>
          <p:cNvSpPr/>
          <p:nvPr/>
        </p:nvSpPr>
        <p:spPr>
          <a:xfrm>
            <a:off x="934513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1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2" name="Connector 92"/>
          <p:cNvSpPr/>
          <p:nvPr/>
        </p:nvSpPr>
        <p:spPr>
          <a:xfrm>
            <a:off x="155630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3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4" name="Connector 94"/>
          <p:cNvSpPr/>
          <p:nvPr/>
        </p:nvSpPr>
        <p:spPr>
          <a:xfrm flipH="1">
            <a:off x="147071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5" name="Connector 95"/>
          <p:cNvSpPr/>
          <p:nvPr/>
        </p:nvSpPr>
        <p:spPr>
          <a:xfrm>
            <a:off x="155630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6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7" name="Connector 97"/>
          <p:cNvSpPr/>
          <p:nvPr/>
        </p:nvSpPr>
        <p:spPr>
          <a:xfrm>
            <a:off x="217809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8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9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0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1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2" name="Connector 102"/>
          <p:cNvSpPr/>
          <p:nvPr/>
        </p:nvSpPr>
        <p:spPr>
          <a:xfrm>
            <a:off x="2799892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3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4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5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6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7" name="Connector 107"/>
          <p:cNvSpPr/>
          <p:nvPr/>
        </p:nvSpPr>
        <p:spPr>
          <a:xfrm>
            <a:off x="3421684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8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9" name="Connector 109"/>
          <p:cNvSpPr/>
          <p:nvPr/>
        </p:nvSpPr>
        <p:spPr>
          <a:xfrm flipH="1">
            <a:off x="33360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0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1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2" name="Connector 112"/>
          <p:cNvSpPr/>
          <p:nvPr/>
        </p:nvSpPr>
        <p:spPr>
          <a:xfrm>
            <a:off x="4043474" y="3560669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3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4" name="Connector 115"/>
          <p:cNvSpPr/>
          <p:nvPr/>
        </p:nvSpPr>
        <p:spPr>
          <a:xfrm flipH="1">
            <a:off x="3957885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5" name="Connector 116"/>
          <p:cNvSpPr/>
          <p:nvPr/>
        </p:nvSpPr>
        <p:spPr>
          <a:xfrm>
            <a:off x="4043474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6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7" name="Connector 122"/>
          <p:cNvSpPr/>
          <p:nvPr/>
        </p:nvSpPr>
        <p:spPr>
          <a:xfrm>
            <a:off x="4665267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8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9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0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1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2" name="Connector 127"/>
          <p:cNvSpPr/>
          <p:nvPr/>
        </p:nvSpPr>
        <p:spPr>
          <a:xfrm>
            <a:off x="1099108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3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4" name="Connector 129"/>
          <p:cNvSpPr/>
          <p:nvPr/>
        </p:nvSpPr>
        <p:spPr>
          <a:xfrm flipH="1">
            <a:off x="101351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5" name="Connector 130"/>
          <p:cNvSpPr/>
          <p:nvPr/>
        </p:nvSpPr>
        <p:spPr>
          <a:xfrm>
            <a:off x="109910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6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7" name="Connector 132"/>
          <p:cNvSpPr/>
          <p:nvPr/>
        </p:nvSpPr>
        <p:spPr>
          <a:xfrm>
            <a:off x="1720899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8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9" name="Connector 134"/>
          <p:cNvSpPr/>
          <p:nvPr/>
        </p:nvSpPr>
        <p:spPr>
          <a:xfrm flipH="1">
            <a:off x="1635311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0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1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2" name="Connector 137"/>
          <p:cNvSpPr/>
          <p:nvPr/>
        </p:nvSpPr>
        <p:spPr>
          <a:xfrm>
            <a:off x="234269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3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4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5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6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7" name="Connector 142"/>
          <p:cNvSpPr/>
          <p:nvPr/>
        </p:nvSpPr>
        <p:spPr>
          <a:xfrm>
            <a:off x="2964482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8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9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0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1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2" name="Connector 147"/>
          <p:cNvSpPr/>
          <p:nvPr/>
        </p:nvSpPr>
        <p:spPr>
          <a:xfrm>
            <a:off x="3586274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3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4" name="Connector 149"/>
          <p:cNvSpPr/>
          <p:nvPr/>
        </p:nvSpPr>
        <p:spPr>
          <a:xfrm flipH="1">
            <a:off x="350068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5" name="Connector 150"/>
          <p:cNvSpPr/>
          <p:nvPr/>
        </p:nvSpPr>
        <p:spPr>
          <a:xfrm>
            <a:off x="358627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6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7" name="Connector 152"/>
          <p:cNvSpPr/>
          <p:nvPr/>
        </p:nvSpPr>
        <p:spPr>
          <a:xfrm>
            <a:off x="4208067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8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9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0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1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2" name="Connector 157"/>
          <p:cNvSpPr/>
          <p:nvPr/>
        </p:nvSpPr>
        <p:spPr>
          <a:xfrm>
            <a:off x="482985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3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4" name="Connector 159"/>
          <p:cNvSpPr/>
          <p:nvPr/>
        </p:nvSpPr>
        <p:spPr>
          <a:xfrm flipH="1">
            <a:off x="474427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5" name="Connector 160"/>
          <p:cNvSpPr/>
          <p:nvPr/>
        </p:nvSpPr>
        <p:spPr>
          <a:xfrm>
            <a:off x="482985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6" name="Connector 184"/>
          <p:cNvSpPr/>
          <p:nvPr/>
        </p:nvSpPr>
        <p:spPr>
          <a:xfrm>
            <a:off x="749804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7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178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179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180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183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184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185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6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7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8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9" name="Connector 10"/>
          <p:cNvSpPr/>
          <p:nvPr/>
        </p:nvSpPr>
        <p:spPr>
          <a:xfrm>
            <a:off x="934513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0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1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2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3" name="Connector 14"/>
          <p:cNvSpPr/>
          <p:nvPr/>
        </p:nvSpPr>
        <p:spPr>
          <a:xfrm flipH="1">
            <a:off x="147071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4" name="Connector 15"/>
          <p:cNvSpPr/>
          <p:nvPr/>
        </p:nvSpPr>
        <p:spPr>
          <a:xfrm>
            <a:off x="155630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5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6" name="Connector 17"/>
          <p:cNvSpPr/>
          <p:nvPr/>
        </p:nvSpPr>
        <p:spPr>
          <a:xfrm>
            <a:off x="217809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7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8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9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0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1" name="Connector 22"/>
          <p:cNvSpPr/>
          <p:nvPr/>
        </p:nvSpPr>
        <p:spPr>
          <a:xfrm>
            <a:off x="2799892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2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3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4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5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6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7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8" name="Connector 29"/>
          <p:cNvSpPr/>
          <p:nvPr/>
        </p:nvSpPr>
        <p:spPr>
          <a:xfrm flipV="1">
            <a:off x="3474353" y="1998877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9" name="Connector 30"/>
          <p:cNvSpPr/>
          <p:nvPr/>
        </p:nvSpPr>
        <p:spPr>
          <a:xfrm flipH="1">
            <a:off x="3336092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0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1" name="Connector 32"/>
          <p:cNvSpPr/>
          <p:nvPr/>
        </p:nvSpPr>
        <p:spPr>
          <a:xfrm>
            <a:off x="364743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2" name="Connector 33"/>
          <p:cNvSpPr/>
          <p:nvPr/>
        </p:nvSpPr>
        <p:spPr>
          <a:xfrm>
            <a:off x="371144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3" name="Connector 34"/>
          <p:cNvSpPr/>
          <p:nvPr/>
        </p:nvSpPr>
        <p:spPr>
          <a:xfrm>
            <a:off x="3775452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4" name="Connector 35"/>
          <p:cNvSpPr/>
          <p:nvPr/>
        </p:nvSpPr>
        <p:spPr>
          <a:xfrm>
            <a:off x="3839459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5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6" name="Connector 37"/>
          <p:cNvSpPr/>
          <p:nvPr/>
        </p:nvSpPr>
        <p:spPr>
          <a:xfrm>
            <a:off x="4043474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7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8" name="Connector 39"/>
          <p:cNvSpPr/>
          <p:nvPr/>
        </p:nvSpPr>
        <p:spPr>
          <a:xfrm flipH="1">
            <a:off x="3957885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9" name="Connector 40"/>
          <p:cNvSpPr/>
          <p:nvPr/>
        </p:nvSpPr>
        <p:spPr>
          <a:xfrm>
            <a:off x="404347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0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1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2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3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4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5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6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7" name="Connector 48"/>
          <p:cNvSpPr/>
          <p:nvPr/>
        </p:nvSpPr>
        <p:spPr>
          <a:xfrm>
            <a:off x="100693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8" name="Connector 49"/>
          <p:cNvSpPr/>
          <p:nvPr/>
        </p:nvSpPr>
        <p:spPr>
          <a:xfrm flipH="1">
            <a:off x="101351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9" name="Connector 50"/>
          <p:cNvSpPr/>
          <p:nvPr/>
        </p:nvSpPr>
        <p:spPr>
          <a:xfrm>
            <a:off x="109910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0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1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2" name="Connector 53"/>
          <p:cNvSpPr/>
          <p:nvPr/>
        </p:nvSpPr>
        <p:spPr>
          <a:xfrm>
            <a:off x="1628729" y="2921323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3" name="Connector 54"/>
          <p:cNvSpPr/>
          <p:nvPr/>
        </p:nvSpPr>
        <p:spPr>
          <a:xfrm flipV="1">
            <a:off x="1773570" y="2730398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4" name="Connector 55"/>
          <p:cNvSpPr/>
          <p:nvPr/>
        </p:nvSpPr>
        <p:spPr>
          <a:xfrm flipH="1">
            <a:off x="1635311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5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6" name="Connector 57"/>
          <p:cNvSpPr/>
          <p:nvPr/>
        </p:nvSpPr>
        <p:spPr>
          <a:xfrm>
            <a:off x="1946655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7" name="Connector 58"/>
          <p:cNvSpPr/>
          <p:nvPr/>
        </p:nvSpPr>
        <p:spPr>
          <a:xfrm>
            <a:off x="2010660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8" name="Connector 59"/>
          <p:cNvSpPr/>
          <p:nvPr/>
        </p:nvSpPr>
        <p:spPr>
          <a:xfrm>
            <a:off x="2074672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9" name="Connector 60"/>
          <p:cNvSpPr/>
          <p:nvPr/>
        </p:nvSpPr>
        <p:spPr>
          <a:xfrm>
            <a:off x="2138677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0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1" name="Connector 62"/>
          <p:cNvSpPr/>
          <p:nvPr/>
        </p:nvSpPr>
        <p:spPr>
          <a:xfrm>
            <a:off x="234269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2" name="Connector 63"/>
          <p:cNvSpPr/>
          <p:nvPr/>
        </p:nvSpPr>
        <p:spPr>
          <a:xfrm>
            <a:off x="225051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3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4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5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6" name="Connector 67"/>
          <p:cNvSpPr/>
          <p:nvPr/>
        </p:nvSpPr>
        <p:spPr>
          <a:xfrm>
            <a:off x="296448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7" name="Connector 68"/>
          <p:cNvSpPr/>
          <p:nvPr/>
        </p:nvSpPr>
        <p:spPr>
          <a:xfrm>
            <a:off x="2872313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8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9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0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1" name="Connector 72"/>
          <p:cNvSpPr/>
          <p:nvPr/>
        </p:nvSpPr>
        <p:spPr>
          <a:xfrm>
            <a:off x="3586274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2" name="Connector 73"/>
          <p:cNvSpPr/>
          <p:nvPr/>
        </p:nvSpPr>
        <p:spPr>
          <a:xfrm>
            <a:off x="3494104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3" name="Connector 74"/>
          <p:cNvSpPr/>
          <p:nvPr/>
        </p:nvSpPr>
        <p:spPr>
          <a:xfrm flipH="1">
            <a:off x="350068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4" name="Connector 75"/>
          <p:cNvSpPr/>
          <p:nvPr/>
        </p:nvSpPr>
        <p:spPr>
          <a:xfrm>
            <a:off x="358627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5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6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7" name="Connector 78"/>
          <p:cNvSpPr/>
          <p:nvPr/>
        </p:nvSpPr>
        <p:spPr>
          <a:xfrm>
            <a:off x="411589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8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9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0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1" name="Connector 82"/>
          <p:cNvSpPr/>
          <p:nvPr/>
        </p:nvSpPr>
        <p:spPr>
          <a:xfrm>
            <a:off x="4829859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2" name="Connector 83"/>
          <p:cNvSpPr/>
          <p:nvPr/>
        </p:nvSpPr>
        <p:spPr>
          <a:xfrm>
            <a:off x="473768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3" name="Connector 84"/>
          <p:cNvSpPr/>
          <p:nvPr/>
        </p:nvSpPr>
        <p:spPr>
          <a:xfrm flipH="1">
            <a:off x="474427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4" name="Connector 85"/>
          <p:cNvSpPr/>
          <p:nvPr/>
        </p:nvSpPr>
        <p:spPr>
          <a:xfrm>
            <a:off x="482985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5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6" name="Connector 87"/>
          <p:cNvSpPr/>
          <p:nvPr/>
        </p:nvSpPr>
        <p:spPr>
          <a:xfrm>
            <a:off x="934516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7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8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9" name="Connector 90"/>
          <p:cNvSpPr/>
          <p:nvPr/>
        </p:nvSpPr>
        <p:spPr>
          <a:xfrm>
            <a:off x="934513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0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1" name="Connector 92"/>
          <p:cNvSpPr/>
          <p:nvPr/>
        </p:nvSpPr>
        <p:spPr>
          <a:xfrm>
            <a:off x="155630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2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3" name="Connector 94"/>
          <p:cNvSpPr/>
          <p:nvPr/>
        </p:nvSpPr>
        <p:spPr>
          <a:xfrm flipH="1">
            <a:off x="147071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4" name="Connector 95"/>
          <p:cNvSpPr/>
          <p:nvPr/>
        </p:nvSpPr>
        <p:spPr>
          <a:xfrm>
            <a:off x="155630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5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6" name="Connector 97"/>
          <p:cNvSpPr/>
          <p:nvPr/>
        </p:nvSpPr>
        <p:spPr>
          <a:xfrm>
            <a:off x="217809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7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8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9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0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1" name="Connector 102"/>
          <p:cNvSpPr/>
          <p:nvPr/>
        </p:nvSpPr>
        <p:spPr>
          <a:xfrm>
            <a:off x="2799892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2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3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4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5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6" name="Connector 107"/>
          <p:cNvSpPr/>
          <p:nvPr/>
        </p:nvSpPr>
        <p:spPr>
          <a:xfrm>
            <a:off x="3421684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7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8" name="Connector 109"/>
          <p:cNvSpPr/>
          <p:nvPr/>
        </p:nvSpPr>
        <p:spPr>
          <a:xfrm flipH="1">
            <a:off x="33360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9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0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1" name="Connector 112"/>
          <p:cNvSpPr/>
          <p:nvPr/>
        </p:nvSpPr>
        <p:spPr>
          <a:xfrm>
            <a:off x="4043474" y="3560669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2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3" name="Connector 114"/>
          <p:cNvSpPr/>
          <p:nvPr/>
        </p:nvSpPr>
        <p:spPr>
          <a:xfrm flipV="1">
            <a:off x="4096146" y="3461915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4" name="Connector 115"/>
          <p:cNvSpPr/>
          <p:nvPr/>
        </p:nvSpPr>
        <p:spPr>
          <a:xfrm flipH="1">
            <a:off x="3957885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5" name="Connector 116"/>
          <p:cNvSpPr/>
          <p:nvPr/>
        </p:nvSpPr>
        <p:spPr>
          <a:xfrm>
            <a:off x="4043474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6" name="Connector 117"/>
          <p:cNvSpPr/>
          <p:nvPr/>
        </p:nvSpPr>
        <p:spPr>
          <a:xfrm>
            <a:off x="4269232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7" name="Connector 118"/>
          <p:cNvSpPr/>
          <p:nvPr/>
        </p:nvSpPr>
        <p:spPr>
          <a:xfrm>
            <a:off x="4333240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8" name="Connector 119"/>
          <p:cNvSpPr/>
          <p:nvPr/>
        </p:nvSpPr>
        <p:spPr>
          <a:xfrm>
            <a:off x="4397247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9" name="Connector 120"/>
          <p:cNvSpPr/>
          <p:nvPr/>
        </p:nvSpPr>
        <p:spPr>
          <a:xfrm>
            <a:off x="4461254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0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1" name="Connector 122"/>
          <p:cNvSpPr/>
          <p:nvPr/>
        </p:nvSpPr>
        <p:spPr>
          <a:xfrm>
            <a:off x="4665267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2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3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4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5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6" name="Connector 127"/>
          <p:cNvSpPr/>
          <p:nvPr/>
        </p:nvSpPr>
        <p:spPr>
          <a:xfrm>
            <a:off x="1099108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7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8" name="Connector 129"/>
          <p:cNvSpPr/>
          <p:nvPr/>
        </p:nvSpPr>
        <p:spPr>
          <a:xfrm flipH="1">
            <a:off x="101351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9" name="Connector 130"/>
          <p:cNvSpPr/>
          <p:nvPr/>
        </p:nvSpPr>
        <p:spPr>
          <a:xfrm>
            <a:off x="109910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0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1" name="Connector 132"/>
          <p:cNvSpPr/>
          <p:nvPr/>
        </p:nvSpPr>
        <p:spPr>
          <a:xfrm>
            <a:off x="1720899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2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3" name="Connector 134"/>
          <p:cNvSpPr/>
          <p:nvPr/>
        </p:nvSpPr>
        <p:spPr>
          <a:xfrm flipH="1">
            <a:off x="1635311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4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5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6" name="Connector 137"/>
          <p:cNvSpPr/>
          <p:nvPr/>
        </p:nvSpPr>
        <p:spPr>
          <a:xfrm>
            <a:off x="234269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7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8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9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0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1" name="Connector 142"/>
          <p:cNvSpPr/>
          <p:nvPr/>
        </p:nvSpPr>
        <p:spPr>
          <a:xfrm>
            <a:off x="2964482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2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3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4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5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6" name="Connector 147"/>
          <p:cNvSpPr/>
          <p:nvPr/>
        </p:nvSpPr>
        <p:spPr>
          <a:xfrm>
            <a:off x="3586274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7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8" name="Connector 149"/>
          <p:cNvSpPr/>
          <p:nvPr/>
        </p:nvSpPr>
        <p:spPr>
          <a:xfrm flipH="1">
            <a:off x="350068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9" name="Connector 150"/>
          <p:cNvSpPr/>
          <p:nvPr/>
        </p:nvSpPr>
        <p:spPr>
          <a:xfrm>
            <a:off x="358627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0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1" name="Connector 152"/>
          <p:cNvSpPr/>
          <p:nvPr/>
        </p:nvSpPr>
        <p:spPr>
          <a:xfrm>
            <a:off x="4208067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2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3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4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5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6" name="Connector 157"/>
          <p:cNvSpPr/>
          <p:nvPr/>
        </p:nvSpPr>
        <p:spPr>
          <a:xfrm>
            <a:off x="482985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7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8" name="Connector 159"/>
          <p:cNvSpPr/>
          <p:nvPr/>
        </p:nvSpPr>
        <p:spPr>
          <a:xfrm flipH="1">
            <a:off x="474427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9" name="Connector 160"/>
          <p:cNvSpPr/>
          <p:nvPr/>
        </p:nvSpPr>
        <p:spPr>
          <a:xfrm>
            <a:off x="482985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0" name="Connector 184"/>
          <p:cNvSpPr/>
          <p:nvPr/>
        </p:nvSpPr>
        <p:spPr>
          <a:xfrm>
            <a:off x="749804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1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342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343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344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347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348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349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0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1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2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3" name="Connector 10"/>
          <p:cNvSpPr/>
          <p:nvPr/>
        </p:nvSpPr>
        <p:spPr>
          <a:xfrm>
            <a:off x="934513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4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5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6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7" name="Connector 14"/>
          <p:cNvSpPr/>
          <p:nvPr/>
        </p:nvSpPr>
        <p:spPr>
          <a:xfrm flipH="1">
            <a:off x="147071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8" name="Connector 15"/>
          <p:cNvSpPr/>
          <p:nvPr/>
        </p:nvSpPr>
        <p:spPr>
          <a:xfrm>
            <a:off x="155630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9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0" name="Connector 17"/>
          <p:cNvSpPr/>
          <p:nvPr/>
        </p:nvSpPr>
        <p:spPr>
          <a:xfrm>
            <a:off x="217809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1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2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3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4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5" name="Connector 22"/>
          <p:cNvSpPr/>
          <p:nvPr/>
        </p:nvSpPr>
        <p:spPr>
          <a:xfrm>
            <a:off x="2799892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6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7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8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9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0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1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2" name="Connector 29"/>
          <p:cNvSpPr/>
          <p:nvPr/>
        </p:nvSpPr>
        <p:spPr>
          <a:xfrm flipV="1">
            <a:off x="3474353" y="1998877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3" name="Connector 30"/>
          <p:cNvSpPr/>
          <p:nvPr/>
        </p:nvSpPr>
        <p:spPr>
          <a:xfrm flipH="1">
            <a:off x="3336092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4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5" name="Connector 32"/>
          <p:cNvSpPr/>
          <p:nvPr/>
        </p:nvSpPr>
        <p:spPr>
          <a:xfrm>
            <a:off x="364743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6" name="Connector 33"/>
          <p:cNvSpPr/>
          <p:nvPr/>
        </p:nvSpPr>
        <p:spPr>
          <a:xfrm>
            <a:off x="371144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7" name="Connector 34"/>
          <p:cNvSpPr/>
          <p:nvPr/>
        </p:nvSpPr>
        <p:spPr>
          <a:xfrm>
            <a:off x="3775452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8" name="Connector 35"/>
          <p:cNvSpPr/>
          <p:nvPr/>
        </p:nvSpPr>
        <p:spPr>
          <a:xfrm>
            <a:off x="3839459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9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0" name="Connector 37"/>
          <p:cNvSpPr/>
          <p:nvPr/>
        </p:nvSpPr>
        <p:spPr>
          <a:xfrm>
            <a:off x="4043474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1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2" name="Connector 39"/>
          <p:cNvSpPr/>
          <p:nvPr/>
        </p:nvSpPr>
        <p:spPr>
          <a:xfrm flipH="1">
            <a:off x="3957885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3" name="Connector 40"/>
          <p:cNvSpPr/>
          <p:nvPr/>
        </p:nvSpPr>
        <p:spPr>
          <a:xfrm>
            <a:off x="404347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4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5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6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7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8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9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0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1" name="Connector 48"/>
          <p:cNvSpPr/>
          <p:nvPr/>
        </p:nvSpPr>
        <p:spPr>
          <a:xfrm>
            <a:off x="100693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2" name="Connector 49"/>
          <p:cNvSpPr/>
          <p:nvPr/>
        </p:nvSpPr>
        <p:spPr>
          <a:xfrm flipH="1">
            <a:off x="101351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3" name="Connector 50"/>
          <p:cNvSpPr/>
          <p:nvPr/>
        </p:nvSpPr>
        <p:spPr>
          <a:xfrm>
            <a:off x="109910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4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5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6" name="Connector 53"/>
          <p:cNvSpPr/>
          <p:nvPr/>
        </p:nvSpPr>
        <p:spPr>
          <a:xfrm>
            <a:off x="1628729" y="2921323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7" name="Connector 54"/>
          <p:cNvSpPr/>
          <p:nvPr/>
        </p:nvSpPr>
        <p:spPr>
          <a:xfrm flipV="1">
            <a:off x="1773570" y="2730398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8" name="Connector 55"/>
          <p:cNvSpPr/>
          <p:nvPr/>
        </p:nvSpPr>
        <p:spPr>
          <a:xfrm flipH="1">
            <a:off x="1635311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9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0" name="Connector 57"/>
          <p:cNvSpPr/>
          <p:nvPr/>
        </p:nvSpPr>
        <p:spPr>
          <a:xfrm>
            <a:off x="1946655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1" name="Connector 58"/>
          <p:cNvSpPr/>
          <p:nvPr/>
        </p:nvSpPr>
        <p:spPr>
          <a:xfrm>
            <a:off x="2010660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2" name="Connector 59"/>
          <p:cNvSpPr/>
          <p:nvPr/>
        </p:nvSpPr>
        <p:spPr>
          <a:xfrm>
            <a:off x="2074672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3" name="Connector 60"/>
          <p:cNvSpPr/>
          <p:nvPr/>
        </p:nvSpPr>
        <p:spPr>
          <a:xfrm>
            <a:off x="2138677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4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5" name="Connector 62"/>
          <p:cNvSpPr/>
          <p:nvPr/>
        </p:nvSpPr>
        <p:spPr>
          <a:xfrm>
            <a:off x="234269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6" name="Connector 63"/>
          <p:cNvSpPr/>
          <p:nvPr/>
        </p:nvSpPr>
        <p:spPr>
          <a:xfrm>
            <a:off x="225051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7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8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9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0" name="Connector 67"/>
          <p:cNvSpPr/>
          <p:nvPr/>
        </p:nvSpPr>
        <p:spPr>
          <a:xfrm>
            <a:off x="296448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1" name="Connector 68"/>
          <p:cNvSpPr/>
          <p:nvPr/>
        </p:nvSpPr>
        <p:spPr>
          <a:xfrm>
            <a:off x="2872313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2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3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4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5" name="Connector 72"/>
          <p:cNvSpPr/>
          <p:nvPr/>
        </p:nvSpPr>
        <p:spPr>
          <a:xfrm>
            <a:off x="3586274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6" name="Connector 73"/>
          <p:cNvSpPr/>
          <p:nvPr/>
        </p:nvSpPr>
        <p:spPr>
          <a:xfrm>
            <a:off x="3494104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7" name="Connector 74"/>
          <p:cNvSpPr/>
          <p:nvPr/>
        </p:nvSpPr>
        <p:spPr>
          <a:xfrm flipH="1">
            <a:off x="350068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8" name="Connector 75"/>
          <p:cNvSpPr/>
          <p:nvPr/>
        </p:nvSpPr>
        <p:spPr>
          <a:xfrm>
            <a:off x="358627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9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0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1" name="Connector 78"/>
          <p:cNvSpPr/>
          <p:nvPr/>
        </p:nvSpPr>
        <p:spPr>
          <a:xfrm>
            <a:off x="411589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2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3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4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5" name="Connector 82"/>
          <p:cNvSpPr/>
          <p:nvPr/>
        </p:nvSpPr>
        <p:spPr>
          <a:xfrm>
            <a:off x="4829859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6" name="Connector 83"/>
          <p:cNvSpPr/>
          <p:nvPr/>
        </p:nvSpPr>
        <p:spPr>
          <a:xfrm>
            <a:off x="473768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7" name="Connector 84"/>
          <p:cNvSpPr/>
          <p:nvPr/>
        </p:nvSpPr>
        <p:spPr>
          <a:xfrm flipH="1">
            <a:off x="474427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8" name="Connector 85"/>
          <p:cNvSpPr/>
          <p:nvPr/>
        </p:nvSpPr>
        <p:spPr>
          <a:xfrm>
            <a:off x="482985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9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0" name="Connector 87"/>
          <p:cNvSpPr/>
          <p:nvPr/>
        </p:nvSpPr>
        <p:spPr>
          <a:xfrm>
            <a:off x="934516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1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2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3" name="Connector 90"/>
          <p:cNvSpPr/>
          <p:nvPr/>
        </p:nvSpPr>
        <p:spPr>
          <a:xfrm>
            <a:off x="934513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4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5" name="Connector 92"/>
          <p:cNvSpPr/>
          <p:nvPr/>
        </p:nvSpPr>
        <p:spPr>
          <a:xfrm>
            <a:off x="155630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6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7" name="Connector 94"/>
          <p:cNvSpPr/>
          <p:nvPr/>
        </p:nvSpPr>
        <p:spPr>
          <a:xfrm flipH="1">
            <a:off x="147071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8" name="Connector 95"/>
          <p:cNvSpPr/>
          <p:nvPr/>
        </p:nvSpPr>
        <p:spPr>
          <a:xfrm>
            <a:off x="155630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9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0" name="Connector 97"/>
          <p:cNvSpPr/>
          <p:nvPr/>
        </p:nvSpPr>
        <p:spPr>
          <a:xfrm>
            <a:off x="217809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1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2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3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4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5" name="Connector 102"/>
          <p:cNvSpPr/>
          <p:nvPr/>
        </p:nvSpPr>
        <p:spPr>
          <a:xfrm>
            <a:off x="2799892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6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7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8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9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0" name="Connector 107"/>
          <p:cNvSpPr/>
          <p:nvPr/>
        </p:nvSpPr>
        <p:spPr>
          <a:xfrm>
            <a:off x="3421684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1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2" name="Connector 109"/>
          <p:cNvSpPr/>
          <p:nvPr/>
        </p:nvSpPr>
        <p:spPr>
          <a:xfrm flipH="1">
            <a:off x="33360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3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4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5" name="Connector 112"/>
          <p:cNvSpPr/>
          <p:nvPr/>
        </p:nvSpPr>
        <p:spPr>
          <a:xfrm>
            <a:off x="4043474" y="3560669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6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7" name="Connector 114"/>
          <p:cNvSpPr/>
          <p:nvPr/>
        </p:nvSpPr>
        <p:spPr>
          <a:xfrm flipV="1">
            <a:off x="4096146" y="3461915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8" name="Connector 115"/>
          <p:cNvSpPr/>
          <p:nvPr/>
        </p:nvSpPr>
        <p:spPr>
          <a:xfrm flipH="1">
            <a:off x="3957885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9" name="Connector 116"/>
          <p:cNvSpPr/>
          <p:nvPr/>
        </p:nvSpPr>
        <p:spPr>
          <a:xfrm>
            <a:off x="4043474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0" name="Connector 117"/>
          <p:cNvSpPr/>
          <p:nvPr/>
        </p:nvSpPr>
        <p:spPr>
          <a:xfrm>
            <a:off x="4269232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1" name="Connector 118"/>
          <p:cNvSpPr/>
          <p:nvPr/>
        </p:nvSpPr>
        <p:spPr>
          <a:xfrm>
            <a:off x="4333240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2" name="Connector 119"/>
          <p:cNvSpPr/>
          <p:nvPr/>
        </p:nvSpPr>
        <p:spPr>
          <a:xfrm>
            <a:off x="4397247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3" name="Connector 120"/>
          <p:cNvSpPr/>
          <p:nvPr/>
        </p:nvSpPr>
        <p:spPr>
          <a:xfrm>
            <a:off x="4461254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4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5" name="Connector 122"/>
          <p:cNvSpPr/>
          <p:nvPr/>
        </p:nvSpPr>
        <p:spPr>
          <a:xfrm>
            <a:off x="4665267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6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7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8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9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0" name="Connector 127"/>
          <p:cNvSpPr/>
          <p:nvPr/>
        </p:nvSpPr>
        <p:spPr>
          <a:xfrm>
            <a:off x="1099108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1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2" name="Connector 129"/>
          <p:cNvSpPr/>
          <p:nvPr/>
        </p:nvSpPr>
        <p:spPr>
          <a:xfrm flipH="1">
            <a:off x="101351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3" name="Connector 130"/>
          <p:cNvSpPr/>
          <p:nvPr/>
        </p:nvSpPr>
        <p:spPr>
          <a:xfrm>
            <a:off x="109910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4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5" name="Connector 132"/>
          <p:cNvSpPr/>
          <p:nvPr/>
        </p:nvSpPr>
        <p:spPr>
          <a:xfrm>
            <a:off x="1720899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6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7" name="Connector 134"/>
          <p:cNvSpPr/>
          <p:nvPr/>
        </p:nvSpPr>
        <p:spPr>
          <a:xfrm flipH="1">
            <a:off x="1635311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8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9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0" name="Connector 137"/>
          <p:cNvSpPr/>
          <p:nvPr/>
        </p:nvSpPr>
        <p:spPr>
          <a:xfrm>
            <a:off x="234269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1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2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3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4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5" name="Connector 142"/>
          <p:cNvSpPr/>
          <p:nvPr/>
        </p:nvSpPr>
        <p:spPr>
          <a:xfrm>
            <a:off x="2964482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6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7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8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9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0" name="Connector 147"/>
          <p:cNvSpPr/>
          <p:nvPr/>
        </p:nvSpPr>
        <p:spPr>
          <a:xfrm>
            <a:off x="3586274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1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2" name="Connector 149"/>
          <p:cNvSpPr/>
          <p:nvPr/>
        </p:nvSpPr>
        <p:spPr>
          <a:xfrm flipH="1">
            <a:off x="350068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3" name="Connector 150"/>
          <p:cNvSpPr/>
          <p:nvPr/>
        </p:nvSpPr>
        <p:spPr>
          <a:xfrm>
            <a:off x="358627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4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5" name="Connector 152"/>
          <p:cNvSpPr/>
          <p:nvPr/>
        </p:nvSpPr>
        <p:spPr>
          <a:xfrm>
            <a:off x="4208067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6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7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8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9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0" name="Connector 157"/>
          <p:cNvSpPr/>
          <p:nvPr/>
        </p:nvSpPr>
        <p:spPr>
          <a:xfrm>
            <a:off x="482985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1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2" name="Connector 159"/>
          <p:cNvSpPr/>
          <p:nvPr/>
        </p:nvSpPr>
        <p:spPr>
          <a:xfrm flipH="1">
            <a:off x="474427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3" name="Connector 160"/>
          <p:cNvSpPr/>
          <p:nvPr/>
        </p:nvSpPr>
        <p:spPr>
          <a:xfrm>
            <a:off x="482985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4" name="Connector 161"/>
          <p:cNvSpPr/>
          <p:nvPr/>
        </p:nvSpPr>
        <p:spPr>
          <a:xfrm>
            <a:off x="6492240" y="3246116"/>
            <a:ext cx="4681734" cy="7"/>
          </a:xfrm>
          <a:prstGeom prst="line">
            <a:avLst/>
          </a:prstGeom>
          <a:ln w="254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5" name="Connector 162"/>
          <p:cNvSpPr/>
          <p:nvPr/>
        </p:nvSpPr>
        <p:spPr>
          <a:xfrm>
            <a:off x="3767328" y="2185416"/>
            <a:ext cx="2724917" cy="1060704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6" name="Connector 163"/>
          <p:cNvSpPr/>
          <p:nvPr/>
        </p:nvSpPr>
        <p:spPr>
          <a:xfrm>
            <a:off x="3803903" y="2249421"/>
            <a:ext cx="2688340" cy="1051566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7" name="Connector 164"/>
          <p:cNvSpPr/>
          <p:nvPr/>
        </p:nvSpPr>
        <p:spPr>
          <a:xfrm>
            <a:off x="2066542" y="2916932"/>
            <a:ext cx="4425704" cy="329190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8" name="Connector 165"/>
          <p:cNvSpPr/>
          <p:nvPr/>
        </p:nvSpPr>
        <p:spPr>
          <a:xfrm>
            <a:off x="2103120" y="2980943"/>
            <a:ext cx="4389121" cy="320047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9" name="Connector 166"/>
          <p:cNvSpPr/>
          <p:nvPr/>
        </p:nvSpPr>
        <p:spPr>
          <a:xfrm flipV="1">
            <a:off x="4389120" y="3246120"/>
            <a:ext cx="2103125" cy="402342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0" name="Connector 167"/>
          <p:cNvSpPr/>
          <p:nvPr/>
        </p:nvSpPr>
        <p:spPr>
          <a:xfrm flipV="1">
            <a:off x="4425696" y="3300984"/>
            <a:ext cx="2066547" cy="411486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1" name="Connector 168"/>
          <p:cNvSpPr/>
          <p:nvPr/>
        </p:nvSpPr>
        <p:spPr>
          <a:xfrm flipV="1">
            <a:off x="4352542" y="3374136"/>
            <a:ext cx="2139702" cy="92354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2" name="Connector 169"/>
          <p:cNvSpPr/>
          <p:nvPr/>
        </p:nvSpPr>
        <p:spPr>
          <a:xfrm>
            <a:off x="1810510" y="2834637"/>
            <a:ext cx="4681733" cy="30175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3" name="Oval 170"/>
          <p:cNvSpPr/>
          <p:nvPr/>
        </p:nvSpPr>
        <p:spPr>
          <a:xfrm>
            <a:off x="6784847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4" name="Oval 171"/>
          <p:cNvSpPr/>
          <p:nvPr/>
        </p:nvSpPr>
        <p:spPr>
          <a:xfrm>
            <a:off x="7205471" y="3456432"/>
            <a:ext cx="82307" cy="8230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5" name="Oval 172"/>
          <p:cNvSpPr/>
          <p:nvPr/>
        </p:nvSpPr>
        <p:spPr>
          <a:xfrm>
            <a:off x="7626094" y="3017520"/>
            <a:ext cx="100595" cy="1005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6" name="Oval 173"/>
          <p:cNvSpPr/>
          <p:nvPr/>
        </p:nvSpPr>
        <p:spPr>
          <a:xfrm>
            <a:off x="8247888" y="3364991"/>
            <a:ext cx="73163" cy="7316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7" name="Oval 174"/>
          <p:cNvSpPr/>
          <p:nvPr/>
        </p:nvSpPr>
        <p:spPr>
          <a:xfrm>
            <a:off x="8887968" y="2926077"/>
            <a:ext cx="128027" cy="12802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8" name="Oval 175"/>
          <p:cNvSpPr/>
          <p:nvPr/>
        </p:nvSpPr>
        <p:spPr>
          <a:xfrm>
            <a:off x="9290304" y="3410710"/>
            <a:ext cx="118881" cy="11888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9" name="Oval 176"/>
          <p:cNvSpPr/>
          <p:nvPr/>
        </p:nvSpPr>
        <p:spPr>
          <a:xfrm>
            <a:off x="9765792" y="2889504"/>
            <a:ext cx="146315" cy="1463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0" name="Oval 177"/>
          <p:cNvSpPr/>
          <p:nvPr/>
        </p:nvSpPr>
        <p:spPr>
          <a:xfrm>
            <a:off x="10241280" y="3310128"/>
            <a:ext cx="128027" cy="12802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1" name="Oval 178"/>
          <p:cNvSpPr/>
          <p:nvPr/>
        </p:nvSpPr>
        <p:spPr>
          <a:xfrm>
            <a:off x="10735056" y="2980944"/>
            <a:ext cx="137171" cy="1371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2" name="TextBox 179"/>
          <p:cNvSpPr txBox="1"/>
          <p:nvPr/>
        </p:nvSpPr>
        <p:spPr>
          <a:xfrm>
            <a:off x="6473952" y="3822191"/>
            <a:ext cx="182880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VIEWPOINT MAP</a:t>
            </a:r>
          </a:p>
        </p:txBody>
      </p:sp>
      <p:sp>
        <p:nvSpPr>
          <p:cNvPr id="1523" name="TextBox 180"/>
          <p:cNvSpPr txBox="1"/>
          <p:nvPr/>
        </p:nvSpPr>
        <p:spPr>
          <a:xfrm>
            <a:off x="7424925" y="4315967"/>
            <a:ext cx="914406" cy="50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64</a:t>
            </a:r>
          </a:p>
        </p:txBody>
      </p:sp>
      <p:sp>
        <p:nvSpPr>
          <p:cNvPr id="1524" name="TextBox 181"/>
          <p:cNvSpPr txBox="1"/>
          <p:nvPr/>
        </p:nvSpPr>
        <p:spPr>
          <a:xfrm>
            <a:off x="8016306" y="4477013"/>
            <a:ext cx="150876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power raters</a:t>
            </a:r>
          </a:p>
        </p:txBody>
      </p:sp>
      <p:sp>
        <p:nvSpPr>
          <p:cNvPr id="1525" name="TextBox 182"/>
          <p:cNvSpPr txBox="1"/>
          <p:nvPr/>
        </p:nvSpPr>
        <p:spPr>
          <a:xfrm>
            <a:off x="9802368" y="4315967"/>
            <a:ext cx="1024129" cy="50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11×</a:t>
            </a:r>
          </a:p>
        </p:txBody>
      </p:sp>
      <p:sp>
        <p:nvSpPr>
          <p:cNvPr id="1526" name="TextBox 183"/>
          <p:cNvSpPr txBox="1"/>
          <p:nvPr/>
        </p:nvSpPr>
        <p:spPr>
          <a:xfrm>
            <a:off x="10634471" y="4489703"/>
            <a:ext cx="105156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more active</a:t>
            </a:r>
          </a:p>
        </p:txBody>
      </p:sp>
      <p:sp>
        <p:nvSpPr>
          <p:cNvPr id="1527" name="Connector 184"/>
          <p:cNvSpPr/>
          <p:nvPr/>
        </p:nvSpPr>
        <p:spPr>
          <a:xfrm>
            <a:off x="749804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28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529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530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531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534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535" name="TextBox 3"/>
          <p:cNvSpPr txBox="1"/>
          <p:nvPr/>
        </p:nvSpPr>
        <p:spPr>
          <a:xfrm>
            <a:off x="11082528" y="457198"/>
            <a:ext cx="43891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536" name="Connector 4"/>
          <p:cNvSpPr/>
          <p:nvPr/>
        </p:nvSpPr>
        <p:spPr>
          <a:xfrm flipH="1">
            <a:off x="4005071" y="1554478"/>
            <a:ext cx="3" cy="3456437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37" name="Connector 5"/>
          <p:cNvSpPr/>
          <p:nvPr/>
        </p:nvSpPr>
        <p:spPr>
          <a:xfrm>
            <a:off x="8010142" y="1554478"/>
            <a:ext cx="3" cy="3456437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38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539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40" name="Connector 8"/>
          <p:cNvSpPr/>
          <p:nvPr/>
        </p:nvSpPr>
        <p:spPr>
          <a:xfrm>
            <a:off x="1042416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1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2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3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4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45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6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7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8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9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50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1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2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3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54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5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6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7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558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559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560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561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2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3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4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5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6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7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8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9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0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1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572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573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574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5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6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7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8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9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0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1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2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3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4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585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586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587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588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589" name="TextBox 62"/>
          <p:cNvSpPr txBox="1"/>
          <p:nvPr/>
        </p:nvSpPr>
        <p:spPr>
          <a:xfrm>
            <a:off x="8229599" y="2395727"/>
            <a:ext cx="1097284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590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591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592" name="Connector 65"/>
          <p:cNvSpPr/>
          <p:nvPr/>
        </p:nvSpPr>
        <p:spPr>
          <a:xfrm>
            <a:off x="8229599" y="3328415"/>
            <a:ext cx="3035811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93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594" name="TextBox 67"/>
          <p:cNvSpPr txBox="1"/>
          <p:nvPr/>
        </p:nvSpPr>
        <p:spPr>
          <a:xfrm>
            <a:off x="8229599" y="3968496"/>
            <a:ext cx="502923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595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596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597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98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599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600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01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2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3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4" name="Rectangle"/>
          <p:cNvSpPr/>
          <p:nvPr/>
        </p:nvSpPr>
        <p:spPr>
          <a:xfrm>
            <a:off x="3742044" y="1460622"/>
            <a:ext cx="8005738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60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608" name="TextBox 3"/>
          <p:cNvSpPr txBox="1"/>
          <p:nvPr/>
        </p:nvSpPr>
        <p:spPr>
          <a:xfrm>
            <a:off x="11082528" y="457198"/>
            <a:ext cx="438915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609" name="Connector 4"/>
          <p:cNvSpPr/>
          <p:nvPr/>
        </p:nvSpPr>
        <p:spPr>
          <a:xfrm flipH="1">
            <a:off x="4005071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0" name="Connector 5"/>
          <p:cNvSpPr/>
          <p:nvPr/>
        </p:nvSpPr>
        <p:spPr>
          <a:xfrm>
            <a:off x="8010142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1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612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13" name="Connector 8"/>
          <p:cNvSpPr/>
          <p:nvPr/>
        </p:nvSpPr>
        <p:spPr>
          <a:xfrm>
            <a:off x="1042413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4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5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6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7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18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9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0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1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2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23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4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5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6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27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8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9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30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631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632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633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634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5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6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7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8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9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0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1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2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3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4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645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646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647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8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9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0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1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2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3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4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5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6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7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658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659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660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661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662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663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664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665" name="Connector 65"/>
          <p:cNvSpPr/>
          <p:nvPr/>
        </p:nvSpPr>
        <p:spPr>
          <a:xfrm>
            <a:off x="8229599" y="3328415"/>
            <a:ext cx="3035812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66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667" name="TextBox 67"/>
          <p:cNvSpPr txBox="1"/>
          <p:nvPr/>
        </p:nvSpPr>
        <p:spPr>
          <a:xfrm>
            <a:off x="8229599" y="3968496"/>
            <a:ext cx="50292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668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669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670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1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672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673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4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5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6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7" name="Rectangle"/>
          <p:cNvSpPr/>
          <p:nvPr/>
        </p:nvSpPr>
        <p:spPr>
          <a:xfrm>
            <a:off x="6594474" y="1460622"/>
            <a:ext cx="5153309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8" name="Rectangle"/>
          <p:cNvSpPr/>
          <p:nvPr/>
        </p:nvSpPr>
        <p:spPr>
          <a:xfrm>
            <a:off x="4145505" y="3414910"/>
            <a:ext cx="7729275" cy="169162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681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682" name="TextBox 3"/>
          <p:cNvSpPr txBox="1"/>
          <p:nvPr/>
        </p:nvSpPr>
        <p:spPr>
          <a:xfrm>
            <a:off x="11082528" y="457198"/>
            <a:ext cx="438915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683" name="Connector 4"/>
          <p:cNvSpPr/>
          <p:nvPr/>
        </p:nvSpPr>
        <p:spPr>
          <a:xfrm flipH="1">
            <a:off x="4005071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4" name="Connector 5"/>
          <p:cNvSpPr/>
          <p:nvPr/>
        </p:nvSpPr>
        <p:spPr>
          <a:xfrm>
            <a:off x="8010142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5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686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87" name="Connector 8"/>
          <p:cNvSpPr/>
          <p:nvPr/>
        </p:nvSpPr>
        <p:spPr>
          <a:xfrm>
            <a:off x="1042413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8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9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0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1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92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3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4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5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6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97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8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9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0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01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2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3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4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705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706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707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708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09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0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1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2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3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4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5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6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7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8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719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720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721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2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3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4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5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6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7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8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9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30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31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732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733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734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735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736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737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738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739" name="Connector 65"/>
          <p:cNvSpPr/>
          <p:nvPr/>
        </p:nvSpPr>
        <p:spPr>
          <a:xfrm>
            <a:off x="8229599" y="3328415"/>
            <a:ext cx="3035812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0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741" name="TextBox 67"/>
          <p:cNvSpPr txBox="1"/>
          <p:nvPr/>
        </p:nvSpPr>
        <p:spPr>
          <a:xfrm>
            <a:off x="8229599" y="3968496"/>
            <a:ext cx="50292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742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743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744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5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746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747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48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9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0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1" name="Rectangle"/>
          <p:cNvSpPr/>
          <p:nvPr/>
        </p:nvSpPr>
        <p:spPr>
          <a:xfrm>
            <a:off x="6594475" y="1460622"/>
            <a:ext cx="5153306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754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755" name="TextBox 3"/>
          <p:cNvSpPr txBox="1"/>
          <p:nvPr/>
        </p:nvSpPr>
        <p:spPr>
          <a:xfrm>
            <a:off x="11082528" y="457198"/>
            <a:ext cx="438915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756" name="Connector 4"/>
          <p:cNvSpPr/>
          <p:nvPr/>
        </p:nvSpPr>
        <p:spPr>
          <a:xfrm flipH="1">
            <a:off x="4005071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7" name="Connector 5"/>
          <p:cNvSpPr/>
          <p:nvPr/>
        </p:nvSpPr>
        <p:spPr>
          <a:xfrm>
            <a:off x="8010142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8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759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0" name="Connector 8"/>
          <p:cNvSpPr/>
          <p:nvPr/>
        </p:nvSpPr>
        <p:spPr>
          <a:xfrm>
            <a:off x="1042413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1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2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3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4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5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6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7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8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9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70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1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2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3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74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5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6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7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778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779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780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781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2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3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4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5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6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7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8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9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0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1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792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793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794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5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6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7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8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9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0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1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2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3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4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805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806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807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808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809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810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811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812" name="Connector 65"/>
          <p:cNvSpPr/>
          <p:nvPr/>
        </p:nvSpPr>
        <p:spPr>
          <a:xfrm>
            <a:off x="8229599" y="3328415"/>
            <a:ext cx="3035812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3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814" name="TextBox 67"/>
          <p:cNvSpPr txBox="1"/>
          <p:nvPr/>
        </p:nvSpPr>
        <p:spPr>
          <a:xfrm>
            <a:off x="8229599" y="3968496"/>
            <a:ext cx="50292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815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816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817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8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819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820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21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2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3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COLLECTIVE DECISIONS</a:t>
            </a:r>
          </a:p>
        </p:txBody>
      </p:sp>
      <p:sp>
        <p:nvSpPr>
          <p:cNvPr id="1826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This problem predates platforms</a:t>
            </a:r>
          </a:p>
        </p:txBody>
      </p:sp>
      <p:sp>
        <p:nvSpPr>
          <p:cNvPr id="1827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1828" name="Connector 4"/>
          <p:cNvSpPr/>
          <p:nvPr/>
        </p:nvSpPr>
        <p:spPr>
          <a:xfrm flipH="1">
            <a:off x="4160520" y="1627631"/>
            <a:ext cx="5" cy="329184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9" name="TextBox 5"/>
          <p:cNvSpPr txBox="1"/>
          <p:nvPr/>
        </p:nvSpPr>
        <p:spPr>
          <a:xfrm>
            <a:off x="822960" y="1664205"/>
            <a:ext cx="2011680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SWITZERLAND</a:t>
            </a:r>
          </a:p>
        </p:txBody>
      </p:sp>
      <p:sp>
        <p:nvSpPr>
          <p:cNvPr id="1830" name="TextBox 6"/>
          <p:cNvSpPr txBox="1"/>
          <p:nvPr/>
        </p:nvSpPr>
        <p:spPr>
          <a:xfrm>
            <a:off x="877824" y="2212848"/>
            <a:ext cx="7772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PEOPLE</a:t>
            </a:r>
          </a:p>
        </p:txBody>
      </p:sp>
      <p:sp>
        <p:nvSpPr>
          <p:cNvPr id="1831" name="Oval 7"/>
          <p:cNvSpPr/>
          <p:nvPr/>
        </p:nvSpPr>
        <p:spPr>
          <a:xfrm>
            <a:off x="932688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2" name="Oval 8"/>
          <p:cNvSpPr/>
          <p:nvPr/>
        </p:nvSpPr>
        <p:spPr>
          <a:xfrm>
            <a:off x="1243583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3" name="Oval 9"/>
          <p:cNvSpPr/>
          <p:nvPr/>
        </p:nvSpPr>
        <p:spPr>
          <a:xfrm>
            <a:off x="1554480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4" name="Oval 10"/>
          <p:cNvSpPr/>
          <p:nvPr/>
        </p:nvSpPr>
        <p:spPr>
          <a:xfrm>
            <a:off x="1865376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5" name="Oval 11"/>
          <p:cNvSpPr/>
          <p:nvPr/>
        </p:nvSpPr>
        <p:spPr>
          <a:xfrm>
            <a:off x="932688" y="2871215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6" name="Oval 12"/>
          <p:cNvSpPr/>
          <p:nvPr/>
        </p:nvSpPr>
        <p:spPr>
          <a:xfrm>
            <a:off x="1243583" y="2871215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7" name="Oval 13"/>
          <p:cNvSpPr/>
          <p:nvPr/>
        </p:nvSpPr>
        <p:spPr>
          <a:xfrm>
            <a:off x="1554480" y="2871215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8" name="TextBox 14"/>
          <p:cNvSpPr txBox="1"/>
          <p:nvPr/>
        </p:nvSpPr>
        <p:spPr>
          <a:xfrm>
            <a:off x="2359150" y="2642616"/>
            <a:ext cx="27432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39" name="TextBox 15"/>
          <p:cNvSpPr txBox="1"/>
          <p:nvPr/>
        </p:nvSpPr>
        <p:spPr>
          <a:xfrm>
            <a:off x="877824" y="3319271"/>
            <a:ext cx="7772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CANTONS</a:t>
            </a:r>
          </a:p>
        </p:txBody>
      </p:sp>
      <p:sp>
        <p:nvSpPr>
          <p:cNvPr id="1840" name="Oval 16"/>
          <p:cNvSpPr/>
          <p:nvPr/>
        </p:nvSpPr>
        <p:spPr>
          <a:xfrm>
            <a:off x="932688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1" name="Oval 17"/>
          <p:cNvSpPr/>
          <p:nvPr/>
        </p:nvSpPr>
        <p:spPr>
          <a:xfrm>
            <a:off x="1243583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2" name="Oval 18"/>
          <p:cNvSpPr/>
          <p:nvPr/>
        </p:nvSpPr>
        <p:spPr>
          <a:xfrm>
            <a:off x="1554480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3" name="Oval 19"/>
          <p:cNvSpPr/>
          <p:nvPr/>
        </p:nvSpPr>
        <p:spPr>
          <a:xfrm>
            <a:off x="1865376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4" name="Oval 20"/>
          <p:cNvSpPr/>
          <p:nvPr/>
        </p:nvSpPr>
        <p:spPr>
          <a:xfrm>
            <a:off x="932688" y="3977637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5" name="Oval 21"/>
          <p:cNvSpPr/>
          <p:nvPr/>
        </p:nvSpPr>
        <p:spPr>
          <a:xfrm>
            <a:off x="1243583" y="3977637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6" name="Oval 22"/>
          <p:cNvSpPr/>
          <p:nvPr/>
        </p:nvSpPr>
        <p:spPr>
          <a:xfrm>
            <a:off x="1554480" y="3977637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7" name="Connector 23"/>
          <p:cNvSpPr/>
          <p:nvPr/>
        </p:nvSpPr>
        <p:spPr>
          <a:xfrm>
            <a:off x="2660904" y="2752344"/>
            <a:ext cx="521209" cy="301757"/>
          </a:xfrm>
          <a:prstGeom prst="line">
            <a:avLst/>
          </a:prstGeom>
          <a:ln w="1524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48" name="Connector 24"/>
          <p:cNvSpPr/>
          <p:nvPr/>
        </p:nvSpPr>
        <p:spPr>
          <a:xfrm flipV="1">
            <a:off x="2660904" y="3246120"/>
            <a:ext cx="521209" cy="57607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49" name="TextBox 28"/>
          <p:cNvSpPr txBox="1"/>
          <p:nvPr/>
        </p:nvSpPr>
        <p:spPr>
          <a:xfrm>
            <a:off x="877824" y="4590288"/>
            <a:ext cx="2057403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Double majority</a:t>
            </a:r>
          </a:p>
        </p:txBody>
      </p:sp>
      <p:sp>
        <p:nvSpPr>
          <p:cNvPr id="1850" name="TextBox 29"/>
          <p:cNvSpPr txBox="1"/>
          <p:nvPr/>
        </p:nvSpPr>
        <p:spPr>
          <a:xfrm>
            <a:off x="4663440" y="2048255"/>
            <a:ext cx="16002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BELGIUM</a:t>
            </a:r>
          </a:p>
        </p:txBody>
      </p:sp>
      <p:sp>
        <p:nvSpPr>
          <p:cNvPr id="1851" name="Oval 30"/>
          <p:cNvSpPr/>
          <p:nvPr/>
        </p:nvSpPr>
        <p:spPr>
          <a:xfrm>
            <a:off x="6437376" y="2020821"/>
            <a:ext cx="246897" cy="2468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2" name="TextBox 31"/>
          <p:cNvSpPr txBox="1"/>
          <p:nvPr/>
        </p:nvSpPr>
        <p:spPr>
          <a:xfrm>
            <a:off x="6437376" y="2071116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NL</a:t>
            </a:r>
          </a:p>
        </p:txBody>
      </p:sp>
      <p:sp>
        <p:nvSpPr>
          <p:cNvPr id="1853" name="TextBox 32"/>
          <p:cNvSpPr txBox="1"/>
          <p:nvPr/>
        </p:nvSpPr>
        <p:spPr>
          <a:xfrm>
            <a:off x="6720840" y="2057399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54" name="Oval 33"/>
          <p:cNvSpPr/>
          <p:nvPr/>
        </p:nvSpPr>
        <p:spPr>
          <a:xfrm>
            <a:off x="6931152" y="2020821"/>
            <a:ext cx="246897" cy="2468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5" name="TextBox 34"/>
          <p:cNvSpPr txBox="1"/>
          <p:nvPr/>
        </p:nvSpPr>
        <p:spPr>
          <a:xfrm>
            <a:off x="6931152" y="2071116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</a:t>
            </a:r>
          </a:p>
        </p:txBody>
      </p:sp>
      <p:sp>
        <p:nvSpPr>
          <p:cNvPr id="1856" name="TextBox 35"/>
          <p:cNvSpPr txBox="1"/>
          <p:nvPr/>
        </p:nvSpPr>
        <p:spPr>
          <a:xfrm>
            <a:off x="7443216" y="2029966"/>
            <a:ext cx="3109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1860" name="Group"/>
          <p:cNvGrpSpPr/>
          <p:nvPr/>
        </p:nvGrpSpPr>
        <p:grpSpPr>
          <a:xfrm>
            <a:off x="7827263" y="2020820"/>
            <a:ext cx="246897" cy="246897"/>
            <a:chOff x="0" y="0"/>
            <a:chExt cx="246896" cy="246896"/>
          </a:xfrm>
        </p:grpSpPr>
        <p:sp>
          <p:nvSpPr>
            <p:cNvPr id="1857" name="Oval 36"/>
            <p:cNvSpPr/>
            <p:nvPr/>
          </p:nvSpPr>
          <p:spPr>
            <a:xfrm>
              <a:off x="-1" y="-1"/>
              <a:ext cx="246897" cy="24689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58" name="Connector 37"/>
            <p:cNvSpPr/>
            <p:nvPr/>
          </p:nvSpPr>
          <p:spPr>
            <a:xfrm>
              <a:off x="45718" y="118871"/>
              <a:ext cx="45725" cy="45725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59" name="Connector 38"/>
            <p:cNvSpPr/>
            <p:nvPr/>
          </p:nvSpPr>
          <p:spPr>
            <a:xfrm flipV="1">
              <a:off x="91440" y="54866"/>
              <a:ext cx="91445" cy="109733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861" name="TextBox 39"/>
          <p:cNvSpPr txBox="1"/>
          <p:nvPr/>
        </p:nvSpPr>
        <p:spPr>
          <a:xfrm>
            <a:off x="9326880" y="2039110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Parallel majorities</a:t>
            </a:r>
          </a:p>
        </p:txBody>
      </p:sp>
      <p:sp>
        <p:nvSpPr>
          <p:cNvPr id="1862" name="Connector 40"/>
          <p:cNvSpPr/>
          <p:nvPr/>
        </p:nvSpPr>
        <p:spPr>
          <a:xfrm>
            <a:off x="4663440" y="2679192"/>
            <a:ext cx="6638544" cy="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63" name="TextBox 41"/>
          <p:cNvSpPr txBox="1"/>
          <p:nvPr/>
        </p:nvSpPr>
        <p:spPr>
          <a:xfrm>
            <a:off x="4663440" y="3172966"/>
            <a:ext cx="16002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BOSNIA</a:t>
            </a:r>
          </a:p>
        </p:txBody>
      </p:sp>
      <p:sp>
        <p:nvSpPr>
          <p:cNvPr id="1864" name="Oval 42"/>
          <p:cNvSpPr/>
          <p:nvPr/>
        </p:nvSpPr>
        <p:spPr>
          <a:xfrm>
            <a:off x="6437376" y="3145532"/>
            <a:ext cx="246897" cy="2468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5" name="TextBox 43"/>
          <p:cNvSpPr txBox="1"/>
          <p:nvPr/>
        </p:nvSpPr>
        <p:spPr>
          <a:xfrm>
            <a:off x="6437376" y="3195827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866" name="TextBox 44"/>
          <p:cNvSpPr txBox="1"/>
          <p:nvPr/>
        </p:nvSpPr>
        <p:spPr>
          <a:xfrm>
            <a:off x="6720840" y="3182111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67" name="Oval 45"/>
          <p:cNvSpPr/>
          <p:nvPr/>
        </p:nvSpPr>
        <p:spPr>
          <a:xfrm>
            <a:off x="6931152" y="3145532"/>
            <a:ext cx="246897" cy="246897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8" name="TextBox 46"/>
          <p:cNvSpPr txBox="1"/>
          <p:nvPr/>
        </p:nvSpPr>
        <p:spPr>
          <a:xfrm>
            <a:off x="6931152" y="3195827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869" name="TextBox 47"/>
          <p:cNvSpPr txBox="1"/>
          <p:nvPr/>
        </p:nvSpPr>
        <p:spPr>
          <a:xfrm>
            <a:off x="7214616" y="3182111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70" name="Oval 48"/>
          <p:cNvSpPr/>
          <p:nvPr/>
        </p:nvSpPr>
        <p:spPr>
          <a:xfrm>
            <a:off x="7424928" y="3145532"/>
            <a:ext cx="246897" cy="2468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1" name="TextBox 49"/>
          <p:cNvSpPr txBox="1"/>
          <p:nvPr/>
        </p:nvSpPr>
        <p:spPr>
          <a:xfrm>
            <a:off x="7424928" y="3195827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</a:t>
            </a:r>
          </a:p>
        </p:txBody>
      </p:sp>
      <p:sp>
        <p:nvSpPr>
          <p:cNvPr id="1872" name="TextBox 50"/>
          <p:cNvSpPr txBox="1"/>
          <p:nvPr/>
        </p:nvSpPr>
        <p:spPr>
          <a:xfrm>
            <a:off x="7936992" y="3154677"/>
            <a:ext cx="3109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873" name="Oval 51"/>
          <p:cNvSpPr/>
          <p:nvPr/>
        </p:nvSpPr>
        <p:spPr>
          <a:xfrm>
            <a:off x="8321040" y="3145532"/>
            <a:ext cx="246897" cy="24689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4" name="TextBox 52"/>
          <p:cNvSpPr txBox="1"/>
          <p:nvPr/>
        </p:nvSpPr>
        <p:spPr>
          <a:xfrm>
            <a:off x="8321040" y="3214116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7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VETO</a:t>
            </a:r>
          </a:p>
        </p:txBody>
      </p:sp>
      <p:sp>
        <p:nvSpPr>
          <p:cNvPr id="1875" name="TextBox 53"/>
          <p:cNvSpPr txBox="1"/>
          <p:nvPr/>
        </p:nvSpPr>
        <p:spPr>
          <a:xfrm>
            <a:off x="9326880" y="3163821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Vital-interest veto</a:t>
            </a:r>
          </a:p>
        </p:txBody>
      </p:sp>
      <p:sp>
        <p:nvSpPr>
          <p:cNvPr id="1876" name="Connector 54"/>
          <p:cNvSpPr/>
          <p:nvPr/>
        </p:nvSpPr>
        <p:spPr>
          <a:xfrm>
            <a:off x="4663440" y="3803903"/>
            <a:ext cx="6638544" cy="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77" name="TextBox 55"/>
          <p:cNvSpPr txBox="1"/>
          <p:nvPr/>
        </p:nvSpPr>
        <p:spPr>
          <a:xfrm>
            <a:off x="4663440" y="4297679"/>
            <a:ext cx="16002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N. IRELAND</a:t>
            </a:r>
          </a:p>
        </p:txBody>
      </p:sp>
      <p:sp>
        <p:nvSpPr>
          <p:cNvPr id="1878" name="Oval 56"/>
          <p:cNvSpPr/>
          <p:nvPr/>
        </p:nvSpPr>
        <p:spPr>
          <a:xfrm>
            <a:off x="6437376" y="4270247"/>
            <a:ext cx="246897" cy="2468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9" name="TextBox 57"/>
          <p:cNvSpPr txBox="1"/>
          <p:nvPr/>
        </p:nvSpPr>
        <p:spPr>
          <a:xfrm>
            <a:off x="6437376" y="4320540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</a:t>
            </a:r>
          </a:p>
        </p:txBody>
      </p:sp>
      <p:sp>
        <p:nvSpPr>
          <p:cNvPr id="1880" name="TextBox 58"/>
          <p:cNvSpPr txBox="1"/>
          <p:nvPr/>
        </p:nvSpPr>
        <p:spPr>
          <a:xfrm>
            <a:off x="6720840" y="4306823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81" name="Oval 59"/>
          <p:cNvSpPr/>
          <p:nvPr/>
        </p:nvSpPr>
        <p:spPr>
          <a:xfrm>
            <a:off x="6931152" y="4270247"/>
            <a:ext cx="246897" cy="2468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2" name="TextBox 60"/>
          <p:cNvSpPr txBox="1"/>
          <p:nvPr/>
        </p:nvSpPr>
        <p:spPr>
          <a:xfrm>
            <a:off x="6931152" y="4320540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</a:t>
            </a:r>
          </a:p>
        </p:txBody>
      </p:sp>
      <p:sp>
        <p:nvSpPr>
          <p:cNvPr id="1883" name="TextBox 61"/>
          <p:cNvSpPr txBox="1"/>
          <p:nvPr/>
        </p:nvSpPr>
        <p:spPr>
          <a:xfrm>
            <a:off x="7443216" y="4279391"/>
            <a:ext cx="3109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884" name="Oval 62"/>
          <p:cNvSpPr/>
          <p:nvPr/>
        </p:nvSpPr>
        <p:spPr>
          <a:xfrm>
            <a:off x="7827264" y="4270247"/>
            <a:ext cx="246897" cy="24689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5" name="Connector 63"/>
          <p:cNvSpPr/>
          <p:nvPr/>
        </p:nvSpPr>
        <p:spPr>
          <a:xfrm>
            <a:off x="7872983" y="4389120"/>
            <a:ext cx="45725" cy="45725"/>
          </a:xfrm>
          <a:prstGeom prst="line">
            <a:avLst/>
          </a:prstGeom>
          <a:ln w="15875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6" name="Connector 64"/>
          <p:cNvSpPr/>
          <p:nvPr/>
        </p:nvSpPr>
        <p:spPr>
          <a:xfrm flipV="1">
            <a:off x="7918704" y="4325111"/>
            <a:ext cx="91445" cy="109731"/>
          </a:xfrm>
          <a:prstGeom prst="line">
            <a:avLst/>
          </a:prstGeom>
          <a:ln w="15875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7" name="TextBox 65"/>
          <p:cNvSpPr txBox="1"/>
          <p:nvPr/>
        </p:nvSpPr>
        <p:spPr>
          <a:xfrm>
            <a:off x="9326880" y="4288535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Parallel consent</a:t>
            </a:r>
          </a:p>
        </p:txBody>
      </p:sp>
      <p:sp>
        <p:nvSpPr>
          <p:cNvPr id="1888" name="Connector 66"/>
          <p:cNvSpPr/>
          <p:nvPr/>
        </p:nvSpPr>
        <p:spPr>
          <a:xfrm>
            <a:off x="749804" y="5230367"/>
            <a:ext cx="10680199" cy="5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9" name="TextBox 67"/>
          <p:cNvSpPr txBox="1"/>
          <p:nvPr/>
        </p:nvSpPr>
        <p:spPr>
          <a:xfrm>
            <a:off x="841245" y="5532120"/>
            <a:ext cx="315468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No group decides alone</a:t>
            </a:r>
          </a:p>
        </p:txBody>
      </p:sp>
      <p:sp>
        <p:nvSpPr>
          <p:cNvPr id="1890" name="TextBox 68"/>
          <p:cNvSpPr txBox="1"/>
          <p:nvPr/>
        </p:nvSpPr>
        <p:spPr>
          <a:xfrm>
            <a:off x="6693406" y="5532120"/>
            <a:ext cx="429768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But online, who are the groups? →</a:t>
            </a:r>
          </a:p>
        </p:txBody>
      </p:sp>
      <p:sp>
        <p:nvSpPr>
          <p:cNvPr id="1891" name="TextBox 69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Linder &amp; Mueller (2021); Lijphart (1977); Bieber (2006); McGarry &amp; O’Leary (2009)</a:t>
            </a:r>
          </a:p>
        </p:txBody>
      </p:sp>
      <p:grpSp>
        <p:nvGrpSpPr>
          <p:cNvPr id="1895" name="Group"/>
          <p:cNvGrpSpPr/>
          <p:nvPr/>
        </p:nvGrpSpPr>
        <p:grpSpPr>
          <a:xfrm>
            <a:off x="3260341" y="3017770"/>
            <a:ext cx="246897" cy="246897"/>
            <a:chOff x="0" y="0"/>
            <a:chExt cx="246896" cy="246896"/>
          </a:xfrm>
        </p:grpSpPr>
        <p:sp>
          <p:nvSpPr>
            <p:cNvPr id="1892" name="Oval 36"/>
            <p:cNvSpPr/>
            <p:nvPr/>
          </p:nvSpPr>
          <p:spPr>
            <a:xfrm>
              <a:off x="-1" y="-1"/>
              <a:ext cx="246897" cy="24689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93" name="Connector 37"/>
            <p:cNvSpPr/>
            <p:nvPr/>
          </p:nvSpPr>
          <p:spPr>
            <a:xfrm>
              <a:off x="45718" y="118871"/>
              <a:ext cx="45725" cy="45725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94" name="Connector 38"/>
            <p:cNvSpPr/>
            <p:nvPr/>
          </p:nvSpPr>
          <p:spPr>
            <a:xfrm flipV="1">
              <a:off x="91440" y="54866"/>
              <a:ext cx="91445" cy="109733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 · RECOVERY</a:t>
            </a:r>
          </a:p>
        </p:txBody>
      </p:sp>
      <p:sp>
        <p:nvSpPr>
          <p:cNvPr id="1898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ratings to constituencies</a:t>
            </a:r>
          </a:p>
        </p:txBody>
      </p:sp>
      <p:sp>
        <p:nvSpPr>
          <p:cNvPr id="1899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1900" name="TextBox 4"/>
          <p:cNvSpPr txBox="1"/>
          <p:nvPr/>
        </p:nvSpPr>
        <p:spPr>
          <a:xfrm>
            <a:off x="841247" y="1609344"/>
            <a:ext cx="21945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 notes</a:t>
            </a:r>
          </a:p>
        </p:txBody>
      </p:sp>
      <p:sp>
        <p:nvSpPr>
          <p:cNvPr id="1901" name="TextBox 5"/>
          <p:cNvSpPr txBox="1"/>
          <p:nvPr/>
        </p:nvSpPr>
        <p:spPr>
          <a:xfrm>
            <a:off x="4462269" y="1609344"/>
            <a:ext cx="274320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Find matching patterns</a:t>
            </a:r>
          </a:p>
        </p:txBody>
      </p:sp>
      <p:sp>
        <p:nvSpPr>
          <p:cNvPr id="1902" name="TextBox 6"/>
          <p:cNvSpPr txBox="1"/>
          <p:nvPr/>
        </p:nvSpPr>
        <p:spPr>
          <a:xfrm>
            <a:off x="8641080" y="1609344"/>
            <a:ext cx="27432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Recover constituencies</a:t>
            </a:r>
          </a:p>
        </p:txBody>
      </p:sp>
      <p:sp>
        <p:nvSpPr>
          <p:cNvPr id="1903" name="Connector 7"/>
          <p:cNvSpPr/>
          <p:nvPr/>
        </p:nvSpPr>
        <p:spPr>
          <a:xfrm flipH="1">
            <a:off x="1225294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4" name="Connector 8"/>
          <p:cNvSpPr/>
          <p:nvPr/>
        </p:nvSpPr>
        <p:spPr>
          <a:xfrm flipH="1">
            <a:off x="1581911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5" name="Connector 9"/>
          <p:cNvSpPr/>
          <p:nvPr/>
        </p:nvSpPr>
        <p:spPr>
          <a:xfrm flipH="1">
            <a:off x="1938527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6" name="Connector 10"/>
          <p:cNvSpPr/>
          <p:nvPr/>
        </p:nvSpPr>
        <p:spPr>
          <a:xfrm flipH="1">
            <a:off x="2295144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7" name="Connector 11"/>
          <p:cNvSpPr/>
          <p:nvPr/>
        </p:nvSpPr>
        <p:spPr>
          <a:xfrm flipH="1">
            <a:off x="2651760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8" name="Connector 12"/>
          <p:cNvSpPr/>
          <p:nvPr/>
        </p:nvSpPr>
        <p:spPr>
          <a:xfrm flipH="1">
            <a:off x="3008376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9" name="Connector 13"/>
          <p:cNvSpPr/>
          <p:nvPr/>
        </p:nvSpPr>
        <p:spPr>
          <a:xfrm flipH="1">
            <a:off x="3364991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0" name="Connector 14"/>
          <p:cNvSpPr/>
          <p:nvPr/>
        </p:nvSpPr>
        <p:spPr>
          <a:xfrm flipH="1">
            <a:off x="3721608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1" name="Connector 15"/>
          <p:cNvSpPr/>
          <p:nvPr/>
        </p:nvSpPr>
        <p:spPr>
          <a:xfrm>
            <a:off x="1225294" y="2148838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2" name="Connector 16"/>
          <p:cNvSpPr/>
          <p:nvPr/>
        </p:nvSpPr>
        <p:spPr>
          <a:xfrm>
            <a:off x="1225294" y="2542032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3" name="Connector 17"/>
          <p:cNvSpPr/>
          <p:nvPr/>
        </p:nvSpPr>
        <p:spPr>
          <a:xfrm>
            <a:off x="1225294" y="2935222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4" name="Connector 18"/>
          <p:cNvSpPr/>
          <p:nvPr/>
        </p:nvSpPr>
        <p:spPr>
          <a:xfrm>
            <a:off x="1225294" y="3328415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5" name="Connector 19"/>
          <p:cNvSpPr/>
          <p:nvPr/>
        </p:nvSpPr>
        <p:spPr>
          <a:xfrm>
            <a:off x="1225294" y="3721608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6" name="Connector 20"/>
          <p:cNvSpPr/>
          <p:nvPr/>
        </p:nvSpPr>
        <p:spPr>
          <a:xfrm>
            <a:off x="1225294" y="4114800"/>
            <a:ext cx="2496314" cy="0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7" name="Connector 21"/>
          <p:cNvSpPr/>
          <p:nvPr/>
        </p:nvSpPr>
        <p:spPr>
          <a:xfrm>
            <a:off x="1225294" y="4507991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8" name="Oval 22"/>
          <p:cNvSpPr/>
          <p:nvPr/>
        </p:nvSpPr>
        <p:spPr>
          <a:xfrm>
            <a:off x="932688" y="2286000"/>
            <a:ext cx="109731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9" name="TextBox 23"/>
          <p:cNvSpPr txBox="1"/>
          <p:nvPr/>
        </p:nvSpPr>
        <p:spPr>
          <a:xfrm>
            <a:off x="1289302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0" name="TextBox 24"/>
          <p:cNvSpPr txBox="1"/>
          <p:nvPr/>
        </p:nvSpPr>
        <p:spPr>
          <a:xfrm>
            <a:off x="1645916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1" name="TextBox 25"/>
          <p:cNvSpPr txBox="1"/>
          <p:nvPr/>
        </p:nvSpPr>
        <p:spPr>
          <a:xfrm>
            <a:off x="2359149" y="221742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22" name="TextBox 26"/>
          <p:cNvSpPr txBox="1"/>
          <p:nvPr/>
        </p:nvSpPr>
        <p:spPr>
          <a:xfrm>
            <a:off x="3072383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3" name="TextBox 27"/>
          <p:cNvSpPr txBox="1"/>
          <p:nvPr/>
        </p:nvSpPr>
        <p:spPr>
          <a:xfrm>
            <a:off x="3429000" y="221742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24" name="Oval 28"/>
          <p:cNvSpPr/>
          <p:nvPr/>
        </p:nvSpPr>
        <p:spPr>
          <a:xfrm>
            <a:off x="932688" y="2679192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5" name="TextBox 29"/>
          <p:cNvSpPr txBox="1"/>
          <p:nvPr/>
        </p:nvSpPr>
        <p:spPr>
          <a:xfrm>
            <a:off x="1289302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6" name="TextBox 30"/>
          <p:cNvSpPr txBox="1"/>
          <p:nvPr/>
        </p:nvSpPr>
        <p:spPr>
          <a:xfrm>
            <a:off x="2002533" y="261061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7" name="TextBox 31"/>
          <p:cNvSpPr txBox="1"/>
          <p:nvPr/>
        </p:nvSpPr>
        <p:spPr>
          <a:xfrm>
            <a:off x="2359149" y="261061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28" name="TextBox 32"/>
          <p:cNvSpPr txBox="1"/>
          <p:nvPr/>
        </p:nvSpPr>
        <p:spPr>
          <a:xfrm>
            <a:off x="3072383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9" name="TextBox 33"/>
          <p:cNvSpPr txBox="1"/>
          <p:nvPr/>
        </p:nvSpPr>
        <p:spPr>
          <a:xfrm>
            <a:off x="3429000" y="261061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0" name="Oval 34"/>
          <p:cNvSpPr/>
          <p:nvPr/>
        </p:nvSpPr>
        <p:spPr>
          <a:xfrm>
            <a:off x="932688" y="3072383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1" name="TextBox 35"/>
          <p:cNvSpPr txBox="1"/>
          <p:nvPr/>
        </p:nvSpPr>
        <p:spPr>
          <a:xfrm>
            <a:off x="1645916" y="3003804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32" name="TextBox 36"/>
          <p:cNvSpPr txBox="1"/>
          <p:nvPr/>
        </p:nvSpPr>
        <p:spPr>
          <a:xfrm>
            <a:off x="2002533" y="3003804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33" name="TextBox 37"/>
          <p:cNvSpPr txBox="1"/>
          <p:nvPr/>
        </p:nvSpPr>
        <p:spPr>
          <a:xfrm>
            <a:off x="2359149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4" name="TextBox 38"/>
          <p:cNvSpPr txBox="1"/>
          <p:nvPr/>
        </p:nvSpPr>
        <p:spPr>
          <a:xfrm>
            <a:off x="2715766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5" name="TextBox 39"/>
          <p:cNvSpPr txBox="1"/>
          <p:nvPr/>
        </p:nvSpPr>
        <p:spPr>
          <a:xfrm>
            <a:off x="3429000" y="3003804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6" name="Oval 40"/>
          <p:cNvSpPr/>
          <p:nvPr/>
        </p:nvSpPr>
        <p:spPr>
          <a:xfrm>
            <a:off x="932688" y="3465576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7" name="TextBox 41"/>
          <p:cNvSpPr txBox="1"/>
          <p:nvPr/>
        </p:nvSpPr>
        <p:spPr>
          <a:xfrm>
            <a:off x="1289302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8" name="TextBox 42"/>
          <p:cNvSpPr txBox="1"/>
          <p:nvPr/>
        </p:nvSpPr>
        <p:spPr>
          <a:xfrm>
            <a:off x="1645916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9" name="TextBox 43"/>
          <p:cNvSpPr txBox="1"/>
          <p:nvPr/>
        </p:nvSpPr>
        <p:spPr>
          <a:xfrm>
            <a:off x="2359149" y="3396996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0" name="TextBox 44"/>
          <p:cNvSpPr txBox="1"/>
          <p:nvPr/>
        </p:nvSpPr>
        <p:spPr>
          <a:xfrm>
            <a:off x="3072383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41" name="TextBox 45"/>
          <p:cNvSpPr txBox="1"/>
          <p:nvPr/>
        </p:nvSpPr>
        <p:spPr>
          <a:xfrm>
            <a:off x="3429000" y="3396996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2" name="Oval 46"/>
          <p:cNvSpPr/>
          <p:nvPr/>
        </p:nvSpPr>
        <p:spPr>
          <a:xfrm>
            <a:off x="932688" y="3858767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3" name="TextBox 47"/>
          <p:cNvSpPr txBox="1"/>
          <p:nvPr/>
        </p:nvSpPr>
        <p:spPr>
          <a:xfrm>
            <a:off x="1289302" y="3790188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44" name="TextBox 48"/>
          <p:cNvSpPr txBox="1"/>
          <p:nvPr/>
        </p:nvSpPr>
        <p:spPr>
          <a:xfrm>
            <a:off x="2002533" y="3790188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45" name="TextBox 49"/>
          <p:cNvSpPr txBox="1"/>
          <p:nvPr/>
        </p:nvSpPr>
        <p:spPr>
          <a:xfrm>
            <a:off x="2359149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6" name="TextBox 50"/>
          <p:cNvSpPr txBox="1"/>
          <p:nvPr/>
        </p:nvSpPr>
        <p:spPr>
          <a:xfrm>
            <a:off x="2715766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7" name="TextBox 51"/>
          <p:cNvSpPr txBox="1"/>
          <p:nvPr/>
        </p:nvSpPr>
        <p:spPr>
          <a:xfrm>
            <a:off x="3429000" y="3790188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8" name="Oval 52"/>
          <p:cNvSpPr/>
          <p:nvPr/>
        </p:nvSpPr>
        <p:spPr>
          <a:xfrm>
            <a:off x="932688" y="4251959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9" name="TextBox 53"/>
          <p:cNvSpPr txBox="1"/>
          <p:nvPr/>
        </p:nvSpPr>
        <p:spPr>
          <a:xfrm>
            <a:off x="1645916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50" name="TextBox 54"/>
          <p:cNvSpPr txBox="1"/>
          <p:nvPr/>
        </p:nvSpPr>
        <p:spPr>
          <a:xfrm>
            <a:off x="2002533" y="4183379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51" name="TextBox 55"/>
          <p:cNvSpPr txBox="1"/>
          <p:nvPr/>
        </p:nvSpPr>
        <p:spPr>
          <a:xfrm>
            <a:off x="2359149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52" name="TextBox 56"/>
          <p:cNvSpPr txBox="1"/>
          <p:nvPr/>
        </p:nvSpPr>
        <p:spPr>
          <a:xfrm>
            <a:off x="2715766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53" name="TextBox 57"/>
          <p:cNvSpPr txBox="1"/>
          <p:nvPr/>
        </p:nvSpPr>
        <p:spPr>
          <a:xfrm>
            <a:off x="3072383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54" name="TextBox 58"/>
          <p:cNvSpPr txBox="1"/>
          <p:nvPr/>
        </p:nvSpPr>
        <p:spPr>
          <a:xfrm>
            <a:off x="832102" y="4645152"/>
            <a:ext cx="6400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1955" name="TextBox 59"/>
          <p:cNvSpPr txBox="1"/>
          <p:nvPr/>
        </p:nvSpPr>
        <p:spPr>
          <a:xfrm>
            <a:off x="2002532" y="4645152"/>
            <a:ext cx="6400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NOTES</a:t>
            </a:r>
          </a:p>
        </p:txBody>
      </p:sp>
      <p:sp>
        <p:nvSpPr>
          <p:cNvPr id="1956" name="TextBox 60"/>
          <p:cNvSpPr txBox="1"/>
          <p:nvPr/>
        </p:nvSpPr>
        <p:spPr>
          <a:xfrm>
            <a:off x="3703320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957" name="Connector 61"/>
          <p:cNvSpPr/>
          <p:nvPr/>
        </p:nvSpPr>
        <p:spPr>
          <a:xfrm flipV="1">
            <a:off x="4681728" y="2212848"/>
            <a:ext cx="521209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58" name="Connector 62"/>
          <p:cNvSpPr/>
          <p:nvPr/>
        </p:nvSpPr>
        <p:spPr>
          <a:xfrm>
            <a:off x="4681728" y="2459732"/>
            <a:ext cx="182885" cy="60350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59" name="Connector 63"/>
          <p:cNvSpPr/>
          <p:nvPr/>
        </p:nvSpPr>
        <p:spPr>
          <a:xfrm>
            <a:off x="5202935" y="2212848"/>
            <a:ext cx="484637" cy="32004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0" name="Connector 64"/>
          <p:cNvSpPr/>
          <p:nvPr/>
        </p:nvSpPr>
        <p:spPr>
          <a:xfrm>
            <a:off x="5202935" y="2212848"/>
            <a:ext cx="237744" cy="75895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1" name="Connector 65"/>
          <p:cNvSpPr/>
          <p:nvPr/>
        </p:nvSpPr>
        <p:spPr>
          <a:xfrm flipH="1">
            <a:off x="5440679" y="2532888"/>
            <a:ext cx="246893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2" name="Connector 66"/>
          <p:cNvSpPr/>
          <p:nvPr/>
        </p:nvSpPr>
        <p:spPr>
          <a:xfrm>
            <a:off x="5687567" y="2532888"/>
            <a:ext cx="256033" cy="71323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3" name="Connector 67"/>
          <p:cNvSpPr/>
          <p:nvPr/>
        </p:nvSpPr>
        <p:spPr>
          <a:xfrm flipV="1">
            <a:off x="4864608" y="2971799"/>
            <a:ext cx="576077" cy="9144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4" name="Connector 68"/>
          <p:cNvSpPr/>
          <p:nvPr/>
        </p:nvSpPr>
        <p:spPr>
          <a:xfrm>
            <a:off x="5440679" y="2971799"/>
            <a:ext cx="502920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5" name="Connector 69"/>
          <p:cNvSpPr/>
          <p:nvPr/>
        </p:nvSpPr>
        <p:spPr>
          <a:xfrm>
            <a:off x="5943598" y="3246120"/>
            <a:ext cx="411485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6" name="Connector 70"/>
          <p:cNvSpPr/>
          <p:nvPr/>
        </p:nvSpPr>
        <p:spPr>
          <a:xfrm flipV="1">
            <a:off x="6355079" y="2953511"/>
            <a:ext cx="365765" cy="53949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7" name="Connector 71"/>
          <p:cNvSpPr/>
          <p:nvPr/>
        </p:nvSpPr>
        <p:spPr>
          <a:xfrm flipV="1">
            <a:off x="6720840" y="2514599"/>
            <a:ext cx="438917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8" name="Connector 72"/>
          <p:cNvSpPr/>
          <p:nvPr/>
        </p:nvSpPr>
        <p:spPr>
          <a:xfrm flipV="1">
            <a:off x="6720840" y="2743200"/>
            <a:ext cx="877829" cy="21031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9" name="Connector 73"/>
          <p:cNvSpPr/>
          <p:nvPr/>
        </p:nvSpPr>
        <p:spPr>
          <a:xfrm>
            <a:off x="6720840" y="2953510"/>
            <a:ext cx="219459" cy="58521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0" name="Connector 74"/>
          <p:cNvSpPr/>
          <p:nvPr/>
        </p:nvSpPr>
        <p:spPr>
          <a:xfrm>
            <a:off x="7159752" y="2514599"/>
            <a:ext cx="438917" cy="22860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1" name="Connector 75"/>
          <p:cNvSpPr/>
          <p:nvPr/>
        </p:nvSpPr>
        <p:spPr>
          <a:xfrm flipH="1">
            <a:off x="7470648" y="2743199"/>
            <a:ext cx="128020" cy="63094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2" name="Connector 76"/>
          <p:cNvSpPr/>
          <p:nvPr/>
        </p:nvSpPr>
        <p:spPr>
          <a:xfrm flipV="1">
            <a:off x="6940294" y="3374135"/>
            <a:ext cx="530357" cy="16459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3" name="Connector 77"/>
          <p:cNvSpPr/>
          <p:nvPr/>
        </p:nvSpPr>
        <p:spPr>
          <a:xfrm>
            <a:off x="6940294" y="3538727"/>
            <a:ext cx="859541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4" name="Connector 78"/>
          <p:cNvSpPr/>
          <p:nvPr/>
        </p:nvSpPr>
        <p:spPr>
          <a:xfrm>
            <a:off x="7470647" y="3374135"/>
            <a:ext cx="329189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5" name="Oval 79"/>
          <p:cNvSpPr/>
          <p:nvPr/>
        </p:nvSpPr>
        <p:spPr>
          <a:xfrm>
            <a:off x="4617720" y="239572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6" name="Oval 80"/>
          <p:cNvSpPr/>
          <p:nvPr/>
        </p:nvSpPr>
        <p:spPr>
          <a:xfrm>
            <a:off x="5138928" y="214883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7" name="Oval 81"/>
          <p:cNvSpPr/>
          <p:nvPr/>
        </p:nvSpPr>
        <p:spPr>
          <a:xfrm>
            <a:off x="5623559" y="246887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8" name="Oval 82"/>
          <p:cNvSpPr/>
          <p:nvPr/>
        </p:nvSpPr>
        <p:spPr>
          <a:xfrm>
            <a:off x="4800600" y="2999232"/>
            <a:ext cx="128016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9" name="Oval 83"/>
          <p:cNvSpPr/>
          <p:nvPr/>
        </p:nvSpPr>
        <p:spPr>
          <a:xfrm>
            <a:off x="5376671" y="29077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0" name="Oval 84"/>
          <p:cNvSpPr/>
          <p:nvPr/>
        </p:nvSpPr>
        <p:spPr>
          <a:xfrm>
            <a:off x="5879591" y="3182111"/>
            <a:ext cx="128025" cy="12801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1" name="Oval 85"/>
          <p:cNvSpPr/>
          <p:nvPr/>
        </p:nvSpPr>
        <p:spPr>
          <a:xfrm>
            <a:off x="6291071" y="3429000"/>
            <a:ext cx="128025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2" name="Oval 86"/>
          <p:cNvSpPr/>
          <p:nvPr/>
        </p:nvSpPr>
        <p:spPr>
          <a:xfrm>
            <a:off x="6656830" y="2889504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3" name="Oval 87"/>
          <p:cNvSpPr/>
          <p:nvPr/>
        </p:nvSpPr>
        <p:spPr>
          <a:xfrm>
            <a:off x="7095742" y="24505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4" name="Oval 88"/>
          <p:cNvSpPr/>
          <p:nvPr/>
        </p:nvSpPr>
        <p:spPr>
          <a:xfrm>
            <a:off x="7534656" y="26791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5" name="Oval 89"/>
          <p:cNvSpPr/>
          <p:nvPr/>
        </p:nvSpPr>
        <p:spPr>
          <a:xfrm>
            <a:off x="6876288" y="3474720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6" name="Oval 90"/>
          <p:cNvSpPr/>
          <p:nvPr/>
        </p:nvSpPr>
        <p:spPr>
          <a:xfrm>
            <a:off x="7406640" y="331012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7" name="Oval 91"/>
          <p:cNvSpPr/>
          <p:nvPr/>
        </p:nvSpPr>
        <p:spPr>
          <a:xfrm>
            <a:off x="7735823" y="374903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8" name="TextBox 92"/>
          <p:cNvSpPr txBox="1"/>
          <p:nvPr/>
        </p:nvSpPr>
        <p:spPr>
          <a:xfrm>
            <a:off x="8074152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989" name="Oval 93"/>
          <p:cNvSpPr/>
          <p:nvPr/>
        </p:nvSpPr>
        <p:spPr>
          <a:xfrm>
            <a:off x="8887968" y="23317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0" name="Oval 94"/>
          <p:cNvSpPr/>
          <p:nvPr/>
        </p:nvSpPr>
        <p:spPr>
          <a:xfrm>
            <a:off x="9272016" y="2139694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1" name="Oval 95"/>
          <p:cNvSpPr/>
          <p:nvPr/>
        </p:nvSpPr>
        <p:spPr>
          <a:xfrm>
            <a:off x="9646918" y="23957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2" name="Oval 96"/>
          <p:cNvSpPr/>
          <p:nvPr/>
        </p:nvSpPr>
        <p:spPr>
          <a:xfrm>
            <a:off x="9052559" y="2798064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3" name="Oval 97"/>
          <p:cNvSpPr/>
          <p:nvPr/>
        </p:nvSpPr>
        <p:spPr>
          <a:xfrm>
            <a:off x="9454894" y="28529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4" name="Oval 98"/>
          <p:cNvSpPr/>
          <p:nvPr/>
        </p:nvSpPr>
        <p:spPr>
          <a:xfrm>
            <a:off x="9811511" y="2743199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5" name="Oval 99"/>
          <p:cNvSpPr/>
          <p:nvPr/>
        </p:nvSpPr>
        <p:spPr>
          <a:xfrm>
            <a:off x="9235440" y="3236976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6" name="Oval 100"/>
          <p:cNvSpPr/>
          <p:nvPr/>
        </p:nvSpPr>
        <p:spPr>
          <a:xfrm>
            <a:off x="9656064" y="32461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7" name="Oval 101"/>
          <p:cNvSpPr/>
          <p:nvPr/>
        </p:nvSpPr>
        <p:spPr>
          <a:xfrm>
            <a:off x="10286999" y="315467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8" name="Oval 102"/>
          <p:cNvSpPr/>
          <p:nvPr/>
        </p:nvSpPr>
        <p:spPr>
          <a:xfrm>
            <a:off x="10652759" y="296265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9" name="Oval 103"/>
          <p:cNvSpPr/>
          <p:nvPr/>
        </p:nvSpPr>
        <p:spPr>
          <a:xfrm>
            <a:off x="11018518" y="3218688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0" name="Oval 104"/>
          <p:cNvSpPr/>
          <p:nvPr/>
        </p:nvSpPr>
        <p:spPr>
          <a:xfrm>
            <a:off x="10469880" y="360273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1" name="Oval 105"/>
          <p:cNvSpPr/>
          <p:nvPr/>
        </p:nvSpPr>
        <p:spPr>
          <a:xfrm>
            <a:off x="10844783" y="3675886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2" name="Oval 106"/>
          <p:cNvSpPr/>
          <p:nvPr/>
        </p:nvSpPr>
        <p:spPr>
          <a:xfrm>
            <a:off x="11192256" y="35844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3" name="Oval 107"/>
          <p:cNvSpPr/>
          <p:nvPr/>
        </p:nvSpPr>
        <p:spPr>
          <a:xfrm>
            <a:off x="10634471" y="40416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4" name="Oval 108"/>
          <p:cNvSpPr/>
          <p:nvPr/>
        </p:nvSpPr>
        <p:spPr>
          <a:xfrm>
            <a:off x="11018518" y="4050791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5" name="TextBox 109"/>
          <p:cNvSpPr txBox="1"/>
          <p:nvPr/>
        </p:nvSpPr>
        <p:spPr>
          <a:xfrm>
            <a:off x="8668511" y="4370832"/>
            <a:ext cx="15087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006" name="TextBox 110"/>
          <p:cNvSpPr txBox="1"/>
          <p:nvPr/>
        </p:nvSpPr>
        <p:spPr>
          <a:xfrm>
            <a:off x="10058399" y="4370832"/>
            <a:ext cx="150876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007" name="Connector 111"/>
          <p:cNvSpPr/>
          <p:nvPr/>
        </p:nvSpPr>
        <p:spPr>
          <a:xfrm>
            <a:off x="749804" y="5248654"/>
            <a:ext cx="10680199" cy="5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08" name="TextBox 112"/>
          <p:cNvSpPr txBox="1"/>
          <p:nvPr/>
        </p:nvSpPr>
        <p:spPr>
          <a:xfrm>
            <a:off x="2468880" y="5532120"/>
            <a:ext cx="722376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Similar co-rating patterns → same behavioral constituency</a:t>
            </a:r>
          </a:p>
        </p:txBody>
      </p:sp>
      <p:sp>
        <p:nvSpPr>
          <p:cNvPr id="2009" name="TextBox 113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100k-note / 200k-rater pipeline</a:t>
            </a:r>
          </a:p>
        </p:txBody>
      </p:sp>
      <p:sp>
        <p:nvSpPr>
          <p:cNvPr id="2010" name="Rectangle"/>
          <p:cNvSpPr/>
          <p:nvPr/>
        </p:nvSpPr>
        <p:spPr>
          <a:xfrm>
            <a:off x="3742044" y="1460622"/>
            <a:ext cx="8005738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 · RECOVERY</a:t>
            </a:r>
          </a:p>
        </p:txBody>
      </p:sp>
      <p:sp>
        <p:nvSpPr>
          <p:cNvPr id="2013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ratings to constituencies</a:t>
            </a:r>
          </a:p>
        </p:txBody>
      </p:sp>
      <p:sp>
        <p:nvSpPr>
          <p:cNvPr id="2014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2015" name="TextBox 4"/>
          <p:cNvSpPr txBox="1"/>
          <p:nvPr/>
        </p:nvSpPr>
        <p:spPr>
          <a:xfrm>
            <a:off x="841247" y="1609344"/>
            <a:ext cx="21945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 notes</a:t>
            </a:r>
          </a:p>
        </p:txBody>
      </p:sp>
      <p:sp>
        <p:nvSpPr>
          <p:cNvPr id="2016" name="TextBox 5"/>
          <p:cNvSpPr txBox="1"/>
          <p:nvPr/>
        </p:nvSpPr>
        <p:spPr>
          <a:xfrm>
            <a:off x="4462271" y="1609344"/>
            <a:ext cx="274320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Find matching patterns</a:t>
            </a:r>
          </a:p>
        </p:txBody>
      </p:sp>
      <p:sp>
        <p:nvSpPr>
          <p:cNvPr id="2017" name="TextBox 6"/>
          <p:cNvSpPr txBox="1"/>
          <p:nvPr/>
        </p:nvSpPr>
        <p:spPr>
          <a:xfrm>
            <a:off x="8641080" y="1609344"/>
            <a:ext cx="27432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Recover constituencies</a:t>
            </a:r>
          </a:p>
        </p:txBody>
      </p:sp>
      <p:sp>
        <p:nvSpPr>
          <p:cNvPr id="2018" name="Connector 7"/>
          <p:cNvSpPr/>
          <p:nvPr/>
        </p:nvSpPr>
        <p:spPr>
          <a:xfrm flipH="1">
            <a:off x="1225293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9" name="Connector 8"/>
          <p:cNvSpPr/>
          <p:nvPr/>
        </p:nvSpPr>
        <p:spPr>
          <a:xfrm flipH="1">
            <a:off x="1581910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0" name="Connector 9"/>
          <p:cNvSpPr/>
          <p:nvPr/>
        </p:nvSpPr>
        <p:spPr>
          <a:xfrm flipH="1">
            <a:off x="1938526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1" name="Connector 10"/>
          <p:cNvSpPr/>
          <p:nvPr/>
        </p:nvSpPr>
        <p:spPr>
          <a:xfrm flipH="1">
            <a:off x="2295143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2" name="Connector 11"/>
          <p:cNvSpPr/>
          <p:nvPr/>
        </p:nvSpPr>
        <p:spPr>
          <a:xfrm flipH="1">
            <a:off x="2651759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3" name="Connector 12"/>
          <p:cNvSpPr/>
          <p:nvPr/>
        </p:nvSpPr>
        <p:spPr>
          <a:xfrm flipH="1">
            <a:off x="3008375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4" name="Connector 13"/>
          <p:cNvSpPr/>
          <p:nvPr/>
        </p:nvSpPr>
        <p:spPr>
          <a:xfrm flipH="1">
            <a:off x="3364989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5" name="Connector 14"/>
          <p:cNvSpPr/>
          <p:nvPr/>
        </p:nvSpPr>
        <p:spPr>
          <a:xfrm flipH="1">
            <a:off x="3721606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6" name="Connector 15"/>
          <p:cNvSpPr/>
          <p:nvPr/>
        </p:nvSpPr>
        <p:spPr>
          <a:xfrm>
            <a:off x="1225294" y="2148837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7" name="Connector 16"/>
          <p:cNvSpPr/>
          <p:nvPr/>
        </p:nvSpPr>
        <p:spPr>
          <a:xfrm>
            <a:off x="1225294" y="2542031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8" name="Connector 17"/>
          <p:cNvSpPr/>
          <p:nvPr/>
        </p:nvSpPr>
        <p:spPr>
          <a:xfrm>
            <a:off x="1225294" y="2935221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9" name="Connector 18"/>
          <p:cNvSpPr/>
          <p:nvPr/>
        </p:nvSpPr>
        <p:spPr>
          <a:xfrm>
            <a:off x="1225294" y="3328413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0" name="Connector 19"/>
          <p:cNvSpPr/>
          <p:nvPr/>
        </p:nvSpPr>
        <p:spPr>
          <a:xfrm>
            <a:off x="1225294" y="3721606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1" name="Connector 20"/>
          <p:cNvSpPr/>
          <p:nvPr/>
        </p:nvSpPr>
        <p:spPr>
          <a:xfrm>
            <a:off x="1225294" y="4114800"/>
            <a:ext cx="2496314" cy="0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2" name="Connector 21"/>
          <p:cNvSpPr/>
          <p:nvPr/>
        </p:nvSpPr>
        <p:spPr>
          <a:xfrm>
            <a:off x="1225294" y="4507989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3" name="Oval 22"/>
          <p:cNvSpPr/>
          <p:nvPr/>
        </p:nvSpPr>
        <p:spPr>
          <a:xfrm>
            <a:off x="932688" y="2286000"/>
            <a:ext cx="109731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4" name="TextBox 23"/>
          <p:cNvSpPr txBox="1"/>
          <p:nvPr/>
        </p:nvSpPr>
        <p:spPr>
          <a:xfrm>
            <a:off x="1289302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35" name="TextBox 24"/>
          <p:cNvSpPr txBox="1"/>
          <p:nvPr/>
        </p:nvSpPr>
        <p:spPr>
          <a:xfrm>
            <a:off x="1645916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36" name="TextBox 25"/>
          <p:cNvSpPr txBox="1"/>
          <p:nvPr/>
        </p:nvSpPr>
        <p:spPr>
          <a:xfrm>
            <a:off x="2359149" y="221742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37" name="TextBox 26"/>
          <p:cNvSpPr txBox="1"/>
          <p:nvPr/>
        </p:nvSpPr>
        <p:spPr>
          <a:xfrm>
            <a:off x="3072383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38" name="TextBox 27"/>
          <p:cNvSpPr txBox="1"/>
          <p:nvPr/>
        </p:nvSpPr>
        <p:spPr>
          <a:xfrm>
            <a:off x="3429000" y="221742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39" name="Oval 28"/>
          <p:cNvSpPr/>
          <p:nvPr/>
        </p:nvSpPr>
        <p:spPr>
          <a:xfrm>
            <a:off x="932688" y="2679192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0" name="TextBox 29"/>
          <p:cNvSpPr txBox="1"/>
          <p:nvPr/>
        </p:nvSpPr>
        <p:spPr>
          <a:xfrm>
            <a:off x="1289302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1" name="TextBox 30"/>
          <p:cNvSpPr txBox="1"/>
          <p:nvPr/>
        </p:nvSpPr>
        <p:spPr>
          <a:xfrm>
            <a:off x="2002533" y="261061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2" name="TextBox 31"/>
          <p:cNvSpPr txBox="1"/>
          <p:nvPr/>
        </p:nvSpPr>
        <p:spPr>
          <a:xfrm>
            <a:off x="2359149" y="261061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43" name="TextBox 32"/>
          <p:cNvSpPr txBox="1"/>
          <p:nvPr/>
        </p:nvSpPr>
        <p:spPr>
          <a:xfrm>
            <a:off x="3072383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4" name="TextBox 33"/>
          <p:cNvSpPr txBox="1"/>
          <p:nvPr/>
        </p:nvSpPr>
        <p:spPr>
          <a:xfrm>
            <a:off x="3429000" y="261061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45" name="Oval 34"/>
          <p:cNvSpPr/>
          <p:nvPr/>
        </p:nvSpPr>
        <p:spPr>
          <a:xfrm>
            <a:off x="932688" y="3072383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6" name="TextBox 35"/>
          <p:cNvSpPr txBox="1"/>
          <p:nvPr/>
        </p:nvSpPr>
        <p:spPr>
          <a:xfrm>
            <a:off x="1645916" y="3003804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7" name="TextBox 36"/>
          <p:cNvSpPr txBox="1"/>
          <p:nvPr/>
        </p:nvSpPr>
        <p:spPr>
          <a:xfrm>
            <a:off x="2002533" y="3003804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8" name="TextBox 37"/>
          <p:cNvSpPr txBox="1"/>
          <p:nvPr/>
        </p:nvSpPr>
        <p:spPr>
          <a:xfrm>
            <a:off x="2359149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49" name="TextBox 38"/>
          <p:cNvSpPr txBox="1"/>
          <p:nvPr/>
        </p:nvSpPr>
        <p:spPr>
          <a:xfrm>
            <a:off x="2715766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0" name="TextBox 39"/>
          <p:cNvSpPr txBox="1"/>
          <p:nvPr/>
        </p:nvSpPr>
        <p:spPr>
          <a:xfrm>
            <a:off x="3429000" y="3003804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1" name="Oval 40"/>
          <p:cNvSpPr/>
          <p:nvPr/>
        </p:nvSpPr>
        <p:spPr>
          <a:xfrm>
            <a:off x="932688" y="3465576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2" name="TextBox 41"/>
          <p:cNvSpPr txBox="1"/>
          <p:nvPr/>
        </p:nvSpPr>
        <p:spPr>
          <a:xfrm>
            <a:off x="1289302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3" name="TextBox 42"/>
          <p:cNvSpPr txBox="1"/>
          <p:nvPr/>
        </p:nvSpPr>
        <p:spPr>
          <a:xfrm>
            <a:off x="1645916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4" name="TextBox 43"/>
          <p:cNvSpPr txBox="1"/>
          <p:nvPr/>
        </p:nvSpPr>
        <p:spPr>
          <a:xfrm>
            <a:off x="2359149" y="3396996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55" name="TextBox 44"/>
          <p:cNvSpPr txBox="1"/>
          <p:nvPr/>
        </p:nvSpPr>
        <p:spPr>
          <a:xfrm>
            <a:off x="3072383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6" name="TextBox 45"/>
          <p:cNvSpPr txBox="1"/>
          <p:nvPr/>
        </p:nvSpPr>
        <p:spPr>
          <a:xfrm>
            <a:off x="3429000" y="3396996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57" name="Oval 46"/>
          <p:cNvSpPr/>
          <p:nvPr/>
        </p:nvSpPr>
        <p:spPr>
          <a:xfrm>
            <a:off x="932688" y="3858767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8" name="TextBox 47"/>
          <p:cNvSpPr txBox="1"/>
          <p:nvPr/>
        </p:nvSpPr>
        <p:spPr>
          <a:xfrm>
            <a:off x="1289302" y="3790188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9" name="TextBox 48"/>
          <p:cNvSpPr txBox="1"/>
          <p:nvPr/>
        </p:nvSpPr>
        <p:spPr>
          <a:xfrm>
            <a:off x="2002533" y="3790188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0" name="TextBox 49"/>
          <p:cNvSpPr txBox="1"/>
          <p:nvPr/>
        </p:nvSpPr>
        <p:spPr>
          <a:xfrm>
            <a:off x="2359149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1" name="TextBox 50"/>
          <p:cNvSpPr txBox="1"/>
          <p:nvPr/>
        </p:nvSpPr>
        <p:spPr>
          <a:xfrm>
            <a:off x="2715766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2" name="TextBox 51"/>
          <p:cNvSpPr txBox="1"/>
          <p:nvPr/>
        </p:nvSpPr>
        <p:spPr>
          <a:xfrm>
            <a:off x="3429000" y="3790188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3" name="Oval 52"/>
          <p:cNvSpPr/>
          <p:nvPr/>
        </p:nvSpPr>
        <p:spPr>
          <a:xfrm>
            <a:off x="932688" y="4251959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64" name="TextBox 53"/>
          <p:cNvSpPr txBox="1"/>
          <p:nvPr/>
        </p:nvSpPr>
        <p:spPr>
          <a:xfrm>
            <a:off x="1645916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5" name="TextBox 54"/>
          <p:cNvSpPr txBox="1"/>
          <p:nvPr/>
        </p:nvSpPr>
        <p:spPr>
          <a:xfrm>
            <a:off x="2002533" y="4183379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6" name="TextBox 55"/>
          <p:cNvSpPr txBox="1"/>
          <p:nvPr/>
        </p:nvSpPr>
        <p:spPr>
          <a:xfrm>
            <a:off x="2359149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7" name="TextBox 56"/>
          <p:cNvSpPr txBox="1"/>
          <p:nvPr/>
        </p:nvSpPr>
        <p:spPr>
          <a:xfrm>
            <a:off x="2715766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8" name="TextBox 57"/>
          <p:cNvSpPr txBox="1"/>
          <p:nvPr/>
        </p:nvSpPr>
        <p:spPr>
          <a:xfrm>
            <a:off x="3072383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9" name="TextBox 58"/>
          <p:cNvSpPr txBox="1"/>
          <p:nvPr/>
        </p:nvSpPr>
        <p:spPr>
          <a:xfrm>
            <a:off x="832102" y="4645152"/>
            <a:ext cx="6400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2070" name="TextBox 59"/>
          <p:cNvSpPr txBox="1"/>
          <p:nvPr/>
        </p:nvSpPr>
        <p:spPr>
          <a:xfrm>
            <a:off x="2002532" y="4645152"/>
            <a:ext cx="6400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NOTES</a:t>
            </a:r>
          </a:p>
        </p:txBody>
      </p:sp>
      <p:sp>
        <p:nvSpPr>
          <p:cNvPr id="2071" name="TextBox 60"/>
          <p:cNvSpPr txBox="1"/>
          <p:nvPr/>
        </p:nvSpPr>
        <p:spPr>
          <a:xfrm>
            <a:off x="3703320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72" name="Connector 61"/>
          <p:cNvSpPr/>
          <p:nvPr/>
        </p:nvSpPr>
        <p:spPr>
          <a:xfrm flipV="1">
            <a:off x="4681728" y="2212848"/>
            <a:ext cx="521209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3" name="Connector 62"/>
          <p:cNvSpPr/>
          <p:nvPr/>
        </p:nvSpPr>
        <p:spPr>
          <a:xfrm>
            <a:off x="4681728" y="2459732"/>
            <a:ext cx="182885" cy="60350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4" name="Connector 63"/>
          <p:cNvSpPr/>
          <p:nvPr/>
        </p:nvSpPr>
        <p:spPr>
          <a:xfrm>
            <a:off x="5202935" y="2212848"/>
            <a:ext cx="484636" cy="32004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5" name="Connector 64"/>
          <p:cNvSpPr/>
          <p:nvPr/>
        </p:nvSpPr>
        <p:spPr>
          <a:xfrm>
            <a:off x="5202935" y="2212848"/>
            <a:ext cx="237744" cy="75895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6" name="Connector 65"/>
          <p:cNvSpPr/>
          <p:nvPr/>
        </p:nvSpPr>
        <p:spPr>
          <a:xfrm flipH="1">
            <a:off x="5440679" y="2532887"/>
            <a:ext cx="246893" cy="438918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7" name="Connector 66"/>
          <p:cNvSpPr/>
          <p:nvPr/>
        </p:nvSpPr>
        <p:spPr>
          <a:xfrm>
            <a:off x="5687567" y="2532888"/>
            <a:ext cx="256033" cy="71323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8" name="Connector 67"/>
          <p:cNvSpPr/>
          <p:nvPr/>
        </p:nvSpPr>
        <p:spPr>
          <a:xfrm flipV="1">
            <a:off x="4864608" y="2971798"/>
            <a:ext cx="576077" cy="9144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9" name="Connector 68"/>
          <p:cNvSpPr/>
          <p:nvPr/>
        </p:nvSpPr>
        <p:spPr>
          <a:xfrm>
            <a:off x="5440679" y="2971799"/>
            <a:ext cx="502920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0" name="Connector 69"/>
          <p:cNvSpPr/>
          <p:nvPr/>
        </p:nvSpPr>
        <p:spPr>
          <a:xfrm>
            <a:off x="5943596" y="3246120"/>
            <a:ext cx="411485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1" name="Connector 70"/>
          <p:cNvSpPr/>
          <p:nvPr/>
        </p:nvSpPr>
        <p:spPr>
          <a:xfrm flipV="1">
            <a:off x="6355079" y="2953510"/>
            <a:ext cx="365765" cy="53950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2" name="Connector 71"/>
          <p:cNvSpPr/>
          <p:nvPr/>
        </p:nvSpPr>
        <p:spPr>
          <a:xfrm flipV="1">
            <a:off x="6720840" y="2514598"/>
            <a:ext cx="438917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3" name="Connector 72"/>
          <p:cNvSpPr/>
          <p:nvPr/>
        </p:nvSpPr>
        <p:spPr>
          <a:xfrm flipV="1">
            <a:off x="6720840" y="2743199"/>
            <a:ext cx="877829" cy="21031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4" name="Connector 73"/>
          <p:cNvSpPr/>
          <p:nvPr/>
        </p:nvSpPr>
        <p:spPr>
          <a:xfrm>
            <a:off x="6720839" y="2953510"/>
            <a:ext cx="219459" cy="58521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5" name="Connector 74"/>
          <p:cNvSpPr/>
          <p:nvPr/>
        </p:nvSpPr>
        <p:spPr>
          <a:xfrm>
            <a:off x="7159752" y="2514599"/>
            <a:ext cx="438917" cy="22860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6" name="Connector 75"/>
          <p:cNvSpPr/>
          <p:nvPr/>
        </p:nvSpPr>
        <p:spPr>
          <a:xfrm flipH="1">
            <a:off x="7470648" y="2743199"/>
            <a:ext cx="128020" cy="63094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7" name="Connector 76"/>
          <p:cNvSpPr/>
          <p:nvPr/>
        </p:nvSpPr>
        <p:spPr>
          <a:xfrm flipV="1">
            <a:off x="6940294" y="3374135"/>
            <a:ext cx="530357" cy="16459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8" name="Connector 77"/>
          <p:cNvSpPr/>
          <p:nvPr/>
        </p:nvSpPr>
        <p:spPr>
          <a:xfrm>
            <a:off x="6940294" y="3538725"/>
            <a:ext cx="859541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9" name="Connector 78"/>
          <p:cNvSpPr/>
          <p:nvPr/>
        </p:nvSpPr>
        <p:spPr>
          <a:xfrm>
            <a:off x="7470647" y="3374135"/>
            <a:ext cx="329189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90" name="Oval 79"/>
          <p:cNvSpPr/>
          <p:nvPr/>
        </p:nvSpPr>
        <p:spPr>
          <a:xfrm>
            <a:off x="4617720" y="239572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1" name="Oval 80"/>
          <p:cNvSpPr/>
          <p:nvPr/>
        </p:nvSpPr>
        <p:spPr>
          <a:xfrm>
            <a:off x="5138928" y="214883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2" name="Oval 81"/>
          <p:cNvSpPr/>
          <p:nvPr/>
        </p:nvSpPr>
        <p:spPr>
          <a:xfrm>
            <a:off x="5623559" y="246887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3" name="Oval 82"/>
          <p:cNvSpPr/>
          <p:nvPr/>
        </p:nvSpPr>
        <p:spPr>
          <a:xfrm>
            <a:off x="4800600" y="2999232"/>
            <a:ext cx="128016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4" name="Oval 83"/>
          <p:cNvSpPr/>
          <p:nvPr/>
        </p:nvSpPr>
        <p:spPr>
          <a:xfrm>
            <a:off x="5376671" y="29077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5" name="Oval 84"/>
          <p:cNvSpPr/>
          <p:nvPr/>
        </p:nvSpPr>
        <p:spPr>
          <a:xfrm>
            <a:off x="5879591" y="3182111"/>
            <a:ext cx="128025" cy="12801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6" name="Oval 85"/>
          <p:cNvSpPr/>
          <p:nvPr/>
        </p:nvSpPr>
        <p:spPr>
          <a:xfrm>
            <a:off x="6291071" y="3429000"/>
            <a:ext cx="128025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7" name="Oval 86"/>
          <p:cNvSpPr/>
          <p:nvPr/>
        </p:nvSpPr>
        <p:spPr>
          <a:xfrm>
            <a:off x="6656830" y="2889504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8" name="Oval 87"/>
          <p:cNvSpPr/>
          <p:nvPr/>
        </p:nvSpPr>
        <p:spPr>
          <a:xfrm>
            <a:off x="7095742" y="24505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9" name="Oval 88"/>
          <p:cNvSpPr/>
          <p:nvPr/>
        </p:nvSpPr>
        <p:spPr>
          <a:xfrm>
            <a:off x="7534656" y="26791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0" name="Oval 89"/>
          <p:cNvSpPr/>
          <p:nvPr/>
        </p:nvSpPr>
        <p:spPr>
          <a:xfrm>
            <a:off x="6876288" y="3474720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1" name="Oval 90"/>
          <p:cNvSpPr/>
          <p:nvPr/>
        </p:nvSpPr>
        <p:spPr>
          <a:xfrm>
            <a:off x="7406640" y="331012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2" name="Oval 91"/>
          <p:cNvSpPr/>
          <p:nvPr/>
        </p:nvSpPr>
        <p:spPr>
          <a:xfrm>
            <a:off x="7735823" y="374903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3" name="TextBox 92"/>
          <p:cNvSpPr txBox="1"/>
          <p:nvPr/>
        </p:nvSpPr>
        <p:spPr>
          <a:xfrm>
            <a:off x="8074152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104" name="Oval 93"/>
          <p:cNvSpPr/>
          <p:nvPr/>
        </p:nvSpPr>
        <p:spPr>
          <a:xfrm>
            <a:off x="8887968" y="23317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5" name="Oval 94"/>
          <p:cNvSpPr/>
          <p:nvPr/>
        </p:nvSpPr>
        <p:spPr>
          <a:xfrm>
            <a:off x="9272016" y="2139694"/>
            <a:ext cx="137169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6" name="Oval 95"/>
          <p:cNvSpPr/>
          <p:nvPr/>
        </p:nvSpPr>
        <p:spPr>
          <a:xfrm>
            <a:off x="9646918" y="23957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7" name="Oval 96"/>
          <p:cNvSpPr/>
          <p:nvPr/>
        </p:nvSpPr>
        <p:spPr>
          <a:xfrm>
            <a:off x="9052559" y="2798064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8" name="Oval 97"/>
          <p:cNvSpPr/>
          <p:nvPr/>
        </p:nvSpPr>
        <p:spPr>
          <a:xfrm>
            <a:off x="9454894" y="28529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9" name="Oval 98"/>
          <p:cNvSpPr/>
          <p:nvPr/>
        </p:nvSpPr>
        <p:spPr>
          <a:xfrm>
            <a:off x="9811511" y="2743199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0" name="Oval 99"/>
          <p:cNvSpPr/>
          <p:nvPr/>
        </p:nvSpPr>
        <p:spPr>
          <a:xfrm>
            <a:off x="9235440" y="3236976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1" name="Oval 100"/>
          <p:cNvSpPr/>
          <p:nvPr/>
        </p:nvSpPr>
        <p:spPr>
          <a:xfrm>
            <a:off x="9656064" y="32461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2" name="Oval 101"/>
          <p:cNvSpPr/>
          <p:nvPr/>
        </p:nvSpPr>
        <p:spPr>
          <a:xfrm>
            <a:off x="10286999" y="315467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3" name="Oval 102"/>
          <p:cNvSpPr/>
          <p:nvPr/>
        </p:nvSpPr>
        <p:spPr>
          <a:xfrm>
            <a:off x="10652759" y="296265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4" name="Oval 103"/>
          <p:cNvSpPr/>
          <p:nvPr/>
        </p:nvSpPr>
        <p:spPr>
          <a:xfrm>
            <a:off x="11018518" y="3218688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5" name="Oval 104"/>
          <p:cNvSpPr/>
          <p:nvPr/>
        </p:nvSpPr>
        <p:spPr>
          <a:xfrm>
            <a:off x="10469880" y="360273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6" name="Oval 105"/>
          <p:cNvSpPr/>
          <p:nvPr/>
        </p:nvSpPr>
        <p:spPr>
          <a:xfrm>
            <a:off x="10844783" y="3675886"/>
            <a:ext cx="137167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7" name="Oval 106"/>
          <p:cNvSpPr/>
          <p:nvPr/>
        </p:nvSpPr>
        <p:spPr>
          <a:xfrm>
            <a:off x="11192256" y="35844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8" name="Oval 107"/>
          <p:cNvSpPr/>
          <p:nvPr/>
        </p:nvSpPr>
        <p:spPr>
          <a:xfrm>
            <a:off x="10634471" y="40416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9" name="Oval 108"/>
          <p:cNvSpPr/>
          <p:nvPr/>
        </p:nvSpPr>
        <p:spPr>
          <a:xfrm>
            <a:off x="11018518" y="4050791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0" name="TextBox 109"/>
          <p:cNvSpPr txBox="1"/>
          <p:nvPr/>
        </p:nvSpPr>
        <p:spPr>
          <a:xfrm>
            <a:off x="8668511" y="4370832"/>
            <a:ext cx="15087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121" name="TextBox 110"/>
          <p:cNvSpPr txBox="1"/>
          <p:nvPr/>
        </p:nvSpPr>
        <p:spPr>
          <a:xfrm>
            <a:off x="10058399" y="4370832"/>
            <a:ext cx="150876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122" name="Connector 111"/>
          <p:cNvSpPr/>
          <p:nvPr/>
        </p:nvSpPr>
        <p:spPr>
          <a:xfrm>
            <a:off x="749805" y="5248654"/>
            <a:ext cx="10680199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23" name="TextBox 112"/>
          <p:cNvSpPr txBox="1"/>
          <p:nvPr/>
        </p:nvSpPr>
        <p:spPr>
          <a:xfrm>
            <a:off x="2468879" y="5532120"/>
            <a:ext cx="722376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Similar co-rating patterns → same behavioral constituency</a:t>
            </a:r>
          </a:p>
        </p:txBody>
      </p:sp>
      <p:sp>
        <p:nvSpPr>
          <p:cNvPr id="2124" name="TextBox 113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100k-note / 200k-rater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</a:t>
            </a:r>
          </a:p>
        </p:txBody>
      </p:sp>
      <p:sp>
        <p:nvSpPr>
          <p:cNvPr id="2127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Consult constituencies directly</a:t>
            </a:r>
          </a:p>
        </p:txBody>
      </p:sp>
      <p:sp>
        <p:nvSpPr>
          <p:cNvPr id="2128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2129" name="Oval 4"/>
          <p:cNvSpPr/>
          <p:nvPr/>
        </p:nvSpPr>
        <p:spPr>
          <a:xfrm>
            <a:off x="960119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0" name="Oval 5"/>
          <p:cNvSpPr/>
          <p:nvPr/>
        </p:nvSpPr>
        <p:spPr>
          <a:xfrm>
            <a:off x="1344166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1" name="Oval 6"/>
          <p:cNvSpPr/>
          <p:nvPr/>
        </p:nvSpPr>
        <p:spPr>
          <a:xfrm>
            <a:off x="1728216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2" name="Oval 7"/>
          <p:cNvSpPr/>
          <p:nvPr/>
        </p:nvSpPr>
        <p:spPr>
          <a:xfrm>
            <a:off x="2112264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3" name="Oval 8"/>
          <p:cNvSpPr/>
          <p:nvPr/>
        </p:nvSpPr>
        <p:spPr>
          <a:xfrm>
            <a:off x="2496310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4" name="Oval 9"/>
          <p:cNvSpPr/>
          <p:nvPr/>
        </p:nvSpPr>
        <p:spPr>
          <a:xfrm>
            <a:off x="2880360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5" name="Oval 10"/>
          <p:cNvSpPr/>
          <p:nvPr/>
        </p:nvSpPr>
        <p:spPr>
          <a:xfrm>
            <a:off x="3264408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6" name="Oval 11"/>
          <p:cNvSpPr/>
          <p:nvPr/>
        </p:nvSpPr>
        <p:spPr>
          <a:xfrm>
            <a:off x="1088136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7" name="Oval 12"/>
          <p:cNvSpPr/>
          <p:nvPr/>
        </p:nvSpPr>
        <p:spPr>
          <a:xfrm>
            <a:off x="1472183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8" name="Oval 13"/>
          <p:cNvSpPr/>
          <p:nvPr/>
        </p:nvSpPr>
        <p:spPr>
          <a:xfrm>
            <a:off x="1856232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9" name="Oval 14"/>
          <p:cNvSpPr/>
          <p:nvPr/>
        </p:nvSpPr>
        <p:spPr>
          <a:xfrm>
            <a:off x="2240277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0" name="Oval 15"/>
          <p:cNvSpPr/>
          <p:nvPr/>
        </p:nvSpPr>
        <p:spPr>
          <a:xfrm>
            <a:off x="2624327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1" name="Oval 16"/>
          <p:cNvSpPr/>
          <p:nvPr/>
        </p:nvSpPr>
        <p:spPr>
          <a:xfrm>
            <a:off x="3008376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2" name="Oval 17"/>
          <p:cNvSpPr/>
          <p:nvPr/>
        </p:nvSpPr>
        <p:spPr>
          <a:xfrm>
            <a:off x="3392423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3" name="Oval 18"/>
          <p:cNvSpPr/>
          <p:nvPr/>
        </p:nvSpPr>
        <p:spPr>
          <a:xfrm>
            <a:off x="960119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4" name="Oval 19"/>
          <p:cNvSpPr/>
          <p:nvPr/>
        </p:nvSpPr>
        <p:spPr>
          <a:xfrm>
            <a:off x="1344166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5" name="Oval 20"/>
          <p:cNvSpPr/>
          <p:nvPr/>
        </p:nvSpPr>
        <p:spPr>
          <a:xfrm>
            <a:off x="1728216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6" name="Oval 21"/>
          <p:cNvSpPr/>
          <p:nvPr/>
        </p:nvSpPr>
        <p:spPr>
          <a:xfrm>
            <a:off x="2112264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7" name="Oval 22"/>
          <p:cNvSpPr/>
          <p:nvPr/>
        </p:nvSpPr>
        <p:spPr>
          <a:xfrm>
            <a:off x="2496310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8" name="Oval 23"/>
          <p:cNvSpPr/>
          <p:nvPr/>
        </p:nvSpPr>
        <p:spPr>
          <a:xfrm>
            <a:off x="2880360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9" name="Oval 24"/>
          <p:cNvSpPr/>
          <p:nvPr/>
        </p:nvSpPr>
        <p:spPr>
          <a:xfrm>
            <a:off x="3264408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0" name="Oval 25"/>
          <p:cNvSpPr/>
          <p:nvPr/>
        </p:nvSpPr>
        <p:spPr>
          <a:xfrm>
            <a:off x="1088136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1" name="Oval 26"/>
          <p:cNvSpPr/>
          <p:nvPr/>
        </p:nvSpPr>
        <p:spPr>
          <a:xfrm>
            <a:off x="1472183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2" name="Oval 27"/>
          <p:cNvSpPr/>
          <p:nvPr/>
        </p:nvSpPr>
        <p:spPr>
          <a:xfrm>
            <a:off x="1856232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3" name="Oval 28"/>
          <p:cNvSpPr/>
          <p:nvPr/>
        </p:nvSpPr>
        <p:spPr>
          <a:xfrm>
            <a:off x="2240277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4" name="Oval 29"/>
          <p:cNvSpPr/>
          <p:nvPr/>
        </p:nvSpPr>
        <p:spPr>
          <a:xfrm>
            <a:off x="2624327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5" name="Oval 30"/>
          <p:cNvSpPr/>
          <p:nvPr/>
        </p:nvSpPr>
        <p:spPr>
          <a:xfrm>
            <a:off x="3008376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6" name="Oval 31"/>
          <p:cNvSpPr/>
          <p:nvPr/>
        </p:nvSpPr>
        <p:spPr>
          <a:xfrm>
            <a:off x="3392423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7" name="Oval 32"/>
          <p:cNvSpPr/>
          <p:nvPr/>
        </p:nvSpPr>
        <p:spPr>
          <a:xfrm>
            <a:off x="960119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8" name="Oval 33"/>
          <p:cNvSpPr/>
          <p:nvPr/>
        </p:nvSpPr>
        <p:spPr>
          <a:xfrm>
            <a:off x="1344166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9" name="Oval 34"/>
          <p:cNvSpPr/>
          <p:nvPr/>
        </p:nvSpPr>
        <p:spPr>
          <a:xfrm>
            <a:off x="1728216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0" name="Oval 35"/>
          <p:cNvSpPr/>
          <p:nvPr/>
        </p:nvSpPr>
        <p:spPr>
          <a:xfrm>
            <a:off x="2112264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1" name="Oval 36"/>
          <p:cNvSpPr/>
          <p:nvPr/>
        </p:nvSpPr>
        <p:spPr>
          <a:xfrm>
            <a:off x="2496310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2" name="Oval 37"/>
          <p:cNvSpPr/>
          <p:nvPr/>
        </p:nvSpPr>
        <p:spPr>
          <a:xfrm>
            <a:off x="2880360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3" name="Oval 38"/>
          <p:cNvSpPr/>
          <p:nvPr/>
        </p:nvSpPr>
        <p:spPr>
          <a:xfrm>
            <a:off x="3264408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4" name="Oval 39"/>
          <p:cNvSpPr/>
          <p:nvPr/>
        </p:nvSpPr>
        <p:spPr>
          <a:xfrm>
            <a:off x="1088136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5" name="Oval 40"/>
          <p:cNvSpPr/>
          <p:nvPr/>
        </p:nvSpPr>
        <p:spPr>
          <a:xfrm>
            <a:off x="1472183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6" name="Oval 41"/>
          <p:cNvSpPr/>
          <p:nvPr/>
        </p:nvSpPr>
        <p:spPr>
          <a:xfrm>
            <a:off x="1856232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7" name="Oval 42"/>
          <p:cNvSpPr/>
          <p:nvPr/>
        </p:nvSpPr>
        <p:spPr>
          <a:xfrm>
            <a:off x="2240277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8" name="Oval 43"/>
          <p:cNvSpPr/>
          <p:nvPr/>
        </p:nvSpPr>
        <p:spPr>
          <a:xfrm>
            <a:off x="2624327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9" name="Oval 44"/>
          <p:cNvSpPr/>
          <p:nvPr/>
        </p:nvSpPr>
        <p:spPr>
          <a:xfrm>
            <a:off x="3008376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0" name="Oval 45"/>
          <p:cNvSpPr/>
          <p:nvPr/>
        </p:nvSpPr>
        <p:spPr>
          <a:xfrm>
            <a:off x="3392423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1" name="Oval 46"/>
          <p:cNvSpPr/>
          <p:nvPr/>
        </p:nvSpPr>
        <p:spPr>
          <a:xfrm>
            <a:off x="960119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2" name="Oval 47"/>
          <p:cNvSpPr/>
          <p:nvPr/>
        </p:nvSpPr>
        <p:spPr>
          <a:xfrm>
            <a:off x="1344166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3" name="Oval 48"/>
          <p:cNvSpPr/>
          <p:nvPr/>
        </p:nvSpPr>
        <p:spPr>
          <a:xfrm>
            <a:off x="1728216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4" name="Oval 49"/>
          <p:cNvSpPr/>
          <p:nvPr/>
        </p:nvSpPr>
        <p:spPr>
          <a:xfrm>
            <a:off x="2112264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5" name="Oval 50"/>
          <p:cNvSpPr/>
          <p:nvPr/>
        </p:nvSpPr>
        <p:spPr>
          <a:xfrm>
            <a:off x="2496310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6" name="Oval 51"/>
          <p:cNvSpPr/>
          <p:nvPr/>
        </p:nvSpPr>
        <p:spPr>
          <a:xfrm>
            <a:off x="2880360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7" name="Oval 52"/>
          <p:cNvSpPr/>
          <p:nvPr/>
        </p:nvSpPr>
        <p:spPr>
          <a:xfrm>
            <a:off x="3264408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8" name="Oval 53"/>
          <p:cNvSpPr/>
          <p:nvPr/>
        </p:nvSpPr>
        <p:spPr>
          <a:xfrm>
            <a:off x="7909559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9" name="Oval 54"/>
          <p:cNvSpPr/>
          <p:nvPr/>
        </p:nvSpPr>
        <p:spPr>
          <a:xfrm>
            <a:off x="8293606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0" name="Oval 55"/>
          <p:cNvSpPr/>
          <p:nvPr/>
        </p:nvSpPr>
        <p:spPr>
          <a:xfrm>
            <a:off x="8677656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1" name="Oval 56"/>
          <p:cNvSpPr/>
          <p:nvPr/>
        </p:nvSpPr>
        <p:spPr>
          <a:xfrm>
            <a:off x="9061704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2" name="Oval 57"/>
          <p:cNvSpPr/>
          <p:nvPr/>
        </p:nvSpPr>
        <p:spPr>
          <a:xfrm>
            <a:off x="9445752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3" name="Oval 58"/>
          <p:cNvSpPr/>
          <p:nvPr/>
        </p:nvSpPr>
        <p:spPr>
          <a:xfrm>
            <a:off x="9829799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4" name="Oval 59"/>
          <p:cNvSpPr/>
          <p:nvPr/>
        </p:nvSpPr>
        <p:spPr>
          <a:xfrm>
            <a:off x="10213847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5" name="Oval 60"/>
          <p:cNvSpPr/>
          <p:nvPr/>
        </p:nvSpPr>
        <p:spPr>
          <a:xfrm>
            <a:off x="8037576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6" name="Oval 61"/>
          <p:cNvSpPr/>
          <p:nvPr/>
        </p:nvSpPr>
        <p:spPr>
          <a:xfrm>
            <a:off x="8421623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7" name="Oval 62"/>
          <p:cNvSpPr/>
          <p:nvPr/>
        </p:nvSpPr>
        <p:spPr>
          <a:xfrm>
            <a:off x="8805671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8" name="Oval 63"/>
          <p:cNvSpPr/>
          <p:nvPr/>
        </p:nvSpPr>
        <p:spPr>
          <a:xfrm>
            <a:off x="9189718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9" name="Oval 64"/>
          <p:cNvSpPr/>
          <p:nvPr/>
        </p:nvSpPr>
        <p:spPr>
          <a:xfrm>
            <a:off x="9573768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0" name="Oval 65"/>
          <p:cNvSpPr/>
          <p:nvPr/>
        </p:nvSpPr>
        <p:spPr>
          <a:xfrm>
            <a:off x="9957816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1" name="Oval 66"/>
          <p:cNvSpPr/>
          <p:nvPr/>
        </p:nvSpPr>
        <p:spPr>
          <a:xfrm>
            <a:off x="10341864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2" name="Oval 67"/>
          <p:cNvSpPr/>
          <p:nvPr/>
        </p:nvSpPr>
        <p:spPr>
          <a:xfrm>
            <a:off x="7909559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3" name="Oval 68"/>
          <p:cNvSpPr/>
          <p:nvPr/>
        </p:nvSpPr>
        <p:spPr>
          <a:xfrm>
            <a:off x="8293606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4" name="Oval 69"/>
          <p:cNvSpPr/>
          <p:nvPr/>
        </p:nvSpPr>
        <p:spPr>
          <a:xfrm>
            <a:off x="8677656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5" name="Oval 70"/>
          <p:cNvSpPr/>
          <p:nvPr/>
        </p:nvSpPr>
        <p:spPr>
          <a:xfrm>
            <a:off x="9061704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6" name="Oval 71"/>
          <p:cNvSpPr/>
          <p:nvPr/>
        </p:nvSpPr>
        <p:spPr>
          <a:xfrm>
            <a:off x="9445752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7" name="Oval 72"/>
          <p:cNvSpPr/>
          <p:nvPr/>
        </p:nvSpPr>
        <p:spPr>
          <a:xfrm>
            <a:off x="9829799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8" name="Oval 73"/>
          <p:cNvSpPr/>
          <p:nvPr/>
        </p:nvSpPr>
        <p:spPr>
          <a:xfrm>
            <a:off x="10213847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9" name="Oval 74"/>
          <p:cNvSpPr/>
          <p:nvPr/>
        </p:nvSpPr>
        <p:spPr>
          <a:xfrm>
            <a:off x="8037576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0" name="Oval 75"/>
          <p:cNvSpPr/>
          <p:nvPr/>
        </p:nvSpPr>
        <p:spPr>
          <a:xfrm>
            <a:off x="8421623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1" name="Oval 76"/>
          <p:cNvSpPr/>
          <p:nvPr/>
        </p:nvSpPr>
        <p:spPr>
          <a:xfrm>
            <a:off x="8805671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2" name="Oval 77"/>
          <p:cNvSpPr/>
          <p:nvPr/>
        </p:nvSpPr>
        <p:spPr>
          <a:xfrm>
            <a:off x="9189718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3" name="Oval 78"/>
          <p:cNvSpPr/>
          <p:nvPr/>
        </p:nvSpPr>
        <p:spPr>
          <a:xfrm>
            <a:off x="9573768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4" name="Oval 79"/>
          <p:cNvSpPr/>
          <p:nvPr/>
        </p:nvSpPr>
        <p:spPr>
          <a:xfrm>
            <a:off x="9957816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5" name="Oval 80"/>
          <p:cNvSpPr/>
          <p:nvPr/>
        </p:nvSpPr>
        <p:spPr>
          <a:xfrm>
            <a:off x="10341864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6" name="Oval 81"/>
          <p:cNvSpPr/>
          <p:nvPr/>
        </p:nvSpPr>
        <p:spPr>
          <a:xfrm>
            <a:off x="7909559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7" name="Oval 82"/>
          <p:cNvSpPr/>
          <p:nvPr/>
        </p:nvSpPr>
        <p:spPr>
          <a:xfrm>
            <a:off x="8293606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8" name="Oval 83"/>
          <p:cNvSpPr/>
          <p:nvPr/>
        </p:nvSpPr>
        <p:spPr>
          <a:xfrm>
            <a:off x="8677656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9" name="Oval 84"/>
          <p:cNvSpPr/>
          <p:nvPr/>
        </p:nvSpPr>
        <p:spPr>
          <a:xfrm>
            <a:off x="9061704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0" name="Oval 85"/>
          <p:cNvSpPr/>
          <p:nvPr/>
        </p:nvSpPr>
        <p:spPr>
          <a:xfrm>
            <a:off x="9445752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1" name="Oval 86"/>
          <p:cNvSpPr/>
          <p:nvPr/>
        </p:nvSpPr>
        <p:spPr>
          <a:xfrm>
            <a:off x="9829799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2" name="Oval 87"/>
          <p:cNvSpPr/>
          <p:nvPr/>
        </p:nvSpPr>
        <p:spPr>
          <a:xfrm>
            <a:off x="10213847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3" name="Oval 88"/>
          <p:cNvSpPr/>
          <p:nvPr/>
        </p:nvSpPr>
        <p:spPr>
          <a:xfrm>
            <a:off x="8037576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4" name="Oval 89"/>
          <p:cNvSpPr/>
          <p:nvPr/>
        </p:nvSpPr>
        <p:spPr>
          <a:xfrm>
            <a:off x="8421623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5" name="Oval 90"/>
          <p:cNvSpPr/>
          <p:nvPr/>
        </p:nvSpPr>
        <p:spPr>
          <a:xfrm>
            <a:off x="8805671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6" name="Oval 91"/>
          <p:cNvSpPr/>
          <p:nvPr/>
        </p:nvSpPr>
        <p:spPr>
          <a:xfrm>
            <a:off x="9189718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7" name="Oval 92"/>
          <p:cNvSpPr/>
          <p:nvPr/>
        </p:nvSpPr>
        <p:spPr>
          <a:xfrm>
            <a:off x="9573768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8" name="Oval 93"/>
          <p:cNvSpPr/>
          <p:nvPr/>
        </p:nvSpPr>
        <p:spPr>
          <a:xfrm>
            <a:off x="9957816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9" name="Oval 94"/>
          <p:cNvSpPr/>
          <p:nvPr/>
        </p:nvSpPr>
        <p:spPr>
          <a:xfrm>
            <a:off x="10341864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0" name="Oval 95"/>
          <p:cNvSpPr/>
          <p:nvPr/>
        </p:nvSpPr>
        <p:spPr>
          <a:xfrm>
            <a:off x="7909559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1" name="Oval 96"/>
          <p:cNvSpPr/>
          <p:nvPr/>
        </p:nvSpPr>
        <p:spPr>
          <a:xfrm>
            <a:off x="8293606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2" name="Oval 97"/>
          <p:cNvSpPr/>
          <p:nvPr/>
        </p:nvSpPr>
        <p:spPr>
          <a:xfrm>
            <a:off x="8677656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3" name="Oval 98"/>
          <p:cNvSpPr/>
          <p:nvPr/>
        </p:nvSpPr>
        <p:spPr>
          <a:xfrm>
            <a:off x="9061704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4" name="Oval 99"/>
          <p:cNvSpPr/>
          <p:nvPr/>
        </p:nvSpPr>
        <p:spPr>
          <a:xfrm>
            <a:off x="9445752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5" name="Oval 100"/>
          <p:cNvSpPr/>
          <p:nvPr/>
        </p:nvSpPr>
        <p:spPr>
          <a:xfrm>
            <a:off x="9829799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6" name="Oval 101"/>
          <p:cNvSpPr/>
          <p:nvPr/>
        </p:nvSpPr>
        <p:spPr>
          <a:xfrm>
            <a:off x="10213847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7" name="Rounded Rectangle 102"/>
          <p:cNvSpPr/>
          <p:nvPr/>
        </p:nvSpPr>
        <p:spPr>
          <a:xfrm>
            <a:off x="5413247" y="2304288"/>
            <a:ext cx="1371607" cy="1755652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8" name="Connector 103"/>
          <p:cNvSpPr/>
          <p:nvPr/>
        </p:nvSpPr>
        <p:spPr>
          <a:xfrm>
            <a:off x="5669279" y="2788920"/>
            <a:ext cx="868682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29" name="Connector 104"/>
          <p:cNvSpPr/>
          <p:nvPr/>
        </p:nvSpPr>
        <p:spPr>
          <a:xfrm>
            <a:off x="5669279" y="3108960"/>
            <a:ext cx="731527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0" name="Connector 105"/>
          <p:cNvSpPr/>
          <p:nvPr/>
        </p:nvSpPr>
        <p:spPr>
          <a:xfrm>
            <a:off x="5669279" y="3429000"/>
            <a:ext cx="822967" cy="0"/>
          </a:xfrm>
          <a:prstGeom prst="line">
            <a:avLst/>
          </a:prstGeom>
          <a:ln w="1778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1" name="Connector 106"/>
          <p:cNvSpPr/>
          <p:nvPr/>
        </p:nvSpPr>
        <p:spPr>
          <a:xfrm flipV="1">
            <a:off x="3310128" y="2907792"/>
            <a:ext cx="2103127" cy="143561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2" name="Connector 107"/>
          <p:cNvSpPr/>
          <p:nvPr/>
        </p:nvSpPr>
        <p:spPr>
          <a:xfrm flipH="1">
            <a:off x="6784847" y="1874515"/>
            <a:ext cx="1170439" cy="103328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3" name="TextBox 108"/>
          <p:cNvSpPr txBox="1"/>
          <p:nvPr/>
        </p:nvSpPr>
        <p:spPr>
          <a:xfrm>
            <a:off x="960119" y="5193791"/>
            <a:ext cx="2286001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Recover groups</a:t>
            </a:r>
          </a:p>
        </p:txBody>
      </p:sp>
      <p:sp>
        <p:nvSpPr>
          <p:cNvPr id="2234" name="TextBox 109"/>
          <p:cNvSpPr txBox="1"/>
          <p:nvPr/>
        </p:nvSpPr>
        <p:spPr>
          <a:xfrm>
            <a:off x="4700013" y="5193791"/>
            <a:ext cx="2377448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Ask each group</a:t>
            </a:r>
          </a:p>
        </p:txBody>
      </p:sp>
      <p:sp>
        <p:nvSpPr>
          <p:cNvPr id="2235" name="TextBox 110"/>
          <p:cNvSpPr txBox="1"/>
          <p:nvPr/>
        </p:nvSpPr>
        <p:spPr>
          <a:xfrm>
            <a:off x="8467342" y="5193791"/>
            <a:ext cx="2743203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Aggregate explicitly</a:t>
            </a:r>
          </a:p>
        </p:txBody>
      </p:sp>
      <p:sp>
        <p:nvSpPr>
          <p:cNvPr id="2236" name="TextBox 111"/>
          <p:cNvSpPr txBox="1"/>
          <p:nvPr/>
        </p:nvSpPr>
        <p:spPr>
          <a:xfrm>
            <a:off x="3035802" y="5806440"/>
            <a:ext cx="6217932" cy="152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Recover groups → consult each one → aggregate explicitly</a:t>
            </a:r>
          </a:p>
        </p:txBody>
      </p:sp>
      <p:sp>
        <p:nvSpPr>
          <p:cNvPr id="2237" name="TextBox 112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cross-constituency aggregation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9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TOPIC MODELING</a:t>
            </a:r>
          </a:p>
        </p:txBody>
      </p:sp>
      <p:sp>
        <p:nvSpPr>
          <p:cNvPr id="2240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Disagreement changes by topic</a:t>
            </a:r>
          </a:p>
        </p:txBody>
      </p:sp>
      <p:sp>
        <p:nvSpPr>
          <p:cNvPr id="2241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</a:t>
            </a:r>
          </a:p>
        </p:txBody>
      </p:sp>
      <p:pic>
        <p:nvPicPr>
          <p:cNvPr id="224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1791" y="1426463"/>
            <a:ext cx="6565394" cy="4860711"/>
          </a:xfrm>
          <a:prstGeom prst="rect">
            <a:avLst/>
          </a:prstGeom>
          <a:ln w="12700">
            <a:miter lim="400000"/>
          </a:ln>
        </p:spPr>
      </p:pic>
      <p:sp>
        <p:nvSpPr>
          <p:cNvPr id="2243" name="TextBox 5"/>
          <p:cNvSpPr txBox="1"/>
          <p:nvPr/>
        </p:nvSpPr>
        <p:spPr>
          <a:xfrm>
            <a:off x="7571230" y="1490472"/>
            <a:ext cx="192024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TO READ</a:t>
            </a:r>
          </a:p>
        </p:txBody>
      </p:sp>
      <p:sp>
        <p:nvSpPr>
          <p:cNvPr id="2244" name="TextBox 6"/>
          <p:cNvSpPr txBox="1"/>
          <p:nvPr/>
        </p:nvSpPr>
        <p:spPr>
          <a:xfrm>
            <a:off x="7571230" y="1874518"/>
            <a:ext cx="34290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x-position = approval rate</a:t>
            </a:r>
          </a:p>
        </p:txBody>
      </p:sp>
      <p:sp>
        <p:nvSpPr>
          <p:cNvPr id="2245" name="TextBox 7"/>
          <p:cNvSpPr txBox="1"/>
          <p:nvPr/>
        </p:nvSpPr>
        <p:spPr>
          <a:xfrm>
            <a:off x="7571230" y="2285999"/>
            <a:ext cx="34290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bubble size = note count</a:t>
            </a:r>
          </a:p>
        </p:txBody>
      </p:sp>
      <p:sp>
        <p:nvSpPr>
          <p:cNvPr id="2246" name="TextBox 8"/>
          <p:cNvSpPr txBox="1"/>
          <p:nvPr/>
        </p:nvSpPr>
        <p:spPr>
          <a:xfrm>
            <a:off x="7571230" y="2697479"/>
            <a:ext cx="358444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color = recovered constituency</a:t>
            </a:r>
          </a:p>
        </p:txBody>
      </p:sp>
      <p:sp>
        <p:nvSpPr>
          <p:cNvPr id="2247" name="Connector 9"/>
          <p:cNvSpPr/>
          <p:nvPr/>
        </p:nvSpPr>
        <p:spPr>
          <a:xfrm>
            <a:off x="7571230" y="3236976"/>
            <a:ext cx="3657602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48" name="TextBox 10"/>
          <p:cNvSpPr txBox="1"/>
          <p:nvPr/>
        </p:nvSpPr>
        <p:spPr>
          <a:xfrm>
            <a:off x="7571230" y="3538728"/>
            <a:ext cx="192024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KEY RESULT</a:t>
            </a:r>
          </a:p>
        </p:txBody>
      </p:sp>
      <p:sp>
        <p:nvSpPr>
          <p:cNvPr id="2249" name="TextBox 11"/>
          <p:cNvSpPr txBox="1"/>
          <p:nvPr/>
        </p:nvSpPr>
        <p:spPr>
          <a:xfrm>
            <a:off x="7571230" y="3922776"/>
            <a:ext cx="358444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Approval leadership flips across topics</a:t>
            </a:r>
          </a:p>
        </p:txBody>
      </p:sp>
      <p:sp>
        <p:nvSpPr>
          <p:cNvPr id="2250" name="TextBox 12"/>
          <p:cNvSpPr txBox="1"/>
          <p:nvPr/>
        </p:nvSpPr>
        <p:spPr>
          <a:xfrm>
            <a:off x="7571230" y="4425696"/>
            <a:ext cx="358444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Constituencies are content-dependent</a:t>
            </a:r>
          </a:p>
        </p:txBody>
      </p:sp>
      <p:sp>
        <p:nvSpPr>
          <p:cNvPr id="2251" name="Connector 13"/>
          <p:cNvSpPr/>
          <p:nvPr/>
        </p:nvSpPr>
        <p:spPr>
          <a:xfrm>
            <a:off x="7571230" y="5047488"/>
            <a:ext cx="3657602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2" name="TextBox 14"/>
          <p:cNvSpPr txBox="1"/>
          <p:nvPr/>
        </p:nvSpPr>
        <p:spPr>
          <a:xfrm>
            <a:off x="7571230" y="5321808"/>
            <a:ext cx="3639313" cy="401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clusters are not simply ‘strict’ versus ‘lenient’</a:t>
            </a:r>
          </a:p>
        </p:txBody>
      </p:sp>
      <p:sp>
        <p:nvSpPr>
          <p:cNvPr id="2253" name="TextBox 15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BERTopic analysis · Method-B clusters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</a:t>
            </a:r>
          </a:p>
        </p:txBody>
      </p:sp>
      <p:sp>
        <p:nvSpPr>
          <p:cNvPr id="2256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Four design principles</a:t>
            </a:r>
          </a:p>
        </p:txBody>
      </p:sp>
      <p:sp>
        <p:nvSpPr>
          <p:cNvPr id="2257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258" name="Connector 4"/>
          <p:cNvSpPr/>
          <p:nvPr/>
        </p:nvSpPr>
        <p:spPr>
          <a:xfrm flipH="1">
            <a:off x="1298447" y="1709925"/>
            <a:ext cx="7" cy="4023367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9" name="Oval 5"/>
          <p:cNvSpPr/>
          <p:nvPr/>
        </p:nvSpPr>
        <p:spPr>
          <a:xfrm>
            <a:off x="1216149" y="1901949"/>
            <a:ext cx="164605" cy="16460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0" name="TextBox 6"/>
          <p:cNvSpPr txBox="1"/>
          <p:nvPr/>
        </p:nvSpPr>
        <p:spPr>
          <a:xfrm>
            <a:off x="1700783" y="181051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261" name="TextBox 7"/>
          <p:cNvSpPr txBox="1"/>
          <p:nvPr/>
        </p:nvSpPr>
        <p:spPr>
          <a:xfrm>
            <a:off x="2377438" y="1737360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Presence</a:t>
            </a:r>
          </a:p>
        </p:txBody>
      </p:sp>
      <p:sp>
        <p:nvSpPr>
          <p:cNvPr id="2262" name="TextBox 8"/>
          <p:cNvSpPr txBox="1"/>
          <p:nvPr/>
        </p:nvSpPr>
        <p:spPr>
          <a:xfrm>
            <a:off x="6400800" y="1773933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Every group enters</a:t>
            </a:r>
          </a:p>
        </p:txBody>
      </p:sp>
      <p:sp>
        <p:nvSpPr>
          <p:cNvPr id="2263" name="Oval 9"/>
          <p:cNvSpPr/>
          <p:nvPr/>
        </p:nvSpPr>
        <p:spPr>
          <a:xfrm>
            <a:off x="1216149" y="2871216"/>
            <a:ext cx="164605" cy="164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4" name="TextBox 10"/>
          <p:cNvSpPr txBox="1"/>
          <p:nvPr/>
        </p:nvSpPr>
        <p:spPr>
          <a:xfrm>
            <a:off x="1700783" y="2779776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265" name="TextBox 11"/>
          <p:cNvSpPr txBox="1"/>
          <p:nvPr/>
        </p:nvSpPr>
        <p:spPr>
          <a:xfrm>
            <a:off x="2377438" y="2706621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Non-compensation</a:t>
            </a:r>
          </a:p>
        </p:txBody>
      </p:sp>
      <p:sp>
        <p:nvSpPr>
          <p:cNvPr id="2266" name="TextBox 12"/>
          <p:cNvSpPr txBox="1"/>
          <p:nvPr/>
        </p:nvSpPr>
        <p:spPr>
          <a:xfrm>
            <a:off x="6400800" y="2743200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Rejection still matters</a:t>
            </a:r>
          </a:p>
        </p:txBody>
      </p:sp>
      <p:sp>
        <p:nvSpPr>
          <p:cNvPr id="2267" name="Oval 13"/>
          <p:cNvSpPr/>
          <p:nvPr/>
        </p:nvSpPr>
        <p:spPr>
          <a:xfrm>
            <a:off x="1216149" y="3840479"/>
            <a:ext cx="164605" cy="16460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8" name="TextBox 14"/>
          <p:cNvSpPr txBox="1"/>
          <p:nvPr/>
        </p:nvSpPr>
        <p:spPr>
          <a:xfrm>
            <a:off x="1700783" y="374904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269" name="TextBox 15"/>
          <p:cNvSpPr txBox="1"/>
          <p:nvPr/>
        </p:nvSpPr>
        <p:spPr>
          <a:xfrm>
            <a:off x="2377438" y="3675888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Symmetry</a:t>
            </a:r>
          </a:p>
        </p:txBody>
      </p:sp>
      <p:sp>
        <p:nvSpPr>
          <p:cNvPr id="2270" name="TextBox 16"/>
          <p:cNvSpPr txBox="1"/>
          <p:nvPr/>
        </p:nvSpPr>
        <p:spPr>
          <a:xfrm>
            <a:off x="6400800" y="3712464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default winner</a:t>
            </a:r>
          </a:p>
        </p:txBody>
      </p:sp>
      <p:sp>
        <p:nvSpPr>
          <p:cNvPr id="2271" name="Oval 17"/>
          <p:cNvSpPr/>
          <p:nvPr/>
        </p:nvSpPr>
        <p:spPr>
          <a:xfrm>
            <a:off x="1216149" y="4809744"/>
            <a:ext cx="164605" cy="16460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72" name="TextBox 18"/>
          <p:cNvSpPr txBox="1"/>
          <p:nvPr/>
        </p:nvSpPr>
        <p:spPr>
          <a:xfrm>
            <a:off x="1700783" y="4718303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2273" name="TextBox 19"/>
          <p:cNvSpPr txBox="1"/>
          <p:nvPr/>
        </p:nvSpPr>
        <p:spPr>
          <a:xfrm>
            <a:off x="2377438" y="4645152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Behavioral recovery</a:t>
            </a:r>
          </a:p>
        </p:txBody>
      </p:sp>
      <p:sp>
        <p:nvSpPr>
          <p:cNvPr id="2274" name="TextBox 20"/>
          <p:cNvSpPr txBox="1"/>
          <p:nvPr/>
        </p:nvSpPr>
        <p:spPr>
          <a:xfrm>
            <a:off x="6400800" y="4681728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outside labels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6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27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278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279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80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81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282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283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284" name="TextBox 9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1 · PRESENCE</a:t>
            </a:r>
          </a:p>
        </p:txBody>
      </p:sp>
      <p:sp>
        <p:nvSpPr>
          <p:cNvPr id="2285" name="TextBox 10"/>
          <p:cNvSpPr txBox="1"/>
          <p:nvPr/>
        </p:nvSpPr>
        <p:spPr>
          <a:xfrm>
            <a:off x="7845552" y="1993392"/>
            <a:ext cx="11887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NOTE</a:t>
            </a:r>
          </a:p>
        </p:txBody>
      </p:sp>
      <p:sp>
        <p:nvSpPr>
          <p:cNvPr id="2286" name="TextBox 11"/>
          <p:cNvSpPr txBox="1"/>
          <p:nvPr/>
        </p:nvSpPr>
        <p:spPr>
          <a:xfrm>
            <a:off x="7845552" y="2468878"/>
            <a:ext cx="1554482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287" name="TextBox 12"/>
          <p:cNvSpPr txBox="1"/>
          <p:nvPr/>
        </p:nvSpPr>
        <p:spPr>
          <a:xfrm>
            <a:off x="9464040" y="2395727"/>
            <a:ext cx="10972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ratings</a:t>
            </a:r>
          </a:p>
        </p:txBody>
      </p:sp>
      <p:sp>
        <p:nvSpPr>
          <p:cNvPr id="2288" name="Oval 13"/>
          <p:cNvSpPr/>
          <p:nvPr/>
        </p:nvSpPr>
        <p:spPr>
          <a:xfrm>
            <a:off x="10899647" y="2414016"/>
            <a:ext cx="237747" cy="23774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89" name="Connector 14"/>
          <p:cNvSpPr/>
          <p:nvPr/>
        </p:nvSpPr>
        <p:spPr>
          <a:xfrm>
            <a:off x="10945368" y="2532888"/>
            <a:ext cx="45722" cy="45722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0" name="Connector 15"/>
          <p:cNvSpPr/>
          <p:nvPr/>
        </p:nvSpPr>
        <p:spPr>
          <a:xfrm flipV="1">
            <a:off x="10991088" y="2468878"/>
            <a:ext cx="91442" cy="109730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1" name="Connector 16"/>
          <p:cNvSpPr/>
          <p:nvPr/>
        </p:nvSpPr>
        <p:spPr>
          <a:xfrm>
            <a:off x="7845552" y="2907792"/>
            <a:ext cx="3456433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2" name="TextBox 17"/>
          <p:cNvSpPr txBox="1"/>
          <p:nvPr/>
        </p:nvSpPr>
        <p:spPr>
          <a:xfrm>
            <a:off x="7845552" y="3246120"/>
            <a:ext cx="155448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293" name="TextBox 18"/>
          <p:cNvSpPr txBox="1"/>
          <p:nvPr/>
        </p:nvSpPr>
        <p:spPr>
          <a:xfrm>
            <a:off x="9464040" y="3172966"/>
            <a:ext cx="1097282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 ratings</a:t>
            </a:r>
          </a:p>
        </p:txBody>
      </p:sp>
      <p:sp>
        <p:nvSpPr>
          <p:cNvPr id="2294" name="Oval 19"/>
          <p:cNvSpPr/>
          <p:nvPr/>
        </p:nvSpPr>
        <p:spPr>
          <a:xfrm>
            <a:off x="10899647" y="3191255"/>
            <a:ext cx="237747" cy="2377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95" name="Connector 20"/>
          <p:cNvSpPr/>
          <p:nvPr/>
        </p:nvSpPr>
        <p:spPr>
          <a:xfrm>
            <a:off x="10954511" y="3246120"/>
            <a:ext cx="109730" cy="109730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6" name="Connector 21"/>
          <p:cNvSpPr/>
          <p:nvPr/>
        </p:nvSpPr>
        <p:spPr>
          <a:xfrm flipH="1">
            <a:off x="10954511" y="3246120"/>
            <a:ext cx="109730" cy="109730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7" name="TextBox 22"/>
          <p:cNvSpPr txBox="1"/>
          <p:nvPr/>
        </p:nvSpPr>
        <p:spPr>
          <a:xfrm>
            <a:off x="7845552" y="3931920"/>
            <a:ext cx="3493010" cy="396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 SCORE YET</a:t>
            </a:r>
          </a:p>
        </p:txBody>
      </p:sp>
      <p:sp>
        <p:nvSpPr>
          <p:cNvPr id="2298" name="TextBox 23"/>
          <p:cNvSpPr txBox="1"/>
          <p:nvPr/>
        </p:nvSpPr>
        <p:spPr>
          <a:xfrm>
            <a:off x="8339325" y="4590288"/>
            <a:ext cx="251460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≥3 from every group</a:t>
            </a:r>
          </a:p>
        </p:txBody>
      </p:sp>
      <p:sp>
        <p:nvSpPr>
          <p:cNvPr id="2299" name="TextBox 24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1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30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303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04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05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06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307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308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309" name="Oval 9"/>
          <p:cNvSpPr/>
          <p:nvPr/>
        </p:nvSpPr>
        <p:spPr>
          <a:xfrm>
            <a:off x="1216149" y="279806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10" name="TextBox 10"/>
          <p:cNvSpPr txBox="1"/>
          <p:nvPr/>
        </p:nvSpPr>
        <p:spPr>
          <a:xfrm>
            <a:off x="1700783" y="2798064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311" name="TextBox 11"/>
          <p:cNvSpPr txBox="1"/>
          <p:nvPr/>
        </p:nvSpPr>
        <p:spPr>
          <a:xfrm>
            <a:off x="2313431" y="2743199"/>
            <a:ext cx="26974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312" name="TextBox 12"/>
          <p:cNvSpPr txBox="1"/>
          <p:nvPr/>
        </p:nvSpPr>
        <p:spPr>
          <a:xfrm>
            <a:off x="5074920" y="2770632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313" name="TextBox 13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2 · NON-COMPENSATION</a:t>
            </a:r>
          </a:p>
        </p:txBody>
      </p:sp>
      <p:sp>
        <p:nvSpPr>
          <p:cNvPr id="2314" name="TextBox 14"/>
          <p:cNvSpPr txBox="1"/>
          <p:nvPr/>
        </p:nvSpPr>
        <p:spPr>
          <a:xfrm>
            <a:off x="7845552" y="1965960"/>
            <a:ext cx="16002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· 81 / 90 = 90%</a:t>
            </a:r>
          </a:p>
        </p:txBody>
      </p:sp>
      <p:sp>
        <p:nvSpPr>
          <p:cNvPr id="2315" name="TextBox 15"/>
          <p:cNvSpPr txBox="1"/>
          <p:nvPr/>
        </p:nvSpPr>
        <p:spPr>
          <a:xfrm>
            <a:off x="9710928" y="1965960"/>
            <a:ext cx="16002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 · 1 / 10 = 10%</a:t>
            </a:r>
          </a:p>
        </p:txBody>
      </p:sp>
      <p:sp>
        <p:nvSpPr>
          <p:cNvPr id="2316" name="TextBox 16"/>
          <p:cNvSpPr txBox="1"/>
          <p:nvPr/>
        </p:nvSpPr>
        <p:spPr>
          <a:xfrm>
            <a:off x="7845552" y="2468878"/>
            <a:ext cx="14173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POOLED VOTES</a:t>
            </a:r>
          </a:p>
        </p:txBody>
      </p:sp>
      <p:sp>
        <p:nvSpPr>
          <p:cNvPr id="2317" name="TextBox 17"/>
          <p:cNvSpPr txBox="1"/>
          <p:nvPr/>
        </p:nvSpPr>
        <p:spPr>
          <a:xfrm>
            <a:off x="7845552" y="2761488"/>
            <a:ext cx="342900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(81 + 1) / (90 + 10) = 82%</a:t>
            </a:r>
          </a:p>
        </p:txBody>
      </p:sp>
      <p:sp>
        <p:nvSpPr>
          <p:cNvPr id="2318" name="TextBox 18"/>
          <p:cNvSpPr txBox="1"/>
          <p:nvPr/>
        </p:nvSpPr>
        <p:spPr>
          <a:xfrm>
            <a:off x="10442447" y="3127248"/>
            <a:ext cx="8229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PASS</a:t>
            </a:r>
          </a:p>
        </p:txBody>
      </p:sp>
      <p:sp>
        <p:nvSpPr>
          <p:cNvPr id="2319" name="Connector 19"/>
          <p:cNvSpPr/>
          <p:nvPr/>
        </p:nvSpPr>
        <p:spPr>
          <a:xfrm>
            <a:off x="7845552" y="3493008"/>
            <a:ext cx="3456433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20" name="TextBox 20"/>
          <p:cNvSpPr txBox="1"/>
          <p:nvPr/>
        </p:nvSpPr>
        <p:spPr>
          <a:xfrm>
            <a:off x="7845552" y="3794759"/>
            <a:ext cx="8229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CCA</a:t>
            </a:r>
          </a:p>
        </p:txBody>
      </p:sp>
      <p:sp>
        <p:nvSpPr>
          <p:cNvPr id="2321" name="TextBox 21"/>
          <p:cNvSpPr txBox="1"/>
          <p:nvPr/>
        </p:nvSpPr>
        <p:spPr>
          <a:xfrm>
            <a:off x="7845552" y="4069079"/>
            <a:ext cx="3429002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√(.90 × .10) = 30%</a:t>
            </a:r>
          </a:p>
        </p:txBody>
      </p:sp>
      <p:sp>
        <p:nvSpPr>
          <p:cNvPr id="2322" name="TextBox 22"/>
          <p:cNvSpPr txBox="1"/>
          <p:nvPr/>
        </p:nvSpPr>
        <p:spPr>
          <a:xfrm>
            <a:off x="9509759" y="4507991"/>
            <a:ext cx="1755650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DOES NOT PASS</a:t>
            </a:r>
          </a:p>
        </p:txBody>
      </p:sp>
      <p:sp>
        <p:nvSpPr>
          <p:cNvPr id="2323" name="TextBox 23"/>
          <p:cNvSpPr txBox="1"/>
          <p:nvPr/>
        </p:nvSpPr>
        <p:spPr>
          <a:xfrm>
            <a:off x="7845552" y="4864608"/>
            <a:ext cx="333756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Enthusiasm cannot erase rejection</a:t>
            </a:r>
          </a:p>
        </p:txBody>
      </p:sp>
      <p:sp>
        <p:nvSpPr>
          <p:cNvPr id="2324" name="TextBox 24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6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32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328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29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30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31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332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333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334" name="Oval 9"/>
          <p:cNvSpPr/>
          <p:nvPr/>
        </p:nvSpPr>
        <p:spPr>
          <a:xfrm>
            <a:off x="1216149" y="279806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35" name="TextBox 10"/>
          <p:cNvSpPr txBox="1"/>
          <p:nvPr/>
        </p:nvSpPr>
        <p:spPr>
          <a:xfrm>
            <a:off x="1700783" y="2798064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336" name="TextBox 11"/>
          <p:cNvSpPr txBox="1"/>
          <p:nvPr/>
        </p:nvSpPr>
        <p:spPr>
          <a:xfrm>
            <a:off x="2313431" y="2743199"/>
            <a:ext cx="26974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337" name="TextBox 12"/>
          <p:cNvSpPr txBox="1"/>
          <p:nvPr/>
        </p:nvSpPr>
        <p:spPr>
          <a:xfrm>
            <a:off x="5074920" y="2770632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338" name="Oval 13"/>
          <p:cNvSpPr/>
          <p:nvPr/>
        </p:nvSpPr>
        <p:spPr>
          <a:xfrm>
            <a:off x="1216149" y="3758183"/>
            <a:ext cx="164595" cy="16459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39" name="TextBox 14"/>
          <p:cNvSpPr txBox="1"/>
          <p:nvPr/>
        </p:nvSpPr>
        <p:spPr>
          <a:xfrm>
            <a:off x="1700783" y="3758183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340" name="TextBox 15"/>
          <p:cNvSpPr txBox="1"/>
          <p:nvPr/>
        </p:nvSpPr>
        <p:spPr>
          <a:xfrm>
            <a:off x="2313431" y="3703320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2341" name="TextBox 16"/>
          <p:cNvSpPr txBox="1"/>
          <p:nvPr/>
        </p:nvSpPr>
        <p:spPr>
          <a:xfrm>
            <a:off x="5074920" y="3730752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2342" name="TextBox 17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3 · SYMMETRY</a:t>
            </a:r>
          </a:p>
        </p:txBody>
      </p:sp>
      <p:sp>
        <p:nvSpPr>
          <p:cNvPr id="2343" name="TextBox 18"/>
          <p:cNvSpPr txBox="1"/>
          <p:nvPr/>
        </p:nvSpPr>
        <p:spPr>
          <a:xfrm>
            <a:off x="7845552" y="2029966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RATERS</a:t>
            </a:r>
          </a:p>
        </p:txBody>
      </p:sp>
      <p:sp>
        <p:nvSpPr>
          <p:cNvPr id="2344" name="Oval 19"/>
          <p:cNvSpPr/>
          <p:nvPr/>
        </p:nvSpPr>
        <p:spPr>
          <a:xfrm>
            <a:off x="784555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5" name="Oval 20"/>
          <p:cNvSpPr/>
          <p:nvPr/>
        </p:nvSpPr>
        <p:spPr>
          <a:xfrm>
            <a:off x="8028430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6" name="Oval 21"/>
          <p:cNvSpPr/>
          <p:nvPr/>
        </p:nvSpPr>
        <p:spPr>
          <a:xfrm>
            <a:off x="8211311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7" name="Oval 22"/>
          <p:cNvSpPr/>
          <p:nvPr/>
        </p:nvSpPr>
        <p:spPr>
          <a:xfrm>
            <a:off x="839419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8" name="Oval 23"/>
          <p:cNvSpPr/>
          <p:nvPr/>
        </p:nvSpPr>
        <p:spPr>
          <a:xfrm>
            <a:off x="8577071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9" name="Oval 24"/>
          <p:cNvSpPr/>
          <p:nvPr/>
        </p:nvSpPr>
        <p:spPr>
          <a:xfrm>
            <a:off x="875995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0" name="Oval 25"/>
          <p:cNvSpPr/>
          <p:nvPr/>
        </p:nvSpPr>
        <p:spPr>
          <a:xfrm>
            <a:off x="8942830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1" name="Oval 26"/>
          <p:cNvSpPr/>
          <p:nvPr/>
        </p:nvSpPr>
        <p:spPr>
          <a:xfrm>
            <a:off x="9125711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2" name="Oval 27"/>
          <p:cNvSpPr/>
          <p:nvPr/>
        </p:nvSpPr>
        <p:spPr>
          <a:xfrm>
            <a:off x="930859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3" name="TextBox 28"/>
          <p:cNvSpPr txBox="1"/>
          <p:nvPr/>
        </p:nvSpPr>
        <p:spPr>
          <a:xfrm>
            <a:off x="9912094" y="2029966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 RATERS</a:t>
            </a:r>
          </a:p>
        </p:txBody>
      </p:sp>
      <p:sp>
        <p:nvSpPr>
          <p:cNvPr id="2354" name="Oval 29"/>
          <p:cNvSpPr/>
          <p:nvPr/>
        </p:nvSpPr>
        <p:spPr>
          <a:xfrm>
            <a:off x="9912094" y="2377438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5" name="TextBox 30"/>
          <p:cNvSpPr txBox="1"/>
          <p:nvPr/>
        </p:nvSpPr>
        <p:spPr>
          <a:xfrm>
            <a:off x="7845552" y="2880360"/>
            <a:ext cx="3456433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raters  ≠  9× weight</a:t>
            </a:r>
          </a:p>
        </p:txBody>
      </p:sp>
      <p:sp>
        <p:nvSpPr>
          <p:cNvPr id="2356" name="Connector 31"/>
          <p:cNvSpPr/>
          <p:nvPr/>
        </p:nvSpPr>
        <p:spPr>
          <a:xfrm>
            <a:off x="7845552" y="3401567"/>
            <a:ext cx="3456433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57" name="TextBox 32"/>
          <p:cNvSpPr txBox="1"/>
          <p:nvPr/>
        </p:nvSpPr>
        <p:spPr>
          <a:xfrm>
            <a:off x="7845552" y="3730752"/>
            <a:ext cx="345643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√(sA × sB)  =  √(sB × sA)</a:t>
            </a:r>
          </a:p>
        </p:txBody>
      </p:sp>
      <p:sp>
        <p:nvSpPr>
          <p:cNvPr id="2358" name="TextBox 33"/>
          <p:cNvSpPr txBox="1"/>
          <p:nvPr/>
        </p:nvSpPr>
        <p:spPr>
          <a:xfrm>
            <a:off x="7845552" y="4224528"/>
            <a:ext cx="345643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√(.90 × .10) = √(.10 × .90) = 30%</a:t>
            </a:r>
          </a:p>
        </p:txBody>
      </p:sp>
      <p:sp>
        <p:nvSpPr>
          <p:cNvPr id="2359" name="TextBox 34"/>
          <p:cNvSpPr txBox="1"/>
          <p:nvPr/>
        </p:nvSpPr>
        <p:spPr>
          <a:xfrm>
            <a:off x="7973568" y="4828032"/>
            <a:ext cx="321869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Group size does not change the rule</a:t>
            </a:r>
          </a:p>
        </p:txBody>
      </p:sp>
      <p:sp>
        <p:nvSpPr>
          <p:cNvPr id="2360" name="TextBox 35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363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364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65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6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67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368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369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370" name="Oval 9"/>
          <p:cNvSpPr/>
          <p:nvPr/>
        </p:nvSpPr>
        <p:spPr>
          <a:xfrm>
            <a:off x="1216149" y="279806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71" name="TextBox 10"/>
          <p:cNvSpPr txBox="1"/>
          <p:nvPr/>
        </p:nvSpPr>
        <p:spPr>
          <a:xfrm>
            <a:off x="1700783" y="2798064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372" name="TextBox 11"/>
          <p:cNvSpPr txBox="1"/>
          <p:nvPr/>
        </p:nvSpPr>
        <p:spPr>
          <a:xfrm>
            <a:off x="2313431" y="2743199"/>
            <a:ext cx="26974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373" name="TextBox 12"/>
          <p:cNvSpPr txBox="1"/>
          <p:nvPr/>
        </p:nvSpPr>
        <p:spPr>
          <a:xfrm>
            <a:off x="5074920" y="2770632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374" name="Oval 13"/>
          <p:cNvSpPr/>
          <p:nvPr/>
        </p:nvSpPr>
        <p:spPr>
          <a:xfrm>
            <a:off x="1216149" y="3758183"/>
            <a:ext cx="164595" cy="16459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75" name="TextBox 14"/>
          <p:cNvSpPr txBox="1"/>
          <p:nvPr/>
        </p:nvSpPr>
        <p:spPr>
          <a:xfrm>
            <a:off x="1700783" y="3758183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376" name="TextBox 15"/>
          <p:cNvSpPr txBox="1"/>
          <p:nvPr/>
        </p:nvSpPr>
        <p:spPr>
          <a:xfrm>
            <a:off x="2313431" y="3703320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2377" name="TextBox 16"/>
          <p:cNvSpPr txBox="1"/>
          <p:nvPr/>
        </p:nvSpPr>
        <p:spPr>
          <a:xfrm>
            <a:off x="5074920" y="3730752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2378" name="Oval 17"/>
          <p:cNvSpPr/>
          <p:nvPr/>
        </p:nvSpPr>
        <p:spPr>
          <a:xfrm>
            <a:off x="1216149" y="4736591"/>
            <a:ext cx="164595" cy="16459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79" name="TextBox 18"/>
          <p:cNvSpPr txBox="1"/>
          <p:nvPr/>
        </p:nvSpPr>
        <p:spPr>
          <a:xfrm>
            <a:off x="1700783" y="473659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2380" name="TextBox 19"/>
          <p:cNvSpPr txBox="1"/>
          <p:nvPr/>
        </p:nvSpPr>
        <p:spPr>
          <a:xfrm>
            <a:off x="2313431" y="468172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2381" name="TextBox 20"/>
          <p:cNvSpPr txBox="1"/>
          <p:nvPr/>
        </p:nvSpPr>
        <p:spPr>
          <a:xfrm>
            <a:off x="5074920" y="4709159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Method-B recovery</a:t>
            </a:r>
          </a:p>
        </p:txBody>
      </p:sp>
      <p:sp>
        <p:nvSpPr>
          <p:cNvPr id="2382" name="TextBox 21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4 · BEHAVIORAL RECOVERY</a:t>
            </a:r>
          </a:p>
        </p:txBody>
      </p:sp>
      <p:sp>
        <p:nvSpPr>
          <p:cNvPr id="2383" name="Oval 22"/>
          <p:cNvSpPr/>
          <p:nvPr/>
        </p:nvSpPr>
        <p:spPr>
          <a:xfrm>
            <a:off x="7882125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4" name="Oval 23"/>
          <p:cNvSpPr/>
          <p:nvPr/>
        </p:nvSpPr>
        <p:spPr>
          <a:xfrm>
            <a:off x="8092440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5" name="Oval 24"/>
          <p:cNvSpPr/>
          <p:nvPr/>
        </p:nvSpPr>
        <p:spPr>
          <a:xfrm>
            <a:off x="8302752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6" name="Oval 25"/>
          <p:cNvSpPr/>
          <p:nvPr/>
        </p:nvSpPr>
        <p:spPr>
          <a:xfrm>
            <a:off x="8513063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7" name="Oval 26"/>
          <p:cNvSpPr/>
          <p:nvPr/>
        </p:nvSpPr>
        <p:spPr>
          <a:xfrm>
            <a:off x="8723376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8" name="Oval 27"/>
          <p:cNvSpPr/>
          <p:nvPr/>
        </p:nvSpPr>
        <p:spPr>
          <a:xfrm>
            <a:off x="7882125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9" name="Oval 28"/>
          <p:cNvSpPr/>
          <p:nvPr/>
        </p:nvSpPr>
        <p:spPr>
          <a:xfrm>
            <a:off x="8092440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0" name="Oval 29"/>
          <p:cNvSpPr/>
          <p:nvPr/>
        </p:nvSpPr>
        <p:spPr>
          <a:xfrm>
            <a:off x="8302752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1" name="Oval 30"/>
          <p:cNvSpPr/>
          <p:nvPr/>
        </p:nvSpPr>
        <p:spPr>
          <a:xfrm>
            <a:off x="8513063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2" name="Oval 31"/>
          <p:cNvSpPr/>
          <p:nvPr/>
        </p:nvSpPr>
        <p:spPr>
          <a:xfrm>
            <a:off x="8723376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3" name="Oval 32"/>
          <p:cNvSpPr/>
          <p:nvPr/>
        </p:nvSpPr>
        <p:spPr>
          <a:xfrm>
            <a:off x="7882125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4" name="Oval 33"/>
          <p:cNvSpPr/>
          <p:nvPr/>
        </p:nvSpPr>
        <p:spPr>
          <a:xfrm>
            <a:off x="8092440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5" name="Oval 34"/>
          <p:cNvSpPr/>
          <p:nvPr/>
        </p:nvSpPr>
        <p:spPr>
          <a:xfrm>
            <a:off x="8302752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6" name="Oval 35"/>
          <p:cNvSpPr/>
          <p:nvPr/>
        </p:nvSpPr>
        <p:spPr>
          <a:xfrm>
            <a:off x="8513063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7" name="Oval 36"/>
          <p:cNvSpPr/>
          <p:nvPr/>
        </p:nvSpPr>
        <p:spPr>
          <a:xfrm>
            <a:off x="8723376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8" name="Oval 37"/>
          <p:cNvSpPr/>
          <p:nvPr/>
        </p:nvSpPr>
        <p:spPr>
          <a:xfrm>
            <a:off x="7882125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9" name="Oval 38"/>
          <p:cNvSpPr/>
          <p:nvPr/>
        </p:nvSpPr>
        <p:spPr>
          <a:xfrm>
            <a:off x="8092440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0" name="Oval 39"/>
          <p:cNvSpPr/>
          <p:nvPr/>
        </p:nvSpPr>
        <p:spPr>
          <a:xfrm>
            <a:off x="8302752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1" name="Oval 40"/>
          <p:cNvSpPr/>
          <p:nvPr/>
        </p:nvSpPr>
        <p:spPr>
          <a:xfrm>
            <a:off x="8513063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2" name="Oval 41"/>
          <p:cNvSpPr/>
          <p:nvPr/>
        </p:nvSpPr>
        <p:spPr>
          <a:xfrm>
            <a:off x="8723376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3" name="TextBox 42"/>
          <p:cNvSpPr txBox="1"/>
          <p:nvPr/>
        </p:nvSpPr>
        <p:spPr>
          <a:xfrm>
            <a:off x="7845552" y="3273552"/>
            <a:ext cx="11430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2404" name="TextBox 43"/>
          <p:cNvSpPr txBox="1"/>
          <p:nvPr/>
        </p:nvSpPr>
        <p:spPr>
          <a:xfrm>
            <a:off x="9034271" y="2496311"/>
            <a:ext cx="32918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05" name="Connector 44"/>
          <p:cNvSpPr/>
          <p:nvPr/>
        </p:nvSpPr>
        <p:spPr>
          <a:xfrm flipV="1">
            <a:off x="9500616" y="2093976"/>
            <a:ext cx="374906" cy="100586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6" name="Connector 45"/>
          <p:cNvSpPr/>
          <p:nvPr/>
        </p:nvSpPr>
        <p:spPr>
          <a:xfrm>
            <a:off x="9500616" y="2194560"/>
            <a:ext cx="128018" cy="521209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7" name="Connector 46"/>
          <p:cNvSpPr/>
          <p:nvPr/>
        </p:nvSpPr>
        <p:spPr>
          <a:xfrm>
            <a:off x="9875518" y="2093976"/>
            <a:ext cx="256033" cy="34747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8" name="Connector 47"/>
          <p:cNvSpPr/>
          <p:nvPr/>
        </p:nvSpPr>
        <p:spPr>
          <a:xfrm flipH="1">
            <a:off x="9628630" y="2093976"/>
            <a:ext cx="246890" cy="62179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9" name="Connector 48"/>
          <p:cNvSpPr/>
          <p:nvPr/>
        </p:nvSpPr>
        <p:spPr>
          <a:xfrm flipH="1">
            <a:off x="9994392" y="2441448"/>
            <a:ext cx="137162" cy="43891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0" name="Connector 49"/>
          <p:cNvSpPr/>
          <p:nvPr/>
        </p:nvSpPr>
        <p:spPr>
          <a:xfrm>
            <a:off x="9628630" y="2715766"/>
            <a:ext cx="365762" cy="16459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1" name="Connector 50"/>
          <p:cNvSpPr/>
          <p:nvPr/>
        </p:nvSpPr>
        <p:spPr>
          <a:xfrm flipV="1">
            <a:off x="9994392" y="2734055"/>
            <a:ext cx="338330" cy="146306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2" name="Oval 51"/>
          <p:cNvSpPr/>
          <p:nvPr/>
        </p:nvSpPr>
        <p:spPr>
          <a:xfrm>
            <a:off x="9454894" y="2148838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3" name="Oval 52"/>
          <p:cNvSpPr/>
          <p:nvPr/>
        </p:nvSpPr>
        <p:spPr>
          <a:xfrm>
            <a:off x="9829799" y="2048255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4" name="Oval 53"/>
          <p:cNvSpPr/>
          <p:nvPr/>
        </p:nvSpPr>
        <p:spPr>
          <a:xfrm>
            <a:off x="10085830" y="2395727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5" name="Oval 54"/>
          <p:cNvSpPr/>
          <p:nvPr/>
        </p:nvSpPr>
        <p:spPr>
          <a:xfrm>
            <a:off x="9582911" y="2670048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6" name="Oval 55"/>
          <p:cNvSpPr/>
          <p:nvPr/>
        </p:nvSpPr>
        <p:spPr>
          <a:xfrm>
            <a:off x="9948671" y="2834638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7" name="Oval 56"/>
          <p:cNvSpPr/>
          <p:nvPr/>
        </p:nvSpPr>
        <p:spPr>
          <a:xfrm>
            <a:off x="10286999" y="2688334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8" name="TextBox 57"/>
          <p:cNvSpPr txBox="1"/>
          <p:nvPr/>
        </p:nvSpPr>
        <p:spPr>
          <a:xfrm>
            <a:off x="9445752" y="327355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CO-RATING</a:t>
            </a:r>
          </a:p>
        </p:txBody>
      </p:sp>
      <p:sp>
        <p:nvSpPr>
          <p:cNvPr id="2419" name="TextBox 58"/>
          <p:cNvSpPr txBox="1"/>
          <p:nvPr/>
        </p:nvSpPr>
        <p:spPr>
          <a:xfrm>
            <a:off x="10451592" y="2496311"/>
            <a:ext cx="32918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20" name="Oval 59"/>
          <p:cNvSpPr/>
          <p:nvPr/>
        </p:nvSpPr>
        <p:spPr>
          <a:xfrm>
            <a:off x="10908792" y="2148838"/>
            <a:ext cx="118875" cy="118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1" name="Oval 60"/>
          <p:cNvSpPr/>
          <p:nvPr/>
        </p:nvSpPr>
        <p:spPr>
          <a:xfrm>
            <a:off x="11109959" y="2359150"/>
            <a:ext cx="118875" cy="118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2" name="Oval 61"/>
          <p:cNvSpPr/>
          <p:nvPr/>
        </p:nvSpPr>
        <p:spPr>
          <a:xfrm>
            <a:off x="10863071" y="2596894"/>
            <a:ext cx="118875" cy="118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3" name="Oval 62"/>
          <p:cNvSpPr/>
          <p:nvPr/>
        </p:nvSpPr>
        <p:spPr>
          <a:xfrm>
            <a:off x="11247118" y="2770632"/>
            <a:ext cx="118875" cy="118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4" name="Oval 63"/>
          <p:cNvSpPr/>
          <p:nvPr/>
        </p:nvSpPr>
        <p:spPr>
          <a:xfrm>
            <a:off x="11027664" y="2953510"/>
            <a:ext cx="118875" cy="118876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5" name="Oval 64"/>
          <p:cNvSpPr/>
          <p:nvPr/>
        </p:nvSpPr>
        <p:spPr>
          <a:xfrm>
            <a:off x="11292840" y="3127248"/>
            <a:ext cx="118875" cy="118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6" name="TextBox 65"/>
          <p:cNvSpPr txBox="1"/>
          <p:nvPr/>
        </p:nvSpPr>
        <p:spPr>
          <a:xfrm>
            <a:off x="10863071" y="3401567"/>
            <a:ext cx="5486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/ B</a:t>
            </a:r>
          </a:p>
        </p:txBody>
      </p:sp>
      <p:sp>
        <p:nvSpPr>
          <p:cNvPr id="2427" name="TextBox 66"/>
          <p:cNvSpPr txBox="1"/>
          <p:nvPr/>
        </p:nvSpPr>
        <p:spPr>
          <a:xfrm>
            <a:off x="7845552" y="3977637"/>
            <a:ext cx="3456433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METHOD B</a:t>
            </a:r>
          </a:p>
        </p:txBody>
      </p:sp>
      <p:sp>
        <p:nvSpPr>
          <p:cNvPr id="2428" name="TextBox 67"/>
          <p:cNvSpPr txBox="1"/>
          <p:nvPr/>
        </p:nvSpPr>
        <p:spPr>
          <a:xfrm>
            <a:off x="7882125" y="4526279"/>
            <a:ext cx="338328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No party · country · ideology labels</a:t>
            </a:r>
          </a:p>
        </p:txBody>
      </p:sp>
      <p:sp>
        <p:nvSpPr>
          <p:cNvPr id="2429" name="TextBox 68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200k Representative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RESULTS · REPRESENTATIVE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What the platform shows—and hides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322576"/>
            <a:ext cx="20116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111318"/>
                </a:solidFill>
                <a:latin typeface="Helvetica Neue"/>
              </a:rPr>
              <a:t>44,722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9260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80" b="1">
                <a:solidFill>
                  <a:srgbClr val="111318"/>
                </a:solidFill>
                <a:latin typeface="Helvetica Neue"/>
              </a:rPr>
              <a:t>• </a:t>
            </a:r>
            <a:r>
              <a:rPr sz="1180" b="1">
                <a:solidFill>
                  <a:srgbClr val="73777F"/>
                </a:solidFill>
                <a:latin typeface="Helvetica Neue"/>
              </a:rPr>
              <a:t>Representative picks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33472" y="2761488"/>
            <a:ext cx="612648" cy="0"/>
          </a:xfrm>
          <a:prstGeom prst="line">
            <a:avLst/>
          </a:prstGeom>
          <a:ln w="1905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88920" y="258775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2121408"/>
            <a:ext cx="1627632" cy="1243584"/>
          </a:xfrm>
          <a:prstGeom prst="roundRect">
            <a:avLst/>
          </a:prstGeom>
          <a:noFill/>
          <a:ln w="1778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0712" y="2331720"/>
            <a:ext cx="1353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1FA873"/>
                </a:solidFill>
                <a:latin typeface="Helvetica Neue"/>
              </a:rPr>
              <a:t>CCA BRIDGE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2615184"/>
            <a:ext cx="13533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111318"/>
                </a:solidFill>
                <a:latin typeface="Helvetica Neue"/>
              </a:rPr>
              <a:t>≥ 50%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19472" y="2761488"/>
            <a:ext cx="594360" cy="0"/>
          </a:xfrm>
          <a:prstGeom prst="line">
            <a:avLst/>
          </a:prstGeom>
          <a:ln w="1905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84064" y="258775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322576"/>
            <a:ext cx="20574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1FA873"/>
                </a:solidFill>
                <a:latin typeface="Helvetica Neue"/>
              </a:rPr>
              <a:t>20,405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260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8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180" b="1">
                <a:solidFill>
                  <a:srgbClr val="73777F"/>
                </a:solidFill>
                <a:latin typeface="Helvetica Neue"/>
              </a:rPr>
              <a:t>CCA-qualified · 46%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89520" y="2761488"/>
            <a:ext cx="438911" cy="0"/>
          </a:xfrm>
          <a:prstGeom prst="line">
            <a:avLst/>
          </a:prstGeom>
          <a:ln w="1905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028431" y="2103120"/>
            <a:ext cx="475489" cy="658368"/>
          </a:xfrm>
          <a:prstGeom prst="line">
            <a:avLst/>
          </a:prstGeom>
          <a:ln w="15240">
            <a:solidFill>
              <a:srgbClr val="397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28431" y="2761488"/>
            <a:ext cx="475489" cy="1005840"/>
          </a:xfrm>
          <a:prstGeom prst="line">
            <a:avLst/>
          </a:prstGeom>
          <a:ln w="15240">
            <a:solidFill>
              <a:srgbClr val="1FA8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58200" y="1572768"/>
            <a:ext cx="2331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3977F6"/>
                </a:solidFill>
                <a:latin typeface="Helvetica Neue"/>
              </a:rPr>
              <a:t>6,750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17627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8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180" b="1">
                <a:solidFill>
                  <a:srgbClr val="73777F"/>
                </a:solidFill>
                <a:latin typeface="Helvetica Neue"/>
              </a:rPr>
              <a:t>already shown · 33%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246120"/>
            <a:ext cx="26060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1FA873"/>
                </a:solidFill>
                <a:latin typeface="Helvetica Neue"/>
              </a:rPr>
              <a:t>13,655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84962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8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180" b="1">
                <a:solidFill>
                  <a:srgbClr val="73777F"/>
                </a:solidFill>
                <a:latin typeface="Helvetica Neue"/>
              </a:rPr>
              <a:t>hidden rescue candidates · 67%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087368" y="3383280"/>
            <a:ext cx="0" cy="640080"/>
          </a:xfrm>
          <a:prstGeom prst="line">
            <a:avLst/>
          </a:prstGeom>
          <a:ln w="1270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310128" y="4114800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705B"/>
                </a:solidFill>
                <a:latin typeface="Helvetica Neue"/>
              </a:rPr>
              <a:t>24,317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4608576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19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019" b="1">
                <a:solidFill>
                  <a:srgbClr val="73777F"/>
                </a:solidFill>
                <a:latin typeface="Helvetica Neue"/>
              </a:rPr>
              <a:t>below threshold · 54%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9808" y="5257800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984248" y="555955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600" b="1">
                <a:solidFill>
                  <a:srgbClr val="111318"/>
                </a:solidFill>
                <a:latin typeface="Helvetica Neue"/>
              </a:rPr>
              <a:t>CCA identifies one qualified pool—some already shown, others hidden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Authors’ 200k Representative pipeline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Gemma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9904" y="1600200"/>
            <a:ext cx="0" cy="3575304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822960" y="1636776"/>
            <a:ext cx="201168" cy="201168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627632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977F6"/>
                </a:solidFill>
                <a:latin typeface="Helvetica Neue"/>
              </a:rPr>
              <a:t>STAGE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9339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11318"/>
                </a:solidFill>
                <a:latin typeface="Helvetica Neue"/>
              </a:rPr>
              <a:t>Nature + sourcing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78608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FA873"/>
                </a:solidFill>
                <a:latin typeface="Helvetica Neue"/>
              </a:rPr>
              <a:t>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253288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300" b="1">
                <a:solidFill>
                  <a:srgbClr val="111318"/>
                </a:solidFill>
                <a:latin typeface="Helvetica Neue"/>
              </a:rPr>
              <a:t>sourced factual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017520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3977F6"/>
                </a:solidFill>
                <a:latin typeface="Helvetica Neue"/>
              </a:rPr>
              <a:t>RECHECK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294436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8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180" b="0">
                <a:solidFill>
                  <a:srgbClr val="73777F"/>
                </a:solidFill>
                <a:latin typeface="Helvetica Neue"/>
              </a:rPr>
              <a:t>opinion / speculation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3300984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3977F6"/>
                </a:solidFill>
                <a:latin typeface="Helvetica Neue"/>
              </a:rPr>
              <a:t>STAGE 1.5 · SOURCED FACTUAL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70332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FF705B"/>
                </a:solidFill>
                <a:latin typeface="Helvetica Neue"/>
              </a:rPr>
              <a:t>STOP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639312"/>
            <a:ext cx="34015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3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130" b="0">
                <a:solidFill>
                  <a:srgbClr val="73777F"/>
                </a:solidFill>
                <a:latin typeface="Helvetica Neue"/>
              </a:rPr>
              <a:t>unsourced context / claim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005072"/>
            <a:ext cx="34015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3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130" b="0">
                <a:solidFill>
                  <a:srgbClr val="73777F"/>
                </a:solidFill>
                <a:latin typeface="Helvetica Neue"/>
              </a:rPr>
              <a:t>hostile / derogatory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370832"/>
            <a:ext cx="34015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3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130" b="0">
                <a:solidFill>
                  <a:srgbClr val="73777F"/>
                </a:solidFill>
                <a:latin typeface="Helvetica Neue"/>
              </a:rPr>
              <a:t>irrelevant / spam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809744"/>
            <a:ext cx="4526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977F6"/>
                </a:solidFill>
                <a:latin typeface="Helvetica Neue"/>
              </a:rPr>
              <a:t>VISIBLE EXTERNAL SOURCE POINTER REQUIRED</a:t>
            </a:r>
          </a:p>
        </p:txBody>
      </p:sp>
      <p:sp>
        <p:nvSpPr>
          <p:cNvPr id="19" name="Oval 18"/>
          <p:cNvSpPr/>
          <p:nvPr/>
        </p:nvSpPr>
        <p:spPr>
          <a:xfrm>
            <a:off x="6446520" y="1636776"/>
            <a:ext cx="201168" cy="20116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57416" y="1627632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A873"/>
                </a:solidFill>
                <a:latin typeface="Helvetica Neue"/>
              </a:rPr>
              <a:t>STAGE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993392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11318"/>
                </a:solidFill>
                <a:latin typeface="Helvetica Neue"/>
              </a:rPr>
              <a:t>Rescue worthiness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93808" y="1892807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2700" b="1">
                <a:solidFill>
                  <a:srgbClr val="1FA873"/>
                </a:solidFill>
                <a:latin typeface="Helvetica Neue"/>
              </a:rPr>
              <a:t>0–100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263347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250" b="0">
                <a:solidFill>
                  <a:srgbClr val="73777F"/>
                </a:solidFill>
                <a:latin typeface="Helvetica Neue"/>
              </a:rPr>
              <a:t>source traceability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07238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250" b="0">
                <a:solidFill>
                  <a:srgbClr val="73777F"/>
                </a:solidFill>
                <a:latin typeface="Helvetica Neue"/>
              </a:rPr>
              <a:t>claim–source connection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511296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250" b="0">
                <a:solidFill>
                  <a:srgbClr val="73777F"/>
                </a:solidFill>
                <a:latin typeface="Helvetica Neue"/>
              </a:rPr>
              <a:t>clarity and neutrality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395020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250" b="0">
                <a:solidFill>
                  <a:srgbClr val="73777F"/>
                </a:solidFill>
                <a:latin typeface="Helvetica Neue"/>
              </a:rPr>
              <a:t>constructive presentation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55664" y="4526280"/>
            <a:ext cx="4654296" cy="0"/>
          </a:xfrm>
          <a:prstGeom prst="line">
            <a:avLst/>
          </a:prstGeom>
          <a:ln w="1143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73952" y="4727448"/>
            <a:ext cx="10241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A873"/>
                </a:solidFill>
                <a:latin typeface="Helvetica Neue"/>
              </a:rPr>
              <a:t>≥50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4791456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1318"/>
                </a:solidFill>
                <a:latin typeface="Helvetica Neue"/>
              </a:rPr>
              <a:t>→  VALIDATED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9808" y="5376672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371600" y="5669280"/>
            <a:ext cx="9464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450" b="1">
                <a:solidFill>
                  <a:srgbClr val="111318"/>
                </a:solidFill>
                <a:latin typeface="Helvetica Neue"/>
              </a:rPr>
              <a:t>Missing sourcing is a validation failure—not proof that the claim is false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Canonical Gemma prompts · model-based validation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RESULTS ·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From candidates to validated rescues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26464" y="2340864"/>
            <a:ext cx="6821424" cy="0"/>
          </a:xfrm>
          <a:prstGeom prst="line">
            <a:avLst/>
          </a:prstGeom>
          <a:ln w="2286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49808" y="1581912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111318"/>
                </a:solidFill>
                <a:latin typeface="Helvetica Neue"/>
              </a:rPr>
              <a:t>13,655</a:t>
            </a:r>
          </a:p>
        </p:txBody>
      </p:sp>
      <p:sp>
        <p:nvSpPr>
          <p:cNvPr id="7" name="Oval 6"/>
          <p:cNvSpPr/>
          <p:nvPr/>
        </p:nvSpPr>
        <p:spPr>
          <a:xfrm>
            <a:off x="1408176" y="2249424"/>
            <a:ext cx="182880" cy="182880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5" y="2596896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60" b="1">
                <a:solidFill>
                  <a:srgbClr val="111318"/>
                </a:solidFill>
                <a:latin typeface="Helvetica Neue"/>
              </a:rPr>
              <a:t>• </a:t>
            </a:r>
            <a:r>
              <a:rPr sz="1160" b="1">
                <a:solidFill>
                  <a:srgbClr val="73777F"/>
                </a:solidFill>
                <a:latin typeface="Helvetica Neue"/>
              </a:rPr>
              <a:t>CCA candidates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" y="2907792"/>
            <a:ext cx="20299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11318"/>
                </a:solidFill>
                <a:latin typeface="Helvetica Neue"/>
              </a:rPr>
              <a:t>frozen universe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3552" y="2139696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1581912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3977F6"/>
                </a:solidFill>
                <a:latin typeface="Helvetica Neue"/>
              </a:rPr>
              <a:t>10,376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0" y="2249424"/>
            <a:ext cx="182880" cy="182880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596896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6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160" b="1">
                <a:solidFill>
                  <a:srgbClr val="73777F"/>
                </a:solidFill>
                <a:latin typeface="Helvetica Neue"/>
              </a:rPr>
              <a:t>Stage 2 judgments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907792"/>
            <a:ext cx="20299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3977F6"/>
                </a:solidFill>
                <a:latin typeface="Helvetica Neue"/>
              </a:rPr>
              <a:t>10,096 strict + 280 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139696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1696" y="1581912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1FA873"/>
                </a:solidFill>
                <a:latin typeface="Helvetica Neue"/>
              </a:rPr>
              <a:t>8,558</a:t>
            </a:r>
          </a:p>
        </p:txBody>
      </p:sp>
      <p:sp>
        <p:nvSpPr>
          <p:cNvPr id="17" name="Oval 16"/>
          <p:cNvSpPr/>
          <p:nvPr/>
        </p:nvSpPr>
        <p:spPr>
          <a:xfrm>
            <a:off x="7370064" y="2249424"/>
            <a:ext cx="182880" cy="182880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2596896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6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160" b="1">
                <a:solidFill>
                  <a:srgbClr val="73777F"/>
                </a:solidFill>
                <a:latin typeface="Helvetica Neue"/>
              </a:rPr>
              <a:t>Final rescues · ≥50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907792"/>
            <a:ext cx="20299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A873"/>
                </a:solidFill>
                <a:latin typeface="Helvetica Neue"/>
              </a:rPr>
              <a:t>8,527 strict + 31 recall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32304" y="2432304"/>
            <a:ext cx="0" cy="722376"/>
          </a:xfrm>
          <a:prstGeom prst="line">
            <a:avLst/>
          </a:prstGeom>
          <a:ln w="1270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78992" y="3218688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705B"/>
                </a:solidFill>
                <a:latin typeface="Helvetica Neue"/>
              </a:rPr>
              <a:t>3,279  CONTENT 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575304"/>
            <a:ext cx="2880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705B"/>
                </a:solidFill>
                <a:latin typeface="Helvetica Neue"/>
              </a:rPr>
              <a:t>1,423  </a:t>
            </a:r>
            <a:r>
              <a:rPr sz="1019">
                <a:solidFill>
                  <a:srgbClr val="73777F"/>
                </a:solidFill>
                <a:latin typeface="Helvetica Neue"/>
              </a:rPr>
              <a:t>opinion / factual core absent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3803904"/>
            <a:ext cx="2880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705B"/>
                </a:solidFill>
                <a:latin typeface="Helvetica Neue"/>
              </a:rPr>
              <a:t>1,340  </a:t>
            </a:r>
            <a:r>
              <a:rPr sz="1019">
                <a:solidFill>
                  <a:srgbClr val="73777F"/>
                </a:solidFill>
                <a:latin typeface="Helvetica Neue"/>
              </a:rPr>
              <a:t>irrelevant / trivial / spam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032504"/>
            <a:ext cx="2880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705B"/>
                </a:solidFill>
                <a:latin typeface="Helvetica Neue"/>
              </a:rPr>
              <a:t>373  </a:t>
            </a:r>
            <a:r>
              <a:rPr sz="1019">
                <a:solidFill>
                  <a:srgbClr val="73777F"/>
                </a:solidFill>
                <a:latin typeface="Helvetica Neue"/>
              </a:rPr>
              <a:t>unsourced context / claim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4261104"/>
            <a:ext cx="2880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705B"/>
                </a:solidFill>
                <a:latin typeface="Helvetica Neue"/>
              </a:rPr>
              <a:t>142  </a:t>
            </a:r>
            <a:r>
              <a:rPr sz="1019">
                <a:solidFill>
                  <a:srgbClr val="73777F"/>
                </a:solidFill>
                <a:latin typeface="Helvetica Neue"/>
              </a:rPr>
              <a:t>hostile / derogatory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312" y="4489704"/>
            <a:ext cx="2880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705B"/>
                </a:solidFill>
                <a:latin typeface="Helvetica Neue"/>
              </a:rPr>
              <a:t>1  </a:t>
            </a:r>
            <a:r>
              <a:rPr sz="1019">
                <a:solidFill>
                  <a:srgbClr val="73777F"/>
                </a:solidFill>
                <a:latin typeface="Helvetica Neue"/>
              </a:rPr>
              <a:t>unresolved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522976" y="2432304"/>
            <a:ext cx="0" cy="722376"/>
          </a:xfrm>
          <a:prstGeom prst="line">
            <a:avLst/>
          </a:prstGeom>
          <a:ln w="1270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0" y="3218688"/>
            <a:ext cx="1901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705B"/>
                </a:solidFill>
                <a:latin typeface="Helvetica Neue"/>
              </a:rPr>
              <a:t>1,818  BELOW 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0872" y="3749039"/>
            <a:ext cx="233172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705B"/>
                </a:solidFill>
                <a:latin typeface="Helvetica Neue"/>
              </a:rPr>
              <a:t>1,818  </a:t>
            </a:r>
            <a:r>
              <a:rPr sz="1019">
                <a:solidFill>
                  <a:srgbClr val="73777F"/>
                </a:solidFill>
                <a:latin typeface="Helvetica Neue"/>
              </a:rPr>
              <a:t>rescue-worthiness &lt; 50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9808" y="4956048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59536" y="5212080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A873"/>
                </a:solidFill>
                <a:latin typeface="Helvetica Neue"/>
              </a:rPr>
              <a:t>GEMMA 4 31B 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5212080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1318"/>
                </a:solidFill>
                <a:latin typeface="Helvetica Neue"/>
              </a:rPr>
              <a:t>COMPLETED CANONICAL RUN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519379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3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130" b="1">
                <a:solidFill>
                  <a:srgbClr val="73777F"/>
                </a:solidFill>
                <a:latin typeface="Helvetica Neue"/>
              </a:rPr>
              <a:t>8,527 strict route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519379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3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130" b="1">
                <a:solidFill>
                  <a:srgbClr val="73777F"/>
                </a:solidFill>
                <a:latin typeface="Helvetica Neue"/>
              </a:rPr>
              <a:t>31 recall route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5742432"/>
            <a:ext cx="6355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A873"/>
                </a:solidFill>
                <a:latin typeface="Helvetica Neue"/>
              </a:rPr>
              <a:t>10,376 / 10,376 complete · zero unresolved Stage 2 judgments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Canonical Gemma 4 31B IT run · SCCKN · BF16 · threshold ≥50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613648" y="1627632"/>
            <a:ext cx="0" cy="150876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942832" y="1700784"/>
            <a:ext cx="20574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100" b="1">
                <a:solidFill>
                  <a:srgbClr val="1FA873"/>
                </a:solidFill>
                <a:latin typeface="Helvetica Neue"/>
              </a:rPr>
              <a:t>62.7%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96528" y="2450592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120" b="1">
                <a:solidFill>
                  <a:srgbClr val="73777F"/>
                </a:solidFill>
                <a:latin typeface="Helvetica Neue"/>
              </a:rPr>
              <a:t>of candidates validated by the LLM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79408" y="2880360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FA873"/>
                </a:solidFill>
                <a:latin typeface="Helvetica Neue"/>
              </a:rPr>
              <a:t>8,558 / 13,655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VALIDATION · STAGE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What makes a note worth rescuing?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53619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MODEL SEES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74519"/>
            <a:ext cx="1993392" cy="2212848"/>
          </a:xfrm>
          <a:prstGeom prst="roundRect">
            <a:avLst/>
          </a:prstGeom>
          <a:noFill/>
          <a:ln w="14604">
            <a:solidFill>
              <a:srgbClr val="111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097280" y="2331720"/>
            <a:ext cx="1463040" cy="0"/>
          </a:xfrm>
          <a:prstGeom prst="line">
            <a:avLst/>
          </a:prstGeom>
          <a:ln w="15240">
            <a:solidFill>
              <a:srgbClr val="111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97280" y="2688336"/>
            <a:ext cx="1261872" cy="0"/>
          </a:xfrm>
          <a:prstGeom prst="line">
            <a:avLst/>
          </a:prstGeom>
          <a:ln w="15240">
            <a:solidFill>
              <a:srgbClr val="111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7280" y="3044952"/>
            <a:ext cx="1389888" cy="0"/>
          </a:xfrm>
          <a:prstGeom prst="line">
            <a:avLst/>
          </a:prstGeom>
          <a:ln w="15240">
            <a:solidFill>
              <a:srgbClr val="111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7280" y="3529584"/>
            <a:ext cx="1133856" cy="0"/>
          </a:xfrm>
          <a:prstGeom prst="line">
            <a:avLst/>
          </a:prstGeom>
          <a:ln w="22860">
            <a:solidFill>
              <a:srgbClr val="397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97280" y="3675887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3977F6"/>
                </a:solidFill>
                <a:latin typeface="Helvetica Neue"/>
              </a:rPr>
              <a:t>SOURCE POINTER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370832"/>
            <a:ext cx="1389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11318"/>
                </a:solidFill>
                <a:latin typeface="Helvetica Neue"/>
              </a:rPr>
              <a:t>• </a:t>
            </a:r>
            <a:r>
              <a:rPr sz="1250" b="1">
                <a:solidFill>
                  <a:srgbClr val="73777F"/>
                </a:solidFill>
                <a:latin typeface="Helvetica Neue"/>
              </a:rPr>
              <a:t>note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745736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250" b="1">
                <a:solidFill>
                  <a:srgbClr val="73777F"/>
                </a:solidFill>
                <a:latin typeface="Helvetica Neue"/>
              </a:rPr>
              <a:t>visible source pointer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2916936"/>
            <a:ext cx="347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153619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HOLISTIC JUDGMENT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08476" y="2057400"/>
            <a:ext cx="0" cy="2505456"/>
          </a:xfrm>
          <a:prstGeom prst="line">
            <a:avLst/>
          </a:prstGeom>
          <a:ln w="1524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730752" y="2002536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41648" y="1984248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specific + traceable source pointer</a:t>
            </a:r>
          </a:p>
        </p:txBody>
      </p:sp>
      <p:sp>
        <p:nvSpPr>
          <p:cNvPr id="19" name="Oval 18"/>
          <p:cNvSpPr/>
          <p:nvPr/>
        </p:nvSpPr>
        <p:spPr>
          <a:xfrm>
            <a:off x="3730752" y="2615184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41648" y="2596896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clear claim ↔ source connection</a:t>
            </a:r>
          </a:p>
        </p:txBody>
      </p:sp>
      <p:sp>
        <p:nvSpPr>
          <p:cNvPr id="21" name="Oval 20"/>
          <p:cNvSpPr/>
          <p:nvPr/>
        </p:nvSpPr>
        <p:spPr>
          <a:xfrm>
            <a:off x="3730752" y="3227832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41648" y="3209544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self-contained explanation</a:t>
            </a:r>
          </a:p>
        </p:txBody>
      </p:sp>
      <p:sp>
        <p:nvSpPr>
          <p:cNvPr id="23" name="Oval 22"/>
          <p:cNvSpPr/>
          <p:nvPr/>
        </p:nvSpPr>
        <p:spPr>
          <a:xfrm>
            <a:off x="3730752" y="3840479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41648" y="3822191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factual + neutral wording</a:t>
            </a:r>
          </a:p>
        </p:txBody>
      </p:sp>
      <p:sp>
        <p:nvSpPr>
          <p:cNvPr id="25" name="Oval 24"/>
          <p:cNvSpPr/>
          <p:nvPr/>
        </p:nvSpPr>
        <p:spPr>
          <a:xfrm>
            <a:off x="3730752" y="4453127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41648" y="4434840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concise + constructive 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2916936"/>
            <a:ext cx="347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91856" y="1536192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0–100 SCORE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47888" y="1947672"/>
            <a:ext cx="0" cy="1435608"/>
          </a:xfrm>
          <a:prstGeom prst="line">
            <a:avLst/>
          </a:prstGeom>
          <a:ln w="38100">
            <a:solidFill>
              <a:srgbClr val="1FA8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247888" y="3383280"/>
            <a:ext cx="0" cy="1408176"/>
          </a:xfrm>
          <a:prstGeom prst="line">
            <a:avLst/>
          </a:prstGeom>
          <a:ln w="381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147304" y="3282696"/>
            <a:ext cx="201168" cy="201168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190195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1FA873"/>
                </a:solidFill>
                <a:latin typeface="Helvetica Neue"/>
              </a:rPr>
              <a:t>90–100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1901952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outstanding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243230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1FA873"/>
                </a:solidFill>
                <a:latin typeface="Helvetica Neue"/>
              </a:rPr>
              <a:t>70–89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2432304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strong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95351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40–69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2953512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mixed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3968496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10–39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3968496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weak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449884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0–9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44988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minimal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119872" y="3383280"/>
            <a:ext cx="3035808" cy="0"/>
          </a:xfrm>
          <a:prstGeom prst="line">
            <a:avLst/>
          </a:prstGeom>
          <a:ln w="1524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799831" y="3264408"/>
            <a:ext cx="2560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50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62288" y="3493008"/>
            <a:ext cx="1719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1FA873"/>
                </a:solidFill>
                <a:latin typeface="Helvetica Neue"/>
              </a:rPr>
              <a:t>≥50  VALIDATED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49808" y="5266944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212848" y="5577840"/>
            <a:ext cx="7818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550" b="1">
                <a:solidFill>
                  <a:srgbClr val="111318"/>
                </a:solidFill>
                <a:latin typeface="Helvetica Neue"/>
              </a:rPr>
              <a:t>No URL opening · No original post · Visible note quality only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Canonical Gemma Stage-2 prompt · threshold ≥50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CHERRY-PICKED CASE · RUSSIA / UKRAINE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Same claim. Different standard.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9048" y="1554480"/>
            <a:ext cx="0" cy="3694176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04672" y="1517904"/>
            <a:ext cx="257860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PLATFORM-SHOWN 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527048"/>
            <a:ext cx="21579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73777F"/>
                </a:solidFill>
                <a:latin typeface="Helvetica Neue"/>
              </a:rPr>
              <a:t>NOTE 1741061371389743362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1528" y="1746504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FF705B"/>
                </a:solidFill>
                <a:latin typeface="Helvetica Neue"/>
              </a:rPr>
              <a:t>CURRENTLY_RATED_HELPFUL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318"/>
                </a:solidFill>
                <a:latin typeface="Helvetica Neue"/>
              </a:rPr>
              <a:t>83.7%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048256"/>
            <a:ext cx="1508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3777F"/>
                </a:solidFill>
                <a:latin typeface="Helvetica Neue"/>
              </a:rPr>
              <a:t>overall approval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6032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977F6"/>
                </a:solidFill>
                <a:latin typeface="Helvetica Neue"/>
              </a:rPr>
              <a:t>C0  57.5%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9152" y="256032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705B"/>
                </a:solidFill>
                <a:latin typeface="Helvetica Neue"/>
              </a:rPr>
              <a:t>C1  93.8%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7" y="2560320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824 ratings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980944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50" b="1">
                <a:solidFill>
                  <a:srgbClr val="FF705B"/>
                </a:solidFill>
                <a:latin typeface="Helvetica Neue"/>
              </a:rPr>
              <a:t>√(.575 × .938) = 73.4%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008376"/>
            <a:ext cx="15361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50" b="1">
                <a:solidFill>
                  <a:srgbClr val="FF705B"/>
                </a:solidFill>
                <a:latin typeface="Helvetica Neue"/>
              </a:rPr>
              <a:t>PLATFORM SHOWS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2960" y="3465576"/>
            <a:ext cx="4462272" cy="0"/>
          </a:xfrm>
          <a:prstGeom prst="line">
            <a:avLst/>
          </a:prstGeom>
          <a:ln w="1143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1248" y="3703320"/>
            <a:ext cx="455371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>
                <a:solidFill>
                  <a:srgbClr val="111318"/>
                </a:solidFill>
                <a:latin typeface="Helvetica Neue"/>
              </a:rPr>
              <a:t>Russian state-controlled television regularly promotes shooting people who don’t want to live under Russian occupation, advocating for raping Ukrainian grannies and drowning Ukrainian children, and nuking the UK &amp; invading further west.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855464"/>
            <a:ext cx="40416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3977F6"/>
                </a:solidFill>
                <a:latin typeface="Helvetica Neue"/>
              </a:rPr>
              <a:t>SOURCES  YouTube · Newsweek · Business Insider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1517904"/>
            <a:ext cx="290779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A873"/>
                </a:solidFill>
                <a:latin typeface="Helvetica Neue"/>
              </a:rPr>
              <a:t>CCA / REPRESENTATIVE PICK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3184" y="1527048"/>
            <a:ext cx="18836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73777F"/>
                </a:solidFill>
                <a:latin typeface="Helvetica Neue"/>
              </a:rPr>
              <a:t>NOTE 1741110453764239596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1746504"/>
            <a:ext cx="19385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73777F"/>
                </a:solidFill>
                <a:latin typeface="Helvetica Neue"/>
              </a:rPr>
              <a:t>NEEDS_MORE_RATINGS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1874519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318"/>
                </a:solidFill>
                <a:latin typeface="Helvetica Neue"/>
              </a:rPr>
              <a:t>86.9%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08975" y="2048256"/>
            <a:ext cx="1508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3777F"/>
                </a:solidFill>
                <a:latin typeface="Helvetica Neue"/>
              </a:rPr>
              <a:t>overall approval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9488" y="200253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1FA873"/>
                </a:solidFill>
                <a:latin typeface="Helvetica Neue"/>
              </a:rPr>
              <a:t>GEMMA  82/100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256032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977F6"/>
                </a:solidFill>
                <a:latin typeface="Helvetica Neue"/>
              </a:rPr>
              <a:t>C0  66.5%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256032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705B"/>
                </a:solidFill>
                <a:latin typeface="Helvetica Neue"/>
              </a:rPr>
              <a:t>C1  95.2%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6416" y="2560320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890 ratings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2980944"/>
            <a:ext cx="26883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50" b="1">
                <a:solidFill>
                  <a:srgbClr val="1FA873"/>
                </a:solidFill>
                <a:latin typeface="Helvetica Neue"/>
              </a:rPr>
              <a:t>√(.665 × .952) = 79.6%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3008376"/>
            <a:ext cx="11978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50" b="1">
                <a:solidFill>
                  <a:srgbClr val="1FA873"/>
                </a:solidFill>
                <a:latin typeface="Helvetica Neue"/>
              </a:rPr>
              <a:t>CCA PICKS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37376" y="3465576"/>
            <a:ext cx="4919472" cy="0"/>
          </a:xfrm>
          <a:prstGeom prst="line">
            <a:avLst/>
          </a:prstGeom>
          <a:ln w="1143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55664" y="3703320"/>
            <a:ext cx="4800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>
                <a:solidFill>
                  <a:srgbClr val="111318"/>
                </a:solidFill>
                <a:latin typeface="Helvetica Neue"/>
              </a:rPr>
              <a:t>Russia does in fact consider western countries to be its enemies (a practice which actually predates the illegal full-scale Russian invasion of Ukraine) and regularly threatens them with nuclear and other strikes. Labelling Russia as enemy state is fully accurate.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4855464"/>
            <a:ext cx="4334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3977F6"/>
                </a:solidFill>
                <a:latin typeface="Helvetica Neue"/>
              </a:rPr>
              <a:t>SOURCES  Euractiv · Reuters · Brookings · Expats.cz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49808" y="5404104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011680" y="5687568"/>
            <a:ext cx="81838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550" b="1">
                <a:solidFill>
                  <a:srgbClr val="111318"/>
                </a:solidFill>
                <a:latin typeface="Helvetica Neue"/>
              </a:rPr>
              <a:t>Cross-constituency selection favors the more neutral formulation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Authors’ Representative selection · canonical Gemma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