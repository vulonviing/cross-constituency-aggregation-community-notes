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REPRESENTATIVE</a:t>
            </a:r>
          </a:p>
        </p:txBody>
      </p:sp>
      <p:sp>
        <p:nvSpPr>
          <p:cNvPr id="2432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the platform shows—and hides</a:t>
            </a:r>
          </a:p>
        </p:txBody>
      </p:sp>
      <p:sp>
        <p:nvSpPr>
          <p:cNvPr id="2433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34" name="TextBox 4"/>
          <p:cNvSpPr txBox="1"/>
          <p:nvPr/>
        </p:nvSpPr>
        <p:spPr>
          <a:xfrm>
            <a:off x="749808" y="2304288"/>
            <a:ext cx="2148840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44,722</a:t>
            </a:r>
          </a:p>
        </p:txBody>
      </p:sp>
      <p:sp>
        <p:nvSpPr>
          <p:cNvPr id="2435" name="TextBox 5"/>
          <p:cNvSpPr txBox="1"/>
          <p:nvPr/>
        </p:nvSpPr>
        <p:spPr>
          <a:xfrm>
            <a:off x="749808" y="2926079"/>
            <a:ext cx="2148840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Representative picks</a:t>
            </a:r>
          </a:p>
        </p:txBody>
      </p:sp>
      <p:sp>
        <p:nvSpPr>
          <p:cNvPr id="2436" name="Connector 6"/>
          <p:cNvSpPr/>
          <p:nvPr/>
        </p:nvSpPr>
        <p:spPr>
          <a:xfrm>
            <a:off x="2944367" y="2761488"/>
            <a:ext cx="758953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7" name="TextBox 7"/>
          <p:cNvSpPr txBox="1"/>
          <p:nvPr/>
        </p:nvSpPr>
        <p:spPr>
          <a:xfrm>
            <a:off x="3163823" y="2587751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38" name="Connector 8"/>
          <p:cNvSpPr/>
          <p:nvPr/>
        </p:nvSpPr>
        <p:spPr>
          <a:xfrm flipV="1">
            <a:off x="3785615" y="2194560"/>
            <a:ext cx="548642" cy="566929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39" name="Connector 9"/>
          <p:cNvSpPr/>
          <p:nvPr/>
        </p:nvSpPr>
        <p:spPr>
          <a:xfrm>
            <a:off x="3785615" y="2761488"/>
            <a:ext cx="548642" cy="1060704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0" name="TextBox 10"/>
          <p:cNvSpPr txBox="1"/>
          <p:nvPr/>
        </p:nvSpPr>
        <p:spPr>
          <a:xfrm>
            <a:off x="4370832" y="1627632"/>
            <a:ext cx="1920241" cy="4338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6,832</a:t>
            </a:r>
          </a:p>
        </p:txBody>
      </p:sp>
      <p:sp>
        <p:nvSpPr>
          <p:cNvPr id="2441" name="TextBox 11"/>
          <p:cNvSpPr txBox="1"/>
          <p:nvPr/>
        </p:nvSpPr>
        <p:spPr>
          <a:xfrm>
            <a:off x="4370832" y="2249423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shown · 15%</a:t>
            </a:r>
          </a:p>
        </p:txBody>
      </p:sp>
      <p:sp>
        <p:nvSpPr>
          <p:cNvPr id="2442" name="TextBox 12"/>
          <p:cNvSpPr txBox="1"/>
          <p:nvPr/>
        </p:nvSpPr>
        <p:spPr>
          <a:xfrm>
            <a:off x="4370832" y="3401567"/>
            <a:ext cx="192024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37,890</a:t>
            </a:r>
          </a:p>
        </p:txBody>
      </p:sp>
      <p:sp>
        <p:nvSpPr>
          <p:cNvPr id="2443" name="TextBox 13"/>
          <p:cNvSpPr txBox="1"/>
          <p:nvPr/>
        </p:nvSpPr>
        <p:spPr>
          <a:xfrm>
            <a:off x="4370832" y="4023359"/>
            <a:ext cx="192024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not shown · 85%</a:t>
            </a:r>
          </a:p>
        </p:txBody>
      </p:sp>
      <p:sp>
        <p:nvSpPr>
          <p:cNvPr id="2444" name="Connector 14"/>
          <p:cNvSpPr/>
          <p:nvPr/>
        </p:nvSpPr>
        <p:spPr>
          <a:xfrm>
            <a:off x="6364223" y="3931920"/>
            <a:ext cx="1060704" cy="1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45" name="TextBox 15"/>
          <p:cNvSpPr txBox="1"/>
          <p:nvPr/>
        </p:nvSpPr>
        <p:spPr>
          <a:xfrm>
            <a:off x="6720840" y="3758184"/>
            <a:ext cx="32004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46" name="TextBox 16"/>
          <p:cNvSpPr txBox="1"/>
          <p:nvPr/>
        </p:nvSpPr>
        <p:spPr>
          <a:xfrm>
            <a:off x="7479792" y="3401567"/>
            <a:ext cx="2423161" cy="4338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47" name="TextBox 17"/>
          <p:cNvSpPr txBox="1"/>
          <p:nvPr/>
        </p:nvSpPr>
        <p:spPr>
          <a:xfrm>
            <a:off x="7479792" y="4023359"/>
            <a:ext cx="242316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rescue candidates</a:t>
            </a:r>
          </a:p>
        </p:txBody>
      </p:sp>
      <p:sp>
        <p:nvSpPr>
          <p:cNvPr id="2448" name="TextBox 18"/>
          <p:cNvSpPr txBox="1"/>
          <p:nvPr/>
        </p:nvSpPr>
        <p:spPr>
          <a:xfrm>
            <a:off x="7644382" y="4617720"/>
            <a:ext cx="210312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INSIDE THE HIDDEN POOL</a:t>
            </a:r>
          </a:p>
        </p:txBody>
      </p:sp>
      <p:sp>
        <p:nvSpPr>
          <p:cNvPr id="2449" name="Connector 19"/>
          <p:cNvSpPr/>
          <p:nvPr/>
        </p:nvSpPr>
        <p:spPr>
          <a:xfrm>
            <a:off x="749807" y="523951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0" name="TextBox 20"/>
          <p:cNvSpPr txBox="1"/>
          <p:nvPr/>
        </p:nvSpPr>
        <p:spPr>
          <a:xfrm>
            <a:off x="2834639" y="5541264"/>
            <a:ext cx="64465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CCA searches inside the hidden Representative pool</a:t>
            </a:r>
          </a:p>
        </p:txBody>
      </p:sp>
      <p:sp>
        <p:nvSpPr>
          <p:cNvPr id="2451" name="TextBox 2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RESULTS · VALIDATION</a:t>
            </a:r>
          </a:p>
        </p:txBody>
      </p:sp>
      <p:sp>
        <p:nvSpPr>
          <p:cNvPr id="2486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candidates to validated rescues</a:t>
            </a:r>
          </a:p>
        </p:txBody>
      </p:sp>
      <p:sp>
        <p:nvSpPr>
          <p:cNvPr id="2487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88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89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0" name="Connector 6"/>
          <p:cNvSpPr/>
          <p:nvPr/>
        </p:nvSpPr>
        <p:spPr>
          <a:xfrm>
            <a:off x="1426464" y="2340864"/>
            <a:ext cx="6821425" cy="1"/>
          </a:xfrm>
          <a:prstGeom prst="line">
            <a:avLst/>
          </a:prstGeom>
          <a:ln w="228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91" name="TextBox 7"/>
          <p:cNvSpPr txBox="1"/>
          <p:nvPr/>
        </p:nvSpPr>
        <p:spPr>
          <a:xfrm>
            <a:off x="749807" y="1581911"/>
            <a:ext cx="1508762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13,655</a:t>
            </a:r>
          </a:p>
        </p:txBody>
      </p:sp>
      <p:sp>
        <p:nvSpPr>
          <p:cNvPr id="2492" name="Oval 8"/>
          <p:cNvSpPr/>
          <p:nvPr/>
        </p:nvSpPr>
        <p:spPr>
          <a:xfrm>
            <a:off x="1408175" y="2249423"/>
            <a:ext cx="182881" cy="18288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3" name="TextBox 9"/>
          <p:cNvSpPr txBox="1"/>
          <p:nvPr/>
        </p:nvSpPr>
        <p:spPr>
          <a:xfrm>
            <a:off x="585215" y="2615183"/>
            <a:ext cx="187451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CCA candidates</a:t>
            </a:r>
          </a:p>
        </p:txBody>
      </p:sp>
      <p:sp>
        <p:nvSpPr>
          <p:cNvPr id="2494" name="TextBox 10"/>
          <p:cNvSpPr txBox="1"/>
          <p:nvPr/>
        </p:nvSpPr>
        <p:spPr>
          <a:xfrm>
            <a:off x="3273552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5" name="TextBox 11"/>
          <p:cNvSpPr txBox="1"/>
          <p:nvPr/>
        </p:nvSpPr>
        <p:spPr>
          <a:xfrm>
            <a:off x="3730752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8,051</a:t>
            </a:r>
          </a:p>
        </p:txBody>
      </p:sp>
      <p:sp>
        <p:nvSpPr>
          <p:cNvPr id="2496" name="Oval 12"/>
          <p:cNvSpPr/>
          <p:nvPr/>
        </p:nvSpPr>
        <p:spPr>
          <a:xfrm>
            <a:off x="4389120" y="2249423"/>
            <a:ext cx="182881" cy="18288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7" name="TextBox 14"/>
          <p:cNvSpPr txBox="1"/>
          <p:nvPr/>
        </p:nvSpPr>
        <p:spPr>
          <a:xfrm>
            <a:off x="6236208" y="2139695"/>
            <a:ext cx="329185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98" name="TextBox 15"/>
          <p:cNvSpPr txBox="1"/>
          <p:nvPr/>
        </p:nvSpPr>
        <p:spPr>
          <a:xfrm>
            <a:off x="6711695" y="1581911"/>
            <a:ext cx="1508761" cy="421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3,896</a:t>
            </a:r>
          </a:p>
        </p:txBody>
      </p:sp>
      <p:sp>
        <p:nvSpPr>
          <p:cNvPr id="2499" name="Oval 16"/>
          <p:cNvSpPr/>
          <p:nvPr/>
        </p:nvSpPr>
        <p:spPr>
          <a:xfrm>
            <a:off x="7370064" y="2249423"/>
            <a:ext cx="182881" cy="182881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0" name="Connector 18"/>
          <p:cNvSpPr/>
          <p:nvPr/>
        </p:nvSpPr>
        <p:spPr>
          <a:xfrm>
            <a:off x="4572000" y="2432304"/>
            <a:ext cx="0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1" name="TextBox 19"/>
          <p:cNvSpPr txBox="1"/>
          <p:nvPr/>
        </p:nvSpPr>
        <p:spPr>
          <a:xfrm>
            <a:off x="3017520" y="3035807"/>
            <a:ext cx="315468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5,604  STAGE 1 STOP</a:t>
            </a:r>
          </a:p>
        </p:txBody>
      </p:sp>
      <p:sp>
        <p:nvSpPr>
          <p:cNvPr id="2502" name="TextBox 20"/>
          <p:cNvSpPr txBox="1"/>
          <p:nvPr/>
        </p:nvSpPr>
        <p:spPr>
          <a:xfrm>
            <a:off x="3136392" y="3445764"/>
            <a:ext cx="1586612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3,610 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503" name="TextBox 21"/>
          <p:cNvSpPr txBox="1"/>
          <p:nvPr/>
        </p:nvSpPr>
        <p:spPr>
          <a:xfrm>
            <a:off x="3136392" y="3701796"/>
            <a:ext cx="1652271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687  </a:t>
            </a:r>
            <a:r>
              <a:rPr b="0">
                <a:solidFill>
                  <a:srgbClr val="73777F"/>
                </a:solidFill>
              </a:rPr>
              <a:t>irrelevant / trivial / spam</a:t>
            </a:r>
          </a:p>
        </p:txBody>
      </p:sp>
      <p:sp>
        <p:nvSpPr>
          <p:cNvPr id="2504" name="TextBox 22"/>
          <p:cNvSpPr txBox="1"/>
          <p:nvPr/>
        </p:nvSpPr>
        <p:spPr>
          <a:xfrm>
            <a:off x="3136392" y="3957828"/>
            <a:ext cx="171805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616  </a:t>
            </a:r>
            <a:r>
              <a:rPr b="0">
                <a:solidFill>
                  <a:srgbClr val="73777F"/>
                </a:solidFill>
              </a:rPr>
              <a:t>hostile / troll / derogatory</a:t>
            </a:r>
          </a:p>
        </p:txBody>
      </p:sp>
      <p:sp>
        <p:nvSpPr>
          <p:cNvPr id="2505" name="TextBox 23"/>
          <p:cNvSpPr txBox="1"/>
          <p:nvPr/>
        </p:nvSpPr>
        <p:spPr>
          <a:xfrm>
            <a:off x="3136392" y="4213860"/>
            <a:ext cx="177012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474 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506" name="TextBox 24"/>
          <p:cNvSpPr txBox="1"/>
          <p:nvPr/>
        </p:nvSpPr>
        <p:spPr>
          <a:xfrm>
            <a:off x="3136392" y="4469892"/>
            <a:ext cx="1546480" cy="14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217  </a:t>
            </a:r>
            <a:r>
              <a:rPr b="0">
                <a:solidFill>
                  <a:srgbClr val="73777F"/>
                </a:solidFill>
              </a:rPr>
              <a:t>unresolved / strict ties</a:t>
            </a:r>
          </a:p>
        </p:txBody>
      </p:sp>
      <p:sp>
        <p:nvSpPr>
          <p:cNvPr id="2507" name="Connector 25"/>
          <p:cNvSpPr/>
          <p:nvPr/>
        </p:nvSpPr>
        <p:spPr>
          <a:xfrm>
            <a:off x="7534656" y="2432304"/>
            <a:ext cx="1" cy="594361"/>
          </a:xfrm>
          <a:prstGeom prst="line">
            <a:avLst/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08" name="TextBox 26"/>
          <p:cNvSpPr txBox="1"/>
          <p:nvPr/>
        </p:nvSpPr>
        <p:spPr>
          <a:xfrm>
            <a:off x="6428232" y="3035807"/>
            <a:ext cx="2267713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4,155  STAGE 2 STOP</a:t>
            </a:r>
          </a:p>
        </p:txBody>
      </p:sp>
      <p:sp>
        <p:nvSpPr>
          <p:cNvPr id="2509" name="TextBox 27"/>
          <p:cNvSpPr txBox="1"/>
          <p:nvPr/>
        </p:nvSpPr>
        <p:spPr>
          <a:xfrm>
            <a:off x="6510528" y="3619500"/>
            <a:ext cx="1733297" cy="149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/>
          <a:p>
            <a: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4,155  </a:t>
            </a:r>
            <a:r>
              <a:rPr b="0">
                <a:solidFill>
                  <a:srgbClr val="73777F"/>
                </a:solidFill>
              </a:rPr>
              <a:t>rescue-worthiness &lt; 50</a:t>
            </a:r>
          </a:p>
        </p:txBody>
      </p:sp>
      <p:sp>
        <p:nvSpPr>
          <p:cNvPr id="2510" name="Connector 28"/>
          <p:cNvSpPr/>
          <p:nvPr/>
        </p:nvSpPr>
        <p:spPr>
          <a:xfrm>
            <a:off x="749807" y="4956047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11" name="TextBox 29"/>
          <p:cNvSpPr txBox="1"/>
          <p:nvPr/>
        </p:nvSpPr>
        <p:spPr>
          <a:xfrm>
            <a:off x="859535" y="5212079"/>
            <a:ext cx="2103122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GPT-4o-mini baseline</a:t>
            </a:r>
          </a:p>
        </p:txBody>
      </p:sp>
      <p:sp>
        <p:nvSpPr>
          <p:cNvPr id="2512" name="TextBox 30"/>
          <p:cNvSpPr txBox="1"/>
          <p:nvPr/>
        </p:nvSpPr>
        <p:spPr>
          <a:xfrm>
            <a:off x="2953511" y="5193791"/>
            <a:ext cx="329185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3" name="TextBox 31"/>
          <p:cNvSpPr txBox="1"/>
          <p:nvPr/>
        </p:nvSpPr>
        <p:spPr>
          <a:xfrm>
            <a:off x="3383279" y="5212079"/>
            <a:ext cx="224028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MiMo v2.5 Pro rerun</a:t>
            </a:r>
          </a:p>
        </p:txBody>
      </p:sp>
      <p:sp>
        <p:nvSpPr>
          <p:cNvPr id="2514" name="TextBox 32"/>
          <p:cNvSpPr txBox="1"/>
          <p:nvPr/>
        </p:nvSpPr>
        <p:spPr>
          <a:xfrm>
            <a:off x="5989320" y="5193791"/>
            <a:ext cx="2331721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higher reasoning capacity</a:t>
            </a:r>
          </a:p>
        </p:txBody>
      </p:sp>
      <p:sp>
        <p:nvSpPr>
          <p:cNvPr id="2515" name="TextBox 33"/>
          <p:cNvSpPr txBox="1"/>
          <p:nvPr/>
        </p:nvSpPr>
        <p:spPr>
          <a:xfrm>
            <a:off x="8503919" y="5193791"/>
            <a:ext cx="257860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accuracy expected to improve</a:t>
            </a:r>
          </a:p>
        </p:txBody>
      </p:sp>
      <p:sp>
        <p:nvSpPr>
          <p:cNvPr id="2516" name="TextBox 34"/>
          <p:cNvSpPr txBox="1"/>
          <p:nvPr/>
        </p:nvSpPr>
        <p:spPr>
          <a:xfrm>
            <a:off x="4114800" y="5760720"/>
            <a:ext cx="397763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FINAL COUNTS WILL CHANGE</a:t>
            </a:r>
          </a:p>
        </p:txBody>
      </p:sp>
      <p:sp>
        <p:nvSpPr>
          <p:cNvPr id="2517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outputs · MiMo rerun underway</a:t>
            </a:r>
          </a:p>
        </p:txBody>
      </p:sp>
      <p:sp>
        <p:nvSpPr>
          <p:cNvPr id="2518" name="TextBox 13"/>
          <p:cNvSpPr txBox="1"/>
          <p:nvPr/>
        </p:nvSpPr>
        <p:spPr>
          <a:xfrm>
            <a:off x="3147059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1 pass</a:t>
            </a:r>
          </a:p>
        </p:txBody>
      </p:sp>
      <p:sp>
        <p:nvSpPr>
          <p:cNvPr id="2519" name="TextBox 17"/>
          <p:cNvSpPr txBox="1"/>
          <p:nvPr/>
        </p:nvSpPr>
        <p:spPr>
          <a:xfrm>
            <a:off x="5912104" y="2615183"/>
            <a:ext cx="1874519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Stage 2 pass · ≥50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Gabriel Stage-2 prompt · historical threshold ≥50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