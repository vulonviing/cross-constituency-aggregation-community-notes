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90" r:id="rId42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REPRESENTATIVE</a:t>
            </a:r>
          </a:p>
        </p:txBody>
      </p:sp>
      <p:sp>
        <p:nvSpPr>
          <p:cNvPr id="243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the platform shows—and hides</a:t>
            </a:r>
          </a:p>
        </p:txBody>
      </p:sp>
      <p:sp>
        <p:nvSpPr>
          <p:cNvPr id="243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34" name="TextBox 4"/>
          <p:cNvSpPr txBox="1"/>
          <p:nvPr/>
        </p:nvSpPr>
        <p:spPr>
          <a:xfrm>
            <a:off x="749808" y="2304288"/>
            <a:ext cx="214884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435" name="TextBox 5"/>
          <p:cNvSpPr txBox="1"/>
          <p:nvPr/>
        </p:nvSpPr>
        <p:spPr>
          <a:xfrm>
            <a:off x="749808" y="2926079"/>
            <a:ext cx="2148840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436" name="Connector 6"/>
          <p:cNvSpPr/>
          <p:nvPr/>
        </p:nvSpPr>
        <p:spPr>
          <a:xfrm>
            <a:off x="2944367" y="2761488"/>
            <a:ext cx="758953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7" name="TextBox 7"/>
          <p:cNvSpPr txBox="1"/>
          <p:nvPr/>
        </p:nvSpPr>
        <p:spPr>
          <a:xfrm>
            <a:off x="3163823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38" name="Connector 8"/>
          <p:cNvSpPr/>
          <p:nvPr/>
        </p:nvSpPr>
        <p:spPr>
          <a:xfrm flipV="1">
            <a:off x="3785615" y="2194560"/>
            <a:ext cx="548642" cy="566929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9" name="Connector 9"/>
          <p:cNvSpPr/>
          <p:nvPr/>
        </p:nvSpPr>
        <p:spPr>
          <a:xfrm>
            <a:off x="3785615" y="2761488"/>
            <a:ext cx="548642" cy="106070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0" name="TextBox 10"/>
          <p:cNvSpPr txBox="1"/>
          <p:nvPr/>
        </p:nvSpPr>
        <p:spPr>
          <a:xfrm>
            <a:off x="4370832" y="1627632"/>
            <a:ext cx="1920241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2441" name="TextBox 11"/>
          <p:cNvSpPr txBox="1"/>
          <p:nvPr/>
        </p:nvSpPr>
        <p:spPr>
          <a:xfrm>
            <a:off x="4370832" y="2249423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2442" name="TextBox 12"/>
          <p:cNvSpPr txBox="1"/>
          <p:nvPr/>
        </p:nvSpPr>
        <p:spPr>
          <a:xfrm>
            <a:off x="4370832" y="3401567"/>
            <a:ext cx="1920241" cy="433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37,890</a:t>
            </a:r>
          </a:p>
        </p:txBody>
      </p:sp>
      <p:sp>
        <p:nvSpPr>
          <p:cNvPr id="2443" name="TextBox 13"/>
          <p:cNvSpPr txBox="1"/>
          <p:nvPr/>
        </p:nvSpPr>
        <p:spPr>
          <a:xfrm>
            <a:off x="4370832" y="4023359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not shown · 85%</a:t>
            </a:r>
          </a:p>
        </p:txBody>
      </p:sp>
      <p:sp>
        <p:nvSpPr>
          <p:cNvPr id="2444" name="Connector 14"/>
          <p:cNvSpPr/>
          <p:nvPr/>
        </p:nvSpPr>
        <p:spPr>
          <a:xfrm>
            <a:off x="6364223" y="3931920"/>
            <a:ext cx="1060704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5" name="TextBox 15"/>
          <p:cNvSpPr txBox="1"/>
          <p:nvPr/>
        </p:nvSpPr>
        <p:spPr>
          <a:xfrm>
            <a:off x="6720840" y="3758184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46" name="TextBox 16"/>
          <p:cNvSpPr txBox="1"/>
          <p:nvPr/>
        </p:nvSpPr>
        <p:spPr>
          <a:xfrm>
            <a:off x="7479792" y="3401567"/>
            <a:ext cx="2423161" cy="433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47" name="TextBox 17"/>
          <p:cNvSpPr txBox="1"/>
          <p:nvPr/>
        </p:nvSpPr>
        <p:spPr>
          <a:xfrm>
            <a:off x="7479792" y="4023359"/>
            <a:ext cx="24231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rescue candidates</a:t>
            </a:r>
          </a:p>
        </p:txBody>
      </p:sp>
      <p:sp>
        <p:nvSpPr>
          <p:cNvPr id="2448" name="TextBox 18"/>
          <p:cNvSpPr txBox="1"/>
          <p:nvPr/>
        </p:nvSpPr>
        <p:spPr>
          <a:xfrm>
            <a:off x="7644382" y="4617720"/>
            <a:ext cx="210312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INSIDE THE HIDDEN POOL</a:t>
            </a:r>
          </a:p>
        </p:txBody>
      </p:sp>
      <p:sp>
        <p:nvSpPr>
          <p:cNvPr id="2449" name="Connector 19"/>
          <p:cNvSpPr/>
          <p:nvPr/>
        </p:nvSpPr>
        <p:spPr>
          <a:xfrm>
            <a:off x="749807" y="523951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0" name="TextBox 20"/>
          <p:cNvSpPr txBox="1"/>
          <p:nvPr/>
        </p:nvSpPr>
        <p:spPr>
          <a:xfrm>
            <a:off x="2834639" y="5541264"/>
            <a:ext cx="64465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CCA searches inside the hidden Representative pool</a:t>
            </a:r>
          </a:p>
        </p:txBody>
      </p:sp>
      <p:sp>
        <p:nvSpPr>
          <p:cNvPr id="2451" name="TextBox 2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454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Gabriel Validation</a:t>
            </a:r>
          </a:p>
        </p:txBody>
      </p:sp>
      <p:sp>
        <p:nvSpPr>
          <p:cNvPr id="2455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56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57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8" name="Connector 6"/>
          <p:cNvSpPr/>
          <p:nvPr/>
        </p:nvSpPr>
        <p:spPr>
          <a:xfrm flipH="1">
            <a:off x="6089903" y="1600199"/>
            <a:ext cx="1" cy="357530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9" name="Oval 7"/>
          <p:cNvSpPr/>
          <p:nvPr/>
        </p:nvSpPr>
        <p:spPr>
          <a:xfrm>
            <a:off x="822960" y="1636776"/>
            <a:ext cx="201169" cy="201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0" name="TextBox 8"/>
          <p:cNvSpPr txBox="1"/>
          <p:nvPr/>
        </p:nvSpPr>
        <p:spPr>
          <a:xfrm>
            <a:off x="1133855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461" name="TextBox 9"/>
          <p:cNvSpPr txBox="1"/>
          <p:nvPr/>
        </p:nvSpPr>
        <p:spPr>
          <a:xfrm>
            <a:off x="822959" y="1993392"/>
            <a:ext cx="329184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Nature + sourcing</a:t>
            </a:r>
          </a:p>
        </p:txBody>
      </p:sp>
      <p:sp>
        <p:nvSpPr>
          <p:cNvPr id="2462" name="TextBox 10"/>
          <p:cNvSpPr txBox="1"/>
          <p:nvPr/>
        </p:nvSpPr>
        <p:spPr>
          <a:xfrm>
            <a:off x="841247" y="2578607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463" name="TextBox 11"/>
          <p:cNvSpPr txBox="1"/>
          <p:nvPr/>
        </p:nvSpPr>
        <p:spPr>
          <a:xfrm>
            <a:off x="1417320" y="2532888"/>
            <a:ext cx="338328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sourced factual information</a:t>
            </a:r>
          </a:p>
        </p:txBody>
      </p:sp>
      <p:sp>
        <p:nvSpPr>
          <p:cNvPr id="2464" name="TextBox 12"/>
          <p:cNvSpPr txBox="1"/>
          <p:nvPr/>
        </p:nvSpPr>
        <p:spPr>
          <a:xfrm>
            <a:off x="841247" y="301752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STOP</a:t>
            </a:r>
          </a:p>
        </p:txBody>
      </p:sp>
      <p:sp>
        <p:nvSpPr>
          <p:cNvPr id="2465" name="TextBox 13"/>
          <p:cNvSpPr txBox="1"/>
          <p:nvPr/>
        </p:nvSpPr>
        <p:spPr>
          <a:xfrm>
            <a:off x="1417320" y="2944367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466" name="TextBox 14"/>
          <p:cNvSpPr txBox="1"/>
          <p:nvPr/>
        </p:nvSpPr>
        <p:spPr>
          <a:xfrm>
            <a:off x="1417320" y="3328415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467" name="TextBox 15"/>
          <p:cNvSpPr txBox="1"/>
          <p:nvPr/>
        </p:nvSpPr>
        <p:spPr>
          <a:xfrm>
            <a:off x="1417320" y="3712464"/>
            <a:ext cx="3401568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468" name="TextBox 16"/>
          <p:cNvSpPr txBox="1"/>
          <p:nvPr/>
        </p:nvSpPr>
        <p:spPr>
          <a:xfrm>
            <a:off x="1417320" y="4096511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irrelevant / spam</a:t>
            </a:r>
          </a:p>
        </p:txBody>
      </p:sp>
      <p:sp>
        <p:nvSpPr>
          <p:cNvPr id="2469" name="TextBox 17"/>
          <p:cNvSpPr txBox="1"/>
          <p:nvPr/>
        </p:nvSpPr>
        <p:spPr>
          <a:xfrm>
            <a:off x="841248" y="4645152"/>
            <a:ext cx="45262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VISIBLE EXTERNAL SOURCE POINTER REQUIRED</a:t>
            </a:r>
          </a:p>
        </p:txBody>
      </p:sp>
      <p:sp>
        <p:nvSpPr>
          <p:cNvPr id="2470" name="Oval 18"/>
          <p:cNvSpPr/>
          <p:nvPr/>
        </p:nvSpPr>
        <p:spPr>
          <a:xfrm>
            <a:off x="6446520" y="1636776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1" name="TextBox 19"/>
          <p:cNvSpPr txBox="1"/>
          <p:nvPr/>
        </p:nvSpPr>
        <p:spPr>
          <a:xfrm>
            <a:off x="6757416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472" name="TextBox 20"/>
          <p:cNvSpPr txBox="1"/>
          <p:nvPr/>
        </p:nvSpPr>
        <p:spPr>
          <a:xfrm>
            <a:off x="6446520" y="1993392"/>
            <a:ext cx="292608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Rescue worthiness</a:t>
            </a:r>
          </a:p>
        </p:txBody>
      </p:sp>
      <p:sp>
        <p:nvSpPr>
          <p:cNvPr id="2473" name="TextBox 21"/>
          <p:cNvSpPr txBox="1"/>
          <p:nvPr/>
        </p:nvSpPr>
        <p:spPr>
          <a:xfrm>
            <a:off x="9893807" y="1892806"/>
            <a:ext cx="123444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</a:t>
            </a:r>
          </a:p>
        </p:txBody>
      </p:sp>
      <p:sp>
        <p:nvSpPr>
          <p:cNvPr id="2474" name="TextBox 22"/>
          <p:cNvSpPr txBox="1"/>
          <p:nvPr/>
        </p:nvSpPr>
        <p:spPr>
          <a:xfrm>
            <a:off x="6473952" y="2633472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source traceability</a:t>
            </a:r>
          </a:p>
        </p:txBody>
      </p:sp>
      <p:sp>
        <p:nvSpPr>
          <p:cNvPr id="2475" name="TextBox 23"/>
          <p:cNvSpPr txBox="1"/>
          <p:nvPr/>
        </p:nvSpPr>
        <p:spPr>
          <a:xfrm>
            <a:off x="6473952" y="3072383"/>
            <a:ext cx="324612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claim–source connection</a:t>
            </a:r>
          </a:p>
        </p:txBody>
      </p:sp>
      <p:sp>
        <p:nvSpPr>
          <p:cNvPr id="2476" name="TextBox 24"/>
          <p:cNvSpPr txBox="1"/>
          <p:nvPr/>
        </p:nvSpPr>
        <p:spPr>
          <a:xfrm>
            <a:off x="6473952" y="3511296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clarity and neutrality</a:t>
            </a:r>
          </a:p>
        </p:txBody>
      </p:sp>
      <p:sp>
        <p:nvSpPr>
          <p:cNvPr id="2477" name="TextBox 25"/>
          <p:cNvSpPr txBox="1"/>
          <p:nvPr/>
        </p:nvSpPr>
        <p:spPr>
          <a:xfrm>
            <a:off x="6473952" y="3950208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constructive presentation</a:t>
            </a:r>
          </a:p>
        </p:txBody>
      </p:sp>
      <p:sp>
        <p:nvSpPr>
          <p:cNvPr id="2478" name="Connector 26"/>
          <p:cNvSpPr/>
          <p:nvPr/>
        </p:nvSpPr>
        <p:spPr>
          <a:xfrm>
            <a:off x="6455664" y="4526279"/>
            <a:ext cx="4654297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9" name="TextBox 27"/>
          <p:cNvSpPr txBox="1"/>
          <p:nvPr/>
        </p:nvSpPr>
        <p:spPr>
          <a:xfrm>
            <a:off x="6473952" y="4727447"/>
            <a:ext cx="1024129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</a:t>
            </a:r>
          </a:p>
        </p:txBody>
      </p:sp>
      <p:sp>
        <p:nvSpPr>
          <p:cNvPr id="2480" name="TextBox 28"/>
          <p:cNvSpPr txBox="1"/>
          <p:nvPr/>
        </p:nvSpPr>
        <p:spPr>
          <a:xfrm>
            <a:off x="7516368" y="4791455"/>
            <a:ext cx="2331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  VALIDATED</a:t>
            </a:r>
          </a:p>
        </p:txBody>
      </p:sp>
      <p:sp>
        <p:nvSpPr>
          <p:cNvPr id="2481" name="Connector 29"/>
          <p:cNvSpPr/>
          <p:nvPr/>
        </p:nvSpPr>
        <p:spPr>
          <a:xfrm>
            <a:off x="749807" y="537667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2" name="TextBox 30"/>
          <p:cNvSpPr txBox="1"/>
          <p:nvPr/>
        </p:nvSpPr>
        <p:spPr>
          <a:xfrm>
            <a:off x="1371599" y="5669279"/>
            <a:ext cx="94640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Missing sourcing is a validation failure—not proof that the claim is false</a:t>
            </a:r>
          </a:p>
        </p:txBody>
      </p:sp>
      <p:sp>
        <p:nvSpPr>
          <p:cNvPr id="2483" name="TextBox 3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method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VALIDATION</a:t>
            </a:r>
          </a:p>
        </p:txBody>
      </p:sp>
      <p:sp>
        <p:nvSpPr>
          <p:cNvPr id="2486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candidates to validated rescues</a:t>
            </a:r>
          </a:p>
        </p:txBody>
      </p:sp>
      <p:sp>
        <p:nvSpPr>
          <p:cNvPr id="2487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88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89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0" name="Connector 6"/>
          <p:cNvSpPr/>
          <p:nvPr/>
        </p:nvSpPr>
        <p:spPr>
          <a:xfrm>
            <a:off x="1426464" y="2340864"/>
            <a:ext cx="6821425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1" name="TextBox 7"/>
          <p:cNvSpPr txBox="1"/>
          <p:nvPr/>
        </p:nvSpPr>
        <p:spPr>
          <a:xfrm>
            <a:off x="749807" y="1581911"/>
            <a:ext cx="150876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92" name="Oval 8"/>
          <p:cNvSpPr/>
          <p:nvPr/>
        </p:nvSpPr>
        <p:spPr>
          <a:xfrm>
            <a:off x="1408175" y="2249423"/>
            <a:ext cx="182881" cy="1828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3" name="TextBox 9"/>
          <p:cNvSpPr txBox="1"/>
          <p:nvPr/>
        </p:nvSpPr>
        <p:spPr>
          <a:xfrm>
            <a:off x="585215" y="2615183"/>
            <a:ext cx="187451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494" name="TextBox 10"/>
          <p:cNvSpPr txBox="1"/>
          <p:nvPr/>
        </p:nvSpPr>
        <p:spPr>
          <a:xfrm>
            <a:off x="3273552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5" name="TextBox 11"/>
          <p:cNvSpPr txBox="1"/>
          <p:nvPr/>
        </p:nvSpPr>
        <p:spPr>
          <a:xfrm>
            <a:off x="3730752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8,051</a:t>
            </a:r>
          </a:p>
        </p:txBody>
      </p:sp>
      <p:sp>
        <p:nvSpPr>
          <p:cNvPr id="2496" name="Oval 12"/>
          <p:cNvSpPr/>
          <p:nvPr/>
        </p:nvSpPr>
        <p:spPr>
          <a:xfrm>
            <a:off x="4389120" y="2249423"/>
            <a:ext cx="182881" cy="18288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7" name="TextBox 14"/>
          <p:cNvSpPr txBox="1"/>
          <p:nvPr/>
        </p:nvSpPr>
        <p:spPr>
          <a:xfrm>
            <a:off x="6236208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8" name="TextBox 15"/>
          <p:cNvSpPr txBox="1"/>
          <p:nvPr/>
        </p:nvSpPr>
        <p:spPr>
          <a:xfrm>
            <a:off x="6711695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2499" name="Oval 16"/>
          <p:cNvSpPr/>
          <p:nvPr/>
        </p:nvSpPr>
        <p:spPr>
          <a:xfrm>
            <a:off x="7370064" y="2249423"/>
            <a:ext cx="182881" cy="1828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0" name="Connector 18"/>
          <p:cNvSpPr/>
          <p:nvPr/>
        </p:nvSpPr>
        <p:spPr>
          <a:xfrm>
            <a:off x="4572000" y="2432304"/>
            <a:ext cx="0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1" name="TextBox 19"/>
          <p:cNvSpPr txBox="1"/>
          <p:nvPr/>
        </p:nvSpPr>
        <p:spPr>
          <a:xfrm>
            <a:off x="3017520" y="3035807"/>
            <a:ext cx="31546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5,604  STAGE 1 STOP</a:t>
            </a:r>
          </a:p>
        </p:txBody>
      </p:sp>
      <p:sp>
        <p:nvSpPr>
          <p:cNvPr id="2502" name="TextBox 20"/>
          <p:cNvSpPr txBox="1"/>
          <p:nvPr/>
        </p:nvSpPr>
        <p:spPr>
          <a:xfrm>
            <a:off x="3136392" y="3445764"/>
            <a:ext cx="1586612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3,610 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503" name="TextBox 21"/>
          <p:cNvSpPr txBox="1"/>
          <p:nvPr/>
        </p:nvSpPr>
        <p:spPr>
          <a:xfrm>
            <a:off x="3136392" y="3701796"/>
            <a:ext cx="1652271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687  </a:t>
            </a:r>
            <a:r>
              <a:rPr b="0">
                <a:solidFill>
                  <a:srgbClr val="73777F"/>
                </a:solidFill>
              </a:rPr>
              <a:t>irrelevant / trivial / spam</a:t>
            </a:r>
          </a:p>
        </p:txBody>
      </p:sp>
      <p:sp>
        <p:nvSpPr>
          <p:cNvPr id="2504" name="TextBox 22"/>
          <p:cNvSpPr txBox="1"/>
          <p:nvPr/>
        </p:nvSpPr>
        <p:spPr>
          <a:xfrm>
            <a:off x="3136392" y="3957828"/>
            <a:ext cx="171805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616  </a:t>
            </a:r>
            <a:r>
              <a:rPr b="0">
                <a:solidFill>
                  <a:srgbClr val="73777F"/>
                </a:solidFill>
              </a:rPr>
              <a:t>hostile / troll / derogatory</a:t>
            </a:r>
          </a:p>
        </p:txBody>
      </p:sp>
      <p:sp>
        <p:nvSpPr>
          <p:cNvPr id="2505" name="TextBox 23"/>
          <p:cNvSpPr txBox="1"/>
          <p:nvPr/>
        </p:nvSpPr>
        <p:spPr>
          <a:xfrm>
            <a:off x="3136392" y="4213860"/>
            <a:ext cx="177012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474 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506" name="TextBox 24"/>
          <p:cNvSpPr txBox="1"/>
          <p:nvPr/>
        </p:nvSpPr>
        <p:spPr>
          <a:xfrm>
            <a:off x="3136392" y="4469892"/>
            <a:ext cx="1546480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217  </a:t>
            </a:r>
            <a:r>
              <a:rPr b="0">
                <a:solidFill>
                  <a:srgbClr val="73777F"/>
                </a:solidFill>
              </a:rPr>
              <a:t>unresolved / strict ties</a:t>
            </a:r>
          </a:p>
        </p:txBody>
      </p:sp>
      <p:sp>
        <p:nvSpPr>
          <p:cNvPr id="2507" name="Connector 25"/>
          <p:cNvSpPr/>
          <p:nvPr/>
        </p:nvSpPr>
        <p:spPr>
          <a:xfrm>
            <a:off x="7534656" y="2432304"/>
            <a:ext cx="1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8" name="TextBox 26"/>
          <p:cNvSpPr txBox="1"/>
          <p:nvPr/>
        </p:nvSpPr>
        <p:spPr>
          <a:xfrm>
            <a:off x="6428232" y="3035807"/>
            <a:ext cx="226771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4,155  STAGE 2 STOP</a:t>
            </a:r>
          </a:p>
        </p:txBody>
      </p:sp>
      <p:sp>
        <p:nvSpPr>
          <p:cNvPr id="2509" name="TextBox 27"/>
          <p:cNvSpPr txBox="1"/>
          <p:nvPr/>
        </p:nvSpPr>
        <p:spPr>
          <a:xfrm>
            <a:off x="6510528" y="3619500"/>
            <a:ext cx="173329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4,155  </a:t>
            </a:r>
            <a:r>
              <a:rPr b="0">
                <a:solidFill>
                  <a:srgbClr val="73777F"/>
                </a:solidFill>
              </a:rPr>
              <a:t>rescue-worthiness &lt; 50</a:t>
            </a:r>
          </a:p>
        </p:txBody>
      </p:sp>
      <p:sp>
        <p:nvSpPr>
          <p:cNvPr id="2510" name="Connector 28"/>
          <p:cNvSpPr/>
          <p:nvPr/>
        </p:nvSpPr>
        <p:spPr>
          <a:xfrm>
            <a:off x="749807" y="495604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1" name="TextBox 29"/>
          <p:cNvSpPr txBox="1"/>
          <p:nvPr/>
        </p:nvSpPr>
        <p:spPr>
          <a:xfrm>
            <a:off x="859535" y="5212079"/>
            <a:ext cx="2103122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GPT-4o-mini baseline</a:t>
            </a:r>
          </a:p>
        </p:txBody>
      </p:sp>
      <p:sp>
        <p:nvSpPr>
          <p:cNvPr id="2512" name="TextBox 30"/>
          <p:cNvSpPr txBox="1"/>
          <p:nvPr/>
        </p:nvSpPr>
        <p:spPr>
          <a:xfrm>
            <a:off x="2953511" y="5193791"/>
            <a:ext cx="3291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13" name="TextBox 31"/>
          <p:cNvSpPr txBox="1"/>
          <p:nvPr/>
        </p:nvSpPr>
        <p:spPr>
          <a:xfrm>
            <a:off x="3383279" y="5212079"/>
            <a:ext cx="2240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MiMo v2.5 Pro rerun</a:t>
            </a:r>
          </a:p>
        </p:txBody>
      </p:sp>
      <p:sp>
        <p:nvSpPr>
          <p:cNvPr id="2514" name="TextBox 32"/>
          <p:cNvSpPr txBox="1"/>
          <p:nvPr/>
        </p:nvSpPr>
        <p:spPr>
          <a:xfrm>
            <a:off x="5989320" y="5193791"/>
            <a:ext cx="233172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higher reasoning capacity</a:t>
            </a:r>
          </a:p>
        </p:txBody>
      </p:sp>
      <p:sp>
        <p:nvSpPr>
          <p:cNvPr id="2515" name="TextBox 33"/>
          <p:cNvSpPr txBox="1"/>
          <p:nvPr/>
        </p:nvSpPr>
        <p:spPr>
          <a:xfrm>
            <a:off x="8503919" y="5193791"/>
            <a:ext cx="257860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accuracy expected to improve</a:t>
            </a:r>
          </a:p>
        </p:txBody>
      </p:sp>
      <p:sp>
        <p:nvSpPr>
          <p:cNvPr id="2516" name="TextBox 34"/>
          <p:cNvSpPr txBox="1"/>
          <p:nvPr/>
        </p:nvSpPr>
        <p:spPr>
          <a:xfrm>
            <a:off x="4114800" y="5760720"/>
            <a:ext cx="397763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FINAL COUNTS WILL CHANGE</a:t>
            </a:r>
          </a:p>
        </p:txBody>
      </p:sp>
      <p:sp>
        <p:nvSpPr>
          <p:cNvPr id="2517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outputs · MiMo rerun underway</a:t>
            </a:r>
          </a:p>
        </p:txBody>
      </p:sp>
      <p:sp>
        <p:nvSpPr>
          <p:cNvPr id="2518" name="TextBox 13"/>
          <p:cNvSpPr txBox="1"/>
          <p:nvPr/>
        </p:nvSpPr>
        <p:spPr>
          <a:xfrm>
            <a:off x="3147059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1 pass</a:t>
            </a:r>
          </a:p>
        </p:txBody>
      </p:sp>
      <p:sp>
        <p:nvSpPr>
          <p:cNvPr id="2519" name="TextBox 17"/>
          <p:cNvSpPr txBox="1"/>
          <p:nvPr/>
        </p:nvSpPr>
        <p:spPr>
          <a:xfrm>
            <a:off x="5912104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2 pass · ≥50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Gabriel Stage-2 prompt · historical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CHERRY-PICKED 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GABRIEL  70/100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historical Gabriel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