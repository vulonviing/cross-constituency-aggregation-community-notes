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Gemma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977F6"/>
                </a:solidFill>
                <a:latin typeface="Helvetica Neue"/>
              </a:rPr>
              <a:t>RECHECK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443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30098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STAGE 1.5 · SOURCED FACTUAL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393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0507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3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0974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prompts · model-based validation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2340864"/>
            <a:ext cx="682142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7" name="Oval 6"/>
          <p:cNvSpPr/>
          <p:nvPr/>
        </p:nvSpPr>
        <p:spPr>
          <a:xfrm>
            <a:off x="1408176" y="2249424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318"/>
                </a:solidFill>
                <a:latin typeface="Helvetica Neue"/>
              </a:rPr>
              <a:t>frozen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10,376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9424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Stage 2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10,096 strict + 280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8,558</a:t>
            </a:r>
          </a:p>
        </p:txBody>
      </p:sp>
      <p:sp>
        <p:nvSpPr>
          <p:cNvPr id="17" name="Oval 16"/>
          <p:cNvSpPr/>
          <p:nvPr/>
        </p:nvSpPr>
        <p:spPr>
          <a:xfrm>
            <a:off x="7370064" y="2249424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Final rescues · 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A873"/>
                </a:solidFill>
                <a:latin typeface="Helvetica Neue"/>
              </a:rPr>
              <a:t>8,527 strict + 31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2304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3218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3,279  CONTENT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753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1,423  </a:t>
            </a:r>
            <a:r>
              <a:rPr sz="1019">
                <a:solidFill>
                  <a:srgbClr val="73777F"/>
                </a:solidFill>
                <a:latin typeface="Helvetica Neue"/>
              </a:rPr>
              <a:t>opinion / factual core 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039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1,340  </a:t>
            </a:r>
            <a:r>
              <a:rPr sz="1019">
                <a:solidFill>
                  <a:srgbClr val="73777F"/>
                </a:solidFill>
                <a:latin typeface="Helvetica Neue"/>
              </a:rPr>
              <a:t>irrelevant / trivial /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0325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373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611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142  </a:t>
            </a:r>
            <a:r>
              <a:rPr sz="1019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97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unresolved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2976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1868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1,818  BELOW 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120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GEMMA 4 31B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1208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318"/>
                </a:solidFill>
                <a:latin typeface="Helvetica Neue"/>
              </a:rPr>
              <a:t>COMPLETED CANONICAL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1937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8,527 strict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193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31 recall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42432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10,376 / 10,376 complete · zero unresolved Stage 2 judgments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4 31B IT run · SCCKN · BF16 · threshold ≥50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13648" y="1627632"/>
            <a:ext cx="0" cy="150876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42832" y="1700784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FA873"/>
                </a:solidFill>
                <a:latin typeface="Helvetica Neue"/>
              </a:rPr>
              <a:t>62.7%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2450592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20" b="1">
                <a:solidFill>
                  <a:srgbClr val="73777F"/>
                </a:solidFill>
                <a:latin typeface="Helvetica Neue"/>
              </a:rPr>
              <a:t>of candidates validated by the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288036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8,558 / 13,655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3547872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FA873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1FA873"/>
                </a:solidFill>
                <a:latin typeface="Helvetica Neue"/>
              </a:rPr>
              <a:t>90–100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outstanding · </a:t>
            </a:r>
            <a:r>
              <a:rPr sz="860">
                <a:solidFill>
                  <a:srgbClr val="73777F"/>
                </a:solidFill>
                <a:latin typeface="Helvetica Neue"/>
              </a:rPr>
              <a:t>clear, traceable, self-contained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3749039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FA873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1FA873"/>
                </a:solidFill>
                <a:latin typeface="Helvetica Neue"/>
              </a:rPr>
              <a:t>70–89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strong · </a:t>
            </a:r>
            <a:r>
              <a:rPr sz="860">
                <a:solidFill>
                  <a:srgbClr val="73777F"/>
                </a:solidFill>
                <a:latin typeface="Helvetica Neue"/>
              </a:rPr>
              <a:t>well-supported and useful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950208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3977F6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3977F6"/>
                </a:solidFill>
                <a:latin typeface="Helvetica Neue"/>
              </a:rPr>
              <a:t>40–69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mixed · </a:t>
            </a:r>
            <a:r>
              <a:rPr sz="860">
                <a:solidFill>
                  <a:srgbClr val="73777F"/>
                </a:solidFill>
                <a:latin typeface="Helvetica Neue"/>
              </a:rPr>
              <a:t>useful elements, material gaps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151376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FF705B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10–39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weak · </a:t>
            </a:r>
            <a:r>
              <a:rPr sz="860">
                <a:solidFill>
                  <a:srgbClr val="73777F"/>
                </a:solidFill>
                <a:latin typeface="Helvetica Neue"/>
              </a:rPr>
              <a:t>limited support or clarity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352544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FF705B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0–9  </a:t>
            </a:r>
            <a:r>
              <a:rPr sz="860" b="1">
                <a:solidFill>
                  <a:srgbClr val="FF705B"/>
                </a:solidFill>
                <a:latin typeface="Helvetica Neue"/>
              </a:rPr>
              <a:t>minimal · </a:t>
            </a:r>
            <a:r>
              <a:rPr sz="860">
                <a:solidFill>
                  <a:srgbClr val="73777F"/>
                </a:solidFill>
                <a:latin typeface="Helvetica Neue"/>
              </a:rPr>
              <a:t>little usable justification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590288"/>
            <a:ext cx="3611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FA873"/>
                </a:solidFill>
                <a:latin typeface="Helvetica Neue"/>
              </a:rPr>
              <a:t>•  </a:t>
            </a:r>
            <a:r>
              <a:rPr sz="860" b="1">
                <a:solidFill>
                  <a:srgbClr val="1FA873"/>
                </a:solidFill>
                <a:latin typeface="Helvetica Neue"/>
              </a:rPr>
              <a:t>≥50  </a:t>
            </a:r>
            <a:r>
              <a:rPr sz="860" b="1">
                <a:solidFill>
                  <a:srgbClr val="111318"/>
                </a:solidFill>
                <a:latin typeface="Helvetica Neue"/>
              </a:rPr>
              <a:t>validated · </a:t>
            </a:r>
            <a:r>
              <a:rPr sz="860">
                <a:solidFill>
                  <a:srgbClr val="73777F"/>
                </a:solidFill>
                <a:latin typeface="Helvetica Neue"/>
              </a:rPr>
              <a:t>display-quality threshold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Stage-2 prompt ·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GEMMA  82/100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canonical Gemma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